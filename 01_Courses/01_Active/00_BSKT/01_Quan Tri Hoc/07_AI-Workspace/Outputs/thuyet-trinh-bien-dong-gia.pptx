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44" y="1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PHÂN TÍCH SỰ ẢNH HƯỞNG CỦA BIẾN ĐỘNG</a:t>
            </a:r>
            <a:br/>
            <a:r>
              <a:t>GIÁ VÀNG, GIÁ XĂNG DẦU, LÃI SUẤT NGÂN HÀNG</a:t>
            </a:r>
            <a:br/>
            <a:r>
              <a:t>VÀ XU HƯỚNG TIÊU DÙNG ĐẾN HOẠT ĐỘNG</a:t>
            </a:r>
            <a:br/>
            <a:r>
              <a:t>KINH DOANH CỦA DOANH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E86AB"/>
                </a:solidFill>
              </a:defRPr>
            </a:pP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phó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doanh</a:t>
            </a:r>
            <a:r>
              <a:rPr dirty="0"/>
              <a:t> </a:t>
            </a:r>
            <a:r>
              <a:rPr dirty="0" err="1"/>
              <a:t>nghiệp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097280" y="4937760"/>
            <a:ext cx="2743200" cy="27432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1206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AABB"/>
                </a:solidFill>
              </a:defRPr>
            </a:pPr>
            <a:r>
              <a:rPr dirty="0"/>
              <a:t>Môn: Quản </a:t>
            </a:r>
            <a:r>
              <a:rPr dirty="0" err="1"/>
              <a:t>Trị</a:t>
            </a:r>
            <a:r>
              <a:rPr dirty="0"/>
              <a:t> Học</a:t>
            </a:r>
          </a:p>
        </p:txBody>
      </p:sp>
      <p:sp>
        <p:nvSpPr>
          <p:cNvPr id="9" name="Oval 8"/>
          <p:cNvSpPr/>
          <p:nvPr/>
        </p:nvSpPr>
        <p:spPr>
          <a:xfrm>
            <a:off x="8584163" y="5029200"/>
            <a:ext cx="696997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10" name="Oval 9"/>
          <p:cNvSpPr/>
          <p:nvPr/>
        </p:nvSpPr>
        <p:spPr>
          <a:xfrm>
            <a:off x="9418320" y="502920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1" name="Oval 10"/>
          <p:cNvSpPr/>
          <p:nvPr/>
        </p:nvSpPr>
        <p:spPr>
          <a:xfrm>
            <a:off x="10149840" y="502920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2" name="Oval 11"/>
          <p:cNvSpPr/>
          <p:nvPr/>
        </p:nvSpPr>
        <p:spPr>
          <a:xfrm>
            <a:off x="10881360" y="502920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GIỚI THIỆU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926080" cy="201168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45920" y="173736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🇩🇪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rPr dirty="0"/>
              <a:t>TẬP ĐOÀN MẸ </a:t>
            </a:r>
            <a:r>
              <a:rPr lang="en-US" dirty="0"/>
              <a:t>-</a:t>
            </a:r>
            <a:r>
              <a:rPr dirty="0"/>
              <a:t> ĐỨC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Cung cấp bản vẽ thiết kế</a:t>
            </a:r>
            <a:br/>
            <a:r>
              <a:t>Thanh toán bằng USD</a:t>
            </a:r>
            <a:br/>
            <a:r>
              <a:t>Tiêu chuẩn kỹ thuật quốc tế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66160" y="2377440"/>
            <a:ext cx="731520" cy="41148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2926080" cy="20116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77840" y="1737360"/>
            <a:ext cx="640080" cy="64008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🇻🇳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8A4B"/>
                </a:solidFill>
              </a:defRPr>
            </a:pPr>
            <a:r>
              <a:rPr dirty="0"/>
              <a:t>CÔNG TY </a:t>
            </a:r>
            <a:r>
              <a:rPr lang="en-US" dirty="0"/>
              <a:t>-</a:t>
            </a:r>
            <a:r>
              <a:rPr dirty="0"/>
              <a:t> TP.HCM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Dựng mô hình 3D / BIM</a:t>
            </a:r>
            <a:br/>
            <a:r>
              <a:t>Đội ngũ Gen Z năng động</a:t>
            </a:r>
            <a:br/>
            <a:r>
              <a:t>Chi phí VND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98079" y="2377440"/>
            <a:ext cx="731520" cy="41148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80" y="1645920"/>
            <a:ext cx="2926080" cy="20116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509760" y="173736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</a:defRPr>
            </a:pPr>
            <a:r>
              <a:t>SẢN PHẨM ĐẦU 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Mô hình 3D chất lượng cao</a:t>
            </a:r>
            <a:br/>
            <a:r>
              <a:t>Đúng tiến độ quốc tế</a:t>
            </a:r>
            <a:br/>
            <a:r>
              <a:t>Phục vụ ngành xây dựng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646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0514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62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Tiêu chuẩn quốc tế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3628" y="5303520"/>
            <a:ext cx="2331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/>
              <a:t>Quy </a:t>
            </a:r>
            <a:r>
              <a:rPr dirty="0" err="1"/>
              <a:t>trình</a:t>
            </a:r>
            <a:r>
              <a:rPr dirty="0"/>
              <a:t>, template</a:t>
            </a:r>
            <a:br>
              <a:rPr dirty="0"/>
            </a:b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EU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682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8550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398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Thu nhập USD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3988" y="53035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Doanh thu ghi nhận USD</a:t>
            </a:r>
            <a:br/>
            <a:r>
              <a:t>Chi phí tính bằng VND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4347" y="4142792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903027" y="4279952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1507" y="492003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Công nghệ 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1507" y="5331512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Phần mềm chuyên dụng</a:t>
            </a:r>
            <a:br/>
            <a:r>
              <a:t>Cấu hình máy mạnh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rPr dirty="0"/>
              <a:t>TỔNG QUAN CÁC YẾU TỐ VĨ MÔ ẢNH HƯỞNG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475488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566160"/>
            <a:ext cx="155448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Tác động gián tiếp</a:t>
            </a:r>
            <a:br/>
            <a:r>
              <a:t>qua biến động USD/VND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394960"/>
            <a:ext cx="15544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51760" cy="47548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06240" y="1920240"/>
            <a:ext cx="822960" cy="8229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6C00"/>
                </a:solidFill>
              </a:defRPr>
            </a:pPr>
            <a:r>
              <a:t>GIÁ XĂNG DẦU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3566160"/>
            <a:ext cx="1554480" cy="27432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Chi phí trợ cấp đi lại</a:t>
            </a:r>
            <a:br/>
            <a:r>
              <a:t>cho nhân viên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5394960"/>
            <a:ext cx="1554480" cy="4572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8620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54480"/>
            <a:ext cx="2651760" cy="475488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86600" y="1920240"/>
            <a:ext cx="822960" cy="8229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LÃI SUẤT 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566160"/>
            <a:ext cx="155448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Ảnh hưởng chu kỳ</a:t>
            </a:r>
            <a:br/>
            <a:r>
              <a:t>đầu tư xây dựng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5394960"/>
            <a:ext cx="155448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554480"/>
            <a:ext cx="2651760" cy="47548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966960" y="1920240"/>
            <a:ext cx="822960" cy="8229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8A4B"/>
                </a:solidFill>
              </a:defRPr>
            </a:pPr>
            <a:r>
              <a:t>XU HƯỚNG CĐS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46920" y="3566160"/>
            <a:ext cx="1554480" cy="27432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Chuyển đổi số &amp; BIM</a:t>
            </a:r>
            <a:br/>
            <a:r>
              <a:t>Cơ hội tăng trưởng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5394960"/>
            <a:ext cx="1554480" cy="45720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4692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① GIÁ VÀNG — TÁC ĐỘNG GIÁN TIẾP QUA USD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237744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</a:defRPr>
            </a:pPr>
            <a:r>
              <a:t>QUY LUẬT TỶ LỆ NGHỊCH VÀNG — USD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10312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71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8" name="Left-Right Arrow 7"/>
          <p:cNvSpPr/>
          <p:nvPr/>
        </p:nvSpPr>
        <p:spPr>
          <a:xfrm>
            <a:off x="2468880" y="2286000"/>
            <a:ext cx="1097280" cy="457200"/>
          </a:xfrm>
          <a:prstGeom prst="left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840480" y="2103120"/>
            <a:ext cx="822960" cy="8229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71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37560"/>
            <a:ext cx="4754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 </a:t>
            </a:r>
            <a:r>
              <a:rPr dirty="0" err="1"/>
              <a:t>tuyệt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—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486400" cy="23774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ẢNH HƯỞNG ĐẾN DOANH NGHIỆP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01168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▲ USD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4688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tăng</a:t>
            </a:r>
            <a:br/>
            <a:r>
              <a:t>→ Thuận lợi cho</a:t>
            </a:r>
            <a:br/>
            <a:r>
              <a:t>báo cáo tài chính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01168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▼ USD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4688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giảm</a:t>
            </a:r>
            <a:br/>
            <a:r>
              <a:t>→ Cần phòng ngừa</a:t>
            </a:r>
            <a:br/>
            <a:r>
              <a:t>rủi ro tỷ giá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</a:defRPr>
            </a:pPr>
            <a:r>
              <a:t>💡 VÍ DỤ MINH HỌA — Quản trị rủi ro tỷ giá (Financial Risk Management)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Hợp đồng tháng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10.000 USD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Tỷ giá biến động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24.800 → 25.300 VND/USD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Chênh lệch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+500 VND/USD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Tác động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+5.000.000 VND/tháng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② GIÁ XĂNG DẦU — CHI PHÍ VẬN HÀNH &amp; NHÂN SỰ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1945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C00"/>
                </a:solidFill>
              </a:defRPr>
            </a:pPr>
            <a:r>
              <a:t>⛽ CHÍNH SÁCH TRỢ CẤP ĐI LẠI HIỆN TẠI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📍 Phạm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Bán kính 25 km tại TP.HCM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💵 Mức trợ cấp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2.500 VND/km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🔄 Áp dụng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063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Cả chiều đi và chiều về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303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6C00"/>
                </a:solidFill>
              </a:defRPr>
            </a:pPr>
            <a:r>
              <a:t>🧮 VÍ DỤ: Nhân viên cách 20 km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103120"/>
            <a:ext cx="4754880" cy="365760"/>
          </a:xfrm>
          <a:prstGeom prst="round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Bước 1: 20 km × 2 chiều = 40 km/ngày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560320"/>
            <a:ext cx="4754880" cy="365760"/>
          </a:xfrm>
          <a:prstGeom prst="round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560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Bước 2: 40 km × 2.500 đ = 100.000 đ/ngày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017520"/>
            <a:ext cx="4754880" cy="36576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Bước 3: 100.000 đ × 22 ngày = 2.200.000 đ/tháng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KHI GIÁ XĂNG TĂNG — Góc nhìn Quản trị nhân sự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4617720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DN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Tổng trợ cấp tăng</a:t>
            </a:r>
            <a:br/>
            <a:r>
              <a:t>theo headcount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66160" y="46177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Hài lòng 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Mức cố định/km không</a:t>
            </a:r>
            <a:br/>
            <a:r>
              <a:t>bù đủ chi phí thực tế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446519" y="46177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79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</a:defRPr>
            </a:pPr>
            <a:r>
              <a:t>Turnover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39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Gen Z so sánh tổng</a:t>
            </a:r>
            <a:br/>
            <a:r>
              <a:t>thu nhập sau chi phí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19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326879" y="4617720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39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Áp lực lương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599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Xăng đẩy CPI →</a:t>
            </a:r>
            <a:br/>
            <a:r>
              <a:t>kỳ vọng tăng lương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③ LÃI SUẤT NGÂN HÀNG — TÁC ĐỘNG CHUỖI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% 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Lãi suất</a:t>
            </a:r>
            <a:br/>
            <a:r>
              <a:t>tăng 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7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37560" y="182880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86C00"/>
                </a:solidFill>
              </a:defRPr>
            </a:pPr>
            <a:r>
              <a:rPr dirty="0"/>
              <a:t>DN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br>
              <a:rPr dirty="0"/>
            </a:br>
            <a:r>
              <a:rPr dirty="0" err="1"/>
              <a:t>khó</a:t>
            </a:r>
            <a:r>
              <a:rPr dirty="0"/>
              <a:t> </a:t>
            </a:r>
            <a:r>
              <a:rPr dirty="0" err="1"/>
              <a:t>vay</a:t>
            </a:r>
            <a:r>
              <a:rPr dirty="0"/>
              <a:t> </a:t>
            </a:r>
            <a:r>
              <a:rPr dirty="0" err="1"/>
              <a:t>vốn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61771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15000" y="182880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Ít dự án mới</a:t>
            </a:r>
            <a:br/>
            <a:r>
              <a:t>triển khai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5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92440" y="1828800"/>
            <a:ext cx="640080" cy="64008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Ít bản vẽ</a:t>
            </a:r>
            <a:br/>
            <a:r>
              <a:t>cho công ty mẹ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469880" y="182880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3A5C"/>
                </a:solidFill>
              </a:defRPr>
            </a:pPr>
            <a:r>
              <a:t>Giảm việc</a:t>
            </a:r>
            <a:br/>
            <a:r>
              <a:t>chuyển về VN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NỘI BỘ DOANH NGHIỆP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tài chính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Chi phí vay vốn tăng</a:t>
            </a:r>
            <a:br/>
            <a:r>
              <a:t>(license, thiết bị, mặt bằng)</a:t>
            </a:r>
            <a:br/>
            <a:r>
              <a:t>→ Ăn vào biên lợi nhuận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2628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Dòng tiền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giảm + chi phí vốn tăng</a:t>
            </a:r>
            <a:br/>
            <a:r>
              <a:t>→ Áp lực đòn bẩy tài chính</a:t>
            </a:r>
            <a:br/>
            <a:r>
              <a:t>và KPI headcount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2104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Nhân viên Gen 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Vay mua nhà/xe lãi suất cao</a:t>
            </a:r>
            <a:br/>
            <a:r>
              <a:t>→ Áp lực tài chính cá nhân</a:t>
            </a:r>
            <a:br/>
            <a:r>
              <a:t>→ Giảm hiệu suất, tăng turnover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④ XU HƯỚNG TIÊU DÙNG — CHUYỂN ĐỔI SỐ &amp; BIM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37744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📜 CHÍNH SÁCH CHÍNH PHỦ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Nghị quyết Chính phủ: Chuyển đổi số trong xây dựng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BIM trở thành yêu cầu bắt buộc cho dự án công lớn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Mục tiêu: Quản trị dự án dựa trên dữ liệu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Xu hướng dài hạn: DN xây dựng buộc phải số hóa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3035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🚀 CƠ HỘI CHO DOANH NGHIỆP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Đã có năng lực BIM theo chuẩn quốc tế (Đức)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Thị trường nội địa VN đang mở rộng nhanh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Nhu cầu thuê ngoài dịch vụ BIM tăng 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91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Gen Z = digital native → R&amp;D BIM nội bộ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CHIẾN LƯỢC PHÁT TRIỂN — Tầm nhìn Quản trị chiến lược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2651760" cy="1828800"/>
          </a:xfrm>
          <a:prstGeom prst="roundRect">
            <a:avLst/>
          </a:prstGeom>
          <a:solidFill>
            <a:srgbClr val="1B8A4B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480060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Định vị dẫn đầu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BIM outsourcing</a:t>
            </a:r>
            <a:br/>
            <a:r>
              <a:t>tại Việt Nam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566160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Productize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Chuyển giao quy trình</a:t>
            </a:r>
            <a:br/>
            <a:r>
              <a:t>Đức → gói dịch vụ VN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1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Đào tạo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3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Chứng chỉ BIM</a:t>
            </a:r>
            <a:br/>
            <a:r>
              <a:t>Autodesk / BSI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1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2687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Mở rộng KH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Local GC, chủ đầu tư</a:t>
            </a:r>
            <a:br/>
            <a:r>
              <a:t>consultant nội địa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TỔNG HỢP MA TRẬN TÁC ĐỘNG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Yếu tố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Kênh tác động chính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Mức độ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Tính chất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Quản trị ưu tiên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4A017"/>
                          </a:solidFill>
                        </a:defRPr>
                      </a:pPr>
                      <a:r>
                        <a:t>Giá vàng / USD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Tỷ giá USD→VND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ảnh hưởng doanh thu quy đổi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Trung bình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Hedge tỷ giá,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điều khoản hợp đồng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86C00"/>
                          </a:solidFill>
                        </a:defRPr>
                      </a:pPr>
                      <a:r>
                        <a:t>Giá xăng dầu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trợ cấp đi lại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CPI → kỳ vọng lương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Hybrid work,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tái cấu trúc phụ cấp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C0392B"/>
                          </a:solidFill>
                        </a:defRPr>
                      </a:pPr>
                      <a:r>
                        <a:t>Lãi suất NH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Chu kỳ đầu tư xây dựng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vốn nội bộ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Đa dạng hóa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nguồn việc &amp; khách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8A4B"/>
                          </a:solidFill>
                        </a:defRPr>
                      </a:pPr>
                      <a:r>
                        <a:t>Xu hướng CĐS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BIM bắt buộc → nhu cầu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thị trường nội địa tăng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Rất cao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Đầu tư năng lực,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định vị thương hiệu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GIẢI PHÁP ỨNG PHÓ CỦA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743200" cy="50292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94560" cy="228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251460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Đàm phán mức sàn tỷ giá với công ty mẹ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5468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Theo dõi xu hướng USD/VND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79476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Tối ưu thời điểm chuyển đổi ngoại tệ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201168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tài chính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63040"/>
            <a:ext cx="2743200" cy="50292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0" y="16459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</a:defRPr>
            </a:pPr>
            <a:r>
              <a:t>TỐI ƯU CHI PHÍ ĐI LẠI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286000"/>
            <a:ext cx="2194560" cy="228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566160" y="251460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Chính sách hybrid (2-3 ngày WFH)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315468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Hỗ trợ vé xe buýt / metro</a:t>
            </a:r>
          </a:p>
        </p:txBody>
      </p:sp>
      <p:sp>
        <p:nvSpPr>
          <p:cNvPr id="24" name="Oval 23"/>
          <p:cNvSpPr/>
          <p:nvPr/>
        </p:nvSpPr>
        <p:spPr>
          <a:xfrm>
            <a:off x="3566160" y="379476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Điều chỉnh trợ cấp theo biến động xăng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5394960"/>
            <a:ext cx="2011680" cy="73152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nhân sự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463040"/>
            <a:ext cx="2743200" cy="502920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286000"/>
            <a:ext cx="219456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92240" y="251460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Mở rộng khách hàng nội địa VN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15468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Giảm phụ thuộc vào tập đoàn mẹ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79476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Xây pipeline dự án 3-6 tháng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5394960"/>
            <a:ext cx="201168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chiến lược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463040"/>
            <a:ext cx="2743200" cy="502920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26880" y="1645920"/>
            <a:ext cx="502920" cy="50292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2286000"/>
            <a:ext cx="2194560" cy="22860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418320" y="251460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Đào tạo chuyên sâu BIM (Autodesk/BSI)</a:t>
            </a:r>
          </a:p>
        </p:txBody>
      </p:sp>
      <p:sp>
        <p:nvSpPr>
          <p:cNvPr id="46" name="Oval 45"/>
          <p:cNvSpPr/>
          <p:nvPr/>
        </p:nvSpPr>
        <p:spPr>
          <a:xfrm>
            <a:off x="9418320" y="315468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9264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Dẫn đầu BIM outsourcing tại VN</a:t>
            </a:r>
          </a:p>
        </p:txBody>
      </p:sp>
      <p:sp>
        <p:nvSpPr>
          <p:cNvPr id="48" name="Oval 47"/>
          <p:cNvSpPr/>
          <p:nvPr/>
        </p:nvSpPr>
        <p:spPr>
          <a:xfrm>
            <a:off x="9418320" y="379476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69264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Case study, hợp tác trường ĐH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0" y="5394960"/>
            <a:ext cx="2011680" cy="73152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đổi mới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KẾT LUẬN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94360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vàng → Theo dõi USD/VND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583680" y="1938528"/>
            <a:ext cx="548640" cy="32004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83464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xăng → Chi phí &amp; con người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83680" y="2944368"/>
            <a:ext cx="548640" cy="320040"/>
          </a:xfrm>
          <a:prstGeom prst="rightArrow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6C00"/>
                </a:solidFill>
              </a:defRPr>
            </a:pPr>
            <a:r>
              <a:t>Quản trị nhân sự linh hoạt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Lãi suất → Chu kỳ xây dựng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83680" y="3950208"/>
            <a:ext cx="548640" cy="32004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392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484632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CĐS → Cơ hội BIM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83680" y="4956048"/>
            <a:ext cx="548640" cy="32004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760720"/>
            <a:ext cx="640080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Cảm ơn quý thầy/cô và các anh chị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1181</Words>
  <Application>Microsoft Office PowerPoint</Application>
  <PresentationFormat>Widescreen</PresentationFormat>
  <Paragraphs>211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Nhan Huynh</cp:lastModifiedBy>
  <cp:revision>3</cp:revision>
  <dcterms:created xsi:type="dcterms:W3CDTF">2013-01-27T09:14:16Z</dcterms:created>
  <dcterms:modified xsi:type="dcterms:W3CDTF">2026-05-16T11:56:26Z</dcterms:modified>
  <cp:category/>
</cp:coreProperties>
</file>