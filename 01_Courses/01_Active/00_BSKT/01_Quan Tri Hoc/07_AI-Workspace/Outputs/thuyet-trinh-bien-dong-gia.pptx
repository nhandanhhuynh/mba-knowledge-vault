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3" d="100"/>
          <a:sy n="103" d="100"/>
        </p:scale>
        <p:origin x="144" y="19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54864" cy="256032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9601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</a:defRPr>
            </a:pPr>
            <a:r>
              <a:t>PHÂN TÍCH SỰ ẢNH HƯỞNG CỦA BIẾN ĐỘNG</a:t>
            </a:r>
            <a:br/>
            <a:r>
              <a:t>GIÁ VÀNG, GIÁ XĂNG DẦU, LÃI SUẤT NGÂN HÀNG</a:t>
            </a:r>
            <a:br/>
            <a:r>
              <a:t>VÀ XU HƯỚNG TIÊU DÙNG ĐẾN HOẠT ĐỘNG</a:t>
            </a:r>
            <a:br/>
            <a:r>
              <a:t>KINH DOANH CỦA DOANH NGHIỆP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601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E86AB"/>
                </a:solidFill>
              </a:defRPr>
            </a:pPr>
            <a:r>
              <a:rPr dirty="0" err="1"/>
              <a:t>Giải</a:t>
            </a:r>
            <a:r>
              <a:rPr dirty="0"/>
              <a:t> </a:t>
            </a:r>
            <a:r>
              <a:rPr dirty="0" err="1"/>
              <a:t>pháp</a:t>
            </a:r>
            <a:r>
              <a:rPr dirty="0"/>
              <a:t> </a:t>
            </a:r>
            <a:r>
              <a:rPr dirty="0" err="1"/>
              <a:t>ứng</a:t>
            </a:r>
            <a:r>
              <a:rPr dirty="0"/>
              <a:t> </a:t>
            </a:r>
            <a:r>
              <a:rPr dirty="0" err="1"/>
              <a:t>phó</a:t>
            </a:r>
            <a:r>
              <a:rPr dirty="0"/>
              <a:t> </a:t>
            </a:r>
            <a:r>
              <a:rPr dirty="0" err="1"/>
              <a:t>của</a:t>
            </a:r>
            <a:r>
              <a:rPr dirty="0"/>
              <a:t> </a:t>
            </a:r>
            <a:r>
              <a:rPr dirty="0" err="1"/>
              <a:t>doanh</a:t>
            </a:r>
            <a:r>
              <a:rPr dirty="0"/>
              <a:t> </a:t>
            </a:r>
            <a:r>
              <a:rPr dirty="0" err="1"/>
              <a:t>nghiệp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1097280" y="4937760"/>
            <a:ext cx="2743200" cy="27432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5120640"/>
            <a:ext cx="9144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AABB"/>
                </a:solidFill>
              </a:defRPr>
            </a:pPr>
            <a:r>
              <a:rPr dirty="0"/>
              <a:t>Môn: Quản </a:t>
            </a:r>
            <a:r>
              <a:rPr dirty="0" err="1"/>
              <a:t>Trị</a:t>
            </a:r>
            <a:r>
              <a:rPr dirty="0"/>
              <a:t> Học</a:t>
            </a:r>
          </a:p>
        </p:txBody>
      </p:sp>
      <p:sp>
        <p:nvSpPr>
          <p:cNvPr id="9" name="Oval 8"/>
          <p:cNvSpPr/>
          <p:nvPr/>
        </p:nvSpPr>
        <p:spPr>
          <a:xfrm>
            <a:off x="8584163" y="5029200"/>
            <a:ext cx="696997" cy="594360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Au</a:t>
            </a:r>
          </a:p>
        </p:txBody>
      </p:sp>
      <p:sp>
        <p:nvSpPr>
          <p:cNvPr id="10" name="Oval 9"/>
          <p:cNvSpPr/>
          <p:nvPr/>
        </p:nvSpPr>
        <p:spPr>
          <a:xfrm>
            <a:off x="9418320" y="5029200"/>
            <a:ext cx="594360" cy="59436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⛽</a:t>
            </a:r>
          </a:p>
        </p:txBody>
      </p:sp>
      <p:sp>
        <p:nvSpPr>
          <p:cNvPr id="11" name="Oval 10"/>
          <p:cNvSpPr/>
          <p:nvPr/>
        </p:nvSpPr>
        <p:spPr>
          <a:xfrm>
            <a:off x="10149840" y="5029200"/>
            <a:ext cx="594360" cy="5943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%</a:t>
            </a:r>
          </a:p>
        </p:txBody>
      </p:sp>
      <p:sp>
        <p:nvSpPr>
          <p:cNvPr id="12" name="Oval 11"/>
          <p:cNvSpPr/>
          <p:nvPr/>
        </p:nvSpPr>
        <p:spPr>
          <a:xfrm>
            <a:off x="10881360" y="5029200"/>
            <a:ext cx="594360" cy="59436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GIỚI THIỆU DOANH NGHIỆP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2926080" cy="2011680"/>
          </a:xfrm>
          <a:prstGeom prst="roundRect">
            <a:avLst/>
          </a:prstGeom>
          <a:solidFill>
            <a:srgbClr val="E8F4F8"/>
          </a:solidFill>
          <a:ln w="1905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645920" y="1737360"/>
            <a:ext cx="640080" cy="640080"/>
          </a:xfrm>
          <a:prstGeom prst="ellipse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🇩🇪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25603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3A5C"/>
                </a:solidFill>
              </a:defRPr>
            </a:pPr>
            <a:r>
              <a:rPr dirty="0"/>
              <a:t>TẬP ĐOÀN MẸ </a:t>
            </a:r>
            <a:r>
              <a:rPr lang="en-US" dirty="0"/>
              <a:t>-</a:t>
            </a:r>
            <a:r>
              <a:rPr dirty="0"/>
              <a:t> ĐỨC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3A4A"/>
                </a:solidFill>
              </a:defRPr>
            </a:pPr>
            <a:r>
              <a:t>Cung cấp bản vẽ thiết kế</a:t>
            </a:r>
            <a:br/>
            <a:r>
              <a:t>Thanh toán bằng USD</a:t>
            </a:r>
            <a:br/>
            <a:r>
              <a:t>Tiêu chuẩn kỹ thuật quốc tế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566160" y="2377440"/>
            <a:ext cx="731520" cy="411480"/>
          </a:xfrm>
          <a:prstGeom prst="rightArrow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480560" y="1645920"/>
            <a:ext cx="2926080" cy="2011680"/>
          </a:xfrm>
          <a:prstGeom prst="roundRect">
            <a:avLst/>
          </a:prstGeom>
          <a:solidFill>
            <a:srgbClr val="E8F8F5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577840" y="1737360"/>
            <a:ext cx="640080" cy="64008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🇻🇳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468880"/>
            <a:ext cx="25603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8A4B"/>
                </a:solidFill>
              </a:defRPr>
            </a:pPr>
            <a:r>
              <a:rPr dirty="0"/>
              <a:t>CÔNG TY </a:t>
            </a:r>
            <a:r>
              <a:rPr lang="en-US" dirty="0"/>
              <a:t>-</a:t>
            </a:r>
            <a:r>
              <a:rPr dirty="0"/>
              <a:t> TP.HCM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8346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3A4A"/>
                </a:solidFill>
              </a:defRPr>
            </a:pPr>
            <a:r>
              <a:t>Dựng mô hình 3D / BIM</a:t>
            </a:r>
            <a:br/>
            <a:r>
              <a:t>Đội ngũ Gen Z năng động</a:t>
            </a:r>
            <a:br/>
            <a:r>
              <a:t>Chi phí VND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498079" y="2377440"/>
            <a:ext cx="731520" cy="411480"/>
          </a:xfrm>
          <a:prstGeom prst="rightArrow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412480" y="1645920"/>
            <a:ext cx="2926080" cy="2011680"/>
          </a:xfrm>
          <a:prstGeom prst="roundRect">
            <a:avLst/>
          </a:prstGeom>
          <a:solidFill>
            <a:srgbClr val="FDF2E9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509760" y="1737360"/>
            <a:ext cx="640080" cy="64008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🏗️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2468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E86C00"/>
                </a:solidFill>
              </a:defRPr>
            </a:pPr>
            <a:r>
              <a:t>SẢN PHẨM ĐẦU 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283464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3A4A"/>
                </a:solidFill>
              </a:defRPr>
            </a:pPr>
            <a:r>
              <a:t>Mô hình 3D chất lượng cao</a:t>
            </a:r>
            <a:br/>
            <a:r>
              <a:t>Đúng tiến độ quốc tế</a:t>
            </a:r>
            <a:br/>
            <a:r>
              <a:t>Phục vụ ngành xây dựng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6468" y="4114800"/>
            <a:ext cx="26060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005148" y="4251960"/>
            <a:ext cx="548640" cy="54864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73628" y="48920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3A5C"/>
                </a:solidFill>
              </a:defRPr>
            </a:pPr>
            <a:r>
              <a:t>Tiêu chuẩn quốc tế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73628" y="5303520"/>
            <a:ext cx="23317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3A4A"/>
                </a:solidFill>
              </a:defRPr>
            </a:pPr>
            <a:r>
              <a:rPr dirty="0"/>
              <a:t>Quy </a:t>
            </a:r>
            <a:r>
              <a:rPr dirty="0" err="1"/>
              <a:t>trình</a:t>
            </a:r>
            <a:r>
              <a:rPr dirty="0"/>
              <a:t>, template</a:t>
            </a:r>
            <a:br>
              <a:rPr dirty="0"/>
            </a:b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chuẩn</a:t>
            </a:r>
            <a:r>
              <a:rPr dirty="0"/>
              <a:t> EU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16828" y="4114800"/>
            <a:ext cx="26060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4885508" y="4251960"/>
            <a:ext cx="548640" cy="54864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53988" y="489204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3A5C"/>
                </a:solidFill>
              </a:defRPr>
            </a:pPr>
            <a:r>
              <a:t>Thu nhập USD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53988" y="530352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3A4A"/>
                </a:solidFill>
              </a:defRPr>
            </a:pPr>
            <a:r>
              <a:t>Doanh thu ghi nhận USD</a:t>
            </a:r>
            <a:br/>
            <a:r>
              <a:t>Chi phí tính bằng VND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034347" y="4142792"/>
            <a:ext cx="26060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7903027" y="4279952"/>
            <a:ext cx="548640" cy="54864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🖥️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1507" y="4920032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1B3A5C"/>
                </a:solidFill>
              </a:defRPr>
            </a:pPr>
            <a:r>
              <a:t>Công nghệ BIM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71507" y="5331512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2D3A4A"/>
                </a:solidFill>
              </a:defRPr>
            </a:pPr>
            <a:r>
              <a:t>Phần mềm chuyên dụng</a:t>
            </a:r>
            <a:br/>
            <a:r>
              <a:t>Cấu hình máy mạnh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rPr dirty="0"/>
              <a:t>TỔNG QUAN CÁC YẾU TỐ VĨ MÔ ẢNH HƯỞNG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2651760" cy="4754880"/>
          </a:xfrm>
          <a:prstGeom prst="roundRect">
            <a:avLst/>
          </a:prstGeom>
          <a:solidFill>
            <a:srgbClr val="FEF9E7"/>
          </a:solidFill>
          <a:ln w="1905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325880" y="1920240"/>
            <a:ext cx="822960" cy="822960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>
                <a:solidFill>
                  <a:srgbClr val="FFFFFF"/>
                </a:solidFill>
              </a:defRPr>
            </a:pPr>
            <a:r>
              <a:t>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17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D4A017"/>
                </a:solidFill>
              </a:defRPr>
            </a:pPr>
            <a:r>
              <a:t>GIÁ VÀNG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3566160"/>
            <a:ext cx="1554480" cy="27432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38404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3A4A"/>
                </a:solidFill>
              </a:defRPr>
            </a:pPr>
            <a:r>
              <a:t>Tác động gián tiếp</a:t>
            </a:r>
            <a:br/>
            <a:r>
              <a:t>qua biến động USD/VND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5394960"/>
            <a:ext cx="1554480" cy="457200"/>
          </a:xfrm>
          <a:prstGeom prst="round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541324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Trực tiếp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37560" y="1554480"/>
            <a:ext cx="2651760" cy="4754880"/>
          </a:xfrm>
          <a:prstGeom prst="roundRect">
            <a:avLst/>
          </a:prstGeom>
          <a:solidFill>
            <a:srgbClr val="FDF2E9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206240" y="1920240"/>
            <a:ext cx="822960" cy="82296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>
                <a:solidFill>
                  <a:srgbClr val="FFFFFF"/>
                </a:solidFill>
              </a:defRPr>
            </a:pPr>
            <a:r>
              <a:t>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3017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E86C00"/>
                </a:solidFill>
              </a:defRPr>
            </a:pPr>
            <a:r>
              <a:t>GIÁ XĂNG DẦU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86200" y="3566160"/>
            <a:ext cx="1554480" cy="27432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20440" y="38404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3A4A"/>
                </a:solidFill>
              </a:defRPr>
            </a:pPr>
            <a:r>
              <a:t>Chi phí trợ cấp đi lại</a:t>
            </a:r>
            <a:br/>
            <a:r>
              <a:t>cho nhân viên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86200" y="5394960"/>
            <a:ext cx="1554480" cy="45720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86200" y="541324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Gián tiếp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554480"/>
            <a:ext cx="2651760" cy="4754880"/>
          </a:xfrm>
          <a:prstGeom prst="roundRect">
            <a:avLst/>
          </a:prstGeom>
          <a:solidFill>
            <a:srgbClr val="FDEDEC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7086600" y="1920240"/>
            <a:ext cx="822960" cy="8229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>
                <a:solidFill>
                  <a:srgbClr val="FFFFFF"/>
                </a:solidFill>
              </a:defRPr>
            </a:pPr>
            <a:r>
              <a:t>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017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C0392B"/>
                </a:solidFill>
              </a:defRPr>
            </a:pPr>
            <a:r>
              <a:t>LÃI SUẤT NH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3566160"/>
            <a:ext cx="1554480" cy="2743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0" y="38404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3A4A"/>
                </a:solidFill>
              </a:defRPr>
            </a:pPr>
            <a:r>
              <a:t>Ảnh hưởng chu kỳ</a:t>
            </a:r>
            <a:br/>
            <a:r>
              <a:t>đầu tư xây dựng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66560" y="5394960"/>
            <a:ext cx="1554480" cy="457200"/>
          </a:xfrm>
          <a:prstGeom prst="round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66560" y="541324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Gián tiếp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1554480"/>
            <a:ext cx="2651760" cy="4754880"/>
          </a:xfrm>
          <a:prstGeom prst="roundRect">
            <a:avLst/>
          </a:prstGeom>
          <a:solidFill>
            <a:srgbClr val="E8F8F5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9966960" y="1920240"/>
            <a:ext cx="822960" cy="82296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>
                <a:solidFill>
                  <a:srgbClr val="FFFFFF"/>
                </a:solidFill>
              </a:defRPr>
            </a:pPr>
            <a:r>
              <a:t>📊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0" y="30175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B8A4B"/>
                </a:solidFill>
              </a:defRPr>
            </a:pPr>
            <a:r>
              <a:t>XU HƯỚNG CĐS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46920" y="3566160"/>
            <a:ext cx="1554480" cy="27432"/>
          </a:xfrm>
          <a:prstGeom prst="rect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281160" y="38404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2D3A4A"/>
                </a:solidFill>
              </a:defRPr>
            </a:pPr>
            <a:r>
              <a:t>Chuyển đổi số &amp; BIM</a:t>
            </a:r>
            <a:br/>
            <a:r>
              <a:t>Cơ hội tăng trưởng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646920" y="5394960"/>
            <a:ext cx="1554480" cy="457200"/>
          </a:xfrm>
          <a:prstGeom prst="roundRect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646920" y="541324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Trực tiếp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① GIÁ VÀNG — TÁC ĐỘNG GIÁN TIẾP QUA USD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2377440"/>
          </a:xfrm>
          <a:prstGeom prst="roundRect">
            <a:avLst/>
          </a:prstGeom>
          <a:solidFill>
            <a:srgbClr val="FEF9E7"/>
          </a:solidFill>
          <a:ln w="1905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4A017"/>
                </a:solidFill>
              </a:defRPr>
            </a:pPr>
            <a:r>
              <a:t>QUY LUẬT TỶ LỆ NGHỊCH VÀNG — USD</a:t>
            </a:r>
          </a:p>
        </p:txBody>
      </p:sp>
      <p:sp>
        <p:nvSpPr>
          <p:cNvPr id="6" name="Oval 5"/>
          <p:cNvSpPr/>
          <p:nvPr/>
        </p:nvSpPr>
        <p:spPr>
          <a:xfrm>
            <a:off x="1371600" y="2103120"/>
            <a:ext cx="822960" cy="822960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>
                <a:solidFill>
                  <a:srgbClr val="FFFFFF"/>
                </a:solidFill>
              </a:defRPr>
            </a:pPr>
            <a:r>
              <a:t>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971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4A017"/>
                </a:solidFill>
              </a:defRPr>
            </a:pPr>
            <a:r>
              <a:t>GIÁ VÀNG</a:t>
            </a:r>
          </a:p>
        </p:txBody>
      </p:sp>
      <p:sp>
        <p:nvSpPr>
          <p:cNvPr id="8" name="Left-Right Arrow 7"/>
          <p:cNvSpPr/>
          <p:nvPr/>
        </p:nvSpPr>
        <p:spPr>
          <a:xfrm>
            <a:off x="2468880" y="2286000"/>
            <a:ext cx="1097280" cy="457200"/>
          </a:xfrm>
          <a:prstGeom prst="leftRightArrow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3840480" y="2103120"/>
            <a:ext cx="822960" cy="82296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600">
                <a:solidFill>
                  <a:srgbClr val="FFFFFF"/>
                </a:solidFill>
              </a:defRPr>
            </a:pPr>
            <a:r>
              <a:t>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971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E86AB"/>
                </a:solidFill>
              </a:defRPr>
            </a:pPr>
            <a:r>
              <a:t>USD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337560"/>
            <a:ext cx="47548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F8C8D"/>
                </a:solidFill>
              </a:defRPr>
            </a:pPr>
            <a:r>
              <a:rPr dirty="0" err="1"/>
              <a:t>Không</a:t>
            </a:r>
            <a:r>
              <a:rPr dirty="0"/>
              <a:t> </a:t>
            </a:r>
            <a:r>
              <a:rPr dirty="0" err="1"/>
              <a:t>phải</a:t>
            </a:r>
            <a:r>
              <a:rPr dirty="0"/>
              <a:t> </a:t>
            </a:r>
            <a:r>
              <a:rPr dirty="0" err="1"/>
              <a:t>quy</a:t>
            </a:r>
            <a:r>
              <a:rPr dirty="0"/>
              <a:t> </a:t>
            </a:r>
            <a:r>
              <a:rPr dirty="0" err="1"/>
              <a:t>luật</a:t>
            </a:r>
            <a:r>
              <a:rPr dirty="0"/>
              <a:t> </a:t>
            </a:r>
            <a:r>
              <a:rPr dirty="0" err="1"/>
              <a:t>tuyệt</a:t>
            </a:r>
            <a:r>
              <a:rPr dirty="0"/>
              <a:t> </a:t>
            </a:r>
            <a:r>
              <a:rPr dirty="0" err="1"/>
              <a:t>đối</a:t>
            </a:r>
            <a:r>
              <a:rPr dirty="0"/>
              <a:t> —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tín</a:t>
            </a:r>
            <a:r>
              <a:rPr dirty="0"/>
              <a:t> </a:t>
            </a:r>
            <a:r>
              <a:rPr dirty="0" err="1"/>
              <a:t>hiệu</a:t>
            </a:r>
            <a:r>
              <a:rPr dirty="0"/>
              <a:t> </a:t>
            </a:r>
            <a:r>
              <a:rPr dirty="0" err="1"/>
              <a:t>tham</a:t>
            </a:r>
            <a:r>
              <a:rPr dirty="0"/>
              <a:t> </a:t>
            </a:r>
            <a:r>
              <a:rPr dirty="0" err="1"/>
              <a:t>chiếu</a:t>
            </a:r>
            <a:endParaRPr dirty="0"/>
          </a:p>
        </p:txBody>
      </p:sp>
      <p:sp>
        <p:nvSpPr>
          <p:cNvPr id="13" name="Rounded Rectangle 12"/>
          <p:cNvSpPr/>
          <p:nvPr/>
        </p:nvSpPr>
        <p:spPr>
          <a:xfrm>
            <a:off x="6217920" y="1463040"/>
            <a:ext cx="5486400" cy="2377440"/>
          </a:xfrm>
          <a:prstGeom prst="roundRect">
            <a:avLst/>
          </a:prstGeom>
          <a:solidFill>
            <a:srgbClr val="E8F4F8"/>
          </a:solidFill>
          <a:ln w="1905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t>ẢNH HƯỞNG ĐẾN DOANH NGHIỆP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92240" y="2011680"/>
            <a:ext cx="22860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0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8A4B"/>
                </a:solidFill>
              </a:defRPr>
            </a:pPr>
            <a:r>
              <a:t>▲ USD mạnh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46888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Doanh thu quy VND tăng</a:t>
            </a:r>
            <a:br/>
            <a:r>
              <a:t>→ Thuận lợi cho</a:t>
            </a:r>
            <a:br/>
            <a:r>
              <a:t>báo cáo tài chính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2011680"/>
            <a:ext cx="2286000" cy="1463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235440" y="2057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</a:defRPr>
            </a:pPr>
            <a:r>
              <a:t>▼ USD yếu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468880"/>
            <a:ext cx="2103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Doanh thu quy VND giảm</a:t>
            </a:r>
            <a:br/>
            <a:r>
              <a:t>→ Cần phòng ngừa</a:t>
            </a:r>
            <a:br/>
            <a:r>
              <a:t>rủi ro tỷ giá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206240"/>
            <a:ext cx="1106424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22960" y="4297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B3A5C"/>
                </a:solidFill>
              </a:defRPr>
            </a:pPr>
            <a:r>
              <a:t>💡 VÍ DỤ MINH HỌA — Quản trị rủi ro tỷ giá (Financial Risk Management)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800600"/>
            <a:ext cx="2377440" cy="1371600"/>
          </a:xfrm>
          <a:prstGeom prst="round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4846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7F8C8D"/>
                </a:solidFill>
              </a:defRPr>
            </a:pPr>
            <a:r>
              <a:t>Hợp đồng tháng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21208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3A5C"/>
                </a:solidFill>
              </a:defRPr>
            </a:pPr>
            <a:r>
              <a:t>10.000 USD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2E86AB"/>
                </a:solidFill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66160" y="4800600"/>
            <a:ext cx="2377440" cy="1371600"/>
          </a:xfrm>
          <a:prstGeom prst="round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57600" y="4846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7F8C8D"/>
                </a:solidFill>
              </a:defRPr>
            </a:pPr>
            <a:r>
              <a:t>Tỷ giá biến động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521208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3A5C"/>
                </a:solidFill>
              </a:defRPr>
            </a:pPr>
            <a:r>
              <a:t>24.800 → 25.300 VND/USD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5216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2E86AB"/>
                </a:solidFill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9360" y="4800600"/>
            <a:ext cx="2377440" cy="1371600"/>
          </a:xfrm>
          <a:prstGeom prst="round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00800" y="4846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7F8C8D"/>
                </a:solidFill>
              </a:defRPr>
            </a:pPr>
            <a:r>
              <a:t>Chênh lệch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521208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3A5C"/>
                </a:solidFill>
              </a:defRPr>
            </a:pPr>
            <a:r>
              <a:t>+500 VND/USD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5166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2E86AB"/>
                </a:solidFill>
              </a:defRPr>
            </a:pPr>
            <a: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52560" y="4800600"/>
            <a:ext cx="2377440" cy="1371600"/>
          </a:xfrm>
          <a:prstGeom prst="roundRect">
            <a:avLst/>
          </a:prstGeom>
          <a:solidFill>
            <a:srgbClr val="E8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44000" y="484632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7F8C8D"/>
                </a:solidFill>
              </a:defRPr>
            </a:pPr>
            <a:r>
              <a:t>Tác động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0" y="521208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3A5C"/>
                </a:solidFill>
              </a:defRPr>
            </a:pPr>
            <a:r>
              <a:t>+5.000.000 VND/tháng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② GIÁ XĂNG DẦU — CHI PHÍ VẬN HÀNH &amp; NHÂN SỰ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486400" cy="2194560"/>
          </a:xfrm>
          <a:prstGeom prst="roundRect">
            <a:avLst/>
          </a:prstGeom>
          <a:solidFill>
            <a:srgbClr val="FDF2E9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6C00"/>
                </a:solidFill>
              </a:defRPr>
            </a:pPr>
            <a:r>
              <a:t>⛽ CHÍNH SÁCH TRỢ CẤP ĐI LẠI HIỆN TẠI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0574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A4A"/>
                </a:solidFill>
              </a:defRPr>
            </a:pPr>
            <a:r>
              <a:t>📍 Phạm vi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20574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Bán kính 25 km tại TP.HCM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A4A"/>
                </a:solidFill>
              </a:defRPr>
            </a:pPr>
            <a:r>
              <a:t>💵 Mức trợ cấp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56032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2.500 VND/km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63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D3A4A"/>
                </a:solidFill>
              </a:defRPr>
            </a:pPr>
            <a:r>
              <a:t>🔄 Áp dụng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30632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Cả chiều đi và chiều về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463040"/>
            <a:ext cx="53035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0" y="15544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86C00"/>
                </a:solidFill>
              </a:defRPr>
            </a:pPr>
            <a:r>
              <a:t>🧮 VÍ DỤ: Nhân viên cách 20 km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2103120"/>
            <a:ext cx="4754880" cy="365760"/>
          </a:xfrm>
          <a:prstGeom prst="round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66560" y="21031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Bước 1: 20 km × 2 chiều = 40 km/ngày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2560320"/>
            <a:ext cx="4754880" cy="365760"/>
          </a:xfrm>
          <a:prstGeom prst="roundRect">
            <a:avLst/>
          </a:prstGeom>
          <a:solidFill>
            <a:srgbClr val="FDF2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25603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Bước 2: 40 km × 2.500 đ = 100.000 đ/ngày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3017520"/>
            <a:ext cx="4754880" cy="36576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66560" y="301752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</a:defRPr>
            </a:pPr>
            <a:r>
              <a:t>Bước 3: 100.000 đ × 22 ngày = 2.200.000 đ/tháng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0233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t>TÁC ĐỘNG KHI GIÁ XĂNG TĂNG — Góc nhìn Quản trị nhân sự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480560"/>
            <a:ext cx="26517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85800" y="4617720"/>
            <a:ext cx="502920" cy="50292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⚠️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46634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</a:defRPr>
            </a:pPr>
            <a:r>
              <a:t>Chi phí DN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2120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A4A"/>
                </a:solidFill>
              </a:defRPr>
            </a:pPr>
            <a:r>
              <a:t>Tổng trợ cấp tăng</a:t>
            </a:r>
            <a:br/>
            <a:r>
              <a:t>theo headcount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29000" y="4480560"/>
            <a:ext cx="26517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3566160" y="4617720"/>
            <a:ext cx="502920" cy="50292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0520" y="46634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6C00"/>
                </a:solidFill>
              </a:defRPr>
            </a:pPr>
            <a:r>
              <a:t>Hài lòng NV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52120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A4A"/>
                </a:solidFill>
              </a:defRPr>
            </a:pPr>
            <a:r>
              <a:t>Mức cố định/km không</a:t>
            </a:r>
            <a:br/>
            <a:r>
              <a:t>bù đủ chi phí thực tế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480560"/>
            <a:ext cx="26517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6446519" y="4617720"/>
            <a:ext cx="502920" cy="502920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79" y="46634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4A017"/>
                </a:solidFill>
              </a:defRPr>
            </a:pPr>
            <a:r>
              <a:t>Turnover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39" y="52120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A4A"/>
                </a:solidFill>
              </a:defRPr>
            </a:pPr>
            <a:r>
              <a:t>Gen Z so sánh tổng</a:t>
            </a:r>
            <a:br/>
            <a:r>
              <a:t>thu nhập sau chi phí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89719" y="4480560"/>
            <a:ext cx="26517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9326879" y="4617720"/>
            <a:ext cx="502920" cy="502920"/>
          </a:xfrm>
          <a:prstGeom prst="ellipse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39" y="466344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3A5C"/>
                </a:solidFill>
              </a:defRPr>
            </a:pPr>
            <a:r>
              <a:t>Áp lực lương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72599" y="52120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A4A"/>
                </a:solidFill>
              </a:defRPr>
            </a:pPr>
            <a:r>
              <a:t>Xăng đẩy CPI →</a:t>
            </a:r>
            <a:br/>
            <a:r>
              <a:t>kỳ vọng tăng lương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③ LÃI SUẤT NGÂN HÀNG — TÁC ĐỘNG CHUỖI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645920"/>
            <a:ext cx="192024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960120" y="1828800"/>
            <a:ext cx="640080" cy="64008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% 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C0392B"/>
                </a:solidFill>
              </a:defRPr>
            </a:pPr>
            <a:r>
              <a:t>Lãi suất</a:t>
            </a:r>
            <a:br/>
            <a:r>
              <a:t>tăng cao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40279" y="2194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7F8C8D"/>
                </a:solidFill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645920"/>
            <a:ext cx="192024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337560" y="1828800"/>
            <a:ext cx="640080" cy="64008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🏗️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60604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86C00"/>
                </a:solidFill>
              </a:defRPr>
            </a:pPr>
            <a:r>
              <a:rPr dirty="0"/>
              <a:t>DN </a:t>
            </a:r>
            <a:r>
              <a:rPr dirty="0" err="1"/>
              <a:t>xây</a:t>
            </a:r>
            <a:r>
              <a:rPr dirty="0"/>
              <a:t> </a:t>
            </a:r>
            <a:r>
              <a:rPr dirty="0" err="1"/>
              <a:t>dựng</a:t>
            </a:r>
            <a:br>
              <a:rPr dirty="0"/>
            </a:br>
            <a:r>
              <a:rPr dirty="0" err="1"/>
              <a:t>khó</a:t>
            </a:r>
            <a:r>
              <a:rPr dirty="0"/>
              <a:t> </a:t>
            </a:r>
            <a:r>
              <a:rPr dirty="0" err="1"/>
              <a:t>vay</a:t>
            </a:r>
            <a:r>
              <a:rPr dirty="0"/>
              <a:t> </a:t>
            </a:r>
            <a:r>
              <a:rPr dirty="0" err="1"/>
              <a:t>vốn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4617719" y="2194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7F8C8D"/>
                </a:solidFill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1645920"/>
            <a:ext cx="192024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5715000" y="1828800"/>
            <a:ext cx="640080" cy="640080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0604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D4A017"/>
                </a:solidFill>
              </a:defRPr>
            </a:pPr>
            <a:r>
              <a:t>Ít dự án mới</a:t>
            </a:r>
            <a:br/>
            <a:r>
              <a:t>triển khai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59" y="2194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7F8C8D"/>
                </a:solidFill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0" y="1645920"/>
            <a:ext cx="192024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092440" y="1828800"/>
            <a:ext cx="640080" cy="64008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520" y="260604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E86AB"/>
                </a:solidFill>
              </a:defRPr>
            </a:pPr>
            <a:r>
              <a:t>Ít bản vẽ</a:t>
            </a:r>
            <a:br/>
            <a:r>
              <a:t>cho công ty mẹ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599" y="2194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7F8C8D"/>
                </a:solidFill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75520" y="1645920"/>
            <a:ext cx="192024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0469880" y="1828800"/>
            <a:ext cx="640080" cy="640080"/>
          </a:xfrm>
          <a:prstGeom prst="ellipse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⚠️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2606040"/>
            <a:ext cx="1737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B3A5C"/>
                </a:solidFill>
              </a:defRPr>
            </a:pPr>
            <a:r>
              <a:t>Giảm việc</a:t>
            </a:r>
            <a:br/>
            <a:r>
              <a:t>chuyển về VN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9319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t>TÁC ĐỘNG NỘI BỘ DOANH NGHIỆP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389120"/>
            <a:ext cx="35204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452628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</a:defRPr>
            </a:pPr>
            <a:r>
              <a:t>Chi phí tài chính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937760"/>
            <a:ext cx="3154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Chi phí vay vốn tăng</a:t>
            </a:r>
            <a:br/>
            <a:r>
              <a:t>(license, thiết bị, mặt bằng)</a:t>
            </a:r>
            <a:br/>
            <a:r>
              <a:t>→ Ăn vào biên lợi nhuận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43400" y="4389120"/>
            <a:ext cx="35204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26280" y="452628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6C00"/>
                </a:solidFill>
              </a:defRPr>
            </a:pPr>
            <a:r>
              <a:t>Dòng tiền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4937760"/>
            <a:ext cx="3154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Doanh thu giảm + chi phí vốn tăng</a:t>
            </a:r>
            <a:br/>
            <a:r>
              <a:t>→ Áp lực đòn bẩy tài chính</a:t>
            </a:r>
            <a:br/>
            <a:r>
              <a:t>và KPI headcount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38160" y="4389120"/>
            <a:ext cx="352044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21040" y="4526280"/>
            <a:ext cx="3154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3A5C"/>
                </a:solidFill>
              </a:defRPr>
            </a:pPr>
            <a:r>
              <a:t>Nhân viên Gen 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4937760"/>
            <a:ext cx="3154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Vay mua nhà/xe lãi suất cao</a:t>
            </a:r>
            <a:br/>
            <a:r>
              <a:t>→ Áp lực tài chính cá nhân</a:t>
            </a:r>
            <a:br/>
            <a:r>
              <a:t>→ Giảm hiệu suất, tăng turnover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④ XU HƯỚNG TIÊU DÙNG — CHUYỂN ĐỔI SỐ &amp; BIM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486400" cy="2377440"/>
          </a:xfrm>
          <a:prstGeom prst="roundRect">
            <a:avLst/>
          </a:prstGeom>
          <a:solidFill>
            <a:srgbClr val="E8F8F5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8A4B"/>
                </a:solidFill>
              </a:defRPr>
            </a:pPr>
            <a:r>
              <a:t>📜 CHÍNH SÁCH CHÍNH PHỦ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• Nghị quyết Chính phủ: Chuyển đổi số trong xây dựng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• BIM trở thành yêu cầu bắt buộc cho dự án công lớn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8803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• Mục tiêu: Quản trị dự án dựa trên dữ liệu số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918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• Xu hướng dài hạn: DN xây dựng buộc phải số hóa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463040"/>
            <a:ext cx="530352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83680" y="15544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8A4B"/>
                </a:solidFill>
              </a:defRPr>
            </a:pPr>
            <a:r>
              <a:t>🚀 CƠ HỘI CHO DOANH NGHIỆP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0574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✓ Đã có năng lực BIM theo chuẩn quốc tế (Đức)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688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✓ Thị trường nội địa VN đang mở rộng nhanh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803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✓ Nhu cầu thuê ngoài dịch vụ BIM tăng cao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32918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D3A4A"/>
                </a:solidFill>
              </a:defRPr>
            </a:pPr>
            <a:r>
              <a:t>✓ Gen Z = digital native → R&amp;D BIM nội bộ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062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3A5C"/>
                </a:solidFill>
              </a:defRPr>
            </a:pPr>
            <a:r>
              <a:t>CHIẾN LƯỢC PHÁT TRIỂN — Tầm nhìn Quản trị chiến lược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63440"/>
            <a:ext cx="2651760" cy="1828800"/>
          </a:xfrm>
          <a:prstGeom prst="roundRect">
            <a:avLst/>
          </a:prstGeom>
          <a:solidFill>
            <a:srgbClr val="1B8A4B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85800" y="4800600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846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Định vị dẫn đầu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</a:defRPr>
            </a:pPr>
            <a:r>
              <a:t>BIM outsourcing</a:t>
            </a:r>
            <a:br/>
            <a:r>
              <a:t>tại Việt Nam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4663440"/>
            <a:ext cx="265176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3566160" y="4800600"/>
            <a:ext cx="457200" cy="45720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8A4B"/>
                </a:solidFill>
              </a:defRPr>
            </a:pPr>
            <a:r>
              <a:t>Productize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53035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A4A"/>
                </a:solidFill>
              </a:defRPr>
            </a:pPr>
            <a:r>
              <a:t>Chuyển giao quy trình</a:t>
            </a:r>
            <a:br/>
            <a:r>
              <a:t>Đức → gói dịch vụ VN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4663440"/>
            <a:ext cx="265176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6446519" y="4800600"/>
            <a:ext cx="457200" cy="45720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59" y="4846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8A4B"/>
                </a:solidFill>
              </a:defRPr>
            </a:pPr>
            <a:r>
              <a:t>Đào tạo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39" y="53035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A4A"/>
                </a:solidFill>
              </a:defRPr>
            </a:pPr>
            <a:r>
              <a:t>Chứng chỉ BIM</a:t>
            </a:r>
            <a:br/>
            <a:r>
              <a:t>Autodesk / BSI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89719" y="4663440"/>
            <a:ext cx="265176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9326879" y="4800600"/>
            <a:ext cx="457200" cy="45720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19" y="4846320"/>
            <a:ext cx="1737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8A4B"/>
                </a:solidFill>
              </a:defRPr>
            </a:pPr>
            <a:r>
              <a:t>Mở rộng KH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2599" y="530352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D3A4A"/>
                </a:solidFill>
              </a:defRPr>
            </a:pPr>
            <a:r>
              <a:t>Local GC, chủ đầu tư</a:t>
            </a:r>
            <a:br/>
            <a:r>
              <a:t>consultant nội địa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TỔNG HỢP MA TRẬN TÁC ĐỘNG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00584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Yếu tố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Kênh tác động chính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Mức độ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Tính chất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Quản trị ưu tiên</a:t>
                      </a:r>
                    </a:p>
                  </a:txBody>
                  <a:tcPr anchor="ctr">
                    <a:solidFill>
                      <a:srgbClr val="1B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D4A017"/>
                          </a:solidFill>
                        </a:defRPr>
                      </a:pPr>
                      <a:r>
                        <a:t>Giá vàng / USD</a:t>
                      </a:r>
                    </a:p>
                  </a:txBody>
                  <a:tcPr anchor="ctr"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Tỷ giá USD→VND</a:t>
                      </a:r>
                    </a:p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ảnh hưởng doanh thu quy đổi</a:t>
                      </a:r>
                    </a:p>
                  </a:txBody>
                  <a:tcPr anchor="ctr"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D3A4A"/>
                          </a:solidFill>
                        </a:defRPr>
                      </a:pPr>
                      <a:r>
                        <a:t>Trung bình</a:t>
                      </a:r>
                    </a:p>
                  </a:txBody>
                  <a:tcPr anchor="ctr"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Gián tiếp</a:t>
                      </a:r>
                    </a:p>
                  </a:txBody>
                  <a:tcPr anchor="ctr">
                    <a:solidFill>
                      <a:srgbClr val="FEF9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Hedge tỷ giá,</a:t>
                      </a:r>
                    </a:p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điều khoản hợp đồng</a:t>
                      </a:r>
                    </a:p>
                  </a:txBody>
                  <a:tcPr anchor="ctr">
                    <a:solidFill>
                      <a:srgbClr val="FEF9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E86C00"/>
                          </a:solidFill>
                        </a:defRPr>
                      </a:pPr>
                      <a:r>
                        <a:t>Giá xăng dầu</a:t>
                      </a:r>
                    </a:p>
                  </a:txBody>
                  <a:tcPr anchor="ctr"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Chi phí trợ cấp đi lại</a:t>
                      </a:r>
                    </a:p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CPI → kỳ vọng lương</a:t>
                      </a:r>
                    </a:p>
                  </a:txBody>
                  <a:tcPr anchor="ctr"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D3A4A"/>
                          </a:solidFill>
                        </a:defRPr>
                      </a:pPr>
                      <a:r>
                        <a:t>Cao</a:t>
                      </a:r>
                    </a:p>
                  </a:txBody>
                  <a:tcPr anchor="ctr"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Trực tiếp</a:t>
                      </a:r>
                    </a:p>
                  </a:txBody>
                  <a:tcPr anchor="ctr"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Hybrid work,</a:t>
                      </a:r>
                    </a:p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tái cấu trúc phụ cấp</a:t>
                      </a:r>
                    </a:p>
                  </a:txBody>
                  <a:tcPr anchor="ctr">
                    <a:solidFill>
                      <a:srgbClr val="FDF2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C0392B"/>
                          </a:solidFill>
                        </a:defRPr>
                      </a:pPr>
                      <a:r>
                        <a:t>Lãi suất NH</a:t>
                      </a:r>
                    </a:p>
                  </a:txBody>
                  <a:tcPr anchor="ctr"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Chu kỳ đầu tư xây dựng</a:t>
                      </a:r>
                    </a:p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Chi phí vốn nội bộ</a:t>
                      </a:r>
                    </a:p>
                  </a:txBody>
                  <a:tcPr anchor="ctr"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D3A4A"/>
                          </a:solidFill>
                        </a:defRPr>
                      </a:pPr>
                      <a:r>
                        <a:t>Cao</a:t>
                      </a:r>
                    </a:p>
                  </a:txBody>
                  <a:tcPr anchor="ctr"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Gián tiếp</a:t>
                      </a:r>
                    </a:p>
                  </a:txBody>
                  <a:tcPr anchor="ctr">
                    <a:solidFill>
                      <a:srgbClr val="FDEDE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Đa dạng hóa</a:t>
                      </a:r>
                    </a:p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nguồn việc &amp; khách</a:t>
                      </a:r>
                    </a:p>
                  </a:txBody>
                  <a:tcPr anchor="ctr">
                    <a:solidFill>
                      <a:srgbClr val="FDED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058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1B8A4B"/>
                          </a:solidFill>
                        </a:defRPr>
                      </a:pPr>
                      <a:r>
                        <a:t>Xu hướng CĐS</a:t>
                      </a:r>
                    </a:p>
                  </a:txBody>
                  <a:tcPr anchor="ctr">
                    <a:solidFill>
                      <a:srgbClr val="E8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BIM bắt buộc → nhu cầu</a:t>
                      </a:r>
                    </a:p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thị trường nội địa tăng</a:t>
                      </a:r>
                    </a:p>
                  </a:txBody>
                  <a:tcPr anchor="ctr">
                    <a:solidFill>
                      <a:srgbClr val="E8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2D3A4A"/>
                          </a:solidFill>
                        </a:defRPr>
                      </a:pPr>
                      <a:r>
                        <a:t>Rất cao</a:t>
                      </a:r>
                    </a:p>
                  </a:txBody>
                  <a:tcPr anchor="ctr">
                    <a:solidFill>
                      <a:srgbClr val="E8F8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Trực tiếp</a:t>
                      </a:r>
                    </a:p>
                  </a:txBody>
                  <a:tcPr anchor="ctr">
                    <a:solidFill>
                      <a:srgbClr val="E8F8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Đầu tư năng lực,</a:t>
                      </a:r>
                    </a:p>
                    <a:p>
                      <a:pPr>
                        <a:defRPr sz="1200">
                          <a:solidFill>
                            <a:srgbClr val="2D3A4A"/>
                          </a:solidFill>
                        </a:defRPr>
                      </a:pPr>
                      <a:r>
                        <a:t>định vị thương hiệu</a:t>
                      </a:r>
                    </a:p>
                  </a:txBody>
                  <a:tcPr anchor="ctr">
                    <a:solidFill>
                      <a:srgbClr val="E8F8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</a:defRPr>
            </a:pPr>
            <a:r>
              <a:t>GIẢI PHÁP ỨNG PHÓ CỦA DOANH NGHIỆP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463040"/>
            <a:ext cx="2743200" cy="5029200"/>
          </a:xfrm>
          <a:prstGeom prst="roundRect">
            <a:avLst/>
          </a:prstGeom>
          <a:solidFill>
            <a:srgbClr val="FEF9E7"/>
          </a:solidFill>
          <a:ln w="1905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6916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D4A017"/>
                </a:solidFill>
              </a:defRPr>
            </a:pPr>
            <a:r>
              <a:t>QUẢN TRỊ RỦI RO TỶ GIÁ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286000"/>
            <a:ext cx="2194560" cy="2286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40080" y="2514600"/>
            <a:ext cx="164592" cy="164592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Đàm phán mức sàn tỷ giá với công ty mẹ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154680"/>
            <a:ext cx="164592" cy="164592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Theo dõi xu hướng USD/VND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794760"/>
            <a:ext cx="164592" cy="164592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7490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Tối ưu thời điểm chuyển đổi ngoại tệ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94960"/>
            <a:ext cx="2011680" cy="731520"/>
          </a:xfrm>
          <a:prstGeom prst="round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53949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Quản trị</a:t>
            </a:r>
            <a:br/>
            <a:r>
              <a:t>tài chính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91840" y="1463040"/>
            <a:ext cx="2743200" cy="5029200"/>
          </a:xfrm>
          <a:prstGeom prst="roundRect">
            <a:avLst/>
          </a:prstGeom>
          <a:solidFill>
            <a:srgbClr val="FDF2E9"/>
          </a:solidFill>
          <a:ln w="1905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3474720" y="1645920"/>
            <a:ext cx="502920" cy="50292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69080" y="16916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86C00"/>
                </a:solidFill>
              </a:defRPr>
            </a:pPr>
            <a:r>
              <a:t>TỐI ƯU CHI PHÍ ĐI LẠI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2286000"/>
            <a:ext cx="2194560" cy="2286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3566160" y="2514600"/>
            <a:ext cx="164592" cy="164592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840480" y="24688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Chính sách hybrid (2-3 ngày WFH)</a:t>
            </a:r>
          </a:p>
        </p:txBody>
      </p:sp>
      <p:sp>
        <p:nvSpPr>
          <p:cNvPr id="22" name="Oval 21"/>
          <p:cNvSpPr/>
          <p:nvPr/>
        </p:nvSpPr>
        <p:spPr>
          <a:xfrm>
            <a:off x="3566160" y="3154680"/>
            <a:ext cx="164592" cy="164592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840480" y="31089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Hỗ trợ vé xe buýt / metro</a:t>
            </a:r>
          </a:p>
        </p:txBody>
      </p:sp>
      <p:sp>
        <p:nvSpPr>
          <p:cNvPr id="24" name="Oval 23"/>
          <p:cNvSpPr/>
          <p:nvPr/>
        </p:nvSpPr>
        <p:spPr>
          <a:xfrm>
            <a:off x="3566160" y="3794760"/>
            <a:ext cx="164592" cy="164592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840480" y="37490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Điều chỉnh trợ cấp theo biến động xăng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57600" y="5394960"/>
            <a:ext cx="2011680" cy="731520"/>
          </a:xfrm>
          <a:prstGeom prst="round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0" y="53949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Quản trị</a:t>
            </a:r>
            <a:br/>
            <a:r>
              <a:t>nhân sự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1463040"/>
            <a:ext cx="2743200" cy="5029200"/>
          </a:xfrm>
          <a:prstGeom prst="roundRect">
            <a:avLst/>
          </a:prstGeom>
          <a:solidFill>
            <a:srgbClr val="E8F4F8"/>
          </a:solidFill>
          <a:ln w="19050">
            <a:solidFill>
              <a:srgbClr val="2E86A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400800" y="1645920"/>
            <a:ext cx="502920" cy="502920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16916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86AB"/>
                </a:solidFill>
              </a:defRPr>
            </a:pPr>
            <a:r>
              <a:t>ĐA DẠNG HÓA NGUỒN VIỆC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2286000"/>
            <a:ext cx="2194560" cy="228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6492240" y="2514600"/>
            <a:ext cx="164592" cy="164592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766560" y="24688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Mở rộng khách hàng nội địa VN</a:t>
            </a:r>
          </a:p>
        </p:txBody>
      </p:sp>
      <p:sp>
        <p:nvSpPr>
          <p:cNvPr id="34" name="Oval 33"/>
          <p:cNvSpPr/>
          <p:nvPr/>
        </p:nvSpPr>
        <p:spPr>
          <a:xfrm>
            <a:off x="6492240" y="3154680"/>
            <a:ext cx="164592" cy="164592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766560" y="31089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Giảm phụ thuộc vào tập đoàn mẹ</a:t>
            </a:r>
          </a:p>
        </p:txBody>
      </p:sp>
      <p:sp>
        <p:nvSpPr>
          <p:cNvPr id="36" name="Oval 35"/>
          <p:cNvSpPr/>
          <p:nvPr/>
        </p:nvSpPr>
        <p:spPr>
          <a:xfrm>
            <a:off x="6492240" y="3794760"/>
            <a:ext cx="164592" cy="164592"/>
          </a:xfrm>
          <a:prstGeom prst="ellipse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766560" y="37490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Xây pipeline dự án 3-6 tháng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0" y="5394960"/>
            <a:ext cx="2011680" cy="731520"/>
          </a:xfrm>
          <a:prstGeom prst="round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583680" y="53949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Quản trị</a:t>
            </a:r>
            <a:br/>
            <a:r>
              <a:t>chiến lược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44000" y="1463040"/>
            <a:ext cx="2743200" cy="5029200"/>
          </a:xfrm>
          <a:prstGeom prst="roundRect">
            <a:avLst/>
          </a:prstGeom>
          <a:solidFill>
            <a:srgbClr val="E8F8F5"/>
          </a:solidFill>
          <a:ln w="19050">
            <a:solidFill>
              <a:srgbClr val="1B8A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Oval 40"/>
          <p:cNvSpPr/>
          <p:nvPr/>
        </p:nvSpPr>
        <p:spPr>
          <a:xfrm>
            <a:off x="9326880" y="1645920"/>
            <a:ext cx="502920" cy="50292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21240" y="1691640"/>
            <a:ext cx="1783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B8A4B"/>
                </a:solidFill>
              </a:defRPr>
            </a:pPr>
            <a:r>
              <a:t>ĐẦU TƯ &amp; ĐỊNH VỊ CHIẾN LƯỢC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418320" y="2286000"/>
            <a:ext cx="2194560" cy="22860"/>
          </a:xfrm>
          <a:prstGeom prst="rect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9418320" y="2514600"/>
            <a:ext cx="164592" cy="164592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692640" y="246888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Đào tạo chuyên sâu BIM (Autodesk/BSI)</a:t>
            </a:r>
          </a:p>
        </p:txBody>
      </p:sp>
      <p:sp>
        <p:nvSpPr>
          <p:cNvPr id="46" name="Oval 45"/>
          <p:cNvSpPr/>
          <p:nvPr/>
        </p:nvSpPr>
        <p:spPr>
          <a:xfrm>
            <a:off x="9418320" y="3154680"/>
            <a:ext cx="164592" cy="164592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9692640" y="310896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Dẫn đầu BIM outsourcing tại VN</a:t>
            </a:r>
          </a:p>
        </p:txBody>
      </p:sp>
      <p:sp>
        <p:nvSpPr>
          <p:cNvPr id="48" name="Oval 47"/>
          <p:cNvSpPr/>
          <p:nvPr/>
        </p:nvSpPr>
        <p:spPr>
          <a:xfrm>
            <a:off x="9418320" y="3794760"/>
            <a:ext cx="164592" cy="164592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9692640" y="374904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D3A4A"/>
                </a:solidFill>
              </a:defRPr>
            </a:pPr>
            <a:r>
              <a:t>Case study, hợp tác trường ĐH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09760" y="5394960"/>
            <a:ext cx="2011680" cy="731520"/>
          </a:xfrm>
          <a:prstGeom prst="roundRect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509760" y="5394960"/>
            <a:ext cx="2011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Quản trị</a:t>
            </a:r>
            <a:br/>
            <a:r>
              <a:t>đổi mới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KẾT LUẬN</a:t>
            </a:r>
          </a:p>
        </p:txBody>
      </p:sp>
      <p:sp>
        <p:nvSpPr>
          <p:cNvPr id="4" name="Oval 3"/>
          <p:cNvSpPr/>
          <p:nvPr/>
        </p:nvSpPr>
        <p:spPr>
          <a:xfrm>
            <a:off x="1371600" y="1828800"/>
            <a:ext cx="594360" cy="594360"/>
          </a:xfrm>
          <a:prstGeom prst="ellipse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Au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8745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Giá vàng → Theo dõi USD/VND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6583680" y="1938528"/>
            <a:ext cx="548640" cy="320040"/>
          </a:xfrm>
          <a:prstGeom prst="rightArrow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06640" y="187452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4A017"/>
                </a:solidFill>
              </a:defRPr>
            </a:pPr>
            <a:r>
              <a:t>Quản trị rủi ro tỷ giá</a:t>
            </a:r>
          </a:p>
        </p:txBody>
      </p:sp>
      <p:sp>
        <p:nvSpPr>
          <p:cNvPr id="8" name="Oval 7"/>
          <p:cNvSpPr/>
          <p:nvPr/>
        </p:nvSpPr>
        <p:spPr>
          <a:xfrm>
            <a:off x="1371600" y="2834640"/>
            <a:ext cx="594360" cy="594360"/>
          </a:xfrm>
          <a:prstGeom prst="ellipse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88036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Giá xăng → Chi phí &amp; con người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583680" y="2944368"/>
            <a:ext cx="548640" cy="320040"/>
          </a:xfrm>
          <a:prstGeom prst="rightArrow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6C00"/>
                </a:solidFill>
              </a:defRPr>
            </a:pPr>
            <a:r>
              <a:t>Quản trị nhân sự linh hoạt</a:t>
            </a:r>
          </a:p>
        </p:txBody>
      </p:sp>
      <p:sp>
        <p:nvSpPr>
          <p:cNvPr id="12" name="Oval 11"/>
          <p:cNvSpPr/>
          <p:nvPr/>
        </p:nvSpPr>
        <p:spPr>
          <a:xfrm>
            <a:off x="1371600" y="3840480"/>
            <a:ext cx="594360" cy="59436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388620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Lãi suất → Chu kỳ xây dựng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583680" y="3950208"/>
            <a:ext cx="548640" cy="320040"/>
          </a:xfrm>
          <a:prstGeom prst="rightArrow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388620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392B"/>
                </a:solidFill>
              </a:defRPr>
            </a:pPr>
            <a:r>
              <a:t>Đa dạng hóa nguồn việc</a:t>
            </a:r>
          </a:p>
        </p:txBody>
      </p:sp>
      <p:sp>
        <p:nvSpPr>
          <p:cNvPr id="16" name="Oval 15"/>
          <p:cNvSpPr/>
          <p:nvPr/>
        </p:nvSpPr>
        <p:spPr>
          <a:xfrm>
            <a:off x="1371600" y="4846320"/>
            <a:ext cx="594360" cy="594360"/>
          </a:xfrm>
          <a:prstGeom prst="ellipse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489204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</a:defRPr>
            </a:pPr>
            <a:r>
              <a:t>CĐS → Cơ hội BIM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583680" y="4956048"/>
            <a:ext cx="548640" cy="320040"/>
          </a:xfrm>
          <a:prstGeom prst="rightArrow">
            <a:avLst/>
          </a:prstGeom>
          <a:solidFill>
            <a:srgbClr val="1B8A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406640" y="4892040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B8A4B"/>
                </a:solidFill>
              </a:defRPr>
            </a:pPr>
            <a:r>
              <a:t>Đầu tư &amp; định vị chiến lược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5760720"/>
            <a:ext cx="6400800" cy="2286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2E86AB"/>
                </a:solidFill>
              </a:defRPr>
            </a:pPr>
            <a:r>
              <a:t>Cảm ơn quý thầy/cô và các anh chị đã lắng nghe!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1181</Words>
  <Application>Microsoft Office PowerPoint</Application>
  <PresentationFormat>Widescreen</PresentationFormat>
  <Paragraphs>211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Nhan Huynh</cp:lastModifiedBy>
  <cp:revision>3</cp:revision>
  <dcterms:created xsi:type="dcterms:W3CDTF">2013-01-27T09:14:16Z</dcterms:created>
  <dcterms:modified xsi:type="dcterms:W3CDTF">2026-05-16T12:01:26Z</dcterms:modified>
  <cp:category/>
</cp:coreProperties>
</file>