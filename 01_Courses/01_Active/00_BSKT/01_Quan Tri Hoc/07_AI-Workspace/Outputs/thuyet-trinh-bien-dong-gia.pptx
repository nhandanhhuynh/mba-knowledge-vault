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PHÂN TÍCH SỰ ẢNH HƯỞNG CỦA BIẾN ĐỘNG</a:t>
            </a:r>
            <a:br/>
            <a:r>
              <a:t>GIÁ VÀNG, GIÁ XĂNG DẦU, LÃI SUẤT NGÂN HÀNG</a:t>
            </a:r>
            <a:br/>
            <a:r>
              <a:t>VÀ XU HƯỚNG TIÊU DÙNG ĐẾN HOẠT ĐỘNG</a:t>
            </a:r>
            <a:br/>
            <a:r>
              <a:t>KINH DOANH CỦA DOANH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86AB"/>
                </a:solidFill>
              </a:defRPr>
            </a:pPr>
            <a:r>
              <a:t>Giải pháp ứng phó của doanh nghiệp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BBCC"/>
                </a:solidFill>
              </a:defRPr>
            </a:pPr>
            <a:r>
              <a:t>Môn: Quản Trị Học | Chương trình MBA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GIỚI THIỆU DOANH NGHIỆP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Lĩnh vực hoạt động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Dựng mô hình 3D và xử lý bản vẽ kỹ thuật cho ngành xây dựng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Trực thuộc tập đoàn mẹ tại Đức — nhận thanh toán bằng USD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Đặc điểm nhân sự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Đội ngũ phần lớn là thế hệ Gen Z — trẻ, năng động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Trụ sở tại TP. Hồ Chí Minh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Nhiệm vụ chính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Triển khai mô hình 3D từ bản vẽ thiết kế của công ty mẹ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Đảm bảo tiêu chuẩn kỹ thuật, chất lượng và tiến độ quốc tế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TỔNG QUAN CÁC YẾU TỐ VĨ MÔ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Bốn yếu tố vĩ mô phân tích: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① Giá vàng — tác động gián tiếp qua biến động USD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② Giá xăng dầu — chi phí trợ cấp đi lại cho nhân viên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③ Lãi suất ngân hàng — ảnh hưởng đến ngành xây dựng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④ Xu hướng tiêu dùng — Chuyển đổi số &amp; BIM trong xây dựng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① GIÁ VÀNG — TÁC ĐỘNG GIÁN TIẾP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E86C00"/>
                </a:solidFill>
              </a:defRPr>
            </a:pPr>
            <a:r>
              <a:t>Quy luật tỷ lệ nghịch Vàng – USD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USD mạnh → Giá vàng giảm | USD yếu → Giá vàng tăng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Mối quan hệ không tuyệt đối nhưng là tín hiệu quan trọng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E86C00"/>
                </a:solidFill>
              </a:defRPr>
            </a:pPr>
            <a:r>
              <a:t>Ảnh hưởng đến doanh nghiệp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Công ty nhận doanh thu bằng USD từ tập đoàn mẹ (Đức)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VND yếu so với USD → Doanh thu quy đổi VND tăng ✓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VND mạnh so với USD → Doanh thu quy đổi VND giảm ✗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E86C00"/>
                </a:solidFill>
              </a:defRPr>
            </a:pPr>
            <a:r>
              <a:t>Kết luận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Giá vàng không tác động trực tiếp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Nhưng là chỉ báo gián tiếp cho biến động tỷ giá USD/VND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② GIÁ XĂNG DẦU — CHI PHÍ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Chính sách trợ cấp đi lại hiện tại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Nhân viên trong bán kính 25 km tại TP.HCM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Trợ cấp: 2.500 VND/km × cả chiều đi và chiều về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Ví dụ tính toán (NV cách 20km)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20 km × 2 chiều × 2.500 đ = 100.000 đ/ngày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≈ 2,2 triệu VND/tháng/nhân viên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Khi giá xăng tăng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Chi phí trợ cấp tăng theo (dù mức đơn giá cố định → NV chịu thiệt)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Áp lực tăng lương, giảm hài lòng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Tác động tâm lý đặc biệt với Gen Z (nhạy cảm chi phí sinh hoạt)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③ LÃI SUẤT NGÂN HÀNG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Tác động lên ngành xây dựng (khách hàng của công ty mẹ)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Lãi suất cao → Doanh nghiệp xây dựng khó vay vốn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Ít dự án mới → Ít bản vẽ thiết kế → Ít việc cho công ty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Tác động trực tiếp lên doanh nghiệp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Chi phí vay vốn tăng (nếu sử dụng tín dụng ngân hàng)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Áp lực dòng tiền khi doanh thu giảm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Tác động lên nhân viên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NV Gen Z: vay mua nhà/xe → lãi suất cao = áp lực tài chính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Giảm động lực, tăng turnover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④ XU HƯỚNG TIÊU DÙNG — CHUYỂN ĐỔI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1B8A4B"/>
                </a:solidFill>
              </a:defRPr>
            </a:pPr>
            <a:r>
              <a:t>Nghị quyết Chính phủ về Chuyển đổi số trong xây dựng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BIM (Building Information Modeling) trở thành yêu cầu bắt buộc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Các dự án công lớn phải áp dụng công nghệ số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1B8A4B"/>
                </a:solidFill>
              </a:defRPr>
            </a:pPr>
            <a:r>
              <a:t>CƠ HỘI LỚN cho doanh nghiệp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Công ty đã có chuyên môn 3D/BIM từ tiêu chuẩn quốc tế (Đức)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Thị trường nội địa Việt Nam đang mở rộng nhanh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Nhu cầu thuê ngoài (outsource) dịch vụ BIM tăng cao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1B8A4B"/>
                </a:solidFill>
              </a:defRPr>
            </a:pPr>
            <a:r>
              <a:t>Xu hướng dài hạn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DN xây dựng VN buộc phải số hóa → tăng cầu dịch vụ mô hình 3D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Cơ hội trở thành đơn vị dẫn đầu BIM outsourcing tại VN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TỔNG HỢP TÁC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Ma trận tác động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| Yếu tố          | Mức độ  | Tính chất     | Hướng         |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| Giá vàng/USD    | Trung bình | Gián tiếp   | Tỷ giá        |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| Giá xăng dầu   | Cao        | Trực tiếp   | Chi phí NV    |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| Lãi suất NH     | Cao        | Gián tiếp   | Nguồn việc    |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| Xu hướng CĐS   | Rất cao    | Trực tiếp   | Cơ hội tăng trưởng 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GIẢI PHÁP ỨNG PHÓ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1. Quản trị rủi ro tỷ giá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Đàm phán hợp đồng với công ty mẹ theo mức sàn tỷ giá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Theo dõi xu hướng USD/VND để tối ưu thời điểm chuyển đổi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2. Tối ưu chi phí đi lại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Áp dụng chính sách làm việc hybrid (2-3 ngày WFH)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Hỗ trợ vé xe buýt/metro cho nhân viên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Xem xét điều chỉnh mức trợ cấp theo biến động xăng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3. Đa dạng hóa nguồn việc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Mở rộng khách hàng nội địa VN (nhờ xu hướng CĐS)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Giảm phụ thuộc hoàn toàn vào tập đoàn mẹ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</a:p>
          <a:p>
            <a:pPr>
              <a:spcBef>
                <a:spcPts val="1600"/>
              </a:spcBef>
              <a:defRPr sz="1800" b="1">
                <a:solidFill>
                  <a:srgbClr val="2E86AB"/>
                </a:solidFill>
              </a:defRPr>
            </a:pPr>
            <a:r>
              <a:t>4. Đầu tư &amp; định vị chiến lược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Đào tạo chuyên sâu BIM cho nhân viên</a:t>
            </a:r>
          </a:p>
          <a:p>
            <a:pPr>
              <a:spcBef>
                <a:spcPts val="1000"/>
              </a:spcBef>
              <a:defRPr sz="1800">
                <a:solidFill>
                  <a:srgbClr val="2D3A4A"/>
                </a:solidFill>
              </a:defRPr>
            </a:pPr>
            <a:r>
              <a:t>• Trở thành đơn vị dẫn đầu BIM outsourcing tại Việt Nam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CDDEE"/>
                </a:solidFill>
              </a:defRPr>
            </a:pPr>
            <a:r>
              <a:t>Biến động vĩ mô vừa là thách thức vừa là cơ hội.</a:t>
            </a:r>
            <a:br/>
            <a:r>
              <a:t>Doanh nghiệp cần chủ động ứng phó với rủi ro tỷ giá và chi phí,</a:t>
            </a:r>
            <a:br/>
            <a:r>
              <a:t>đồng thời nắm bắt cơ hội từ xu hướng chuyển đổi số</a:t>
            </a:r>
            <a:br/>
            <a:r>
              <a:t>để phát triển bền vững trong ngành xây dựng.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E86AB"/>
                </a:solidFill>
              </a:defRPr>
            </a:pPr>
            <a:r>
              <a:t>Cảm ơn quý thầy/cô và các anh chị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