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84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2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" cy="25603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PHÂN TÍCH SỰ ẢNH HƯỞNG CỦA BIẾN ĐỘNG</a:t>
            </a:r>
            <a:br/>
            <a:r>
              <a:t>GIÁ VÀNG, GIÁ XĂNG DẦU, LÃI SUẤT NGÂN HÀNG</a:t>
            </a:r>
            <a:br/>
            <a:r>
              <a:t>VÀ XU HƯỚNG TIÊU DÙNG ĐẾN HOẠT ĐỘNG</a:t>
            </a:r>
            <a:br/>
            <a:r>
              <a:t>KINH DOANH CỦA DOANH NGHIỆP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E86AB"/>
                </a:solidFill>
              </a:defRPr>
            </a:pP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phó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7280" y="4937760"/>
            <a:ext cx="2743200" cy="2743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AABB"/>
                </a:solidFill>
              </a:defRPr>
            </a:pPr>
            <a:r>
              <a:rPr dirty="0"/>
              <a:t>Môn: Quản </a:t>
            </a:r>
            <a:r>
              <a:rPr dirty="0" err="1"/>
              <a:t>Trị</a:t>
            </a:r>
            <a:r>
              <a:rPr dirty="0"/>
              <a:t> Học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GIỚI THIỆU DOANH NGHIỆP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926080" cy="20116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45920" y="1737360"/>
            <a:ext cx="640080" cy="6400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🇩🇪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560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</a:defRPr>
            </a:pPr>
            <a:r>
              <a:rPr dirty="0"/>
              <a:t>TẬP ĐOÀN MẸ </a:t>
            </a:r>
            <a:r>
              <a:rPr lang="en-US" dirty="0"/>
              <a:t>-</a:t>
            </a:r>
            <a:r>
              <a:rPr dirty="0"/>
              <a:t> ĐỨC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3A4A"/>
                </a:solidFill>
              </a:defRPr>
            </a:pPr>
            <a:r>
              <a:t>Cung cấp bản vẽ thiết kế</a:t>
            </a:r>
            <a:br/>
            <a:r>
              <a:t>Thanh toán bằng USD</a:t>
            </a:r>
            <a:br/>
            <a:r>
              <a:t>Tiêu chuẩn kỹ thuật quốc tế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66160" y="2377440"/>
            <a:ext cx="731520" cy="41148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2926080" cy="201168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1B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577840" y="1737360"/>
            <a:ext cx="640080" cy="640080"/>
          </a:xfrm>
          <a:prstGeom prst="ellipse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🇻🇳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560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8A4B"/>
                </a:solidFill>
              </a:defRPr>
            </a:pPr>
            <a:r>
              <a:rPr dirty="0"/>
              <a:t>CÔNG TY </a:t>
            </a:r>
            <a:r>
              <a:rPr lang="en-US" dirty="0"/>
              <a:t>-</a:t>
            </a:r>
            <a:r>
              <a:rPr dirty="0"/>
              <a:t> TP.HCM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3A4A"/>
                </a:solidFill>
              </a:defRPr>
            </a:pP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3D / BIM</a:t>
            </a:r>
            <a:br>
              <a:rPr dirty="0"/>
            </a:br>
            <a:r>
              <a:rPr dirty="0" err="1"/>
              <a:t>Đội</a:t>
            </a:r>
            <a:r>
              <a:rPr dirty="0"/>
              <a:t> </a:t>
            </a:r>
            <a:r>
              <a:rPr dirty="0" err="1"/>
              <a:t>ngũ</a:t>
            </a:r>
            <a:r>
              <a:rPr dirty="0"/>
              <a:t> Gen Z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động</a:t>
            </a:r>
            <a:br>
              <a:rPr dirty="0"/>
            </a:br>
            <a:r>
              <a:rPr dirty="0"/>
              <a:t>Chi </a:t>
            </a:r>
            <a:r>
              <a:rPr dirty="0" err="1"/>
              <a:t>phí</a:t>
            </a:r>
            <a:r>
              <a:rPr dirty="0"/>
              <a:t> VND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98079" y="2377440"/>
            <a:ext cx="731520" cy="411480"/>
          </a:xfrm>
          <a:prstGeom prst="rightArrow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0" y="1645920"/>
            <a:ext cx="2926080" cy="201168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0" y="1737360"/>
            <a:ext cx="640080" cy="6400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🏗️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6C00"/>
                </a:solidFill>
              </a:defRPr>
            </a:pPr>
            <a:r>
              <a:t>SẢN PHẨM ĐẦU 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834640"/>
            <a:ext cx="2560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3A4A"/>
                </a:solidFill>
              </a:defRPr>
            </a:pP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3D </a:t>
            </a:r>
            <a:r>
              <a:rPr dirty="0" err="1"/>
              <a:t>chất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dirty="0" err="1"/>
              <a:t>cao</a:t>
            </a:r>
            <a:br>
              <a:rPr dirty="0"/>
            </a:br>
            <a:r>
              <a:rPr dirty="0" err="1"/>
              <a:t>Đúng</a:t>
            </a:r>
            <a:r>
              <a:rPr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dirty="0" err="1"/>
              <a:t>quốc</a:t>
            </a:r>
            <a:r>
              <a:rPr dirty="0"/>
              <a:t> </a:t>
            </a:r>
            <a:r>
              <a:rPr dirty="0" err="1"/>
              <a:t>tế</a:t>
            </a:r>
            <a:br>
              <a:rPr dirty="0"/>
            </a:br>
            <a:r>
              <a:rPr dirty="0"/>
              <a:t>Phục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ngành</a:t>
            </a:r>
            <a:r>
              <a:rPr dirty="0"/>
              <a:t>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1136468" y="4114800"/>
            <a:ext cx="26060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05148" y="425196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3628" y="48920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</a:defRPr>
            </a:pPr>
            <a:r>
              <a:t>Tiêu chuẩn quốc tế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3628" y="5303520"/>
            <a:ext cx="2331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3A4A"/>
                </a:solidFill>
              </a:defRPr>
            </a:pPr>
            <a:r>
              <a:rPr dirty="0"/>
              <a:t>Quy </a:t>
            </a:r>
            <a:r>
              <a:rPr dirty="0" err="1"/>
              <a:t>trình</a:t>
            </a:r>
            <a:r>
              <a:rPr dirty="0"/>
              <a:t>, template</a:t>
            </a:r>
            <a:br>
              <a:rPr dirty="0"/>
            </a:b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EU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6828" y="4114800"/>
            <a:ext cx="26060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885508" y="425196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3988" y="48920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</a:defRPr>
            </a:pPr>
            <a:r>
              <a:t>Thu nhập 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53988" y="530352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3A4A"/>
                </a:solidFill>
              </a:defRPr>
            </a:pPr>
            <a:r>
              <a:t>Doanh thu ghi nhận USD</a:t>
            </a:r>
            <a:br/>
            <a:r>
              <a:t>Chi phí tính bằng VND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4347" y="4142792"/>
            <a:ext cx="26060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03027" y="4279952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🖥️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1507" y="49200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C"/>
                </a:solidFill>
              </a:defRPr>
            </a:pPr>
            <a:r>
              <a:t>Công nghệ BIM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1507" y="5331512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3A4A"/>
                </a:solidFill>
              </a:defRPr>
            </a:pPr>
            <a:r>
              <a:t>Phần mềm chuyên dụng</a:t>
            </a:r>
            <a:br/>
            <a:r>
              <a:t>Cấu hình máy mạnh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 dirty="0"/>
              <a:t>TỔNG QUAN CÁC YẾU TỐ ẢNH HƯỞNG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51760" cy="475488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25880" y="1920240"/>
            <a:ext cx="822960" cy="8229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7"/>
                </a:solidFill>
              </a:defRPr>
            </a:pPr>
            <a:r>
              <a:t>GIÁ VÀNG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566160"/>
            <a:ext cx="1554480" cy="2743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</a:defRPr>
            </a:pPr>
            <a:r>
              <a:t>Tác động gián tiếp</a:t>
            </a:r>
            <a:br/>
            <a:r>
              <a:t>qua biến động USD/VND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394960"/>
            <a:ext cx="1554480" cy="45720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4132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Trực tiếp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54480"/>
            <a:ext cx="2651760" cy="475488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06240" y="1920240"/>
            <a:ext cx="822960" cy="82296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6C00"/>
                </a:solidFill>
              </a:defRPr>
            </a:pPr>
            <a:r>
              <a:t>GIÁ XĂNG DẦU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3566160"/>
            <a:ext cx="1554480" cy="2743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3840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</a:defRPr>
            </a:pPr>
            <a:r>
              <a:t>Chi phí trợ cấp đi lại</a:t>
            </a:r>
            <a:br/>
            <a:r>
              <a:t>cho nhân viên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5394960"/>
            <a:ext cx="1554480" cy="4572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86200" y="54132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Gián tiếp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2651760" cy="475488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086600" y="1920240"/>
            <a:ext cx="822960" cy="8229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</a:defRPr>
            </a:pPr>
            <a:r>
              <a:t>LÃI SUẤT NH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566160"/>
            <a:ext cx="155448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</a:defRPr>
            </a:pPr>
            <a:r>
              <a:t>Ảnh hưởng chu kỳ</a:t>
            </a:r>
            <a:br/>
            <a:r>
              <a:t>đầu tư xây dựng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5394960"/>
            <a:ext cx="155448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54132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Gián tiếp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554480"/>
            <a:ext cx="2651760" cy="475488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1B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966960" y="1920240"/>
            <a:ext cx="822960" cy="822960"/>
          </a:xfrm>
          <a:prstGeom prst="ellipse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8A4B"/>
                </a:solidFill>
              </a:defRPr>
            </a:pPr>
            <a:r>
              <a:t>XU HƯỚNG CĐS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3566160"/>
            <a:ext cx="1554480" cy="27432"/>
          </a:xfrm>
          <a:prstGeom prst="rect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3840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</a:defRPr>
            </a:pPr>
            <a:r>
              <a:t>Chuyển đổi số &amp; BIM</a:t>
            </a:r>
            <a:br/>
            <a:r>
              <a:t>Cơ hội tăng trưởng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5394960"/>
            <a:ext cx="1554480" cy="457200"/>
          </a:xfrm>
          <a:prstGeom prst="roundRect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46920" y="54132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Trực tiếp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 lang="en-US" dirty="0"/>
              <a:t>1.</a:t>
            </a:r>
            <a:r>
              <a:rPr dirty="0"/>
              <a:t> GIÁ VÀNG </a:t>
            </a:r>
            <a:r>
              <a:rPr lang="en-US" dirty="0"/>
              <a:t>-</a:t>
            </a:r>
            <a:r>
              <a:rPr dirty="0"/>
              <a:t> TÁC ĐỘNG GIÁN TIẾP QUA USD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51760"/>
            <a:ext cx="5303520" cy="237744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7"/>
                </a:solidFill>
              </a:defRPr>
            </a:pPr>
            <a:r>
              <a:t>QUY LUẬT TỶ LỆ NGHỊCH VÀNG — USD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291840"/>
            <a:ext cx="822960" cy="8229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60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017"/>
                </a:solidFill>
              </a:defRPr>
            </a:pPr>
            <a:r>
              <a:t>GIÁ VÀNG</a:t>
            </a:r>
          </a:p>
        </p:txBody>
      </p:sp>
      <p:sp>
        <p:nvSpPr>
          <p:cNvPr id="8" name="Left-Right Arrow 7"/>
          <p:cNvSpPr/>
          <p:nvPr/>
        </p:nvSpPr>
        <p:spPr>
          <a:xfrm>
            <a:off x="2468880" y="3474720"/>
            <a:ext cx="1097280" cy="457200"/>
          </a:xfrm>
          <a:prstGeom prst="left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40480" y="3291840"/>
            <a:ext cx="822960" cy="8229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160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86AB"/>
                </a:solidFill>
              </a:defRPr>
            </a:pPr>
            <a:r>
              <a:t>USD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520005"/>
            <a:ext cx="4754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</a:defRPr>
            </a:pP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luật</a:t>
            </a:r>
            <a:r>
              <a:rPr dirty="0"/>
              <a:t> </a:t>
            </a:r>
            <a:r>
              <a:rPr dirty="0" err="1"/>
              <a:t>tuyệt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tín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tham</a:t>
            </a:r>
            <a:r>
              <a:rPr dirty="0"/>
              <a:t> </a:t>
            </a:r>
            <a:r>
              <a:rPr dirty="0" err="1"/>
              <a:t>chiếu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5486400" cy="237744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ẢNH HƯỞNG ĐẾN DOANH NGHIỆP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200400"/>
            <a:ext cx="22860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8A4B"/>
                </a:solidFill>
              </a:defRPr>
            </a:pPr>
            <a:r>
              <a:t>▲ USD mạnh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rPr dirty="0"/>
              <a:t>Doanh </a:t>
            </a:r>
            <a:r>
              <a:rPr dirty="0" err="1"/>
              <a:t>thu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VND </a:t>
            </a:r>
            <a:r>
              <a:rPr dirty="0" err="1"/>
              <a:t>tăng</a:t>
            </a:r>
            <a:br>
              <a:rPr dirty="0"/>
            </a:br>
            <a:r>
              <a:rPr dirty="0"/>
              <a:t>→ </a:t>
            </a:r>
            <a:r>
              <a:rPr dirty="0" err="1"/>
              <a:t>Thuận</a:t>
            </a:r>
            <a:r>
              <a:rPr dirty="0"/>
              <a:t> </a:t>
            </a:r>
            <a:r>
              <a:rPr dirty="0" err="1"/>
              <a:t>lợi</a:t>
            </a:r>
            <a:r>
              <a:rPr dirty="0"/>
              <a:t> </a:t>
            </a:r>
            <a:r>
              <a:rPr dirty="0" err="1"/>
              <a:t>cho</a:t>
            </a:r>
            <a:br>
              <a:rPr dirty="0"/>
            </a:b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cáo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chính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9144000" y="3200400"/>
            <a:ext cx="22860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▼ USD yếu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6576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t>Doanh thu quy VND giảm</a:t>
            </a:r>
            <a:br/>
            <a:r>
              <a:t>→ Cần phòng ngừa</a:t>
            </a:r>
            <a:br/>
            <a:r>
              <a:t>rủi ro tỷ giá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 lang="en-US" dirty="0"/>
              <a:t>2.</a:t>
            </a:r>
            <a:r>
              <a:rPr dirty="0"/>
              <a:t> GIÁ XĂNG DẦU </a:t>
            </a:r>
            <a:r>
              <a:rPr lang="en-US" dirty="0"/>
              <a:t>-</a:t>
            </a:r>
            <a:r>
              <a:rPr dirty="0"/>
              <a:t> CHI PHÍ VẬN HÀNH &amp; NHÂN SỰ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219456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</a:defRPr>
            </a:pPr>
            <a:r>
              <a:t>⛽ CHÍNH SÁCH TRỢ CẤP ĐI LẠI HIỆN TẠI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A4A"/>
                </a:solidFill>
              </a:defRPr>
            </a:pPr>
            <a:r>
              <a:t>📍 Phạm 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</a:defRPr>
            </a:pPr>
            <a:r>
              <a:t>Bán kính 25 km tại TP.HCM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A4A"/>
                </a:solidFill>
              </a:defRPr>
            </a:pPr>
            <a:r>
              <a:t>💵 Mức trợ cấp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560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</a:defRPr>
            </a:pPr>
            <a:r>
              <a:t>2.500 VND/km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A4A"/>
                </a:solidFill>
              </a:defRPr>
            </a:pPr>
            <a:r>
              <a:t>🔄 Áp dụng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63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</a:defRPr>
            </a:pPr>
            <a:r>
              <a:t>Cả chiều đi và chiều về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rPr dirty="0"/>
              <a:t>TÁC ĐỘNG KHI GIÁ XĂNG TĂNG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Góc</a:t>
            </a:r>
            <a:r>
              <a:rPr dirty="0"/>
              <a:t> </a:t>
            </a:r>
            <a:r>
              <a:rPr dirty="0" err="1"/>
              <a:t>nhìn</a:t>
            </a:r>
            <a:r>
              <a:rPr dirty="0"/>
              <a:t> Quản </a:t>
            </a:r>
            <a:r>
              <a:rPr dirty="0" err="1"/>
              <a:t>trị</a:t>
            </a:r>
            <a:r>
              <a:rPr dirty="0"/>
              <a:t>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sự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1645919" y="4482353"/>
            <a:ext cx="2651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783079" y="4619513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39" y="4665233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Chi phí DN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799" y="5213873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A4A"/>
                </a:solidFill>
              </a:defRPr>
            </a:pPr>
            <a:r>
              <a:t>Tổng trợ cấp tăng</a:t>
            </a:r>
            <a:br/>
            <a:r>
              <a:t>theo headcount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79" y="4482353"/>
            <a:ext cx="2651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63439" y="4619513"/>
            <a:ext cx="502920" cy="50292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799" y="4665233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</a:defRPr>
            </a:pPr>
            <a:r>
              <a:t>Hài lòng NV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5213873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A4A"/>
                </a:solidFill>
              </a:defRPr>
            </a:pPr>
            <a:r>
              <a:t>Mức cố định/km không</a:t>
            </a:r>
            <a:br/>
            <a:r>
              <a:t>bù đủ chi phí thực tế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39" y="4404945"/>
            <a:ext cx="2651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543799" y="4542105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458782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</a:defRPr>
            </a:pPr>
            <a:r>
              <a:t>Áp lực lương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19" y="5136465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A4A"/>
                </a:solidFill>
              </a:defRPr>
            </a:pPr>
            <a:r>
              <a:t>Xăng đẩy CPI →</a:t>
            </a:r>
            <a:br/>
            <a:r>
              <a:t>kỳ vọng tăng lương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 lang="en-US" dirty="0"/>
              <a:t>3.</a:t>
            </a:r>
            <a:r>
              <a:rPr dirty="0"/>
              <a:t> LÃI SUẤT NGÂN HÀNG </a:t>
            </a:r>
            <a:r>
              <a:rPr lang="en-US" dirty="0"/>
              <a:t>-</a:t>
            </a:r>
            <a:r>
              <a:rPr dirty="0"/>
              <a:t> TÁC ĐỘNG CHUỖI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1792" y="1651300"/>
            <a:ext cx="19202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46152" y="183418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%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3232" y="26114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Lãi suất</a:t>
            </a:r>
            <a:br/>
            <a:r>
              <a:t>tăng 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6311" y="21999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F8C8D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29232" y="1651300"/>
            <a:ext cx="19202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23592" y="1834180"/>
            <a:ext cx="640080" cy="6400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🏗️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0672" y="26114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6C00"/>
                </a:solidFill>
              </a:defRPr>
            </a:pPr>
            <a:r>
              <a:rPr dirty="0"/>
              <a:t>DN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br>
              <a:rPr dirty="0"/>
            </a:br>
            <a:r>
              <a:rPr dirty="0" err="1"/>
              <a:t>khó</a:t>
            </a:r>
            <a:r>
              <a:rPr dirty="0"/>
              <a:t> </a:t>
            </a:r>
            <a:r>
              <a:rPr dirty="0" err="1"/>
              <a:t>vay</a:t>
            </a:r>
            <a:r>
              <a:rPr dirty="0"/>
              <a:t> </a:t>
            </a:r>
            <a:r>
              <a:rPr dirty="0" err="1"/>
              <a:t>vốn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803751" y="21999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F8C8D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6672" y="1651300"/>
            <a:ext cx="19202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1032" y="1834180"/>
            <a:ext cx="640080" cy="64008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8112" y="26114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017"/>
                </a:solidFill>
              </a:defRPr>
            </a:pPr>
            <a:r>
              <a:t>Ít dự án mới</a:t>
            </a:r>
            <a:br/>
            <a:r>
              <a:t>triển khai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1191" y="21999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F8C8D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8391" y="1645920"/>
            <a:ext cx="19202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32751" y="1828800"/>
            <a:ext cx="640080" cy="6400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9831" y="26060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</a:defRPr>
            </a:pPr>
            <a:r>
              <a:t>Giảm việc</a:t>
            </a:r>
            <a:br/>
            <a:r>
              <a:t>chuyển về VN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TÁC ĐỘNG NỘI BỘ DOANH NGHIỆP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434840"/>
            <a:ext cx="35204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0" y="45720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Chi phí tài chính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983480"/>
            <a:ext cx="3154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rPr dirty="0"/>
              <a:t>Chi </a:t>
            </a:r>
            <a:r>
              <a:rPr dirty="0" err="1"/>
              <a:t>phí</a:t>
            </a:r>
            <a:r>
              <a:rPr dirty="0"/>
              <a:t> </a:t>
            </a:r>
            <a:r>
              <a:rPr dirty="0" err="1"/>
              <a:t>vay</a:t>
            </a:r>
            <a:r>
              <a:rPr dirty="0"/>
              <a:t> </a:t>
            </a:r>
            <a:r>
              <a:rPr dirty="0" err="1"/>
              <a:t>vốn</a:t>
            </a:r>
            <a:r>
              <a:rPr dirty="0"/>
              <a:t> </a:t>
            </a:r>
            <a:r>
              <a:rPr dirty="0" err="1"/>
              <a:t>tăng</a:t>
            </a:r>
            <a:br>
              <a:rPr dirty="0"/>
            </a:br>
            <a:r>
              <a:rPr dirty="0"/>
              <a:t>(license,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, </a:t>
            </a:r>
            <a:r>
              <a:rPr dirty="0" err="1"/>
              <a:t>mặt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)</a:t>
            </a:r>
            <a:br>
              <a:rPr dirty="0"/>
            </a:br>
            <a:r>
              <a:rPr dirty="0"/>
              <a:t>→ </a:t>
            </a:r>
            <a:r>
              <a:rPr dirty="0" err="1"/>
              <a:t>Ăn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</a:t>
            </a:r>
            <a:r>
              <a:rPr dirty="0" err="1"/>
              <a:t>lợi</a:t>
            </a:r>
            <a:r>
              <a:rPr dirty="0"/>
              <a:t> </a:t>
            </a:r>
            <a:r>
              <a:rPr dirty="0" err="1"/>
              <a:t>nhuận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6355080" y="4434840"/>
            <a:ext cx="35204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5720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</a:defRPr>
            </a:pPr>
            <a:r>
              <a:t>Dòng tiền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98348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t>Doanh thu giảm + chi phí vốn tăng</a:t>
            </a:r>
            <a:br/>
            <a:r>
              <a:t>→ Áp lực đòn bẩy tài chính</a:t>
            </a:r>
            <a:br/>
            <a:r>
              <a:t>và KPI headcount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 lang="en-US" dirty="0"/>
              <a:t>4. </a:t>
            </a:r>
            <a:r>
              <a:rPr dirty="0"/>
              <a:t>XU HƯỚNG TIÊU DÙNG </a:t>
            </a:r>
            <a:r>
              <a:rPr lang="en-US" dirty="0"/>
              <a:t>-</a:t>
            </a:r>
            <a:r>
              <a:rPr dirty="0"/>
              <a:t> CHUYỂN ĐỔI SỐ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86400" cy="237744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1B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8A4B"/>
                </a:solidFill>
              </a:defRPr>
            </a:pPr>
            <a:r>
              <a:t>📜 CHÍNH SÁCH CHÍNH PHỦ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</a:defRPr>
            </a:pPr>
            <a:r>
              <a:t>• Nghị quyết Chính phủ: Chuyển đổi số trong xây dựng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</a:defRPr>
            </a:pPr>
            <a:r>
              <a:t>• BIM trở thành yêu cầu bắt buộc cho dự án công lớn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</a:defRPr>
            </a:pPr>
            <a:r>
              <a:t>• Mục tiêu: Quản trị dự án dựa trên dữ liệu số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</a:defRPr>
            </a:pPr>
            <a:r>
              <a:t>• Xu hướng dài hạn: DN xây dựng buộc phải số hóa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8A4B"/>
                </a:solidFill>
              </a:defRPr>
            </a:pPr>
            <a:r>
              <a:t>🚀 CƠ HỘI CHO DOANH NGHIỆP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</a:defRPr>
            </a:pPr>
            <a:r>
              <a:rPr dirty="0"/>
              <a:t>✓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lực</a:t>
            </a:r>
            <a:r>
              <a:rPr dirty="0"/>
              <a:t> BIM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quốc</a:t>
            </a:r>
            <a:r>
              <a:rPr dirty="0"/>
              <a:t> </a:t>
            </a:r>
            <a:r>
              <a:rPr dirty="0" err="1"/>
              <a:t>tế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</a:defRPr>
            </a:pPr>
            <a:r>
              <a:t>✓ Thị trường nội địa VN đang mở rộng nhanh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</a:defRPr>
            </a:pPr>
            <a:r>
              <a:rPr dirty="0"/>
              <a:t>✓ Nhu </a:t>
            </a:r>
            <a:r>
              <a:rPr dirty="0" err="1"/>
              <a:t>cầu</a:t>
            </a:r>
            <a:r>
              <a:rPr dirty="0"/>
              <a:t> </a:t>
            </a:r>
            <a:r>
              <a:rPr dirty="0" err="1"/>
              <a:t>thuê</a:t>
            </a:r>
            <a:r>
              <a:rPr dirty="0"/>
              <a:t> </a:t>
            </a:r>
            <a:r>
              <a:rPr dirty="0" err="1"/>
              <a:t>ngoài</a:t>
            </a:r>
            <a:r>
              <a:rPr dirty="0"/>
              <a:t> </a:t>
            </a:r>
            <a:r>
              <a:rPr dirty="0" err="1"/>
              <a:t>dịch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BIM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cao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</a:defRPr>
            </a:pPr>
            <a:r>
              <a:t>CHIẾN LƯỢC PHÁT TRIỂN — Tầm nhìn Quản trị chiến lược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2651760" cy="1828800"/>
          </a:xfrm>
          <a:prstGeom prst="roundRect">
            <a:avLst/>
          </a:prstGeom>
          <a:solidFill>
            <a:srgbClr val="1B8A4B"/>
          </a:solidFill>
          <a:ln w="19050">
            <a:solidFill>
              <a:srgbClr val="1B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5800" y="48006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846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rPr dirty="0"/>
              <a:t>Định </a:t>
            </a:r>
            <a:r>
              <a:rPr dirty="0" err="1"/>
              <a:t>vị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rPr dirty="0"/>
              <a:t>BIM outsourcing</a:t>
            </a:r>
            <a:br>
              <a:rPr dirty="0"/>
            </a:br>
            <a:r>
              <a:rPr dirty="0" err="1"/>
              <a:t>tại</a:t>
            </a:r>
            <a:r>
              <a:rPr dirty="0"/>
              <a:t> Việt Nam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66344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66160" y="4800600"/>
            <a:ext cx="457200" cy="457200"/>
          </a:xfrm>
          <a:prstGeom prst="ellipse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846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8A4B"/>
                </a:solidFill>
              </a:defRPr>
            </a:pPr>
            <a:r>
              <a:t>Productize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530352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A4A"/>
                </a:solidFill>
              </a:defRPr>
            </a:pPr>
            <a:r>
              <a:rPr dirty="0" err="1"/>
              <a:t>Chuyển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br>
              <a:rPr dirty="0"/>
            </a:br>
            <a:r>
              <a:rPr dirty="0"/>
              <a:t> →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dịch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VN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66344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46519" y="4800600"/>
            <a:ext cx="457200" cy="457200"/>
          </a:xfrm>
          <a:prstGeom prst="ellipse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4846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8A4B"/>
                </a:solidFill>
              </a:defRPr>
            </a:pPr>
            <a:r>
              <a:t>Đào tạo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39" y="5303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A4A"/>
                </a:solidFill>
              </a:defRPr>
            </a:pPr>
            <a:r>
              <a:t>Chứng chỉ BIM</a:t>
            </a:r>
            <a:br/>
            <a:r>
              <a:t>Autodesk / BSI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19" y="466344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326879" y="4800600"/>
            <a:ext cx="457200" cy="457200"/>
          </a:xfrm>
          <a:prstGeom prst="ellipse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4846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8A4B"/>
                </a:solidFill>
              </a:defRPr>
            </a:pPr>
            <a:r>
              <a:t>Mở rộng KH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599" y="5303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A4A"/>
                </a:solidFill>
              </a:defRPr>
            </a:pPr>
            <a:r>
              <a:rPr dirty="0"/>
              <a:t>Local GC, </a:t>
            </a:r>
            <a:r>
              <a:rPr dirty="0" err="1"/>
              <a:t>chủ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 </a:t>
            </a:r>
            <a:r>
              <a:rPr dirty="0" err="1"/>
              <a:t>tư</a:t>
            </a:r>
            <a:br>
              <a:rPr dirty="0"/>
            </a:br>
            <a:r>
              <a:rPr dirty="0"/>
              <a:t>consultant </a:t>
            </a:r>
            <a:r>
              <a:rPr dirty="0" err="1"/>
              <a:t>nội</a:t>
            </a:r>
            <a:r>
              <a:rPr dirty="0"/>
              <a:t> </a:t>
            </a:r>
            <a:r>
              <a:rPr dirty="0" err="1"/>
              <a:t>địa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TỔNG HỢP MA TRẬN TÁC ĐỘNG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336305"/>
              </p:ext>
            </p:extLst>
          </p:nvPr>
        </p:nvGraphicFramePr>
        <p:xfrm>
          <a:off x="2103120" y="1463040"/>
          <a:ext cx="8686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Yếu tố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Kênh tác động chính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Mức độ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Tính chất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4A017"/>
                          </a:solidFill>
                        </a:defRPr>
                      </a:pPr>
                      <a:r>
                        <a:t>Giá vàng / USD</a:t>
                      </a:r>
                    </a:p>
                  </a:txBody>
                  <a:tcPr anchor="ctr"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Tỷ giá USD→VND</a:t>
                      </a:r>
                    </a:p>
                    <a:p>
                      <a:pPr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ảnh hưởng doanh thu quy đổi</a:t>
                      </a:r>
                    </a:p>
                  </a:txBody>
                  <a:tcPr anchor="ctr"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D3A4A"/>
                          </a:solidFill>
                        </a:defRPr>
                      </a:pPr>
                      <a:r>
                        <a:t>Trung bình</a:t>
                      </a:r>
                    </a:p>
                  </a:txBody>
                  <a:tcPr anchor="ctr"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Gián tiếp</a:t>
                      </a:r>
                    </a:p>
                  </a:txBody>
                  <a:tcPr anchor="ctr"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6C00"/>
                          </a:solidFill>
                        </a:defRPr>
                      </a:pPr>
                      <a:r>
                        <a:t>Giá xăng dầu</a:t>
                      </a:r>
                    </a:p>
                  </a:txBody>
                  <a:tcPr anchor="ctr"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Chi phí trợ cấp đi lại</a:t>
                      </a:r>
                    </a:p>
                    <a:p>
                      <a:pPr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CPI → kỳ vọng lương</a:t>
                      </a:r>
                    </a:p>
                  </a:txBody>
                  <a:tcPr anchor="ctr"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D3A4A"/>
                          </a:solidFill>
                        </a:defRPr>
                      </a:pPr>
                      <a:r>
                        <a:t>Cao</a:t>
                      </a:r>
                    </a:p>
                  </a:txBody>
                  <a:tcPr anchor="ctr">
                    <a:solidFill>
                      <a:srgbClr val="FDF2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Trực tiếp</a:t>
                      </a:r>
                    </a:p>
                  </a:txBody>
                  <a:tcPr anchor="ctr">
                    <a:solidFill>
                      <a:srgbClr val="FD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C0392B"/>
                          </a:solidFill>
                        </a:defRPr>
                      </a:pPr>
                      <a:r>
                        <a:t>Lãi suất NH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Chu kỳ đầu tư xây dựng</a:t>
                      </a:r>
                    </a:p>
                    <a:p>
                      <a:pPr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Chi phí vốn nội bộ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D3A4A"/>
                          </a:solidFill>
                        </a:defRPr>
                      </a:pPr>
                      <a:r>
                        <a:t>Cao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Gián tiếp</a:t>
                      </a:r>
                    </a:p>
                  </a:txBody>
                  <a:tcPr anchor="ctr"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8A4B"/>
                          </a:solidFill>
                        </a:defRPr>
                      </a:pPr>
                      <a:r>
                        <a:rPr dirty="0"/>
                        <a:t>Xu </a:t>
                      </a:r>
                      <a:r>
                        <a:rPr dirty="0" err="1"/>
                        <a:t>hướng</a:t>
                      </a:r>
                      <a:r>
                        <a:rPr dirty="0"/>
                        <a:t> CĐS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BIM bắt buộc → nhu cầu</a:t>
                      </a:r>
                    </a:p>
                    <a:p>
                      <a:pPr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t>thị trường nội địa tăng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D3A4A"/>
                          </a:solidFill>
                        </a:defRPr>
                      </a:pPr>
                      <a:r>
                        <a:t>Rất cao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3A4A"/>
                          </a:solidFill>
                        </a:defRPr>
                      </a:pPr>
                      <a:r>
                        <a:rPr dirty="0" err="1"/>
                        <a:t>Trực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tiếp</a:t>
                      </a:r>
                      <a:endParaRPr dirty="0"/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GIẢI PHÁP ỨNG PHÓ CỦA DOANH NGHIỆP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743200" cy="50292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7"/>
                </a:solidFill>
              </a:defRPr>
            </a:pPr>
            <a:r>
              <a:t>QUẢN TRỊ RỦI RO TỶ GIÁ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194560" cy="228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2514600"/>
            <a:ext cx="164592" cy="164592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t>Đàm phán mức sàn tỷ giá với công ty mẹ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154680"/>
            <a:ext cx="164592" cy="164592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t>Theo dõi xu hướng USD/VND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794760"/>
            <a:ext cx="164592" cy="164592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t>Tối ưu thời điểm chuyển đổi ngoại tệ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2011680" cy="73152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Quản trị</a:t>
            </a:r>
            <a:br/>
            <a:r>
              <a:t>tài chính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463040"/>
            <a:ext cx="2743200" cy="502920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74720" y="1645920"/>
            <a:ext cx="502920" cy="50292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1691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</a:defRPr>
            </a:pPr>
            <a:r>
              <a:t>TỐI ƯU CHI PHÍ ĐI LẠI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286000"/>
            <a:ext cx="2194560" cy="228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566160" y="2514600"/>
            <a:ext cx="164592" cy="164592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246888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hybrid (WFH)</a:t>
            </a:r>
          </a:p>
        </p:txBody>
      </p:sp>
      <p:sp>
        <p:nvSpPr>
          <p:cNvPr id="22" name="Oval 21"/>
          <p:cNvSpPr/>
          <p:nvPr/>
        </p:nvSpPr>
        <p:spPr>
          <a:xfrm>
            <a:off x="3566160" y="3154680"/>
            <a:ext cx="164592" cy="164592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30397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chỉnh</a:t>
            </a:r>
            <a:r>
              <a:rPr dirty="0"/>
              <a:t>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cấp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biến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xăng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3657600" y="5394960"/>
            <a:ext cx="2011680" cy="73152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0" y="5394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Quản trị</a:t>
            </a:r>
            <a:br/>
            <a:r>
              <a:t>nhân sự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463040"/>
            <a:ext cx="2743200" cy="502920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00800" y="164592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1691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AB"/>
                </a:solidFill>
              </a:defRPr>
            </a:pPr>
            <a:r>
              <a:t>ĐA DẠNG HÓA NGUỒN VIỆC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286000"/>
            <a:ext cx="2194560" cy="228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92240" y="2514600"/>
            <a:ext cx="164592" cy="164592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0" y="24688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 </a:t>
            </a:r>
            <a:r>
              <a:rPr dirty="0" err="1"/>
              <a:t>khách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</a:t>
            </a:r>
            <a:r>
              <a:rPr dirty="0" err="1"/>
              <a:t>địa</a:t>
            </a:r>
            <a:r>
              <a:rPr dirty="0"/>
              <a:t> VN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3154680"/>
            <a:ext cx="164592" cy="164592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0" y="310896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phụ</a:t>
            </a:r>
            <a:r>
              <a:rPr dirty="0"/>
              <a:t> </a:t>
            </a:r>
            <a:r>
              <a:rPr dirty="0" err="1"/>
              <a:t>thuộc</a:t>
            </a:r>
            <a:r>
              <a:rPr dirty="0"/>
              <a:t> </a:t>
            </a:r>
            <a:r>
              <a:rPr dirty="0" err="1"/>
              <a:t>vào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</a:t>
            </a:r>
            <a:r>
              <a:rPr dirty="0"/>
              <a:t> </a:t>
            </a:r>
            <a:r>
              <a:rPr dirty="0" err="1"/>
              <a:t>mẹ</a:t>
            </a:r>
            <a:endParaRPr dirty="0"/>
          </a:p>
        </p:txBody>
      </p:sp>
      <p:sp>
        <p:nvSpPr>
          <p:cNvPr id="36" name="Oval 35"/>
          <p:cNvSpPr/>
          <p:nvPr/>
        </p:nvSpPr>
        <p:spPr>
          <a:xfrm>
            <a:off x="6492240" y="3794760"/>
            <a:ext cx="164592" cy="164592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66560" y="3749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rPr dirty="0" err="1"/>
              <a:t>Xây</a:t>
            </a:r>
            <a:r>
              <a:rPr dirty="0"/>
              <a:t> pipeline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 3-6 </a:t>
            </a:r>
            <a:r>
              <a:rPr dirty="0" err="1"/>
              <a:t>tháng</a:t>
            </a:r>
            <a:endParaRPr dirty="0"/>
          </a:p>
        </p:txBody>
      </p:sp>
      <p:sp>
        <p:nvSpPr>
          <p:cNvPr id="38" name="Rounded Rectangle 37"/>
          <p:cNvSpPr/>
          <p:nvPr/>
        </p:nvSpPr>
        <p:spPr>
          <a:xfrm>
            <a:off x="6583680" y="5394960"/>
            <a:ext cx="2011680" cy="7315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5394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Quản trị</a:t>
            </a:r>
            <a:br/>
            <a:r>
              <a:t>chiến lược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1463040"/>
            <a:ext cx="2743200" cy="502920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1B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326880" y="1645920"/>
            <a:ext cx="502920" cy="502920"/>
          </a:xfrm>
          <a:prstGeom prst="ellipse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1691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8A4B"/>
                </a:solidFill>
              </a:defRPr>
            </a:pPr>
            <a:r>
              <a:t>ĐẦU TƯ &amp; ĐỊNH VỊ CHIẾN LƯỢC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2286000"/>
            <a:ext cx="2194560" cy="22860"/>
          </a:xfrm>
          <a:prstGeom prst="rect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418320" y="2514600"/>
            <a:ext cx="164592" cy="164592"/>
          </a:xfrm>
          <a:prstGeom prst="ellipse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92640" y="246888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rPr dirty="0"/>
              <a:t>Đào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chuyên</a:t>
            </a:r>
            <a:r>
              <a:rPr dirty="0"/>
              <a:t> </a:t>
            </a:r>
            <a:r>
              <a:rPr dirty="0" err="1"/>
              <a:t>sâu</a:t>
            </a:r>
            <a:endParaRPr dirty="0"/>
          </a:p>
        </p:txBody>
      </p:sp>
      <p:sp>
        <p:nvSpPr>
          <p:cNvPr id="46" name="Oval 45"/>
          <p:cNvSpPr/>
          <p:nvPr/>
        </p:nvSpPr>
        <p:spPr>
          <a:xfrm>
            <a:off x="9418320" y="3154680"/>
            <a:ext cx="164592" cy="164592"/>
          </a:xfrm>
          <a:prstGeom prst="ellipse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92640" y="3108960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A4A"/>
                </a:solidFill>
              </a:defRPr>
            </a:pP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dirty="0"/>
          </a:p>
        </p:txBody>
      </p:sp>
      <p:sp>
        <p:nvSpPr>
          <p:cNvPr id="50" name="Rounded Rectangle 49"/>
          <p:cNvSpPr/>
          <p:nvPr/>
        </p:nvSpPr>
        <p:spPr>
          <a:xfrm>
            <a:off x="9509760" y="5394960"/>
            <a:ext cx="2011680" cy="731520"/>
          </a:xfrm>
          <a:prstGeom prst="roundRect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09760" y="5394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Quản trị</a:t>
            </a:r>
            <a:br/>
            <a:r>
              <a:t>đổi mới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KẾT LUẬN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828800"/>
            <a:ext cx="594360" cy="5943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74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Giá vàng → Theo dõi USD/VND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583680" y="1938528"/>
            <a:ext cx="548640" cy="320040"/>
          </a:xfrm>
          <a:prstGeom prst="rightArrow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1874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A017"/>
                </a:solidFill>
              </a:defRPr>
            </a:pPr>
            <a:r>
              <a:t>Quản trị rủi ro tỷ giá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834640"/>
            <a:ext cx="594360" cy="59436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880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Giá xăng → Chi phí &amp; con người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83680" y="2944368"/>
            <a:ext cx="548640" cy="320040"/>
          </a:xfrm>
          <a:prstGeom prst="rightArrow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2880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6C00"/>
                </a:solidFill>
              </a:defRPr>
            </a:pPr>
            <a:r>
              <a:t>Quản trị nhân sự linh hoạt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840480"/>
            <a:ext cx="594360" cy="5943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8862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Lãi suất → Chu kỳ xây dựng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583680" y="3950208"/>
            <a:ext cx="548640" cy="32004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38862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392B"/>
                </a:solidFill>
              </a:defRPr>
            </a:pPr>
            <a:r>
              <a:t>Đa dạng hóa nguồn việc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4846320"/>
            <a:ext cx="594360" cy="594360"/>
          </a:xfrm>
          <a:prstGeom prst="ellipse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8920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CĐS → Cơ hội BIM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583680" y="4956048"/>
            <a:ext cx="548640" cy="320040"/>
          </a:xfrm>
          <a:prstGeom prst="rightArrow">
            <a:avLst/>
          </a:prstGeom>
          <a:solidFill>
            <a:srgbClr val="1B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48920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B8A4B"/>
                </a:solidFill>
              </a:defRPr>
            </a:pPr>
            <a:r>
              <a:t>Đầu tư &amp; định vị chiến lược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938</Words>
  <Application>Microsoft Office PowerPoint</Application>
  <PresentationFormat>Widescreen</PresentationFormat>
  <Paragraphs>170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Nhan Huynh</cp:lastModifiedBy>
  <cp:revision>7</cp:revision>
  <dcterms:created xsi:type="dcterms:W3CDTF">2013-01-27T09:14:16Z</dcterms:created>
  <dcterms:modified xsi:type="dcterms:W3CDTF">2026-05-17T01:59:32Z</dcterms:modified>
  <cp:category/>
</cp:coreProperties>
</file>