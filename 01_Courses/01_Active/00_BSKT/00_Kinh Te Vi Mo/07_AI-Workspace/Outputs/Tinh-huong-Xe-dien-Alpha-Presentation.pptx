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1A1A2E"/>
                </a:solidFill>
              </a:rPr>
              <a:t>CUỘC ĐUA XE ĐIỆN TẠI ALPHA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1A1A2E"/>
                </a:solidFill>
              </a:rPr>
              <a:t>Phân tích tình huống Kinh tế Vi mô</a:t>
            </a:r>
          </a:p>
          <a:p>
            <a:r>
              <a:rPr>
                <a:solidFill>
                  <a:srgbClr val="1A1A2E"/>
                </a:solidFill>
              </a:rPr>
              <a:t>Nhóm: [Tên nhóm]</a:t>
            </a:r>
          </a:p>
          <a:p>
            <a:r>
              <a:rPr>
                <a:solidFill>
                  <a:srgbClr val="1A1A2E"/>
                </a:solidFill>
              </a:rPr>
              <a:t>Môn: Kinh tế Vi mô - MBA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TÓM TẮT TÌNH HUỐNG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/>
            </a:pPr>
            <a:r>
              <a:t>• Quốc gia Alpha: Khai tử xe xăng năm 2035</a:t>
            </a:r>
          </a:p>
          <a:p>
            <a:pPr>
              <a:spcAft>
                <a:spcPts val="800"/>
              </a:spcAft>
              <a:defRPr sz="1800"/>
            </a:pPr>
            <a:r>
              <a:t>• Chính sách: Thuế xe xăng ↑ + Trợ cấp xe điện</a:t>
            </a:r>
          </a:p>
          <a:p>
            <a:pPr>
              <a:spcAft>
                <a:spcPts val="800"/>
              </a:spcAft>
              <a:defRPr sz="1800"/>
            </a:pPr>
            <a:r>
              <a:t>• Thu nhập bình quân: Tăng 10%/năm</a:t>
            </a:r>
          </a:p>
          <a:p>
            <a:pPr>
              <a:spcAft>
                <a:spcPts val="800"/>
              </a:spcAft>
              <a:defRPr sz="1800"/>
            </a:pPr>
            <a:r>
              <a:t>• EcoDrive: Hãng nội địa, 60% thị phần</a:t>
            </a:r>
          </a:p>
          <a:p>
            <a:pPr>
              <a:spcAft>
                <a:spcPts val="800"/>
              </a:spcAft>
              <a:defRPr sz="1800"/>
            </a:pPr>
            <a:r>
              <a:t>• Thách thức: Lithium tăng giá + 10 đối thủ ngoại</a:t>
            </a:r>
          </a:p>
          <a:p>
            <a:pPr>
              <a:spcAft>
                <a:spcPts val="800"/>
              </a:spcAft>
              <a:defRPr sz="1800"/>
            </a:pPr>
            <a:r>
              <a:t>• Giá điện sạc: Xu hướng tăng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 b="1"/>
            </a:pPr>
            <a:r>
              <a:t>→ 4 câu hỏi kinh tế vi mô cần phân tích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BÓC TÁCH DỮ LIỆU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/>
            </a:pPr>
            <a:r>
              <a:t>BIẾN NGOẠI SINH:</a:t>
            </a:r>
          </a:p>
          <a:p>
            <a:pPr>
              <a:spcAft>
                <a:spcPts val="800"/>
              </a:spcAft>
              <a:defRPr sz="1800"/>
            </a:pPr>
            <a:r>
              <a:t>  • Thu nhập ↑10%/năm → Cầu tăng</a:t>
            </a:r>
          </a:p>
          <a:p>
            <a:pPr>
              <a:spcAft>
                <a:spcPts val="800"/>
              </a:spcAft>
              <a:defRPr sz="1800"/>
            </a:pPr>
            <a:r>
              <a:t>  • Thuế xe xăng ↑ → Xe điện hấp dẫn hơn</a:t>
            </a:r>
          </a:p>
          <a:p>
            <a:pPr>
              <a:spcAft>
                <a:spcPts val="800"/>
              </a:spcAft>
              <a:defRPr sz="1800"/>
            </a:pPr>
            <a:r>
              <a:t>  • Trợ cấp → Giảm giá thực tế cho người mua</a:t>
            </a:r>
          </a:p>
          <a:p>
            <a:pPr>
              <a:spcAft>
                <a:spcPts val="800"/>
              </a:spcAft>
              <a:defRPr sz="1800"/>
            </a:pPr>
            <a:r>
              <a:t>  • Lithium ↑ → Chi phí sản xuất tăng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CẤU TRÚC THỊ TRƯỜNG:</a:t>
            </a:r>
          </a:p>
          <a:p>
            <a:pPr>
              <a:spcAft>
                <a:spcPts val="800"/>
              </a:spcAft>
              <a:defRPr sz="1800"/>
            </a:pPr>
            <a:r>
              <a:t>  • Từ độc quyền → Cạnh tranh độc quyền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HÀNG HÓA LIÊN QUAN:</a:t>
            </a:r>
          </a:p>
          <a:p>
            <a:pPr>
              <a:spcAft>
                <a:spcPts val="800"/>
              </a:spcAft>
              <a:defRPr sz="1800"/>
            </a:pPr>
            <a:r>
              <a:t>  • Xe xăng = Hàng thay thế</a:t>
            </a:r>
          </a:p>
          <a:p>
            <a:pPr>
              <a:spcAft>
                <a:spcPts val="800"/>
              </a:spcAft>
              <a:defRPr sz="1800"/>
            </a:pPr>
            <a:r>
              <a:t>  • Điện sạc = Hàng bổ sung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CÂU 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Phân tích biến động thị trường xe điện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CÂU 1: CẦU TĂNG + CUNG BỊ KÌM = GIÁ TĂNG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/>
            </a:pPr>
            <a:r>
              <a:t>3 lực đẩy CẦU sang phải:</a:t>
            </a:r>
          </a:p>
          <a:p>
            <a:pPr>
              <a:spcAft>
                <a:spcPts val="800"/>
              </a:spcAft>
              <a:defRPr sz="1800"/>
            </a:pPr>
            <a:r>
              <a:t>  ① Thu nhập tăng 10%/năm → Đủ tiền mua xe điện</a:t>
            </a:r>
          </a:p>
          <a:p>
            <a:pPr>
              <a:spcAft>
                <a:spcPts val="800"/>
              </a:spcAft>
              <a:defRPr sz="1800"/>
            </a:pPr>
            <a:r>
              <a:t>  ② Trợ cấp trực tiếp → Giảm chi phí mua</a:t>
            </a:r>
          </a:p>
          <a:p>
            <a:pPr>
              <a:spcAft>
                <a:spcPts val="800"/>
              </a:spcAft>
              <a:defRPr sz="1800"/>
            </a:pPr>
            <a:r>
              <a:t>  ③ Thuế xe xăng → Xe điện hấp dẫn hơn (hàng thay thế)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CUNG bị ảnh hưởng ngược chiều:</a:t>
            </a:r>
          </a:p>
          <a:p>
            <a:pPr>
              <a:spcAft>
                <a:spcPts val="800"/>
              </a:spcAft>
              <a:defRPr sz="1800"/>
            </a:pPr>
            <a:r>
              <a:t>  ✅ Công nghệ pin ↑ → Cung tăng (S dịch phải)</a:t>
            </a:r>
          </a:p>
          <a:p>
            <a:pPr>
              <a:spcAft>
                <a:spcPts val="800"/>
              </a:spcAft>
              <a:defRPr sz="1800"/>
            </a:pPr>
            <a:r>
              <a:t>  ❌ Lithium ↑ → Chi phí biên tăng (S bị kéo trái)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 b="1"/>
            </a:pPr>
            <a:r>
              <a:t>→ KẾT LUẬN: Cầu mạnh + Cung yếu = GIÁ TĂNG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82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ĐỒ THỊ: Cung-Cầu dịch chuyển</a:t>
            </a:r>
          </a:p>
        </p:txBody>
      </p:sp>
      <p:pic>
        <p:nvPicPr>
          <p:cNvPr id="4" name="Picture 3" descr="01_supply_demand_sh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007999"/>
            <a:ext cx="8280000" cy="61377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CÂU 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Hàng thay thế &amp; Hàng bổ sung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CÂU 2: XE XĂNG (THAY THẾ) vs ĐIỆN SẠC (BỔ SUNG)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/>
            </a:pPr>
            <a:r>
              <a:t>HÀNG THAY THẾ (Xe xăng ↔ Xe điện):</a:t>
            </a:r>
          </a:p>
          <a:p>
            <a:pPr>
              <a:spcAft>
                <a:spcPts val="800"/>
              </a:spcAft>
              <a:defRPr sz="1800"/>
            </a:pPr>
            <a:r>
              <a:t>  • Thuế xe xăng ↑ → Giá xe xăng ↑</a:t>
            </a:r>
          </a:p>
          <a:p>
            <a:pPr>
              <a:spcAft>
                <a:spcPts val="800"/>
              </a:spcAft>
              <a:defRPr sz="1800"/>
            </a:pPr>
            <a:r>
              <a:t>  • Người dùng chuyển sang xe điện → Cầu EV ↑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HÀNG BỔ SUNG (Xe điện + Điện sạc):</a:t>
            </a:r>
          </a:p>
          <a:p>
            <a:pPr>
              <a:spcAft>
                <a:spcPts val="800"/>
              </a:spcAft>
              <a:defRPr sz="1800"/>
            </a:pPr>
            <a:r>
              <a:t>  • Giá điện sạc ↑ → Chi phí vận hành EV ↑</a:t>
            </a:r>
          </a:p>
          <a:p>
            <a:pPr>
              <a:spcAft>
                <a:spcPts val="800"/>
              </a:spcAft>
              <a:defRPr sz="1800"/>
            </a:pPr>
            <a:r>
              <a:t>  • Lợi ích tiết kiệm bị xóa sổ</a:t>
            </a:r>
          </a:p>
          <a:p>
            <a:pPr>
              <a:spcAft>
                <a:spcPts val="800"/>
              </a:spcAft>
              <a:defRPr sz="1800"/>
            </a:pPr>
            <a:r>
              <a:t>  • Lợi ích cận biên (MU) của xe điện GIẢM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 b="1"/>
            </a:pPr>
            <a:r>
              <a:t>⚡ Giá điện sạc tăng = Phá hủy lý do kinh tế mua EV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82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ĐỒ THỊ: Hàng thay thế vs Hàng bổ sung</a:t>
            </a:r>
          </a:p>
        </p:txBody>
      </p:sp>
      <p:pic>
        <p:nvPicPr>
          <p:cNvPr id="4" name="Picture 3" descr="02_substitute_compl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007999"/>
            <a:ext cx="8280000" cy="33474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CÂU 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Quyết định sản lượng &amp; giá của EcoDrive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CÂU 3: ECODRIVE – KHI LITHIUM TĂNG GIÁ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/>
            </a:pPr>
            <a:r>
              <a:t>NGUYÊN TẮC TỐI ĐA HÓA LỢI NHUẬN:</a:t>
            </a:r>
          </a:p>
          <a:p>
            <a:pPr>
              <a:spcAft>
                <a:spcPts val="800"/>
              </a:spcAft>
              <a:defRPr sz="1800"/>
            </a:pPr>
            <a:r>
              <a:t>  Sản xuất tại: MR = MC (Doanh thu biên = Chi phí biên)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KHI LITHIUM TĂNG:</a:t>
            </a:r>
          </a:p>
          <a:p>
            <a:pPr>
              <a:spcAft>
                <a:spcPts val="800"/>
              </a:spcAft>
              <a:defRPr sz="1800"/>
            </a:pPr>
            <a:r>
              <a:t>  • MC tăng → Điểm MR=MC dịch sang trái</a:t>
            </a:r>
          </a:p>
          <a:p>
            <a:pPr>
              <a:spcAft>
                <a:spcPts val="800"/>
              </a:spcAft>
              <a:defRPr sz="1800"/>
            </a:pPr>
            <a:r>
              <a:t>  • → GIẢM sản lượng (Q₂ &lt; Q₁)</a:t>
            </a:r>
          </a:p>
          <a:p>
            <a:pPr>
              <a:spcAft>
                <a:spcPts val="800"/>
              </a:spcAft>
              <a:defRPr sz="1800"/>
            </a:pPr>
            <a:r>
              <a:t>  • → TĂNG giá bán (P₂ &gt; P₁)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LỢI THẾ QUY MÔ (60% thị phần):</a:t>
            </a:r>
          </a:p>
          <a:p>
            <a:pPr>
              <a:spcAft>
                <a:spcPts val="800"/>
              </a:spcAft>
              <a:defRPr sz="1800"/>
            </a:pPr>
            <a:r>
              <a:t>  • Sản xuất nhiều → Chi phí/xe thấp hơn đối thủ</a:t>
            </a:r>
          </a:p>
          <a:p>
            <a:pPr>
              <a:spcAft>
                <a:spcPts val="800"/>
              </a:spcAft>
              <a:defRPr sz="1800"/>
            </a:pPr>
            <a:r>
              <a:t>  • Chịu đựng chi phí tăng TỐT hơn đối thủ nhỏ</a:t>
            </a:r>
          </a:p>
          <a:p>
            <a:pPr>
              <a:spcAft>
                <a:spcPts val="800"/>
              </a:spcAft>
              <a:defRPr sz="1800"/>
            </a:pPr>
            <a:r>
              <a:t>  → Chiến lược: Tăng giá VỪA PHẢI, giữ thị phần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82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ĐỒ THỊ: MR = MC → Quyết định sản lượng</a:t>
            </a:r>
          </a:p>
        </p:txBody>
      </p:sp>
      <p:pic>
        <p:nvPicPr>
          <p:cNvPr id="4" name="Picture 3" descr="03_mc_dec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007999"/>
            <a:ext cx="8280000" cy="613777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CÂU 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Cạnh tranh phi giá &amp; Khác biệt hóa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82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CHUYỂN ĐỔI CẤU TRÚC THỊ TRƯỜNG</a:t>
            </a:r>
          </a:p>
        </p:txBody>
      </p:sp>
      <p:pic>
        <p:nvPicPr>
          <p:cNvPr id="4" name="Picture 3" descr="05_market_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007999"/>
            <a:ext cx="8280000" cy="322998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CÂU 4: TẠI SAO ĐUA R&amp;D THAY VÌ ĐUA GIÁ?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/>
            </a:pPr>
            <a:r>
              <a:t>TẠI SAO KHÔNG GIẢM GIÁ?</a:t>
            </a:r>
          </a:p>
          <a:p>
            <a:pPr>
              <a:spcAft>
                <a:spcPts val="800"/>
              </a:spcAft>
              <a:defRPr sz="1800"/>
            </a:pPr>
            <a:r>
              <a:t>  • Giảm giá → Đối thủ cũng giảm → Tất cả đều lỗ</a:t>
            </a:r>
          </a:p>
          <a:p>
            <a:pPr>
              <a:spcAft>
                <a:spcPts val="800"/>
              </a:spcAft>
              <a:defRPr sz="1800"/>
            </a:pPr>
            <a:r>
              <a:t>  • Lithium đắt → Không còn dư địa giảm giá</a:t>
            </a:r>
          </a:p>
          <a:p>
            <a:pPr>
              <a:spcAft>
                <a:spcPts val="800"/>
              </a:spcAft>
              <a:defRPr sz="1800"/>
            </a:pPr>
            <a:r>
              <a:t>  • Chiến tranh giá = Không ai thắng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TẠI SAO ĐẦU TƯ R&amp;D + QUẢNG CÁO?</a:t>
            </a:r>
          </a:p>
          <a:p>
            <a:pPr>
              <a:spcAft>
                <a:spcPts val="800"/>
              </a:spcAft>
              <a:defRPr sz="1800"/>
            </a:pPr>
            <a:r>
              <a:t>  • Tạo sản phẩm KHÁC BIỆT (tự lái, nội thất thông minh)</a:t>
            </a:r>
          </a:p>
          <a:p>
            <a:pPr>
              <a:spcAft>
                <a:spcPts val="800"/>
              </a:spcAft>
              <a:defRPr sz="1800"/>
            </a:pPr>
            <a:r>
              <a:t>  • Khách hàng TRUNG THÀNH → Ít nhạy cảm với giá</a:t>
            </a:r>
          </a:p>
          <a:p>
            <a:pPr>
              <a:spcAft>
                <a:spcPts val="800"/>
              </a:spcAft>
              <a:defRPr sz="1800"/>
            </a:pPr>
            <a:r>
              <a:t>  • Đường cầu trở nên DỐC hơn (ít co giãn)</a:t>
            </a:r>
          </a:p>
          <a:p>
            <a:pPr>
              <a:spcAft>
                <a:spcPts val="800"/>
              </a:spcAft>
              <a:defRPr sz="1800"/>
            </a:pPr>
            <a:r>
              <a:t>  → Quyền lực thị trường TĂNG → Giữ giá cao được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82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ĐỒ THỊ: Khác biệt hóa → Cầu ít co giãn</a:t>
            </a:r>
          </a:p>
        </p:txBody>
      </p:sp>
      <p:pic>
        <p:nvPicPr>
          <p:cNvPr id="4" name="Picture 3" descr="04_differenti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007999"/>
            <a:ext cx="8280000" cy="334743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KẾT LUẬN – 4 BÀI HỌC KINH TẾ VI MÔ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/>
            </a:pPr>
            <a:r>
              <a:t>① Cung-Cầu cùng tăng + chi phí đầu vào ↑</a:t>
            </a:r>
          </a:p>
          <a:p>
            <a:pPr>
              <a:spcAft>
                <a:spcPts val="800"/>
              </a:spcAft>
              <a:defRPr sz="1800"/>
            </a:pPr>
            <a:r>
              <a:t>   → Giá chịu áp lực TĂNG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② Hàng hóa không đứng đơn lẻ</a:t>
            </a:r>
          </a:p>
          <a:p>
            <a:pPr>
              <a:spcAft>
                <a:spcPts val="800"/>
              </a:spcAft>
              <a:defRPr sz="1800"/>
            </a:pPr>
            <a:r>
              <a:t>   → Thay thế &amp; Bổ sung ảnh hưởng quyết định người mua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③ Doanh nghiệp tối đa hóa LỢI NHUẬN, không phải sản lượng</a:t>
            </a:r>
          </a:p>
          <a:p>
            <a:pPr>
              <a:spcAft>
                <a:spcPts val="800"/>
              </a:spcAft>
              <a:defRPr sz="1800"/>
            </a:pPr>
            <a:r>
              <a:t>   → MR = MC là nguyên tắc vàng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④ Cạnh tranh thông minh = Tạo sự khác biệt</a:t>
            </a:r>
          </a:p>
          <a:p>
            <a:pPr>
              <a:spcAft>
                <a:spcPts val="800"/>
              </a:spcAft>
              <a:defRPr sz="1800"/>
            </a:pPr>
            <a:r>
              <a:t>   → Đừng đua giá, hãy đua GIÁ TRỊ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1A1A2E"/>
                </a:solidFill>
              </a:rPr>
              <a:t>CẢM ƠN ĐÃ LẮNG NGHE!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1A1A2E"/>
                </a:solidFill>
              </a:rP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