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980000"/>
            <a:ext cx="75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CUỘC ĐUA XE ĐIỆN TẠI ALPHA</a:t>
            </a:r>
          </a:p>
          <a:p>
            <a:pPr algn="ctr">
              <a:defRPr sz="1600">
                <a:solidFill>
                  <a:srgbClr val="BBBBBB"/>
                </a:solidFill>
              </a:defRPr>
            </a:pPr>
            <a:r>
              <a:t>Phân tích kinh tế vi mô từ một thị trường đang chuyển đổi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2F"/>
                </a:solidFill>
              </a:defRPr>
            </a:pPr>
            <a:r>
              <a:t>BỐI CẢNH TÌNH HUỐNG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5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Quốc gia Alpha: khai tử xe xăng năm 2035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Chính sách kép: Thuế xe xăng ↑ + Trợ cấp xe điện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Thu nhập bình quân: tăng ổn định 10%/năm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EcoDrive – hãng nội địa chiếm 60% thị phần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10+ đối thủ ngoại quốc xâm nhập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Lithium tăng giá (chuỗi cung ứng đứt gãy)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Giá điện sạc có xu hướng tăng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2F"/>
                </a:solidFill>
              </a:defRPr>
            </a:pPr>
            <a:r>
              <a:t>BÓC TÁCH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5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Biến số                        Dữ liệu                       Loại biến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Thu nhập              +10%/năm              Ngoại sinh – tác động cầu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Thuế xe xăng         Tăng vọt              Ngoại sinh – hàng thay thế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Trợ cấp EV           Trực tiếp              Ngoại sinh – dịch chuyển cầu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Giá Lithium          Tăng                   Ngoại sinh – tác động cung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Công nghệ pin       Tiến bộ               Ngoại sinh – tác động cung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EcoDrive            60% thị phần         Cấu trúc thị trường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Đối thủ mới           10+ hãng ngoại        Cấu trúc thị trường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Giá điện sạc        Xu hướng tăng         Hàng hóa bổ sung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Chiến lược          R&amp;D + Quảng cáo    Cạnh tranh phi giá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4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BIẾN ĐỘNG THỊ TRƯỜNG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Trả lời câu hỏi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2F"/>
                </a:solidFill>
              </a:defRPr>
            </a:pPr>
            <a:r>
              <a:t>CẦU TĂNG MẠNH + CUNG BỊ KÌM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Câu 1: Khi Cung và Cầu cùng dịch phải nhưng Lithium cũng tăng?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5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Phía Cầu – 3 lực đẩy sang phải: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Thu nhập +10%/năm → xã hội giàu hơn, mua nhiều hơn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Trợ cấp trực tiếp → giảm rào cản tài chính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Thuế xe xăng → hàng thay thế đắt, cầu EV tăng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Phía Cung – 2 lực ngược chiều: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Công nghệ pin ↑ → đẩy cung sang phải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Lithium ↑ → kéo cung ngược lại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2D6A4F"/>
                </a:solidFill>
              </a:defRPr>
            </a:pPr>
            <a:r>
              <a:t>→ Hiệu ứng ròng: Cung không theo kịp Cầu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08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1B2F"/>
                </a:solidFill>
              </a:defRPr>
            </a:pPr>
            <a:r>
              <a:t>KếT LUẬN CÂU 1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Áp lực lên giá bán cuối cùng là TĂNG vì Cầu bùng nổ trong khi Cung bị kìm hãm</a:t>
            </a:r>
          </a:p>
        </p:txBody>
      </p:sp>
      <p:pic>
        <p:nvPicPr>
          <p:cNvPr id="3" name="Picture 2" descr="01_supply_demand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54548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4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HÀNG THAY THẾ &amp; HÀNG BỔ SUNG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Trả lời câu hỏi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2F"/>
                </a:solidFill>
              </a:defRPr>
            </a:pPr>
            <a:r>
              <a:t>MỐI QUAN HỆ GIỮa CÁC HÀNG HÓA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Câu 2: Nếu giá điện sạc tăng vọt, lợi ích cận biên bị ảnh hưởng ra sao?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5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Xe xăng ↔ Xe điện (Hàng thay thế):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Thuế xe xăng ↑ → Giá xe xăng ↑ → Cầu EV ↑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(Chính sách hoạt động đúng như kỳ vọng)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Xe điện + Điện sạc (Hàng bổ sung):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Giá điện sạc ↑ → Chi phí vận hành ↑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Lợi ích cận biên (MU) mỗi km giảm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Ưu thế kinh tế của EV bị xoi mòn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2D6A4F"/>
                </a:solidFill>
              </a:defRPr>
            </a:pPr>
            <a:r>
              <a:t>→ Sự ưu tiên của NTD đối với xe điện có thể bị lung 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08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1B2F"/>
                </a:solidFill>
              </a:defRPr>
            </a:pPr>
            <a:r>
              <a:t>KếT LUẬN CÂU 2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Giá hàng bổ sung tăng → Lợi ích cận biên giảm → CS chỉ hiệu quả khi kiểm soát cả hệ thống</a:t>
            </a:r>
          </a:p>
        </p:txBody>
      </p:sp>
      <p:pic>
        <p:nvPicPr>
          <p:cNvPr id="3" name="Picture 2" descr="02_substitute_com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3223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4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QUYẾT ĐỊNH CỦA ECODRIVE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Trả lời câu hỏi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2F"/>
                </a:solidFill>
              </a:defRPr>
            </a:pPr>
            <a:r>
              <a:t>LITHIUM TĂNG → ĐIỀU CHỈNH GIÁ VÀ SẢN LƯỢNG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Câu 3: Với vai trò GĐ sản xuất, quyết định giá và sản lượng như thế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5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EcoDrive 60% thị phần nhờ lợi thế quy mô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Khi Lithium tăng giá: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Chi phí biên (MC) dịch lên trên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Điểm tối ưu MR=MC dịch sang trái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Quyết định: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Giảm sản lượng xuống mức tối ưu mới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Tăng giá bán vừa phải (bù chi phí, giữ thị phần)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• Lợi thế quy mô: chịu đựng tốt hơn đối thủ nhỏ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08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1B2F"/>
                </a:solidFill>
              </a:defRPr>
            </a:pPr>
            <a:r>
              <a:t>KếT LUẬN CÂU 3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Giảm sản lượng, tăng giá vừa phải. Lợi thế quy mô giúp chịu đựng tốt hơn đối thủ.</a:t>
            </a:r>
          </a:p>
        </p:txBody>
      </p:sp>
      <p:pic>
        <p:nvPicPr>
          <p:cNvPr id="3" name="Picture 2" descr="03_mc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5447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4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CẠNH TRANH PHI GIÁ</a:t>
            </a:r>
          </a:p>
          <a:p>
            <a:pPr algn="ctr">
              <a:defRPr sz="1400">
                <a:solidFill>
                  <a:srgbClr val="CCCCCC"/>
                </a:solidFill>
              </a:defRPr>
            </a:pPr>
            <a:r>
              <a:t>Trả lời câu hỏi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08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1B2F"/>
                </a:solidFill>
              </a:defRPr>
            </a:pPr>
            <a:r>
              <a:t>CẤU TRÚC THỊ TRƯỜNG ĐÃ THAY ĐỔI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Từ độc quyền → Độc quyền nhóm / Cạnh tranh độc quyền</a:t>
            </a:r>
          </a:p>
        </p:txBody>
      </p:sp>
      <p:pic>
        <p:nvPicPr>
          <p:cNvPr id="3" name="Picture 2" descr="05_marke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28084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2F"/>
                </a:solidFill>
              </a:defRPr>
            </a:pPr>
            <a:r>
              <a:t>TẠI SAO ĐUA R&amp;D THAY VÌ ĐUA GIÁ?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Câu 4: Tại sao không đua giá? Vai trò khác biệt hóa?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5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Đua giá = đường cùng: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Hãng A giảm → B giảm → tất cả lỗ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Lithium đắt → không còn dư địa giảm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Đua R&amp;D + Quảng cáo = tạo quyền lực: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Sản phẩm "không giống ai" (tự lái, nội thất thông minh)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Khách hàng trung thành, ít nhạy cảm với giá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Đường cầu dốc hơn → quyền lực thị trường cao hơn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2D6A4F"/>
                </a:solidFill>
              </a:defRPr>
            </a:pPr>
            <a:r>
              <a:t>→ Khác biệt hóa giảm độ co giãn của cầu theo giá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08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1B2F"/>
                </a:solidFill>
              </a:defRPr>
            </a:pPr>
            <a:r>
              <a:t>KếT LUẬN CÂU 4</a:t>
            </a:r>
          </a:p>
          <a:p>
            <a:pPr>
              <a:defRPr sz="1200" i="1">
                <a:solidFill>
                  <a:srgbClr val="2D6A4F"/>
                </a:solidFill>
              </a:defRPr>
            </a:pPr>
            <a:r>
              <a:t>Khác biệt hóa → Khách trung thành → Cầu ít co giãn → Giữ giá cao được</a:t>
            </a:r>
          </a:p>
        </p:txBody>
      </p:sp>
      <p:pic>
        <p:nvPicPr>
          <p:cNvPr id="3" name="Picture 2" descr="04_different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8280000" cy="32338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1B2F"/>
                </a:solidFill>
              </a:defRPr>
            </a:pPr>
            <a:r>
              <a:t>ĐÁNH GIÁ TỔNG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080000"/>
            <a:ext cx="756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D6A4F"/>
                </a:solidFill>
              </a:defRPr>
            </a:pPr>
            <a:r>
              <a:t>✓ Câu 1: Thị trường chịu áp lực giá TĂNG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Cầu bùng nổ, Cung bị kìm bởi nguyên liệu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2D6A4F"/>
                </a:solidFill>
              </a:defRPr>
            </a:pPr>
            <a:r>
              <a:t>✓ Câu 2: Hàng bổ sung đắt → Xoi mòn lợi ích cận biên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Chính sách chỉ hiệu quả khi kiểm soát cả hệ thống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2D6A4F"/>
                </a:solidFill>
              </a:defRPr>
            </a:pPr>
            <a:r>
              <a:t>✓ Câu 3: MR=MC → Giảm Q, tăng P vừa phải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Lợi thế quy mô giúp EcoDrive chịu đựng tốt hơn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2D6A4F"/>
                </a:solidFill>
              </a:defRPr>
            </a:pPr>
            <a:r>
              <a:t>✓ Câu 4: Đua giá trị thắng đua giá bán</a:t>
            </a:r>
          </a:p>
          <a:p>
            <a:pPr>
              <a:spcAft>
                <a:spcPts val="500"/>
              </a:spcAft>
              <a:defRPr sz="1600">
                <a:solidFill>
                  <a:srgbClr val="444444"/>
                </a:solidFill>
              </a:defRPr>
            </a:pPr>
            <a:r>
              <a:t>   Khác biệt hóa = vũ khí giữ quyền lực thị trường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980000"/>
            <a:ext cx="75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CẢM ƠN ĐÃ LẮNG NGHE</a:t>
            </a:r>
          </a:p>
          <a:p>
            <a:pPr algn="ctr">
              <a:defRPr sz="1600">
                <a:solidFill>
                  <a:srgbClr val="BBBBBB"/>
                </a:solidFill>
              </a:defRPr>
            </a:pPr>
            <a:r>
              <a:t>Hỏi đáp &amp; Thảo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