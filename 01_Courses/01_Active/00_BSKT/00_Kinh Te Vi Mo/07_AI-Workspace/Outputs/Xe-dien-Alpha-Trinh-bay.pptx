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1980000"/>
            <a:ext cx="75600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400" b="1">
                <a:solidFill>
                  <a:srgbClr val="FFFFFF"/>
                </a:solidFill>
              </a:defRPr>
            </a:pPr>
            <a:r>
              <a:t>CUỘC ĐUA XE ĐIỆN TẠI ALPHA</a:t>
            </a:r>
          </a:p>
          <a:p>
            <a:pPr algn="ctr">
              <a:defRPr sz="1600">
                <a:solidFill>
                  <a:srgbClr val="BBBBBB"/>
                </a:solidFill>
              </a:defRPr>
            </a:pPr>
            <a:r>
              <a:t>Phân tích kinh tế vi mô từ một thị trường đang chuyển đổi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216000"/>
            <a:ext cx="792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B1B2F"/>
                </a:solidFill>
              </a:defRPr>
            </a:pPr>
            <a:r>
              <a:t>BỐI CẢNH TÌNH HUỐNG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8000" y="1080000"/>
            <a:ext cx="7560000" cy="5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444444"/>
                </a:solidFill>
              </a:defRPr>
            </a:pPr>
            <a:r>
              <a:t>Quốc gia Alpha: khai tử xe xăng năm 2035</a:t>
            </a:r>
          </a:p>
          <a:p>
            <a:pPr>
              <a:spcAft>
                <a:spcPts val="500"/>
              </a:spcAft>
              <a:defRPr sz="1600">
                <a:solidFill>
                  <a:srgbClr val="444444"/>
                </a:solidFill>
              </a:defRPr>
            </a:pPr>
            <a:r>
              <a:t>Chính sách kép: Thuế xe xăng ↑ + Trợ cấp xe điện</a:t>
            </a:r>
          </a:p>
          <a:p>
            <a:pPr>
              <a:spcAft>
                <a:spcPts val="500"/>
              </a:spcAft>
              <a:defRPr sz="1600">
                <a:solidFill>
                  <a:srgbClr val="444444"/>
                </a:solidFill>
              </a:defRPr>
            </a:pPr>
            <a:r>
              <a:t>Thu nhập bình quân: tăng ổn định 10%/năm</a:t>
            </a:r>
          </a:p>
          <a:p>
            <a:pPr>
              <a:spcAft>
                <a:spcPts val="500"/>
              </a:spcAft>
              <a:defRPr sz="1600">
                <a:solidFill>
                  <a:srgbClr val="444444"/>
                </a:solidFill>
              </a:defRPr>
            </a:pPr>
            <a:r>
              <a:t>EcoDrive – hãng nội địa chiếm 60% thị phần</a:t>
            </a:r>
          </a:p>
          <a:p>
            <a:pPr>
              <a:spcAft>
                <a:spcPts val="500"/>
              </a:spcAft>
              <a:defRPr sz="1600">
                <a:solidFill>
                  <a:srgbClr val="444444"/>
                </a:solidFill>
              </a:defRPr>
            </a:pPr>
            <a:r>
              <a:t>10+ đối thủ ngoại quốc xâm nhập</a:t>
            </a:r>
          </a:p>
          <a:p>
            <a:pPr>
              <a:spcAft>
                <a:spcPts val="500"/>
              </a:spcAft>
              <a:defRPr sz="1600">
                <a:solidFill>
                  <a:srgbClr val="444444"/>
                </a:solidFill>
              </a:defRPr>
            </a:pPr>
            <a:r>
              <a:t>Lithium tăng giá (chuỗi cung ứng đứt gãy)</a:t>
            </a:r>
          </a:p>
          <a:p>
            <a:pPr>
              <a:spcAft>
                <a:spcPts val="500"/>
              </a:spcAft>
              <a:defRPr sz="1600">
                <a:solidFill>
                  <a:srgbClr val="444444"/>
                </a:solidFill>
              </a:defRPr>
            </a:pPr>
            <a:r>
              <a:t>Giá điện sạc có xu hướng tăng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216000"/>
            <a:ext cx="792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B1B2F"/>
                </a:solidFill>
              </a:defRPr>
            </a:pPr>
            <a:r>
              <a:t>BÓC TÁCH DỮ LIỆU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8000" y="1080000"/>
            <a:ext cx="7560000" cy="5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444444"/>
                </a:solidFill>
              </a:defRPr>
            </a:pPr>
            <a:r>
              <a:t>Biến số                        Dữ liệu                       Ý nghĩa</a:t>
            </a:r>
          </a:p>
          <a:p>
            <a:pPr>
              <a:spcAft>
                <a:spcPts val="500"/>
              </a:spcAft>
              <a:defRPr sz="1600">
                <a:solidFill>
                  <a:srgbClr val="444444"/>
                </a:solidFill>
              </a:defRPr>
            </a:pPr>
            <a:r>
              <a:t>─────────────────────────────────────────────────────────────────</a:t>
            </a:r>
          </a:p>
          <a:p>
            <a:pPr>
              <a:spcAft>
                <a:spcPts val="500"/>
              </a:spcAft>
              <a:defRPr sz="1600">
                <a:solidFill>
                  <a:srgbClr val="444444"/>
                </a:solidFill>
              </a:defRPr>
            </a:pPr>
            <a:r>
              <a:t>Thu nhập              +10%/năm              Làm người mua muốn mua nhiều hơn</a:t>
            </a:r>
          </a:p>
          <a:p>
            <a:pPr>
              <a:spcAft>
                <a:spcPts val="500"/>
              </a:spcAft>
              <a:defRPr sz="1600">
                <a:solidFill>
                  <a:srgbClr val="444444"/>
                </a:solidFill>
              </a:defRPr>
            </a:pPr>
            <a:r>
              <a:t>Thuế xe xăng         Tăng vọt              Làm xe xăng kém hấp dẫn</a:t>
            </a:r>
          </a:p>
          <a:p>
            <a:pPr>
              <a:spcAft>
                <a:spcPts val="500"/>
              </a:spcAft>
              <a:defRPr sz="1600">
                <a:solidFill>
                  <a:srgbClr val="444444"/>
                </a:solidFill>
              </a:defRPr>
            </a:pPr>
            <a:r>
              <a:t>Trợ cấp EV           Trực tiếp              Kéo người mua về xe điện</a:t>
            </a:r>
          </a:p>
          <a:p>
            <a:pPr>
              <a:spcAft>
                <a:spcPts val="500"/>
              </a:spcAft>
              <a:defRPr sz="1600">
                <a:solidFill>
                  <a:srgbClr val="444444"/>
                </a:solidFill>
              </a:defRPr>
            </a:pPr>
            <a:r>
              <a:t>Giá Lithium          Tăng                   Làm sản xuất đắt hơn</a:t>
            </a:r>
          </a:p>
          <a:p>
            <a:pPr>
              <a:spcAft>
                <a:spcPts val="500"/>
              </a:spcAft>
              <a:defRPr sz="1600">
                <a:solidFill>
                  <a:srgbClr val="444444"/>
                </a:solidFill>
              </a:defRPr>
            </a:pPr>
            <a:r>
              <a:t>Công nghệ pin       Tiến bộ               Làm sản xuất rẻ hơn</a:t>
            </a:r>
          </a:p>
          <a:p>
            <a:pPr>
              <a:spcAft>
                <a:spcPts val="500"/>
              </a:spcAft>
              <a:defRPr sz="1600">
                <a:solidFill>
                  <a:srgbClr val="444444"/>
                </a:solidFill>
              </a:defRPr>
            </a:pPr>
            <a:r>
              <a:t>EcoDrive            60% thị phần         Ai bán, bán bao nhiêu</a:t>
            </a:r>
          </a:p>
          <a:p>
            <a:pPr>
              <a:spcAft>
                <a:spcPts val="500"/>
              </a:spcAft>
              <a:defRPr sz="1600">
                <a:solidFill>
                  <a:srgbClr val="444444"/>
                </a:solidFill>
              </a:defRPr>
            </a:pPr>
            <a:r>
              <a:t>Đối thủ mới           10+ hãng ngoại        Cạnh tranh khốc liệt hơn</a:t>
            </a:r>
          </a:p>
          <a:p>
            <a:pPr>
              <a:spcAft>
                <a:spcPts val="500"/>
              </a:spcAft>
              <a:defRPr sz="1600">
                <a:solidFill>
                  <a:srgbClr val="444444"/>
                </a:solidFill>
              </a:defRPr>
            </a:pPr>
            <a:r>
              <a:t>Giá điện sạc        Xu hướng tăng         Chi phí đi kèm khi dùng EV</a:t>
            </a:r>
          </a:p>
          <a:p>
            <a:pPr>
              <a:spcAft>
                <a:spcPts val="500"/>
              </a:spcAft>
              <a:defRPr sz="1600">
                <a:solidFill>
                  <a:srgbClr val="444444"/>
                </a:solidFill>
              </a:defRPr>
            </a:pPr>
            <a:r>
              <a:t>Chiến lược          R&amp;D + Quảng cáo    Giành khách bằng giá trị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6A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2340000"/>
            <a:ext cx="7560000" cy="1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BIẾN ĐỘNG THỊ TRƯỜNG</a:t>
            </a:r>
          </a:p>
          <a:p>
            <a:pPr algn="ctr">
              <a:defRPr sz="1400">
                <a:solidFill>
                  <a:srgbClr val="CCCCCC"/>
                </a:solidFill>
              </a:defRPr>
            </a:pPr>
            <a:r>
              <a:t>Trả lời câu hỏi 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216000"/>
            <a:ext cx="792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B1B2F"/>
                </a:solidFill>
              </a:defRPr>
            </a:pPr>
            <a:r>
              <a:t>CẦU TĂNG MẠNH + CUNG BỊ KÌM</a:t>
            </a:r>
          </a:p>
          <a:p>
            <a:pPr>
              <a:defRPr sz="1200" i="1">
                <a:solidFill>
                  <a:srgbClr val="2D6A4F"/>
                </a:solidFill>
              </a:defRPr>
            </a:pPr>
            <a:r>
              <a:t>Câu 1: Khi Cung và Cầu cùng dịch phải nhưng Lithium cũng tăng?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8000" y="1080000"/>
            <a:ext cx="7560000" cy="5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444444"/>
                </a:solidFill>
              </a:defRPr>
            </a:pPr>
            <a:r>
              <a:t>Phía Cầu – 3 lực đẩy sang phải:</a:t>
            </a:r>
          </a:p>
          <a:p>
            <a:pPr>
              <a:spcAft>
                <a:spcPts val="500"/>
              </a:spcAft>
              <a:defRPr sz="1600">
                <a:solidFill>
                  <a:srgbClr val="444444"/>
                </a:solidFill>
              </a:defRPr>
            </a:pPr>
            <a:r>
              <a:t>   • Thu nhập +10%/năm → xã hội giàu hơn, mua nhiều hơn</a:t>
            </a:r>
          </a:p>
          <a:p>
            <a:pPr>
              <a:spcAft>
                <a:spcPts val="500"/>
              </a:spcAft>
              <a:defRPr sz="1600">
                <a:solidFill>
                  <a:srgbClr val="444444"/>
                </a:solidFill>
              </a:defRPr>
            </a:pPr>
            <a:r>
              <a:t>   • Trợ cấp trực tiếp → giảm rào cản tài chính</a:t>
            </a:r>
          </a:p>
          <a:p>
            <a:pPr>
              <a:spcAft>
                <a:spcPts val="500"/>
              </a:spcAft>
              <a:defRPr sz="1600">
                <a:solidFill>
                  <a:srgbClr val="444444"/>
                </a:solidFill>
              </a:defRPr>
            </a:pPr>
            <a:r>
              <a:t>   • Thuế xe xăng → hàng thay thế đắt, cầu EV tăng</a:t>
            </a:r>
          </a:p>
          <a:p>
            <a:pPr>
              <a:spcAft>
                <a:spcPts val="500"/>
              </a:spcAft>
              <a:defRPr sz="1600">
                <a:solidFill>
                  <a:srgbClr val="444444"/>
                </a:solidFill>
              </a:defRPr>
            </a:pPr>
          </a:p>
          <a:p>
            <a:pPr>
              <a:spcAft>
                <a:spcPts val="500"/>
              </a:spcAft>
              <a:defRPr sz="1600">
                <a:solidFill>
                  <a:srgbClr val="444444"/>
                </a:solidFill>
              </a:defRPr>
            </a:pPr>
            <a:r>
              <a:t>Phía Cung – 2 lực ngược chiều:</a:t>
            </a:r>
          </a:p>
          <a:p>
            <a:pPr>
              <a:spcAft>
                <a:spcPts val="500"/>
              </a:spcAft>
              <a:defRPr sz="1600">
                <a:solidFill>
                  <a:srgbClr val="444444"/>
                </a:solidFill>
              </a:defRPr>
            </a:pPr>
            <a:r>
              <a:t>   • Công nghệ pin ↑ → đẩy cung sang phải</a:t>
            </a:r>
          </a:p>
          <a:p>
            <a:pPr>
              <a:spcAft>
                <a:spcPts val="500"/>
              </a:spcAft>
              <a:defRPr sz="1600">
                <a:solidFill>
                  <a:srgbClr val="444444"/>
                </a:solidFill>
              </a:defRPr>
            </a:pPr>
            <a:r>
              <a:t>   • Lithium ↑ → kéo cung ngược lại</a:t>
            </a:r>
          </a:p>
          <a:p>
            <a:pPr>
              <a:spcAft>
                <a:spcPts val="500"/>
              </a:spcAft>
              <a:defRPr sz="1600">
                <a:solidFill>
                  <a:srgbClr val="444444"/>
                </a:solidFill>
              </a:defRPr>
            </a:pPr>
          </a:p>
          <a:p>
            <a:pPr>
              <a:spcAft>
                <a:spcPts val="500"/>
              </a:spcAft>
              <a:defRPr sz="1600" b="1">
                <a:solidFill>
                  <a:srgbClr val="2D6A4F"/>
                </a:solidFill>
              </a:defRPr>
            </a:pPr>
            <a:r>
              <a:t>→ Hiệu ứng ròng: Cung không theo kịp Cầu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108000"/>
            <a:ext cx="792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B1B2F"/>
                </a:solidFill>
              </a:defRPr>
            </a:pPr>
            <a:r>
              <a:t>KếT LUẬN CÂU 1</a:t>
            </a:r>
          </a:p>
          <a:p>
            <a:pPr>
              <a:defRPr sz="1200" i="1">
                <a:solidFill>
                  <a:srgbClr val="2D6A4F"/>
                </a:solidFill>
              </a:defRPr>
            </a:pPr>
            <a:r>
              <a:t>Áp lực lên giá bán cuối cùng là TĂNG vì Cầu bùng nổ trong khi Cung bị kìm hãm</a:t>
            </a:r>
          </a:p>
        </p:txBody>
      </p:sp>
      <p:pic>
        <p:nvPicPr>
          <p:cNvPr id="3" name="Picture 2" descr="01_supply_demand_shi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000" y="1007999"/>
            <a:ext cx="8280000" cy="545488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6A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2340000"/>
            <a:ext cx="7560000" cy="1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HÀNG THAY THẾ &amp; HÀNG BỔ SUNG</a:t>
            </a:r>
          </a:p>
          <a:p>
            <a:pPr algn="ctr">
              <a:defRPr sz="1400">
                <a:solidFill>
                  <a:srgbClr val="CCCCCC"/>
                </a:solidFill>
              </a:defRPr>
            </a:pPr>
            <a:r>
              <a:t>Trả lời câu hỏi 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216000"/>
            <a:ext cx="792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B1B2F"/>
                </a:solidFill>
              </a:defRPr>
            </a:pPr>
            <a:r>
              <a:t>MỐI QUAN HỆ GIỮa CÁC HÀNG HÓA</a:t>
            </a:r>
          </a:p>
          <a:p>
            <a:pPr>
              <a:defRPr sz="1200" i="1">
                <a:solidFill>
                  <a:srgbClr val="2D6A4F"/>
                </a:solidFill>
              </a:defRPr>
            </a:pPr>
            <a:r>
              <a:t>Câu 2: Nếu giá điện sạc tăng vọt, lợi ích cận biên bị ảnh hưởng ra sao?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8000" y="1080000"/>
            <a:ext cx="7560000" cy="5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444444"/>
                </a:solidFill>
              </a:defRPr>
            </a:pPr>
            <a:r>
              <a:t>Xe xăng ↔ Xe điện (Hàng thay thế):</a:t>
            </a:r>
          </a:p>
          <a:p>
            <a:pPr>
              <a:spcAft>
                <a:spcPts val="500"/>
              </a:spcAft>
              <a:defRPr sz="1600">
                <a:solidFill>
                  <a:srgbClr val="444444"/>
                </a:solidFill>
              </a:defRPr>
            </a:pPr>
            <a:r>
              <a:t>   Thuế xe xăng ↑ → Giá xe xăng ↑ → Cầu EV ↑</a:t>
            </a:r>
          </a:p>
          <a:p>
            <a:pPr>
              <a:spcAft>
                <a:spcPts val="500"/>
              </a:spcAft>
              <a:defRPr sz="1600">
                <a:solidFill>
                  <a:srgbClr val="444444"/>
                </a:solidFill>
              </a:defRPr>
            </a:pPr>
            <a:r>
              <a:t>   (Chính sách hoạt động đúng như kỳ vọng)</a:t>
            </a:r>
          </a:p>
          <a:p>
            <a:pPr>
              <a:spcAft>
                <a:spcPts val="500"/>
              </a:spcAft>
              <a:defRPr sz="1600">
                <a:solidFill>
                  <a:srgbClr val="444444"/>
                </a:solidFill>
              </a:defRPr>
            </a:pPr>
          </a:p>
          <a:p>
            <a:pPr>
              <a:spcAft>
                <a:spcPts val="500"/>
              </a:spcAft>
              <a:defRPr sz="1600">
                <a:solidFill>
                  <a:srgbClr val="444444"/>
                </a:solidFill>
              </a:defRPr>
            </a:pPr>
            <a:r>
              <a:t>Xe điện + Điện sạc (Hàng bổ sung):</a:t>
            </a:r>
          </a:p>
          <a:p>
            <a:pPr>
              <a:spcAft>
                <a:spcPts val="500"/>
              </a:spcAft>
              <a:defRPr sz="1600">
                <a:solidFill>
                  <a:srgbClr val="444444"/>
                </a:solidFill>
              </a:defRPr>
            </a:pPr>
            <a:r>
              <a:t>   Giá điện sạc ↑ → Chi phí vận hành ↑</a:t>
            </a:r>
          </a:p>
          <a:p>
            <a:pPr>
              <a:spcAft>
                <a:spcPts val="500"/>
              </a:spcAft>
              <a:defRPr sz="1600">
                <a:solidFill>
                  <a:srgbClr val="444444"/>
                </a:solidFill>
              </a:defRPr>
            </a:pPr>
            <a:r>
              <a:t>   Lợi ích cận biên mỗi km giảm</a:t>
            </a:r>
          </a:p>
          <a:p>
            <a:pPr>
              <a:spcAft>
                <a:spcPts val="500"/>
              </a:spcAft>
              <a:defRPr sz="1600">
                <a:solidFill>
                  <a:srgbClr val="444444"/>
                </a:solidFill>
              </a:defRPr>
            </a:pPr>
            <a:r>
              <a:t>   Ưu thế kinh tế của EV bị xoi mòn</a:t>
            </a:r>
          </a:p>
          <a:p>
            <a:pPr>
              <a:spcAft>
                <a:spcPts val="500"/>
              </a:spcAft>
              <a:defRPr sz="1600">
                <a:solidFill>
                  <a:srgbClr val="444444"/>
                </a:solidFill>
              </a:defRPr>
            </a:pPr>
          </a:p>
          <a:p>
            <a:pPr>
              <a:spcAft>
                <a:spcPts val="500"/>
              </a:spcAft>
              <a:defRPr sz="1600" b="1">
                <a:solidFill>
                  <a:srgbClr val="2D6A4F"/>
                </a:solidFill>
              </a:defRPr>
            </a:pPr>
            <a:r>
              <a:t>→ Sự ưu tiên của NTD đối với xe điện có thể bị lung lay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108000"/>
            <a:ext cx="792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B1B2F"/>
                </a:solidFill>
              </a:defRPr>
            </a:pPr>
            <a:r>
              <a:t>KếT LUẬN CÂU 2</a:t>
            </a:r>
          </a:p>
          <a:p>
            <a:pPr>
              <a:defRPr sz="1200" i="1">
                <a:solidFill>
                  <a:srgbClr val="2D6A4F"/>
                </a:solidFill>
              </a:defRPr>
            </a:pPr>
            <a:r>
              <a:t>Giá hàng bổ sung tăng → Lợi ích cận biên giảm → CS chỉ hiệu quả khi kiểm soát cả hệ thống</a:t>
            </a:r>
          </a:p>
        </p:txBody>
      </p:sp>
      <p:pic>
        <p:nvPicPr>
          <p:cNvPr id="3" name="Picture 2" descr="02_substitute_compl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000" y="1007999"/>
            <a:ext cx="8280000" cy="322366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6A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2340000"/>
            <a:ext cx="7560000" cy="1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QUYẾT ĐỊNH CỦA ECODRIVE</a:t>
            </a:r>
          </a:p>
          <a:p>
            <a:pPr algn="ctr">
              <a:defRPr sz="1400">
                <a:solidFill>
                  <a:srgbClr val="CCCCCC"/>
                </a:solidFill>
              </a:defRPr>
            </a:pPr>
            <a:r>
              <a:t>Trả lời câu hỏi 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216000"/>
            <a:ext cx="792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B1B2F"/>
                </a:solidFill>
              </a:defRPr>
            </a:pPr>
            <a:r>
              <a:t>LITHIUM TĂNG → ĐIỀU CHỈNH GIÁ VÀ SẢN LƯỢNG</a:t>
            </a:r>
          </a:p>
          <a:p>
            <a:pPr>
              <a:defRPr sz="1200" i="1">
                <a:solidFill>
                  <a:srgbClr val="2D6A4F"/>
                </a:solidFill>
              </a:defRPr>
            </a:pPr>
            <a:r>
              <a:t>Câu 3: Với vai trò GĐ sản xuất, quyết định giá và sản lượng như thế nào?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8000" y="1080000"/>
            <a:ext cx="7560000" cy="5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444444"/>
                </a:solidFill>
              </a:defRPr>
            </a:pPr>
            <a:r>
              <a:t>EcoDrive 60% thị phần nhờ lợi thế quy mô</a:t>
            </a:r>
          </a:p>
          <a:p>
            <a:pPr>
              <a:spcAft>
                <a:spcPts val="500"/>
              </a:spcAft>
              <a:defRPr sz="1600">
                <a:solidFill>
                  <a:srgbClr val="444444"/>
                </a:solidFill>
              </a:defRPr>
            </a:pPr>
          </a:p>
          <a:p>
            <a:pPr>
              <a:spcAft>
                <a:spcPts val="500"/>
              </a:spcAft>
              <a:defRPr sz="1600">
                <a:solidFill>
                  <a:srgbClr val="444444"/>
                </a:solidFill>
              </a:defRPr>
            </a:pPr>
            <a:r>
              <a:t>Khi Lithium tăng giá:</a:t>
            </a:r>
          </a:p>
          <a:p>
            <a:pPr>
              <a:spcAft>
                <a:spcPts val="500"/>
              </a:spcAft>
              <a:defRPr sz="1600">
                <a:solidFill>
                  <a:srgbClr val="444444"/>
                </a:solidFill>
              </a:defRPr>
            </a:pPr>
            <a:r>
              <a:t>   Chi phí biên (MC) dịch lên trên</a:t>
            </a:r>
          </a:p>
          <a:p>
            <a:pPr>
              <a:spcAft>
                <a:spcPts val="500"/>
              </a:spcAft>
              <a:defRPr sz="1600">
                <a:solidFill>
                  <a:srgbClr val="444444"/>
                </a:solidFill>
              </a:defRPr>
            </a:pPr>
            <a:r>
              <a:t>   Điểm tối ưu MR=MC dịch sang trái</a:t>
            </a:r>
          </a:p>
          <a:p>
            <a:pPr>
              <a:spcAft>
                <a:spcPts val="500"/>
              </a:spcAft>
              <a:defRPr sz="1600">
                <a:solidFill>
                  <a:srgbClr val="444444"/>
                </a:solidFill>
              </a:defRPr>
            </a:pPr>
          </a:p>
          <a:p>
            <a:pPr>
              <a:spcAft>
                <a:spcPts val="500"/>
              </a:spcAft>
              <a:defRPr sz="1600">
                <a:solidFill>
                  <a:srgbClr val="444444"/>
                </a:solidFill>
              </a:defRPr>
            </a:pPr>
            <a:r>
              <a:t>Quyết định:</a:t>
            </a:r>
          </a:p>
          <a:p>
            <a:pPr>
              <a:spcAft>
                <a:spcPts val="500"/>
              </a:spcAft>
              <a:defRPr sz="1600">
                <a:solidFill>
                  <a:srgbClr val="444444"/>
                </a:solidFill>
              </a:defRPr>
            </a:pPr>
            <a:r>
              <a:t>   • Giảm sản lượng xuống mức tối ưu mới</a:t>
            </a:r>
          </a:p>
          <a:p>
            <a:pPr>
              <a:spcAft>
                <a:spcPts val="500"/>
              </a:spcAft>
              <a:defRPr sz="1600">
                <a:solidFill>
                  <a:srgbClr val="444444"/>
                </a:solidFill>
              </a:defRPr>
            </a:pPr>
            <a:r>
              <a:t>   • Tăng giá bán vừa phải (bù chi phí, giữ thị phần)</a:t>
            </a:r>
          </a:p>
          <a:p>
            <a:pPr>
              <a:spcAft>
                <a:spcPts val="500"/>
              </a:spcAft>
              <a:defRPr sz="1600">
                <a:solidFill>
                  <a:srgbClr val="444444"/>
                </a:solidFill>
              </a:defRPr>
            </a:pPr>
            <a:r>
              <a:t>   • Lợi thế quy mô: chịu đựng tốt hơn đối thủ nhỏ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108000"/>
            <a:ext cx="792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B1B2F"/>
                </a:solidFill>
              </a:defRPr>
            </a:pPr>
            <a:r>
              <a:t>KếT LUẬN CÂU 3</a:t>
            </a:r>
          </a:p>
          <a:p>
            <a:pPr>
              <a:defRPr sz="1200" i="1">
                <a:solidFill>
                  <a:srgbClr val="2D6A4F"/>
                </a:solidFill>
              </a:defRPr>
            </a:pPr>
            <a:r>
              <a:t>Giảm sản lượng, tăng giá vừa phải. Lợi thế quy mô giúp chịu đựng tốt hơn đối thủ.</a:t>
            </a:r>
          </a:p>
        </p:txBody>
      </p:sp>
      <p:pic>
        <p:nvPicPr>
          <p:cNvPr id="3" name="Picture 2" descr="03_mc_deci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000" y="1007999"/>
            <a:ext cx="8280000" cy="5449937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6A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2340000"/>
            <a:ext cx="7560000" cy="1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CẠNH TRANH PHI GIÁ</a:t>
            </a:r>
          </a:p>
          <a:p>
            <a:pPr algn="ctr">
              <a:defRPr sz="1400">
                <a:solidFill>
                  <a:srgbClr val="CCCCCC"/>
                </a:solidFill>
              </a:defRPr>
            </a:pPr>
            <a:r>
              <a:t>Trả lời câu hỏi 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108000"/>
            <a:ext cx="792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B1B2F"/>
                </a:solidFill>
              </a:defRPr>
            </a:pPr>
            <a:r>
              <a:t>CẤU TRÚC THỊ TRƯỜNG ĐÃ THAY ĐỔI</a:t>
            </a:r>
          </a:p>
          <a:p>
            <a:pPr>
              <a:defRPr sz="1200" i="1">
                <a:solidFill>
                  <a:srgbClr val="2D6A4F"/>
                </a:solidFill>
              </a:defRPr>
            </a:pPr>
            <a:r>
              <a:t>Từ độc quyền → Độc quyền nhóm / Cạnh tranh độc quyền</a:t>
            </a:r>
          </a:p>
        </p:txBody>
      </p:sp>
      <p:pic>
        <p:nvPicPr>
          <p:cNvPr id="3" name="Picture 2" descr="05_market_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000" y="1007999"/>
            <a:ext cx="8280000" cy="280848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216000"/>
            <a:ext cx="792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B1B2F"/>
                </a:solidFill>
              </a:defRPr>
            </a:pPr>
            <a:r>
              <a:t>TẠI SAO ĐUA R&amp;D THAY VÌ ĐUA GIÁ?</a:t>
            </a:r>
          </a:p>
          <a:p>
            <a:pPr>
              <a:defRPr sz="1200" i="1">
                <a:solidFill>
                  <a:srgbClr val="2D6A4F"/>
                </a:solidFill>
              </a:defRPr>
            </a:pPr>
            <a:r>
              <a:t>Câu 4: Tại sao không đua giá? Vai trò khác biệt hóa?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8000" y="1080000"/>
            <a:ext cx="7560000" cy="5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444444"/>
                </a:solidFill>
              </a:defRPr>
            </a:pPr>
            <a:r>
              <a:t>Đua giá = đường cùng:</a:t>
            </a:r>
          </a:p>
          <a:p>
            <a:pPr>
              <a:spcAft>
                <a:spcPts val="500"/>
              </a:spcAft>
              <a:defRPr sz="1600">
                <a:solidFill>
                  <a:srgbClr val="444444"/>
                </a:solidFill>
              </a:defRPr>
            </a:pPr>
            <a:r>
              <a:t>   Hãng A giảm → B giảm → tất cả lỗ</a:t>
            </a:r>
          </a:p>
          <a:p>
            <a:pPr>
              <a:spcAft>
                <a:spcPts val="500"/>
              </a:spcAft>
              <a:defRPr sz="1600">
                <a:solidFill>
                  <a:srgbClr val="444444"/>
                </a:solidFill>
              </a:defRPr>
            </a:pPr>
            <a:r>
              <a:t>   Lithium đắt → không còn dư địa giảm</a:t>
            </a:r>
          </a:p>
          <a:p>
            <a:pPr>
              <a:spcAft>
                <a:spcPts val="500"/>
              </a:spcAft>
              <a:defRPr sz="1600">
                <a:solidFill>
                  <a:srgbClr val="444444"/>
                </a:solidFill>
              </a:defRPr>
            </a:pPr>
          </a:p>
          <a:p>
            <a:pPr>
              <a:spcAft>
                <a:spcPts val="500"/>
              </a:spcAft>
              <a:defRPr sz="1600">
                <a:solidFill>
                  <a:srgbClr val="444444"/>
                </a:solidFill>
              </a:defRPr>
            </a:pPr>
            <a:r>
              <a:t>Đua R&amp;D + Quảng cáo = tạo quyền lực:</a:t>
            </a:r>
          </a:p>
          <a:p>
            <a:pPr>
              <a:spcAft>
                <a:spcPts val="500"/>
              </a:spcAft>
              <a:defRPr sz="1600">
                <a:solidFill>
                  <a:srgbClr val="444444"/>
                </a:solidFill>
              </a:defRPr>
            </a:pPr>
            <a:r>
              <a:t>   Sản phẩm "không giống ai" (tự lái, nội thất thông minh)</a:t>
            </a:r>
          </a:p>
          <a:p>
            <a:pPr>
              <a:spcAft>
                <a:spcPts val="500"/>
              </a:spcAft>
              <a:defRPr sz="1600">
                <a:solidFill>
                  <a:srgbClr val="444444"/>
                </a:solidFill>
              </a:defRPr>
            </a:pPr>
            <a:r>
              <a:t>   Khách hàng trung thành, ít nhạy cảm với giá</a:t>
            </a:r>
          </a:p>
          <a:p>
            <a:pPr>
              <a:spcAft>
                <a:spcPts val="500"/>
              </a:spcAft>
              <a:defRPr sz="1600">
                <a:solidFill>
                  <a:srgbClr val="444444"/>
                </a:solidFill>
              </a:defRPr>
            </a:pPr>
            <a:r>
              <a:t>   Đường cầu dốc hơn → quyền lực thị trường cao hơn</a:t>
            </a:r>
          </a:p>
          <a:p>
            <a:pPr>
              <a:spcAft>
                <a:spcPts val="500"/>
              </a:spcAft>
              <a:defRPr sz="1600">
                <a:solidFill>
                  <a:srgbClr val="444444"/>
                </a:solidFill>
              </a:defRPr>
            </a:pPr>
          </a:p>
          <a:p>
            <a:pPr>
              <a:spcAft>
                <a:spcPts val="500"/>
              </a:spcAft>
              <a:defRPr sz="1600" b="1">
                <a:solidFill>
                  <a:srgbClr val="2D6A4F"/>
                </a:solidFill>
              </a:defRPr>
            </a:pPr>
            <a:r>
              <a:t>→ Khác biệt hóa giảm độ co giãn của cầu theo giá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108000"/>
            <a:ext cx="792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B1B2F"/>
                </a:solidFill>
              </a:defRPr>
            </a:pPr>
            <a:r>
              <a:t>KếT LUẬN CÂU 4</a:t>
            </a:r>
          </a:p>
          <a:p>
            <a:pPr>
              <a:defRPr sz="1200" i="1">
                <a:solidFill>
                  <a:srgbClr val="2D6A4F"/>
                </a:solidFill>
              </a:defRPr>
            </a:pPr>
            <a:r>
              <a:t>Khác biệt hóa → Khách trung thành → Cầu ít co giãn → Giữ giá cao được</a:t>
            </a:r>
          </a:p>
        </p:txBody>
      </p:sp>
      <p:pic>
        <p:nvPicPr>
          <p:cNvPr id="3" name="Picture 2" descr="04_differenti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000" y="1007999"/>
            <a:ext cx="8280000" cy="323382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216000"/>
            <a:ext cx="792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B1B2F"/>
                </a:solidFill>
              </a:defRPr>
            </a:pPr>
            <a:r>
              <a:t>ĐÁNH GIÁ TỔNG KếT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8000" y="1080000"/>
            <a:ext cx="7560000" cy="5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 b="1">
                <a:solidFill>
                  <a:srgbClr val="2D6A4F"/>
                </a:solidFill>
              </a:defRPr>
            </a:pPr>
            <a:r>
              <a:t>✓ Câu 1: Thị trường chịu áp lực giá TĂNG</a:t>
            </a:r>
          </a:p>
          <a:p>
            <a:pPr>
              <a:spcAft>
                <a:spcPts val="500"/>
              </a:spcAft>
              <a:defRPr sz="1600">
                <a:solidFill>
                  <a:srgbClr val="444444"/>
                </a:solidFill>
              </a:defRPr>
            </a:pPr>
            <a:r>
              <a:t>   Cầu bùng nổ, Cung bị kìm bởi nguyên liệu</a:t>
            </a:r>
          </a:p>
          <a:p>
            <a:pPr>
              <a:spcAft>
                <a:spcPts val="500"/>
              </a:spcAft>
              <a:defRPr sz="1600">
                <a:solidFill>
                  <a:srgbClr val="444444"/>
                </a:solidFill>
              </a:defRPr>
            </a:pPr>
          </a:p>
          <a:p>
            <a:pPr>
              <a:spcAft>
                <a:spcPts val="500"/>
              </a:spcAft>
              <a:defRPr sz="1600" b="1">
                <a:solidFill>
                  <a:srgbClr val="2D6A4F"/>
                </a:solidFill>
              </a:defRPr>
            </a:pPr>
            <a:r>
              <a:t>✓ Câu 2: Hàng bổ sung đắt → Xoi mòn lợi ích cận biên</a:t>
            </a:r>
          </a:p>
          <a:p>
            <a:pPr>
              <a:spcAft>
                <a:spcPts val="500"/>
              </a:spcAft>
              <a:defRPr sz="1600">
                <a:solidFill>
                  <a:srgbClr val="444444"/>
                </a:solidFill>
              </a:defRPr>
            </a:pPr>
            <a:r>
              <a:t>   Chính sách chỉ hiệu quả khi kiểm soát cả hệ thống</a:t>
            </a:r>
          </a:p>
          <a:p>
            <a:pPr>
              <a:spcAft>
                <a:spcPts val="500"/>
              </a:spcAft>
              <a:defRPr sz="1600">
                <a:solidFill>
                  <a:srgbClr val="444444"/>
                </a:solidFill>
              </a:defRPr>
            </a:pPr>
          </a:p>
          <a:p>
            <a:pPr>
              <a:spcAft>
                <a:spcPts val="500"/>
              </a:spcAft>
              <a:defRPr sz="1600" b="1">
                <a:solidFill>
                  <a:srgbClr val="2D6A4F"/>
                </a:solidFill>
              </a:defRPr>
            </a:pPr>
            <a:r>
              <a:t>✓ Câu 3: MR=MC → Giảm Q, tăng P vừa phải</a:t>
            </a:r>
          </a:p>
          <a:p>
            <a:pPr>
              <a:spcAft>
                <a:spcPts val="500"/>
              </a:spcAft>
              <a:defRPr sz="1600">
                <a:solidFill>
                  <a:srgbClr val="444444"/>
                </a:solidFill>
              </a:defRPr>
            </a:pPr>
            <a:r>
              <a:t>   Lợi thế quy mô giúp EcoDrive chịu đựng tốt hơn</a:t>
            </a:r>
          </a:p>
          <a:p>
            <a:pPr>
              <a:spcAft>
                <a:spcPts val="500"/>
              </a:spcAft>
              <a:defRPr sz="1600">
                <a:solidFill>
                  <a:srgbClr val="444444"/>
                </a:solidFill>
              </a:defRPr>
            </a:pPr>
          </a:p>
          <a:p>
            <a:pPr>
              <a:spcAft>
                <a:spcPts val="500"/>
              </a:spcAft>
              <a:defRPr sz="1600" b="1">
                <a:solidFill>
                  <a:srgbClr val="2D6A4F"/>
                </a:solidFill>
              </a:defRPr>
            </a:pPr>
            <a:r>
              <a:t>✓ Câu 4: Đua giá trị thắng đua giá bán</a:t>
            </a:r>
          </a:p>
          <a:p>
            <a:pPr>
              <a:spcAft>
                <a:spcPts val="500"/>
              </a:spcAft>
              <a:defRPr sz="1600">
                <a:solidFill>
                  <a:srgbClr val="444444"/>
                </a:solidFill>
              </a:defRPr>
            </a:pPr>
            <a:r>
              <a:t>   Khác biệt hóa = vũ khí giữ quyền lực thị trường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1980000"/>
            <a:ext cx="75600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400" b="1">
                <a:solidFill>
                  <a:srgbClr val="FFFFFF"/>
                </a:solidFill>
              </a:defRPr>
            </a:pPr>
            <a:r>
              <a:t>CẢM ƠN ĐÃ LẮNG NGHE</a:t>
            </a:r>
          </a:p>
          <a:p>
            <a:pPr algn="ctr">
              <a:defRPr sz="1600">
                <a:solidFill>
                  <a:srgbClr val="BBBBBB"/>
                </a:solidFill>
              </a:defRPr>
            </a:pPr>
            <a:r>
              <a:t>Hỏi đáp &amp; Thảo luận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