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CUỘC ĐUA XE ĐIỆN TẠI ALPHA</a:t>
            </a:r>
          </a:p>
          <a:p>
            <a:pPr algn="ctr">
              <a:defRPr sz="1800">
                <a:solidFill>
                  <a:srgbClr val="CCCCCC"/>
                </a:solidFill>
              </a:defRPr>
            </a:pPr>
            <a:r>
              <a:t>Phân tích kinh tế vi mô từ một thị trường đang chuyển đổi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BỐI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Quốc gia Alpha: lộ trình khai tử xe xăng năm 2035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Chính sách kép: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• Thuế tiêu thụ đặc biệt vào xe xăng tăng vọt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• Trợ cấp trực tiếp cho người mua xe điện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Thu nhập bình quân đầu người: +10%/năm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EcoDrive – hãng nội địa chiếm 60% thị phần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Thách thức: Lithium tăng giá, 10+ đối thủ ngoại quốc, giá điện sạc tăng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520000"/>
            <a:ext cx="75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NHỮNG LỰC LƯỢNG ĐỊNH HÌNH THỊ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PHÍA CẦU: BA LỰC ĐẨY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1. Thu nhập tăng 10%/năm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Xe điện trở thành biểu tượng lối sống thượng lưu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2. Trợ cấp trực tiếp cho người mua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Giảm giá thực tế, tăng khả năng thanh toán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3. Thuế xe xăng tăng vọt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Chi phí cơ hội của xe truyền thống cao hơn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→ Đường cầu dịch chuyển mạnh sang phải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PHÍA CUNG: HAI LỰC NGƯỢC CHIỀU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Lực đẩy (tích cực):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Công nghệ pin tiến bộ → giảm chi phí sản xuất bình quân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Lực kéo (tiêu cực):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Đứt gãy chuỗi cung ứng Lithium toàn cầu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→ Chi phí biên tăng cao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→ Nhà sản xuất buộc phải lựa chọn: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   Hấp thụ chi phí hay chuyển sang người tiêu dùng?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→ Hiệu ứng ròng: Cung không theo kịp Cầu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80000"/>
            <a:ext cx="79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1B2F"/>
                </a:solidFill>
              </a:defRPr>
            </a:pPr>
            <a:r>
              <a:t>Kết quả: Cầu mạnh + Cung yếu → Giá tăng</a:t>
            </a:r>
          </a:p>
        </p:txBody>
      </p:sp>
      <p:pic>
        <p:nvPicPr>
          <p:cNvPr id="3" name="Picture 2" descr="01_supply_demand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07999"/>
            <a:ext cx="8100000" cy="5343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520000"/>
            <a:ext cx="75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MỐI LIÊN KẾT ẨN TRONG HỆ THỐNG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HÀNG HÓA KHÔNG TỒN TẠI ĐƠN LẺ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Xe xăng và Xe điện – hàng thay thế: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Thuế xe xăng ↑ → Người dùng chuyển sang xe điện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Cầu xe điện tăng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Xe điện và Điện sạc – hàng bổ sung: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Giá điện sạc ↑ → Chi phí vận hành tăng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Lợi ích cận biên của mỗi km giảm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Sức hấp dẫn kinh tế của xe điện bị xoi mòn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→ Chính sách thành công hay thất bại phụ thuộc vào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cả hệ thống hàng hóa liên quan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80000"/>
            <a:ext cx="79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1B2F"/>
                </a:solidFill>
              </a:defRPr>
            </a:pPr>
            <a:r>
              <a:t>Tác động của hàng thay thế và bổ sung</a:t>
            </a:r>
          </a:p>
        </p:txBody>
      </p:sp>
      <p:pic>
        <p:nvPicPr>
          <p:cNvPr id="3" name="Picture 2" descr="02_substitute_comp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07999"/>
            <a:ext cx="8100000" cy="32429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520000"/>
            <a:ext cx="75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BÀI TOÁN CỦA ECODRIVE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KHI CHI PHÍ ĐẦU VÀO TĂNG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EcoDrive nắm 60% thị phần nhờ lợi thế quy mô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Lithium tăng giá: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Chi phí biên (MC) dịch lên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Điểm tối ưu MR=MC dịch sang trái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Quyết định hợp lý: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Giảm sản lượng (không sản xuất những xe lỗ)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Tăng giá vừa phải (giữ thị phần)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→ Lợi thế quy mô giúp EcoDrive chịu đựng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tốt hơn các đối thủ nhỏ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80000"/>
            <a:ext cx="79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1B2F"/>
                </a:solidFill>
              </a:defRPr>
            </a:pPr>
            <a:r>
              <a:t>Nguyên tắc MR = MC: Sản xuất đến đâu thì dừng?</a:t>
            </a:r>
          </a:p>
        </p:txBody>
      </p:sp>
      <p:pic>
        <p:nvPicPr>
          <p:cNvPr id="3" name="Picture 2" descr="03_mc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07999"/>
            <a:ext cx="8100000" cy="53388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520000"/>
            <a:ext cx="75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LUẬT CHƠI MỚI CỦA THỊ TRƯỜNG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80000"/>
            <a:ext cx="79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1B2F"/>
                </a:solidFill>
              </a:defRPr>
            </a:pPr>
            <a:r>
              <a:t>Cấu trúc thị trường đã thay đổi hoàn toàn</a:t>
            </a:r>
          </a:p>
        </p:txBody>
      </p:sp>
      <p:pic>
        <p:nvPicPr>
          <p:cNvPr id="3" name="Picture 2" descr="05_marke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07999"/>
            <a:ext cx="8100000" cy="27638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TẠI SAO KHÔNG AI ĐUA GIÁ?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Chiến tranh giá = tất cả cùng thua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Hãng A giảm → Hãng B giảm → C giảm → không ai lãi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Thay vào đó: đầu tư R&amp;D và quảng cáo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Tự lái, nội thất thông minh, hệ sinh thái riêng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Tạo sản phẩm “không giống ai”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Kết quả: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Khách hàng trung thành, ít nhạy cảm với giá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Đường cầu dốc hơn → quyền lực thị trường cao hơn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→ Cạnh tranh bằng GIÁ TRỊ, không bằng giá bán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80000"/>
            <a:ext cx="79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1B2F"/>
                </a:solidFill>
              </a:defRPr>
            </a:pPr>
            <a:r>
              <a:t>Khác biệt hóa → Cầu ít co giãn → Quyền lực cao</a:t>
            </a:r>
          </a:p>
        </p:txBody>
      </p:sp>
      <p:pic>
        <p:nvPicPr>
          <p:cNvPr id="3" name="Picture 2" descr="04_differe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07999"/>
            <a:ext cx="8100000" cy="32479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88000"/>
            <a:ext cx="79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1B2F"/>
                </a:solidFill>
              </a:defRPr>
            </a:pPr>
            <a:r>
              <a:t>ĐÁNH GIÁ TỔNG KẾT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152000"/>
            <a:ext cx="75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✓ Thị trường xe điện Alpha chịu áp lực giá tăng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vì cầu bùng nổ trong khi cung bị kìm hãm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✓ Chính sách chỉ hiệu quả nếu kiểm soát được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toàn bộ hệ thống hàng hóa liên quan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✓ Doanh nghiệp thống trị không tối đa sản lượng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mà tối đa lợi nhuận qua nguyên tắc MR=MC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D6A4F"/>
                </a:solidFill>
              </a:defRPr>
            </a:pPr>
            <a:r>
              <a:t>✓ Trong môi trường cạnh tranh mới,</a:t>
            </a:r>
          </a:p>
          <a:p>
            <a:pPr>
              <a:spcAft>
                <a:spcPts val="600"/>
              </a:spcAft>
              <a:defRPr sz="1700">
                <a:solidFill>
                  <a:srgbClr val="555555"/>
                </a:solidFill>
              </a:defRPr>
            </a:pPr>
            <a:r>
              <a:t>   đua giá trị thắng đua giá bán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CẢM ƠN ĐÃ LẮNG NGHE</a:t>
            </a:r>
          </a:p>
          <a:p>
            <a:pPr algn="ctr">
              <a:defRPr sz="1800">
                <a:solidFill>
                  <a:srgbClr val="CCCCCC"/>
                </a:solidFill>
              </a:defRPr>
            </a:pPr>
            <a:r>
              <a:t>Hỏi đáp &amp; Thảo luận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