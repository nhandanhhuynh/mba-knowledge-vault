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6"/>
  </p:notesMasterIdLst>
  <p:sldIdLst>
    <p:sldId id="257" r:id="rId2"/>
    <p:sldId id="11088410" r:id="rId3"/>
    <p:sldId id="351" r:id="rId4"/>
    <p:sldId id="353" r:id="rId5"/>
    <p:sldId id="356" r:id="rId6"/>
    <p:sldId id="357" r:id="rId7"/>
    <p:sldId id="358" r:id="rId8"/>
    <p:sldId id="360" r:id="rId9"/>
    <p:sldId id="359" r:id="rId10"/>
    <p:sldId id="622" r:id="rId11"/>
    <p:sldId id="621" r:id="rId12"/>
    <p:sldId id="365" r:id="rId13"/>
    <p:sldId id="366" r:id="rId14"/>
    <p:sldId id="367" r:id="rId15"/>
    <p:sldId id="368" r:id="rId16"/>
    <p:sldId id="369" r:id="rId17"/>
    <p:sldId id="370" r:id="rId18"/>
    <p:sldId id="372" r:id="rId19"/>
    <p:sldId id="380" r:id="rId20"/>
    <p:sldId id="381" r:id="rId21"/>
    <p:sldId id="382" r:id="rId22"/>
    <p:sldId id="383" r:id="rId23"/>
    <p:sldId id="385" r:id="rId24"/>
    <p:sldId id="384" r:id="rId25"/>
    <p:sldId id="386" r:id="rId26"/>
    <p:sldId id="387" r:id="rId27"/>
    <p:sldId id="388" r:id="rId28"/>
    <p:sldId id="390" r:id="rId29"/>
    <p:sldId id="391" r:id="rId30"/>
    <p:sldId id="392" r:id="rId31"/>
    <p:sldId id="393" r:id="rId32"/>
    <p:sldId id="394" r:id="rId33"/>
    <p:sldId id="396" r:id="rId34"/>
    <p:sldId id="398" r:id="rId35"/>
    <p:sldId id="399" r:id="rId36"/>
    <p:sldId id="400" r:id="rId37"/>
    <p:sldId id="401" r:id="rId38"/>
    <p:sldId id="402" r:id="rId39"/>
    <p:sldId id="403" r:id="rId40"/>
    <p:sldId id="404" r:id="rId41"/>
    <p:sldId id="405" r:id="rId42"/>
    <p:sldId id="409" r:id="rId43"/>
    <p:sldId id="407" r:id="rId44"/>
    <p:sldId id="408" r:id="rId45"/>
    <p:sldId id="411" r:id="rId46"/>
    <p:sldId id="412" r:id="rId47"/>
    <p:sldId id="432" r:id="rId48"/>
    <p:sldId id="11088411" r:id="rId49"/>
    <p:sldId id="433" r:id="rId50"/>
    <p:sldId id="434" r:id="rId51"/>
    <p:sldId id="436" r:id="rId52"/>
    <p:sldId id="437" r:id="rId53"/>
    <p:sldId id="439" r:id="rId54"/>
    <p:sldId id="443" r:id="rId55"/>
    <p:sldId id="448" r:id="rId56"/>
    <p:sldId id="449" r:id="rId57"/>
    <p:sldId id="450" r:id="rId58"/>
    <p:sldId id="451" r:id="rId59"/>
    <p:sldId id="462" r:id="rId60"/>
    <p:sldId id="469" r:id="rId61"/>
    <p:sldId id="511" r:id="rId62"/>
    <p:sldId id="633" r:id="rId63"/>
    <p:sldId id="512" r:id="rId64"/>
    <p:sldId id="514" r:id="rId65"/>
    <p:sldId id="531" r:id="rId66"/>
    <p:sldId id="532" r:id="rId67"/>
    <p:sldId id="539" r:id="rId68"/>
    <p:sldId id="540" r:id="rId69"/>
    <p:sldId id="541" r:id="rId70"/>
    <p:sldId id="542" r:id="rId71"/>
    <p:sldId id="543" r:id="rId72"/>
    <p:sldId id="548" r:id="rId73"/>
    <p:sldId id="549" r:id="rId74"/>
    <p:sldId id="554" r:id="rId75"/>
    <p:sldId id="555" r:id="rId76"/>
    <p:sldId id="556" r:id="rId77"/>
    <p:sldId id="561" r:id="rId78"/>
    <p:sldId id="562" r:id="rId79"/>
    <p:sldId id="564" r:id="rId80"/>
    <p:sldId id="565" r:id="rId81"/>
    <p:sldId id="566" r:id="rId82"/>
    <p:sldId id="567" r:id="rId83"/>
    <p:sldId id="568" r:id="rId84"/>
    <p:sldId id="569" r:id="rId85"/>
    <p:sldId id="570" r:id="rId86"/>
    <p:sldId id="571" r:id="rId87"/>
    <p:sldId id="575" r:id="rId88"/>
    <p:sldId id="576" r:id="rId89"/>
    <p:sldId id="577" r:id="rId90"/>
    <p:sldId id="578" r:id="rId91"/>
    <p:sldId id="580" r:id="rId92"/>
    <p:sldId id="581" r:id="rId93"/>
    <p:sldId id="583" r:id="rId94"/>
    <p:sldId id="584" r:id="rId95"/>
    <p:sldId id="585" r:id="rId96"/>
    <p:sldId id="587" r:id="rId97"/>
    <p:sldId id="588" r:id="rId98"/>
    <p:sldId id="589" r:id="rId99"/>
    <p:sldId id="590" r:id="rId100"/>
    <p:sldId id="591" r:id="rId101"/>
    <p:sldId id="592" r:id="rId102"/>
    <p:sldId id="593" r:id="rId103"/>
    <p:sldId id="595" r:id="rId104"/>
    <p:sldId id="598" r:id="rId105"/>
    <p:sldId id="599" r:id="rId106"/>
    <p:sldId id="600" r:id="rId107"/>
    <p:sldId id="601" r:id="rId108"/>
    <p:sldId id="602" r:id="rId109"/>
    <p:sldId id="603" r:id="rId110"/>
    <p:sldId id="605" r:id="rId111"/>
    <p:sldId id="607" r:id="rId112"/>
    <p:sldId id="608" r:id="rId113"/>
    <p:sldId id="609" r:id="rId114"/>
    <p:sldId id="610" r:id="rId115"/>
    <p:sldId id="611" r:id="rId116"/>
    <p:sldId id="612" r:id="rId117"/>
    <p:sldId id="613" r:id="rId118"/>
    <p:sldId id="615" r:id="rId119"/>
    <p:sldId id="614" r:id="rId120"/>
    <p:sldId id="616" r:id="rId121"/>
    <p:sldId id="617" r:id="rId122"/>
    <p:sldId id="618" r:id="rId123"/>
    <p:sldId id="619" r:id="rId124"/>
    <p:sldId id="634" r:id="rId125"/>
    <p:sldId id="635" r:id="rId126"/>
    <p:sldId id="636" r:id="rId127"/>
    <p:sldId id="637" r:id="rId128"/>
    <p:sldId id="638" r:id="rId129"/>
    <p:sldId id="639" r:id="rId130"/>
    <p:sldId id="640" r:id="rId131"/>
    <p:sldId id="641" r:id="rId132"/>
    <p:sldId id="642" r:id="rId133"/>
    <p:sldId id="643" r:id="rId134"/>
    <p:sldId id="644" r:id="rId1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145" autoAdjust="0"/>
    <p:restoredTop sz="91304" autoAdjust="0"/>
  </p:normalViewPr>
  <p:slideViewPr>
    <p:cSldViewPr>
      <p:cViewPr varScale="1">
        <p:scale>
          <a:sx n="58" d="100"/>
          <a:sy n="58" d="100"/>
        </p:scale>
        <p:origin x="1232" y="3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3DC19BA-A627-4DE3-96F6-CC1F59C3C70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CFDCC20D-6570-45FE-BE93-08A3BAA60776}">
      <dgm:prSet phldrT="[Text]" custT="1"/>
      <dgm:spPr/>
      <dgm:t>
        <a:bodyPr/>
        <a:lstStyle/>
        <a:p>
          <a:r>
            <a:rPr lang="en-US" sz="2800" b="1" dirty="0" err="1">
              <a:latin typeface="Times New Roman" pitchFamily="18" charset="0"/>
              <a:cs typeface="Times New Roman" pitchFamily="18" charset="0"/>
            </a:rPr>
            <a:t>Kinh</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tế</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học</a:t>
          </a:r>
          <a:endParaRPr lang="en-US" sz="2800" b="1" dirty="0">
            <a:latin typeface="Times New Roman" pitchFamily="18" charset="0"/>
            <a:cs typeface="Times New Roman" pitchFamily="18" charset="0"/>
          </a:endParaRPr>
        </a:p>
      </dgm:t>
    </dgm:pt>
    <dgm:pt modelId="{4A1D8737-2949-4FDD-B7C8-90BB8C072DDE}" type="parTrans" cxnId="{33814555-289C-4335-A66D-E14AC85F75E0}">
      <dgm:prSet/>
      <dgm:spPr/>
      <dgm:t>
        <a:bodyPr/>
        <a:lstStyle/>
        <a:p>
          <a:endParaRPr lang="en-US"/>
        </a:p>
      </dgm:t>
    </dgm:pt>
    <dgm:pt modelId="{9BC2139E-42E3-48F2-AFE6-00F96365ECC0}" type="sibTrans" cxnId="{33814555-289C-4335-A66D-E14AC85F75E0}">
      <dgm:prSet/>
      <dgm:spPr/>
      <dgm:t>
        <a:bodyPr/>
        <a:lstStyle/>
        <a:p>
          <a:endParaRPr lang="en-US"/>
        </a:p>
      </dgm:t>
    </dgm:pt>
    <dgm:pt modelId="{316188C5-E37F-48C4-91C3-72FE575356B7}">
      <dgm:prSet phldrT="[Text]" custT="1"/>
      <dgm:spPr/>
      <dgm:t>
        <a:bodyPr/>
        <a:lstStyle/>
        <a:p>
          <a:pPr algn="ctr"/>
          <a:r>
            <a:rPr lang="en-US" sz="2200" b="1" dirty="0" err="1">
              <a:latin typeface="Times New Roman" pitchFamily="18" charset="0"/>
              <a:cs typeface="Times New Roman" pitchFamily="18" charset="0"/>
            </a:rPr>
            <a:t>Kinh</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tế</a:t>
          </a:r>
          <a:r>
            <a:rPr lang="en-US" sz="2200" b="1" dirty="0">
              <a:latin typeface="Times New Roman" pitchFamily="18" charset="0"/>
              <a:cs typeface="Times New Roman" pitchFamily="18" charset="0"/>
            </a:rPr>
            <a:t> vi </a:t>
          </a:r>
          <a:r>
            <a:rPr lang="en-US" sz="2200" b="1" dirty="0" err="1">
              <a:latin typeface="Times New Roman" pitchFamily="18" charset="0"/>
              <a:cs typeface="Times New Roman" pitchFamily="18" charset="0"/>
            </a:rPr>
            <a:t>mô</a:t>
          </a:r>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Hoạt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nhân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hộ</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đình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doanh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nghiệp</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Mục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tiêu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nhập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lợi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nhuận</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Đặc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cung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cầu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doanh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thu</a:t>
          </a:r>
          <a:r>
            <a:rPr lang="en-US" sz="2200" dirty="0">
              <a:latin typeface="Times New Roman" pitchFamily="18" charset="0"/>
              <a:cs typeface="Times New Roman" pitchFamily="18" charset="0"/>
            </a:rPr>
            <a:t>, chi </a:t>
          </a:r>
          <a:r>
            <a:rPr lang="en-US" sz="2200" dirty="0" err="1">
              <a:latin typeface="Times New Roman" pitchFamily="18" charset="0"/>
              <a:cs typeface="Times New Roman" pitchFamily="18" charset="0"/>
            </a:rPr>
            <a:t>phí</a:t>
          </a:r>
          <a:r>
            <a:rPr lang="en-US" sz="2200" dirty="0">
              <a:latin typeface="Times New Roman" pitchFamily="18" charset="0"/>
              <a:cs typeface="Times New Roman" pitchFamily="18" charset="0"/>
            </a:rPr>
            <a:t>…</a:t>
          </a:r>
        </a:p>
      </dgm:t>
    </dgm:pt>
    <dgm:pt modelId="{779F80C6-AF87-4BDF-93AA-4F8110F6E2A9}" type="parTrans" cxnId="{39D45A56-0353-4C9C-886C-8E2E1101B243}">
      <dgm:prSet/>
      <dgm:spPr/>
      <dgm:t>
        <a:bodyPr/>
        <a:lstStyle/>
        <a:p>
          <a:endParaRPr lang="en-US"/>
        </a:p>
      </dgm:t>
    </dgm:pt>
    <dgm:pt modelId="{3BD4DE03-F732-4363-B921-86BF761F5F88}" type="sibTrans" cxnId="{39D45A56-0353-4C9C-886C-8E2E1101B243}">
      <dgm:prSet/>
      <dgm:spPr/>
      <dgm:t>
        <a:bodyPr/>
        <a:lstStyle/>
        <a:p>
          <a:endParaRPr lang="en-US"/>
        </a:p>
      </dgm:t>
    </dgm:pt>
    <dgm:pt modelId="{255017CA-5EAC-4887-BF93-0BA965CA6773}">
      <dgm:prSet phldrT="[Text]" custT="1"/>
      <dgm:spPr/>
      <dgm:t>
        <a:bodyPr/>
        <a:lstStyle/>
        <a:p>
          <a:pPr algn="ctr"/>
          <a:r>
            <a:rPr lang="en-US" sz="2200" b="1" dirty="0" err="1">
              <a:latin typeface="Times New Roman" pitchFamily="18" charset="0"/>
              <a:cs typeface="Times New Roman" pitchFamily="18" charset="0"/>
            </a:rPr>
            <a:t>Kinh</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tế</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vĩ</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mô</a:t>
          </a:r>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Hoạt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của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toàn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bộ</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nền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tế</a:t>
          </a:r>
          <a:endParaRPr lang="en-US" sz="2200"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Mục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tiêu</a:t>
          </a:r>
          <a:r>
            <a:rPr lang="en-US" sz="2200" dirty="0">
              <a:latin typeface="Times New Roman" pitchFamily="18" charset="0"/>
              <a:cs typeface="Times New Roman" pitchFamily="18" charset="0"/>
            </a:rPr>
            <a:t>: GDP, GNP, BOP…</a:t>
          </a: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Đặc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Tăng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trưởng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lạm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nghiệp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tỷ</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hối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đoái</a:t>
          </a:r>
          <a:r>
            <a:rPr lang="en-US" sz="2200" dirty="0">
              <a:latin typeface="Times New Roman" pitchFamily="18" charset="0"/>
              <a:cs typeface="Times New Roman" pitchFamily="18" charset="0"/>
            </a:rPr>
            <a:t>…</a:t>
          </a:r>
        </a:p>
      </dgm:t>
    </dgm:pt>
    <dgm:pt modelId="{DCB34922-576B-4557-BBAB-7E0155F6BB21}" type="parTrans" cxnId="{A50405C3-8ECF-40BC-98D7-D037D6E3DD7C}">
      <dgm:prSet/>
      <dgm:spPr/>
      <dgm:t>
        <a:bodyPr/>
        <a:lstStyle/>
        <a:p>
          <a:endParaRPr lang="en-US"/>
        </a:p>
      </dgm:t>
    </dgm:pt>
    <dgm:pt modelId="{8CBEAD08-2E54-41E3-817E-F878AD862EE0}" type="sibTrans" cxnId="{A50405C3-8ECF-40BC-98D7-D037D6E3DD7C}">
      <dgm:prSet/>
      <dgm:spPr/>
      <dgm:t>
        <a:bodyPr/>
        <a:lstStyle/>
        <a:p>
          <a:endParaRPr lang="en-US"/>
        </a:p>
      </dgm:t>
    </dgm:pt>
    <dgm:pt modelId="{AE1D705C-0775-4BCB-8569-CE6D83111AAF}" type="pres">
      <dgm:prSet presAssocID="{13DC19BA-A627-4DE3-96F6-CC1F59C3C70D}" presName="hierChild1" presStyleCnt="0">
        <dgm:presLayoutVars>
          <dgm:chPref val="1"/>
          <dgm:dir/>
          <dgm:animOne val="branch"/>
          <dgm:animLvl val="lvl"/>
          <dgm:resizeHandles/>
        </dgm:presLayoutVars>
      </dgm:prSet>
      <dgm:spPr/>
    </dgm:pt>
    <dgm:pt modelId="{858064B4-1355-488A-B36C-EF994AA58553}" type="pres">
      <dgm:prSet presAssocID="{CFDCC20D-6570-45FE-BE93-08A3BAA60776}" presName="hierRoot1" presStyleCnt="0"/>
      <dgm:spPr/>
    </dgm:pt>
    <dgm:pt modelId="{7EBDFC66-7BB0-40F0-B4B9-5A0A06AC5C26}" type="pres">
      <dgm:prSet presAssocID="{CFDCC20D-6570-45FE-BE93-08A3BAA60776}" presName="composite" presStyleCnt="0"/>
      <dgm:spPr/>
    </dgm:pt>
    <dgm:pt modelId="{4A95FD9D-BD71-4B8C-9CBB-EBBC0CDCB634}" type="pres">
      <dgm:prSet presAssocID="{CFDCC20D-6570-45FE-BE93-08A3BAA60776}" presName="background" presStyleLbl="node0" presStyleIdx="0" presStyleCnt="1"/>
      <dgm:spPr/>
    </dgm:pt>
    <dgm:pt modelId="{C737BBFF-105A-4F7F-A40A-DE5ECC2E363F}" type="pres">
      <dgm:prSet presAssocID="{CFDCC20D-6570-45FE-BE93-08A3BAA60776}" presName="text" presStyleLbl="fgAcc0" presStyleIdx="0" presStyleCnt="1" custScaleX="73006" custScaleY="26240">
        <dgm:presLayoutVars>
          <dgm:chPref val="3"/>
        </dgm:presLayoutVars>
      </dgm:prSet>
      <dgm:spPr/>
    </dgm:pt>
    <dgm:pt modelId="{FF21212C-06E9-49B6-8940-51FDD5F16924}" type="pres">
      <dgm:prSet presAssocID="{CFDCC20D-6570-45FE-BE93-08A3BAA60776}" presName="hierChild2" presStyleCnt="0"/>
      <dgm:spPr/>
    </dgm:pt>
    <dgm:pt modelId="{EBF78F6C-8C61-4C66-A02F-4643755AD35A}" type="pres">
      <dgm:prSet presAssocID="{779F80C6-AF87-4BDF-93AA-4F8110F6E2A9}" presName="Name10" presStyleLbl="parChTrans1D2" presStyleIdx="0" presStyleCnt="2"/>
      <dgm:spPr/>
    </dgm:pt>
    <dgm:pt modelId="{930C2673-0263-422C-ADDF-DBE79B6C78AD}" type="pres">
      <dgm:prSet presAssocID="{316188C5-E37F-48C4-91C3-72FE575356B7}" presName="hierRoot2" presStyleCnt="0"/>
      <dgm:spPr/>
    </dgm:pt>
    <dgm:pt modelId="{04DE7981-D985-4672-B240-7E41922DCEFE}" type="pres">
      <dgm:prSet presAssocID="{316188C5-E37F-48C4-91C3-72FE575356B7}" presName="composite2" presStyleCnt="0"/>
      <dgm:spPr/>
    </dgm:pt>
    <dgm:pt modelId="{CB88CBEA-18C5-40EC-A5BD-55C3D5897A9B}" type="pres">
      <dgm:prSet presAssocID="{316188C5-E37F-48C4-91C3-72FE575356B7}" presName="background2" presStyleLbl="node2" presStyleIdx="0" presStyleCnt="2"/>
      <dgm:spPr/>
    </dgm:pt>
    <dgm:pt modelId="{DF2A419C-9752-4351-A35D-2ECF81E9B6DD}" type="pres">
      <dgm:prSet presAssocID="{316188C5-E37F-48C4-91C3-72FE575356B7}" presName="text2" presStyleLbl="fgAcc2" presStyleIdx="0" presStyleCnt="2" custScaleX="112585" custScaleY="123124">
        <dgm:presLayoutVars>
          <dgm:chPref val="3"/>
        </dgm:presLayoutVars>
      </dgm:prSet>
      <dgm:spPr/>
    </dgm:pt>
    <dgm:pt modelId="{7C7FC92B-3618-484E-9AA7-B9FEDD9F7C2A}" type="pres">
      <dgm:prSet presAssocID="{316188C5-E37F-48C4-91C3-72FE575356B7}" presName="hierChild3" presStyleCnt="0"/>
      <dgm:spPr/>
    </dgm:pt>
    <dgm:pt modelId="{E4797F00-E010-4E4C-9230-2E2E0A85A895}" type="pres">
      <dgm:prSet presAssocID="{DCB34922-576B-4557-BBAB-7E0155F6BB21}" presName="Name10" presStyleLbl="parChTrans1D2" presStyleIdx="1" presStyleCnt="2"/>
      <dgm:spPr/>
    </dgm:pt>
    <dgm:pt modelId="{58A19D50-97B3-4A0D-8B37-9E0BFA1B4055}" type="pres">
      <dgm:prSet presAssocID="{255017CA-5EAC-4887-BF93-0BA965CA6773}" presName="hierRoot2" presStyleCnt="0"/>
      <dgm:spPr/>
    </dgm:pt>
    <dgm:pt modelId="{C5D04BCE-F72B-42E9-A775-E036E486DB27}" type="pres">
      <dgm:prSet presAssocID="{255017CA-5EAC-4887-BF93-0BA965CA6773}" presName="composite2" presStyleCnt="0"/>
      <dgm:spPr/>
    </dgm:pt>
    <dgm:pt modelId="{C2944BB8-582D-4775-93DB-6DB4CD2C8B0D}" type="pres">
      <dgm:prSet presAssocID="{255017CA-5EAC-4887-BF93-0BA965CA6773}" presName="background2" presStyleLbl="node2" presStyleIdx="1" presStyleCnt="2"/>
      <dgm:spPr/>
    </dgm:pt>
    <dgm:pt modelId="{08E840C0-0552-457A-B3A0-795E5E8EBD99}" type="pres">
      <dgm:prSet presAssocID="{255017CA-5EAC-4887-BF93-0BA965CA6773}" presName="text2" presStyleLbl="fgAcc2" presStyleIdx="1" presStyleCnt="2" custScaleX="105866" custScaleY="124574">
        <dgm:presLayoutVars>
          <dgm:chPref val="3"/>
        </dgm:presLayoutVars>
      </dgm:prSet>
      <dgm:spPr/>
    </dgm:pt>
    <dgm:pt modelId="{9925F361-AACA-4D2B-BFB9-09E3FDFFF604}" type="pres">
      <dgm:prSet presAssocID="{255017CA-5EAC-4887-BF93-0BA965CA6773}" presName="hierChild3" presStyleCnt="0"/>
      <dgm:spPr/>
    </dgm:pt>
  </dgm:ptLst>
  <dgm:cxnLst>
    <dgm:cxn modelId="{18349A04-DD96-4D7E-A18A-F94199F8C0C2}" type="presOf" srcId="{CFDCC20D-6570-45FE-BE93-08A3BAA60776}" destId="{C737BBFF-105A-4F7F-A40A-DE5ECC2E363F}" srcOrd="0" destOrd="0" presId="urn:microsoft.com/office/officeart/2005/8/layout/hierarchy1"/>
    <dgm:cxn modelId="{4DA23D1D-7F18-4C87-A967-C7186CC89323}" type="presOf" srcId="{316188C5-E37F-48C4-91C3-72FE575356B7}" destId="{DF2A419C-9752-4351-A35D-2ECF81E9B6DD}" srcOrd="0" destOrd="0" presId="urn:microsoft.com/office/officeart/2005/8/layout/hierarchy1"/>
    <dgm:cxn modelId="{241A6236-1FA5-4017-A814-56442F41330B}" type="presOf" srcId="{255017CA-5EAC-4887-BF93-0BA965CA6773}" destId="{08E840C0-0552-457A-B3A0-795E5E8EBD99}" srcOrd="0" destOrd="0" presId="urn:microsoft.com/office/officeart/2005/8/layout/hierarchy1"/>
    <dgm:cxn modelId="{F0988E45-B8B7-49DC-B91D-4543A9302CB2}" type="presOf" srcId="{779F80C6-AF87-4BDF-93AA-4F8110F6E2A9}" destId="{EBF78F6C-8C61-4C66-A02F-4643755AD35A}" srcOrd="0" destOrd="0" presId="urn:microsoft.com/office/officeart/2005/8/layout/hierarchy1"/>
    <dgm:cxn modelId="{058A7272-0EE7-46D1-ABEE-DC656D4E85AC}" type="presOf" srcId="{DCB34922-576B-4557-BBAB-7E0155F6BB21}" destId="{E4797F00-E010-4E4C-9230-2E2E0A85A895}" srcOrd="0" destOrd="0" presId="urn:microsoft.com/office/officeart/2005/8/layout/hierarchy1"/>
    <dgm:cxn modelId="{33814555-289C-4335-A66D-E14AC85F75E0}" srcId="{13DC19BA-A627-4DE3-96F6-CC1F59C3C70D}" destId="{CFDCC20D-6570-45FE-BE93-08A3BAA60776}" srcOrd="0" destOrd="0" parTransId="{4A1D8737-2949-4FDD-B7C8-90BB8C072DDE}" sibTransId="{9BC2139E-42E3-48F2-AFE6-00F96365ECC0}"/>
    <dgm:cxn modelId="{39D45A56-0353-4C9C-886C-8E2E1101B243}" srcId="{CFDCC20D-6570-45FE-BE93-08A3BAA60776}" destId="{316188C5-E37F-48C4-91C3-72FE575356B7}" srcOrd="0" destOrd="0" parTransId="{779F80C6-AF87-4BDF-93AA-4F8110F6E2A9}" sibTransId="{3BD4DE03-F732-4363-B921-86BF761F5F88}"/>
    <dgm:cxn modelId="{A50405C3-8ECF-40BC-98D7-D037D6E3DD7C}" srcId="{CFDCC20D-6570-45FE-BE93-08A3BAA60776}" destId="{255017CA-5EAC-4887-BF93-0BA965CA6773}" srcOrd="1" destOrd="0" parTransId="{DCB34922-576B-4557-BBAB-7E0155F6BB21}" sibTransId="{8CBEAD08-2E54-41E3-817E-F878AD862EE0}"/>
    <dgm:cxn modelId="{DFB42BFC-AE8E-449D-8303-6E537B4E477E}" type="presOf" srcId="{13DC19BA-A627-4DE3-96F6-CC1F59C3C70D}" destId="{AE1D705C-0775-4BCB-8569-CE6D83111AAF}" srcOrd="0" destOrd="0" presId="urn:microsoft.com/office/officeart/2005/8/layout/hierarchy1"/>
    <dgm:cxn modelId="{BCC5714A-3666-4096-BFAF-D0F445E14A0F}" type="presParOf" srcId="{AE1D705C-0775-4BCB-8569-CE6D83111AAF}" destId="{858064B4-1355-488A-B36C-EF994AA58553}" srcOrd="0" destOrd="0" presId="urn:microsoft.com/office/officeart/2005/8/layout/hierarchy1"/>
    <dgm:cxn modelId="{36B6A6FE-EF66-4F0B-AEFB-6C2F4B52AC97}" type="presParOf" srcId="{858064B4-1355-488A-B36C-EF994AA58553}" destId="{7EBDFC66-7BB0-40F0-B4B9-5A0A06AC5C26}" srcOrd="0" destOrd="0" presId="urn:microsoft.com/office/officeart/2005/8/layout/hierarchy1"/>
    <dgm:cxn modelId="{E9DCD897-D108-4F60-ABB3-F86D5F250F3C}" type="presParOf" srcId="{7EBDFC66-7BB0-40F0-B4B9-5A0A06AC5C26}" destId="{4A95FD9D-BD71-4B8C-9CBB-EBBC0CDCB634}" srcOrd="0" destOrd="0" presId="urn:microsoft.com/office/officeart/2005/8/layout/hierarchy1"/>
    <dgm:cxn modelId="{49E40741-6842-4082-ACD5-D384B650C74B}" type="presParOf" srcId="{7EBDFC66-7BB0-40F0-B4B9-5A0A06AC5C26}" destId="{C737BBFF-105A-4F7F-A40A-DE5ECC2E363F}" srcOrd="1" destOrd="0" presId="urn:microsoft.com/office/officeart/2005/8/layout/hierarchy1"/>
    <dgm:cxn modelId="{DF1CCEF1-1BC7-40B3-BEAE-850E01A26A57}" type="presParOf" srcId="{858064B4-1355-488A-B36C-EF994AA58553}" destId="{FF21212C-06E9-49B6-8940-51FDD5F16924}" srcOrd="1" destOrd="0" presId="urn:microsoft.com/office/officeart/2005/8/layout/hierarchy1"/>
    <dgm:cxn modelId="{B8658C47-3435-4A1A-8C7F-5D986A8B4DE8}" type="presParOf" srcId="{FF21212C-06E9-49B6-8940-51FDD5F16924}" destId="{EBF78F6C-8C61-4C66-A02F-4643755AD35A}" srcOrd="0" destOrd="0" presId="urn:microsoft.com/office/officeart/2005/8/layout/hierarchy1"/>
    <dgm:cxn modelId="{6C932D71-7E52-4B53-ABB3-FEC56B7C1C0F}" type="presParOf" srcId="{FF21212C-06E9-49B6-8940-51FDD5F16924}" destId="{930C2673-0263-422C-ADDF-DBE79B6C78AD}" srcOrd="1" destOrd="0" presId="urn:microsoft.com/office/officeart/2005/8/layout/hierarchy1"/>
    <dgm:cxn modelId="{080878DC-AF59-4069-964D-ADEEB7490FAC}" type="presParOf" srcId="{930C2673-0263-422C-ADDF-DBE79B6C78AD}" destId="{04DE7981-D985-4672-B240-7E41922DCEFE}" srcOrd="0" destOrd="0" presId="urn:microsoft.com/office/officeart/2005/8/layout/hierarchy1"/>
    <dgm:cxn modelId="{69614D08-400B-4B84-8DD7-4C856E995C79}" type="presParOf" srcId="{04DE7981-D985-4672-B240-7E41922DCEFE}" destId="{CB88CBEA-18C5-40EC-A5BD-55C3D5897A9B}" srcOrd="0" destOrd="0" presId="urn:microsoft.com/office/officeart/2005/8/layout/hierarchy1"/>
    <dgm:cxn modelId="{DC0B1BAB-8410-4898-83A2-57B6D6CA4294}" type="presParOf" srcId="{04DE7981-D985-4672-B240-7E41922DCEFE}" destId="{DF2A419C-9752-4351-A35D-2ECF81E9B6DD}" srcOrd="1" destOrd="0" presId="urn:microsoft.com/office/officeart/2005/8/layout/hierarchy1"/>
    <dgm:cxn modelId="{F9ACD836-8B8E-4117-B980-DA7336D0DAD3}" type="presParOf" srcId="{930C2673-0263-422C-ADDF-DBE79B6C78AD}" destId="{7C7FC92B-3618-484E-9AA7-B9FEDD9F7C2A}" srcOrd="1" destOrd="0" presId="urn:microsoft.com/office/officeart/2005/8/layout/hierarchy1"/>
    <dgm:cxn modelId="{594138B6-7201-447D-9FBE-3DBC83837FF2}" type="presParOf" srcId="{FF21212C-06E9-49B6-8940-51FDD5F16924}" destId="{E4797F00-E010-4E4C-9230-2E2E0A85A895}" srcOrd="2" destOrd="0" presId="urn:microsoft.com/office/officeart/2005/8/layout/hierarchy1"/>
    <dgm:cxn modelId="{F1627F9F-8699-4F39-9582-6C7B50F7CB5D}" type="presParOf" srcId="{FF21212C-06E9-49B6-8940-51FDD5F16924}" destId="{58A19D50-97B3-4A0D-8B37-9E0BFA1B4055}" srcOrd="3" destOrd="0" presId="urn:microsoft.com/office/officeart/2005/8/layout/hierarchy1"/>
    <dgm:cxn modelId="{663C7448-C28A-4C2F-8A20-57BB2D365FCB}" type="presParOf" srcId="{58A19D50-97B3-4A0D-8B37-9E0BFA1B4055}" destId="{C5D04BCE-F72B-42E9-A775-E036E486DB27}" srcOrd="0" destOrd="0" presId="urn:microsoft.com/office/officeart/2005/8/layout/hierarchy1"/>
    <dgm:cxn modelId="{9299B8A3-BC17-4D48-A3E3-4C4D722F1B13}" type="presParOf" srcId="{C5D04BCE-F72B-42E9-A775-E036E486DB27}" destId="{C2944BB8-582D-4775-93DB-6DB4CD2C8B0D}" srcOrd="0" destOrd="0" presId="urn:microsoft.com/office/officeart/2005/8/layout/hierarchy1"/>
    <dgm:cxn modelId="{960B6AD5-0C1E-4B2D-BA72-49793EA2A336}" type="presParOf" srcId="{C5D04BCE-F72B-42E9-A775-E036E486DB27}" destId="{08E840C0-0552-457A-B3A0-795E5E8EBD99}" srcOrd="1" destOrd="0" presId="urn:microsoft.com/office/officeart/2005/8/layout/hierarchy1"/>
    <dgm:cxn modelId="{E9916798-1064-4A49-BBC4-C6E1ED2A688B}" type="presParOf" srcId="{58A19D50-97B3-4A0D-8B37-9E0BFA1B4055}" destId="{9925F361-AACA-4D2B-BFB9-09E3FDFFF604}"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DC19BA-A627-4DE3-96F6-CC1F59C3C70D}"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CFDCC20D-6570-45FE-BE93-08A3BAA60776}">
      <dgm:prSet phldrT="[Text]" custT="1"/>
      <dgm:spPr/>
      <dgm:t>
        <a:bodyPr/>
        <a:lstStyle/>
        <a:p>
          <a:r>
            <a:rPr lang="en-US" sz="2800" b="1" dirty="0" err="1">
              <a:latin typeface="Times New Roman" pitchFamily="18" charset="0"/>
              <a:cs typeface="Times New Roman" pitchFamily="18" charset="0"/>
            </a:rPr>
            <a:t>Kinh</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tế</a:t>
          </a:r>
          <a:r>
            <a:rPr lang="en-US" sz="2800" b="1" dirty="0">
              <a:latin typeface="Times New Roman" pitchFamily="18" charset="0"/>
              <a:cs typeface="Times New Roman" pitchFamily="18" charset="0"/>
            </a:rPr>
            <a:t> </a:t>
          </a:r>
          <a:r>
            <a:rPr lang="en-US" sz="2800" b="1" dirty="0" err="1">
              <a:latin typeface="Times New Roman" pitchFamily="18" charset="0"/>
              <a:cs typeface="Times New Roman" pitchFamily="18" charset="0"/>
            </a:rPr>
            <a:t>học</a:t>
          </a:r>
          <a:endParaRPr lang="en-US" sz="2800" b="1" dirty="0">
            <a:latin typeface="Times New Roman" pitchFamily="18" charset="0"/>
            <a:cs typeface="Times New Roman" pitchFamily="18" charset="0"/>
          </a:endParaRPr>
        </a:p>
      </dgm:t>
    </dgm:pt>
    <dgm:pt modelId="{4A1D8737-2949-4FDD-B7C8-90BB8C072DDE}" type="parTrans" cxnId="{33814555-289C-4335-A66D-E14AC85F75E0}">
      <dgm:prSet/>
      <dgm:spPr/>
      <dgm:t>
        <a:bodyPr/>
        <a:lstStyle/>
        <a:p>
          <a:endParaRPr lang="en-US"/>
        </a:p>
      </dgm:t>
    </dgm:pt>
    <dgm:pt modelId="{9BC2139E-42E3-48F2-AFE6-00F96365ECC0}" type="sibTrans" cxnId="{33814555-289C-4335-A66D-E14AC85F75E0}">
      <dgm:prSet/>
      <dgm:spPr/>
      <dgm:t>
        <a:bodyPr/>
        <a:lstStyle/>
        <a:p>
          <a:endParaRPr lang="en-US"/>
        </a:p>
      </dgm:t>
    </dgm:pt>
    <dgm:pt modelId="{316188C5-E37F-48C4-91C3-72FE575356B7}">
      <dgm:prSet phldrT="[Text]" custT="1"/>
      <dgm:spPr/>
      <dgm:t>
        <a:bodyPr/>
        <a:lstStyle/>
        <a:p>
          <a:pPr algn="ctr"/>
          <a:r>
            <a:rPr lang="en-US" sz="2200" b="1" dirty="0" err="1">
              <a:latin typeface="Times New Roman" pitchFamily="18" charset="0"/>
              <a:cs typeface="Times New Roman" pitchFamily="18" charset="0"/>
            </a:rPr>
            <a:t>Kinh</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tế</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học</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thực</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chứng</a:t>
          </a:r>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mô</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phân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giải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thích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các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tượng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kinh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một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cách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khách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khoa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học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dựa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những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bằng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chứng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thực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tế</a:t>
          </a:r>
          <a:r>
            <a:rPr lang="en-US" sz="2200" dirty="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câu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hỏi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Vấn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đề</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đó</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như</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nào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sao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lại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như</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Điều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xảy</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ra</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nếu</a:t>
          </a:r>
          <a:r>
            <a:rPr lang="en-US" sz="2200" dirty="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Ví</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dụ</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Nâng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mức</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tối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thiểu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có</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thể</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thất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nghiệp</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tăng</a:t>
          </a:r>
          <a:r>
            <a:rPr lang="en-US" sz="2200" dirty="0">
              <a:latin typeface="Times New Roman" pitchFamily="18" charset="0"/>
              <a:cs typeface="Times New Roman" pitchFamily="18" charset="0"/>
            </a:rPr>
            <a:t>.</a:t>
          </a:r>
        </a:p>
      </dgm:t>
    </dgm:pt>
    <dgm:pt modelId="{779F80C6-AF87-4BDF-93AA-4F8110F6E2A9}" type="parTrans" cxnId="{39D45A56-0353-4C9C-886C-8E2E1101B243}">
      <dgm:prSet/>
      <dgm:spPr/>
      <dgm:t>
        <a:bodyPr/>
        <a:lstStyle/>
        <a:p>
          <a:endParaRPr lang="en-US"/>
        </a:p>
      </dgm:t>
    </dgm:pt>
    <dgm:pt modelId="{3BD4DE03-F732-4363-B921-86BF761F5F88}" type="sibTrans" cxnId="{39D45A56-0353-4C9C-886C-8E2E1101B243}">
      <dgm:prSet/>
      <dgm:spPr/>
      <dgm:t>
        <a:bodyPr/>
        <a:lstStyle/>
        <a:p>
          <a:endParaRPr lang="en-US"/>
        </a:p>
      </dgm:t>
    </dgm:pt>
    <dgm:pt modelId="{255017CA-5EAC-4887-BF93-0BA965CA6773}">
      <dgm:prSet phldrT="[Text]" custT="1"/>
      <dgm:spPr/>
      <dgm:t>
        <a:bodyPr/>
        <a:lstStyle/>
        <a:p>
          <a:pPr algn="ctr"/>
          <a:r>
            <a:rPr lang="en-US" sz="2200" b="1" dirty="0" err="1">
              <a:latin typeface="Times New Roman" pitchFamily="18" charset="0"/>
              <a:cs typeface="Times New Roman" pitchFamily="18" charset="0"/>
            </a:rPr>
            <a:t>Kinh</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tế</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học</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chuẩn</a:t>
          </a:r>
          <a:r>
            <a:rPr lang="en-US" sz="2200" b="1" dirty="0">
              <a:latin typeface="Times New Roman" pitchFamily="18" charset="0"/>
              <a:cs typeface="Times New Roman" pitchFamily="18" charset="0"/>
            </a:rPr>
            <a:t> </a:t>
          </a:r>
          <a:r>
            <a:rPr lang="en-US" sz="2200" b="1" dirty="0" err="1">
              <a:latin typeface="Times New Roman" pitchFamily="18" charset="0"/>
              <a:cs typeface="Times New Roman" pitchFamily="18" charset="0"/>
            </a:rPr>
            <a:t>tắc</a:t>
          </a:r>
          <a:endParaRPr lang="en-US" sz="2200" b="1" dirty="0">
            <a:latin typeface="Times New Roman" pitchFamily="18" charset="0"/>
            <a:cs typeface="Times New Roman" pitchFamily="18" charset="0"/>
          </a:endParaRP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Sự</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đánh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chủ</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quan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phán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xét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về</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mặt</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giá</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trị</a:t>
          </a:r>
          <a:r>
            <a:rPr lang="en-US" sz="2200" dirty="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Trả</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câu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hỏi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gì</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làm</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như</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thế</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nào</a:t>
          </a:r>
          <a:r>
            <a:rPr lang="en-US" sz="2200" dirty="0">
              <a:latin typeface="Times New Roman" pitchFamily="18" charset="0"/>
              <a:cs typeface="Times New Roman" pitchFamily="18" charset="0"/>
            </a:rPr>
            <a:t>?</a:t>
          </a:r>
        </a:p>
        <a:p>
          <a:pPr algn="just"/>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Ví</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dụ</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Chính</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phủ</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nên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tăng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lương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tối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thiểu</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để</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cải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thiện</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sống</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người</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lao</a:t>
          </a:r>
          <a:r>
            <a:rPr lang="en-US" sz="2200" dirty="0">
              <a:latin typeface="Times New Roman" pitchFamily="18" charset="0"/>
              <a:cs typeface="Times New Roman" pitchFamily="18" charset="0"/>
            </a:rPr>
            <a:t> </a:t>
          </a:r>
          <a:r>
            <a:rPr lang="en-US" sz="2200" dirty="0" err="1">
              <a:latin typeface="Times New Roman" pitchFamily="18" charset="0"/>
              <a:cs typeface="Times New Roman" pitchFamily="18" charset="0"/>
            </a:rPr>
            <a:t>động</a:t>
          </a:r>
          <a:r>
            <a:rPr lang="en-US" sz="2200" dirty="0">
              <a:latin typeface="Times New Roman" pitchFamily="18" charset="0"/>
              <a:cs typeface="Times New Roman" pitchFamily="18" charset="0"/>
            </a:rPr>
            <a:t>.</a:t>
          </a:r>
        </a:p>
      </dgm:t>
    </dgm:pt>
    <dgm:pt modelId="{DCB34922-576B-4557-BBAB-7E0155F6BB21}" type="parTrans" cxnId="{A50405C3-8ECF-40BC-98D7-D037D6E3DD7C}">
      <dgm:prSet/>
      <dgm:spPr/>
      <dgm:t>
        <a:bodyPr/>
        <a:lstStyle/>
        <a:p>
          <a:endParaRPr lang="en-US"/>
        </a:p>
      </dgm:t>
    </dgm:pt>
    <dgm:pt modelId="{8CBEAD08-2E54-41E3-817E-F878AD862EE0}" type="sibTrans" cxnId="{A50405C3-8ECF-40BC-98D7-D037D6E3DD7C}">
      <dgm:prSet/>
      <dgm:spPr/>
      <dgm:t>
        <a:bodyPr/>
        <a:lstStyle/>
        <a:p>
          <a:endParaRPr lang="en-US"/>
        </a:p>
      </dgm:t>
    </dgm:pt>
    <dgm:pt modelId="{AE1D705C-0775-4BCB-8569-CE6D83111AAF}" type="pres">
      <dgm:prSet presAssocID="{13DC19BA-A627-4DE3-96F6-CC1F59C3C70D}" presName="hierChild1" presStyleCnt="0">
        <dgm:presLayoutVars>
          <dgm:chPref val="1"/>
          <dgm:dir/>
          <dgm:animOne val="branch"/>
          <dgm:animLvl val="lvl"/>
          <dgm:resizeHandles/>
        </dgm:presLayoutVars>
      </dgm:prSet>
      <dgm:spPr/>
    </dgm:pt>
    <dgm:pt modelId="{858064B4-1355-488A-B36C-EF994AA58553}" type="pres">
      <dgm:prSet presAssocID="{CFDCC20D-6570-45FE-BE93-08A3BAA60776}" presName="hierRoot1" presStyleCnt="0"/>
      <dgm:spPr/>
    </dgm:pt>
    <dgm:pt modelId="{7EBDFC66-7BB0-40F0-B4B9-5A0A06AC5C26}" type="pres">
      <dgm:prSet presAssocID="{CFDCC20D-6570-45FE-BE93-08A3BAA60776}" presName="composite" presStyleCnt="0"/>
      <dgm:spPr/>
    </dgm:pt>
    <dgm:pt modelId="{4A95FD9D-BD71-4B8C-9CBB-EBBC0CDCB634}" type="pres">
      <dgm:prSet presAssocID="{CFDCC20D-6570-45FE-BE93-08A3BAA60776}" presName="background" presStyleLbl="node0" presStyleIdx="0" presStyleCnt="1"/>
      <dgm:spPr/>
    </dgm:pt>
    <dgm:pt modelId="{C737BBFF-105A-4F7F-A40A-DE5ECC2E363F}" type="pres">
      <dgm:prSet presAssocID="{CFDCC20D-6570-45FE-BE93-08A3BAA60776}" presName="text" presStyleLbl="fgAcc0" presStyleIdx="0" presStyleCnt="1" custScaleX="73006" custScaleY="26240">
        <dgm:presLayoutVars>
          <dgm:chPref val="3"/>
        </dgm:presLayoutVars>
      </dgm:prSet>
      <dgm:spPr/>
    </dgm:pt>
    <dgm:pt modelId="{FF21212C-06E9-49B6-8940-51FDD5F16924}" type="pres">
      <dgm:prSet presAssocID="{CFDCC20D-6570-45FE-BE93-08A3BAA60776}" presName="hierChild2" presStyleCnt="0"/>
      <dgm:spPr/>
    </dgm:pt>
    <dgm:pt modelId="{EBF78F6C-8C61-4C66-A02F-4643755AD35A}" type="pres">
      <dgm:prSet presAssocID="{779F80C6-AF87-4BDF-93AA-4F8110F6E2A9}" presName="Name10" presStyleLbl="parChTrans1D2" presStyleIdx="0" presStyleCnt="2"/>
      <dgm:spPr/>
    </dgm:pt>
    <dgm:pt modelId="{930C2673-0263-422C-ADDF-DBE79B6C78AD}" type="pres">
      <dgm:prSet presAssocID="{316188C5-E37F-48C4-91C3-72FE575356B7}" presName="hierRoot2" presStyleCnt="0"/>
      <dgm:spPr/>
    </dgm:pt>
    <dgm:pt modelId="{04DE7981-D985-4672-B240-7E41922DCEFE}" type="pres">
      <dgm:prSet presAssocID="{316188C5-E37F-48C4-91C3-72FE575356B7}" presName="composite2" presStyleCnt="0"/>
      <dgm:spPr/>
    </dgm:pt>
    <dgm:pt modelId="{CB88CBEA-18C5-40EC-A5BD-55C3D5897A9B}" type="pres">
      <dgm:prSet presAssocID="{316188C5-E37F-48C4-91C3-72FE575356B7}" presName="background2" presStyleLbl="node2" presStyleIdx="0" presStyleCnt="2"/>
      <dgm:spPr/>
    </dgm:pt>
    <dgm:pt modelId="{DF2A419C-9752-4351-A35D-2ECF81E9B6DD}" type="pres">
      <dgm:prSet presAssocID="{316188C5-E37F-48C4-91C3-72FE575356B7}" presName="text2" presStyleLbl="fgAcc2" presStyleIdx="0" presStyleCnt="2" custScaleX="112585" custScaleY="196049">
        <dgm:presLayoutVars>
          <dgm:chPref val="3"/>
        </dgm:presLayoutVars>
      </dgm:prSet>
      <dgm:spPr/>
    </dgm:pt>
    <dgm:pt modelId="{7C7FC92B-3618-484E-9AA7-B9FEDD9F7C2A}" type="pres">
      <dgm:prSet presAssocID="{316188C5-E37F-48C4-91C3-72FE575356B7}" presName="hierChild3" presStyleCnt="0"/>
      <dgm:spPr/>
    </dgm:pt>
    <dgm:pt modelId="{E4797F00-E010-4E4C-9230-2E2E0A85A895}" type="pres">
      <dgm:prSet presAssocID="{DCB34922-576B-4557-BBAB-7E0155F6BB21}" presName="Name10" presStyleLbl="parChTrans1D2" presStyleIdx="1" presStyleCnt="2"/>
      <dgm:spPr/>
    </dgm:pt>
    <dgm:pt modelId="{58A19D50-97B3-4A0D-8B37-9E0BFA1B4055}" type="pres">
      <dgm:prSet presAssocID="{255017CA-5EAC-4887-BF93-0BA965CA6773}" presName="hierRoot2" presStyleCnt="0"/>
      <dgm:spPr/>
    </dgm:pt>
    <dgm:pt modelId="{C5D04BCE-F72B-42E9-A775-E036E486DB27}" type="pres">
      <dgm:prSet presAssocID="{255017CA-5EAC-4887-BF93-0BA965CA6773}" presName="composite2" presStyleCnt="0"/>
      <dgm:spPr/>
    </dgm:pt>
    <dgm:pt modelId="{C2944BB8-582D-4775-93DB-6DB4CD2C8B0D}" type="pres">
      <dgm:prSet presAssocID="{255017CA-5EAC-4887-BF93-0BA965CA6773}" presName="background2" presStyleLbl="node2" presStyleIdx="1" presStyleCnt="2"/>
      <dgm:spPr/>
    </dgm:pt>
    <dgm:pt modelId="{08E840C0-0552-457A-B3A0-795E5E8EBD99}" type="pres">
      <dgm:prSet presAssocID="{255017CA-5EAC-4887-BF93-0BA965CA6773}" presName="text2" presStyleLbl="fgAcc2" presStyleIdx="1" presStyleCnt="2" custScaleX="105866" custScaleY="189489">
        <dgm:presLayoutVars>
          <dgm:chPref val="3"/>
        </dgm:presLayoutVars>
      </dgm:prSet>
      <dgm:spPr/>
    </dgm:pt>
    <dgm:pt modelId="{9925F361-AACA-4D2B-BFB9-09E3FDFFF604}" type="pres">
      <dgm:prSet presAssocID="{255017CA-5EAC-4887-BF93-0BA965CA6773}" presName="hierChild3" presStyleCnt="0"/>
      <dgm:spPr/>
    </dgm:pt>
  </dgm:ptLst>
  <dgm:cxnLst>
    <dgm:cxn modelId="{F4252225-E988-490D-BF83-CB08F8A3C110}" type="presOf" srcId="{255017CA-5EAC-4887-BF93-0BA965CA6773}" destId="{08E840C0-0552-457A-B3A0-795E5E8EBD99}" srcOrd="0" destOrd="0" presId="urn:microsoft.com/office/officeart/2005/8/layout/hierarchy1"/>
    <dgm:cxn modelId="{4E0C1D54-F59B-48DD-BF22-A219A73FC4A9}" type="presOf" srcId="{DCB34922-576B-4557-BBAB-7E0155F6BB21}" destId="{E4797F00-E010-4E4C-9230-2E2E0A85A895}" srcOrd="0" destOrd="0" presId="urn:microsoft.com/office/officeart/2005/8/layout/hierarchy1"/>
    <dgm:cxn modelId="{33814555-289C-4335-A66D-E14AC85F75E0}" srcId="{13DC19BA-A627-4DE3-96F6-CC1F59C3C70D}" destId="{CFDCC20D-6570-45FE-BE93-08A3BAA60776}" srcOrd="0" destOrd="0" parTransId="{4A1D8737-2949-4FDD-B7C8-90BB8C072DDE}" sibTransId="{9BC2139E-42E3-48F2-AFE6-00F96365ECC0}"/>
    <dgm:cxn modelId="{257BAA55-E9E7-48DC-9D54-899402BB0120}" type="presOf" srcId="{779F80C6-AF87-4BDF-93AA-4F8110F6E2A9}" destId="{EBF78F6C-8C61-4C66-A02F-4643755AD35A}" srcOrd="0" destOrd="0" presId="urn:microsoft.com/office/officeart/2005/8/layout/hierarchy1"/>
    <dgm:cxn modelId="{39D45A56-0353-4C9C-886C-8E2E1101B243}" srcId="{CFDCC20D-6570-45FE-BE93-08A3BAA60776}" destId="{316188C5-E37F-48C4-91C3-72FE575356B7}" srcOrd="0" destOrd="0" parTransId="{779F80C6-AF87-4BDF-93AA-4F8110F6E2A9}" sibTransId="{3BD4DE03-F732-4363-B921-86BF761F5F88}"/>
    <dgm:cxn modelId="{7E776FA0-CA7C-45EB-B01E-EB7FA01FE99E}" type="presOf" srcId="{CFDCC20D-6570-45FE-BE93-08A3BAA60776}" destId="{C737BBFF-105A-4F7F-A40A-DE5ECC2E363F}" srcOrd="0" destOrd="0" presId="urn:microsoft.com/office/officeart/2005/8/layout/hierarchy1"/>
    <dgm:cxn modelId="{A50405C3-8ECF-40BC-98D7-D037D6E3DD7C}" srcId="{CFDCC20D-6570-45FE-BE93-08A3BAA60776}" destId="{255017CA-5EAC-4887-BF93-0BA965CA6773}" srcOrd="1" destOrd="0" parTransId="{DCB34922-576B-4557-BBAB-7E0155F6BB21}" sibTransId="{8CBEAD08-2E54-41E3-817E-F878AD862EE0}"/>
    <dgm:cxn modelId="{2EAC18EE-A0E7-44BB-9046-4642CD03DD2A}" type="presOf" srcId="{316188C5-E37F-48C4-91C3-72FE575356B7}" destId="{DF2A419C-9752-4351-A35D-2ECF81E9B6DD}" srcOrd="0" destOrd="0" presId="urn:microsoft.com/office/officeart/2005/8/layout/hierarchy1"/>
    <dgm:cxn modelId="{7E4749F3-B5D0-47CD-A44A-1ED601E5DCB5}" type="presOf" srcId="{13DC19BA-A627-4DE3-96F6-CC1F59C3C70D}" destId="{AE1D705C-0775-4BCB-8569-CE6D83111AAF}" srcOrd="0" destOrd="0" presId="urn:microsoft.com/office/officeart/2005/8/layout/hierarchy1"/>
    <dgm:cxn modelId="{627DB0CA-E757-4110-B54A-352A8001A995}" type="presParOf" srcId="{AE1D705C-0775-4BCB-8569-CE6D83111AAF}" destId="{858064B4-1355-488A-B36C-EF994AA58553}" srcOrd="0" destOrd="0" presId="urn:microsoft.com/office/officeart/2005/8/layout/hierarchy1"/>
    <dgm:cxn modelId="{63D9A3F0-C154-4BD1-A3AB-E4EB812AF55C}" type="presParOf" srcId="{858064B4-1355-488A-B36C-EF994AA58553}" destId="{7EBDFC66-7BB0-40F0-B4B9-5A0A06AC5C26}" srcOrd="0" destOrd="0" presId="urn:microsoft.com/office/officeart/2005/8/layout/hierarchy1"/>
    <dgm:cxn modelId="{2E5A2570-A0EF-47BD-8E75-02246A75A6F4}" type="presParOf" srcId="{7EBDFC66-7BB0-40F0-B4B9-5A0A06AC5C26}" destId="{4A95FD9D-BD71-4B8C-9CBB-EBBC0CDCB634}" srcOrd="0" destOrd="0" presId="urn:microsoft.com/office/officeart/2005/8/layout/hierarchy1"/>
    <dgm:cxn modelId="{8232CFD0-9424-4408-A45D-3A2BB6E43BD4}" type="presParOf" srcId="{7EBDFC66-7BB0-40F0-B4B9-5A0A06AC5C26}" destId="{C737BBFF-105A-4F7F-A40A-DE5ECC2E363F}" srcOrd="1" destOrd="0" presId="urn:microsoft.com/office/officeart/2005/8/layout/hierarchy1"/>
    <dgm:cxn modelId="{0A928E0A-650C-420A-8C59-A8E1AE487629}" type="presParOf" srcId="{858064B4-1355-488A-B36C-EF994AA58553}" destId="{FF21212C-06E9-49B6-8940-51FDD5F16924}" srcOrd="1" destOrd="0" presId="urn:microsoft.com/office/officeart/2005/8/layout/hierarchy1"/>
    <dgm:cxn modelId="{830FB7B3-6FDF-4738-A701-D001E0D42043}" type="presParOf" srcId="{FF21212C-06E9-49B6-8940-51FDD5F16924}" destId="{EBF78F6C-8C61-4C66-A02F-4643755AD35A}" srcOrd="0" destOrd="0" presId="urn:microsoft.com/office/officeart/2005/8/layout/hierarchy1"/>
    <dgm:cxn modelId="{C109FA3E-DA2E-417F-828D-0BF3281DBDB3}" type="presParOf" srcId="{FF21212C-06E9-49B6-8940-51FDD5F16924}" destId="{930C2673-0263-422C-ADDF-DBE79B6C78AD}" srcOrd="1" destOrd="0" presId="urn:microsoft.com/office/officeart/2005/8/layout/hierarchy1"/>
    <dgm:cxn modelId="{65411EC3-05B6-4823-AAD8-49703997A7FD}" type="presParOf" srcId="{930C2673-0263-422C-ADDF-DBE79B6C78AD}" destId="{04DE7981-D985-4672-B240-7E41922DCEFE}" srcOrd="0" destOrd="0" presId="urn:microsoft.com/office/officeart/2005/8/layout/hierarchy1"/>
    <dgm:cxn modelId="{A65E0C05-9E3B-43FF-9CE8-155AA6F5477C}" type="presParOf" srcId="{04DE7981-D985-4672-B240-7E41922DCEFE}" destId="{CB88CBEA-18C5-40EC-A5BD-55C3D5897A9B}" srcOrd="0" destOrd="0" presId="urn:microsoft.com/office/officeart/2005/8/layout/hierarchy1"/>
    <dgm:cxn modelId="{C17D3BA7-BF28-445A-8483-C95B1E2E0F5F}" type="presParOf" srcId="{04DE7981-D985-4672-B240-7E41922DCEFE}" destId="{DF2A419C-9752-4351-A35D-2ECF81E9B6DD}" srcOrd="1" destOrd="0" presId="urn:microsoft.com/office/officeart/2005/8/layout/hierarchy1"/>
    <dgm:cxn modelId="{718067F8-C30F-455D-914F-0D592B93148E}" type="presParOf" srcId="{930C2673-0263-422C-ADDF-DBE79B6C78AD}" destId="{7C7FC92B-3618-484E-9AA7-B9FEDD9F7C2A}" srcOrd="1" destOrd="0" presId="urn:microsoft.com/office/officeart/2005/8/layout/hierarchy1"/>
    <dgm:cxn modelId="{DCD1A2E4-7189-45CE-91EB-46F5C1DA7F18}" type="presParOf" srcId="{FF21212C-06E9-49B6-8940-51FDD5F16924}" destId="{E4797F00-E010-4E4C-9230-2E2E0A85A895}" srcOrd="2" destOrd="0" presId="urn:microsoft.com/office/officeart/2005/8/layout/hierarchy1"/>
    <dgm:cxn modelId="{1D17A4C1-5359-4C35-B627-0DA5ED4D4878}" type="presParOf" srcId="{FF21212C-06E9-49B6-8940-51FDD5F16924}" destId="{58A19D50-97B3-4A0D-8B37-9E0BFA1B4055}" srcOrd="3" destOrd="0" presId="urn:microsoft.com/office/officeart/2005/8/layout/hierarchy1"/>
    <dgm:cxn modelId="{129DE3A7-CF66-4563-92A8-46CD04D38F72}" type="presParOf" srcId="{58A19D50-97B3-4A0D-8B37-9E0BFA1B4055}" destId="{C5D04BCE-F72B-42E9-A775-E036E486DB27}" srcOrd="0" destOrd="0" presId="urn:microsoft.com/office/officeart/2005/8/layout/hierarchy1"/>
    <dgm:cxn modelId="{4FB5F15B-7E80-45E4-A373-67FD3648304D}" type="presParOf" srcId="{C5D04BCE-F72B-42E9-A775-E036E486DB27}" destId="{C2944BB8-582D-4775-93DB-6DB4CD2C8B0D}" srcOrd="0" destOrd="0" presId="urn:microsoft.com/office/officeart/2005/8/layout/hierarchy1"/>
    <dgm:cxn modelId="{1A34518A-AA0A-49ED-9CC6-702D33CDC9AA}" type="presParOf" srcId="{C5D04BCE-F72B-42E9-A775-E036E486DB27}" destId="{08E840C0-0552-457A-B3A0-795E5E8EBD99}" srcOrd="1" destOrd="0" presId="urn:microsoft.com/office/officeart/2005/8/layout/hierarchy1"/>
    <dgm:cxn modelId="{5469246B-9CB2-481F-8B5E-8128FEF4DEF8}" type="presParOf" srcId="{58A19D50-97B3-4A0D-8B37-9E0BFA1B4055}" destId="{9925F361-AACA-4D2B-BFB9-09E3FDFFF60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97F00-E010-4E4C-9230-2E2E0A85A895}">
      <dsp:nvSpPr>
        <dsp:cNvPr id="0" name=""/>
        <dsp:cNvSpPr/>
      </dsp:nvSpPr>
      <dsp:spPr>
        <a:xfrm>
          <a:off x="4151891" y="807382"/>
          <a:ext cx="2323503" cy="1002546"/>
        </a:xfrm>
        <a:custGeom>
          <a:avLst/>
          <a:gdLst/>
          <a:ahLst/>
          <a:cxnLst/>
          <a:rect l="0" t="0" r="0" b="0"/>
          <a:pathLst>
            <a:path>
              <a:moveTo>
                <a:pt x="0" y="0"/>
              </a:moveTo>
              <a:lnTo>
                <a:pt x="0" y="683205"/>
              </a:lnTo>
              <a:lnTo>
                <a:pt x="2323503" y="683205"/>
              </a:lnTo>
              <a:lnTo>
                <a:pt x="2323503" y="10025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F78F6C-8C61-4C66-A02F-4643755AD35A}">
      <dsp:nvSpPr>
        <dsp:cNvPr id="0" name=""/>
        <dsp:cNvSpPr/>
      </dsp:nvSpPr>
      <dsp:spPr>
        <a:xfrm>
          <a:off x="1944195" y="807382"/>
          <a:ext cx="2207696" cy="1002546"/>
        </a:xfrm>
        <a:custGeom>
          <a:avLst/>
          <a:gdLst/>
          <a:ahLst/>
          <a:cxnLst/>
          <a:rect l="0" t="0" r="0" b="0"/>
          <a:pathLst>
            <a:path>
              <a:moveTo>
                <a:pt x="2207696" y="0"/>
              </a:moveTo>
              <a:lnTo>
                <a:pt x="2207696" y="683205"/>
              </a:lnTo>
              <a:lnTo>
                <a:pt x="0" y="683205"/>
              </a:lnTo>
              <a:lnTo>
                <a:pt x="0" y="10025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95FD9D-BD71-4B8C-9CBB-EBBC0CDCB634}">
      <dsp:nvSpPr>
        <dsp:cNvPr id="0" name=""/>
        <dsp:cNvSpPr/>
      </dsp:nvSpPr>
      <dsp:spPr>
        <a:xfrm>
          <a:off x="2893578" y="233005"/>
          <a:ext cx="2516626" cy="5743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37BBFF-105A-4F7F-A40A-DE5ECC2E363F}">
      <dsp:nvSpPr>
        <dsp:cNvPr id="0" name=""/>
        <dsp:cNvSpPr/>
      </dsp:nvSpPr>
      <dsp:spPr>
        <a:xfrm>
          <a:off x="3276595" y="596870"/>
          <a:ext cx="2516626" cy="5743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err="1">
              <a:latin typeface="Times New Roman" pitchFamily="18" charset="0"/>
              <a:cs typeface="Times New Roman" pitchFamily="18" charset="0"/>
            </a:rPr>
            <a:t>Kinh</a:t>
          </a:r>
          <a:r>
            <a:rPr lang="en-US" sz="2800" b="1" kern="1200" dirty="0">
              <a:latin typeface="Times New Roman" pitchFamily="18" charset="0"/>
              <a:cs typeface="Times New Roman" pitchFamily="18" charset="0"/>
            </a:rPr>
            <a:t> </a:t>
          </a:r>
          <a:r>
            <a:rPr lang="en-US" sz="2800" b="1" kern="1200" dirty="0" err="1">
              <a:latin typeface="Times New Roman" pitchFamily="18" charset="0"/>
              <a:cs typeface="Times New Roman" pitchFamily="18" charset="0"/>
            </a:rPr>
            <a:t>tế</a:t>
          </a:r>
          <a:r>
            <a:rPr lang="en-US" sz="2800" b="1" kern="1200" dirty="0">
              <a:latin typeface="Times New Roman" pitchFamily="18" charset="0"/>
              <a:cs typeface="Times New Roman" pitchFamily="18" charset="0"/>
            </a:rPr>
            <a:t> </a:t>
          </a:r>
          <a:r>
            <a:rPr lang="en-US" sz="2800" b="1" kern="1200" dirty="0" err="1">
              <a:latin typeface="Times New Roman" pitchFamily="18" charset="0"/>
              <a:cs typeface="Times New Roman" pitchFamily="18" charset="0"/>
            </a:rPr>
            <a:t>học</a:t>
          </a:r>
          <a:endParaRPr lang="en-US" sz="2800" b="1" kern="1200" dirty="0">
            <a:latin typeface="Times New Roman" pitchFamily="18" charset="0"/>
            <a:cs typeface="Times New Roman" pitchFamily="18" charset="0"/>
          </a:endParaRPr>
        </a:p>
      </dsp:txBody>
      <dsp:txXfrm>
        <a:off x="3293418" y="613693"/>
        <a:ext cx="2482980" cy="540731"/>
      </dsp:txXfrm>
    </dsp:sp>
    <dsp:sp modelId="{CB88CBEA-18C5-40EC-A5BD-55C3D5897A9B}">
      <dsp:nvSpPr>
        <dsp:cNvPr id="0" name=""/>
        <dsp:cNvSpPr/>
      </dsp:nvSpPr>
      <dsp:spPr>
        <a:xfrm>
          <a:off x="3708" y="1809928"/>
          <a:ext cx="3880973" cy="269511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2A419C-9752-4351-A35D-2ECF81E9B6DD}">
      <dsp:nvSpPr>
        <dsp:cNvPr id="0" name=""/>
        <dsp:cNvSpPr/>
      </dsp:nvSpPr>
      <dsp:spPr>
        <a:xfrm>
          <a:off x="386725" y="2173794"/>
          <a:ext cx="3880973" cy="269511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Times New Roman" pitchFamily="18" charset="0"/>
              <a:cs typeface="Times New Roman" pitchFamily="18" charset="0"/>
            </a:rPr>
            <a:t>Kinh</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tế</a:t>
          </a:r>
          <a:r>
            <a:rPr lang="en-US" sz="2200" b="1" kern="1200" dirty="0">
              <a:latin typeface="Times New Roman" pitchFamily="18" charset="0"/>
              <a:cs typeface="Times New Roman" pitchFamily="18" charset="0"/>
            </a:rPr>
            <a:t> vi </a:t>
          </a:r>
          <a:r>
            <a:rPr lang="en-US" sz="2200" b="1" kern="1200" dirty="0" err="1">
              <a:latin typeface="Times New Roman" pitchFamily="18" charset="0"/>
              <a:cs typeface="Times New Roman" pitchFamily="18" charset="0"/>
            </a:rPr>
            <a:t>mô</a:t>
          </a:r>
          <a:endParaRPr lang="en-US" sz="2200" b="1"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Hoạt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động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kinh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của</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cá</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nhân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hộ</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gia</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đình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doanh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nghiệp</a:t>
          </a:r>
          <a:endParaRPr lang="en-US" sz="2200"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Mục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tiêu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nhập</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tiền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lương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lợi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nhuận</a:t>
          </a:r>
          <a:endParaRPr lang="en-US" sz="2200"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Đặc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trưng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cung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cầu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giá</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cả</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doanh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thu</a:t>
          </a:r>
          <a:r>
            <a:rPr lang="en-US" sz="2200" kern="1200" dirty="0">
              <a:latin typeface="Times New Roman" pitchFamily="18" charset="0"/>
              <a:cs typeface="Times New Roman" pitchFamily="18" charset="0"/>
            </a:rPr>
            <a:t>, chi </a:t>
          </a:r>
          <a:r>
            <a:rPr lang="en-US" sz="2200" kern="1200" dirty="0" err="1">
              <a:latin typeface="Times New Roman" pitchFamily="18" charset="0"/>
              <a:cs typeface="Times New Roman" pitchFamily="18" charset="0"/>
            </a:rPr>
            <a:t>phí</a:t>
          </a:r>
          <a:r>
            <a:rPr lang="en-US" sz="2200" kern="1200" dirty="0">
              <a:latin typeface="Times New Roman" pitchFamily="18" charset="0"/>
              <a:cs typeface="Times New Roman" pitchFamily="18" charset="0"/>
            </a:rPr>
            <a:t>…</a:t>
          </a:r>
        </a:p>
      </dsp:txBody>
      <dsp:txXfrm>
        <a:off x="465662" y="2252731"/>
        <a:ext cx="3723099" cy="2537236"/>
      </dsp:txXfrm>
    </dsp:sp>
    <dsp:sp modelId="{C2944BB8-582D-4775-93DB-6DB4CD2C8B0D}">
      <dsp:nvSpPr>
        <dsp:cNvPr id="0" name=""/>
        <dsp:cNvSpPr/>
      </dsp:nvSpPr>
      <dsp:spPr>
        <a:xfrm>
          <a:off x="4650715" y="1809928"/>
          <a:ext cx="3649359" cy="27268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E840C0-0552-457A-B3A0-795E5E8EBD99}">
      <dsp:nvSpPr>
        <dsp:cNvPr id="0" name=""/>
        <dsp:cNvSpPr/>
      </dsp:nvSpPr>
      <dsp:spPr>
        <a:xfrm>
          <a:off x="5033731" y="2173794"/>
          <a:ext cx="3649359" cy="272685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Times New Roman" pitchFamily="18" charset="0"/>
              <a:cs typeface="Times New Roman" pitchFamily="18" charset="0"/>
            </a:rPr>
            <a:t>Kinh</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tế</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vĩ</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mô</a:t>
          </a:r>
          <a:endParaRPr lang="en-US" sz="2200" b="1"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Hoạt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động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kinh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của</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toàn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bộ</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nền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kinh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tế</a:t>
          </a:r>
          <a:endParaRPr lang="en-US" sz="2200"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Mục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tiêu</a:t>
          </a:r>
          <a:r>
            <a:rPr lang="en-US" sz="2200" kern="1200" dirty="0">
              <a:latin typeface="Times New Roman" pitchFamily="18" charset="0"/>
              <a:cs typeface="Times New Roman" pitchFamily="18" charset="0"/>
            </a:rPr>
            <a:t>: GDP, GNP, BOP…</a:t>
          </a: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Đặc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trưng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Tăng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trưởng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kinh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lạm</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phát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thất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nghiệp</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tỷ</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giá</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hối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đoái</a:t>
          </a:r>
          <a:r>
            <a:rPr lang="en-US" sz="2200" kern="1200" dirty="0">
              <a:latin typeface="Times New Roman" pitchFamily="18" charset="0"/>
              <a:cs typeface="Times New Roman" pitchFamily="18" charset="0"/>
            </a:rPr>
            <a:t>…</a:t>
          </a:r>
        </a:p>
      </dsp:txBody>
      <dsp:txXfrm>
        <a:off x="5113598" y="2253661"/>
        <a:ext cx="3489625" cy="25671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797F00-E010-4E4C-9230-2E2E0A85A895}">
      <dsp:nvSpPr>
        <dsp:cNvPr id="0" name=""/>
        <dsp:cNvSpPr/>
      </dsp:nvSpPr>
      <dsp:spPr>
        <a:xfrm>
          <a:off x="4151891" y="787110"/>
          <a:ext cx="2323503" cy="1002546"/>
        </a:xfrm>
        <a:custGeom>
          <a:avLst/>
          <a:gdLst/>
          <a:ahLst/>
          <a:cxnLst/>
          <a:rect l="0" t="0" r="0" b="0"/>
          <a:pathLst>
            <a:path>
              <a:moveTo>
                <a:pt x="0" y="0"/>
              </a:moveTo>
              <a:lnTo>
                <a:pt x="0" y="683205"/>
              </a:lnTo>
              <a:lnTo>
                <a:pt x="2323503" y="683205"/>
              </a:lnTo>
              <a:lnTo>
                <a:pt x="2323503" y="10025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BF78F6C-8C61-4C66-A02F-4643755AD35A}">
      <dsp:nvSpPr>
        <dsp:cNvPr id="0" name=""/>
        <dsp:cNvSpPr/>
      </dsp:nvSpPr>
      <dsp:spPr>
        <a:xfrm>
          <a:off x="1944195" y="787110"/>
          <a:ext cx="2207696" cy="1002546"/>
        </a:xfrm>
        <a:custGeom>
          <a:avLst/>
          <a:gdLst/>
          <a:ahLst/>
          <a:cxnLst/>
          <a:rect l="0" t="0" r="0" b="0"/>
          <a:pathLst>
            <a:path>
              <a:moveTo>
                <a:pt x="2207696" y="0"/>
              </a:moveTo>
              <a:lnTo>
                <a:pt x="2207696" y="683205"/>
              </a:lnTo>
              <a:lnTo>
                <a:pt x="0" y="683205"/>
              </a:lnTo>
              <a:lnTo>
                <a:pt x="0" y="1002546"/>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A95FD9D-BD71-4B8C-9CBB-EBBC0CDCB634}">
      <dsp:nvSpPr>
        <dsp:cNvPr id="0" name=""/>
        <dsp:cNvSpPr/>
      </dsp:nvSpPr>
      <dsp:spPr>
        <a:xfrm>
          <a:off x="2893578" y="212732"/>
          <a:ext cx="2516626" cy="574377"/>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737BBFF-105A-4F7F-A40A-DE5ECC2E363F}">
      <dsp:nvSpPr>
        <dsp:cNvPr id="0" name=""/>
        <dsp:cNvSpPr/>
      </dsp:nvSpPr>
      <dsp:spPr>
        <a:xfrm>
          <a:off x="3276595" y="576598"/>
          <a:ext cx="2516626" cy="574377"/>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b="1" kern="1200" dirty="0" err="1">
              <a:latin typeface="Times New Roman" pitchFamily="18" charset="0"/>
              <a:cs typeface="Times New Roman" pitchFamily="18" charset="0"/>
            </a:rPr>
            <a:t>Kinh</a:t>
          </a:r>
          <a:r>
            <a:rPr lang="en-US" sz="2800" b="1" kern="1200" dirty="0">
              <a:latin typeface="Times New Roman" pitchFamily="18" charset="0"/>
              <a:cs typeface="Times New Roman" pitchFamily="18" charset="0"/>
            </a:rPr>
            <a:t> </a:t>
          </a:r>
          <a:r>
            <a:rPr lang="en-US" sz="2800" b="1" kern="1200" dirty="0" err="1">
              <a:latin typeface="Times New Roman" pitchFamily="18" charset="0"/>
              <a:cs typeface="Times New Roman" pitchFamily="18" charset="0"/>
            </a:rPr>
            <a:t>tế</a:t>
          </a:r>
          <a:r>
            <a:rPr lang="en-US" sz="2800" b="1" kern="1200" dirty="0">
              <a:latin typeface="Times New Roman" pitchFamily="18" charset="0"/>
              <a:cs typeface="Times New Roman" pitchFamily="18" charset="0"/>
            </a:rPr>
            <a:t> </a:t>
          </a:r>
          <a:r>
            <a:rPr lang="en-US" sz="2800" b="1" kern="1200" dirty="0" err="1">
              <a:latin typeface="Times New Roman" pitchFamily="18" charset="0"/>
              <a:cs typeface="Times New Roman" pitchFamily="18" charset="0"/>
            </a:rPr>
            <a:t>học</a:t>
          </a:r>
          <a:endParaRPr lang="en-US" sz="2800" b="1" kern="1200" dirty="0">
            <a:latin typeface="Times New Roman" pitchFamily="18" charset="0"/>
            <a:cs typeface="Times New Roman" pitchFamily="18" charset="0"/>
          </a:endParaRPr>
        </a:p>
      </dsp:txBody>
      <dsp:txXfrm>
        <a:off x="3293418" y="593421"/>
        <a:ext cx="2482980" cy="540731"/>
      </dsp:txXfrm>
    </dsp:sp>
    <dsp:sp modelId="{CB88CBEA-18C5-40EC-A5BD-55C3D5897A9B}">
      <dsp:nvSpPr>
        <dsp:cNvPr id="0" name=""/>
        <dsp:cNvSpPr/>
      </dsp:nvSpPr>
      <dsp:spPr>
        <a:xfrm>
          <a:off x="3708" y="1789656"/>
          <a:ext cx="3880973" cy="429139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F2A419C-9752-4351-A35D-2ECF81E9B6DD}">
      <dsp:nvSpPr>
        <dsp:cNvPr id="0" name=""/>
        <dsp:cNvSpPr/>
      </dsp:nvSpPr>
      <dsp:spPr>
        <a:xfrm>
          <a:off x="386725" y="2153522"/>
          <a:ext cx="3880973" cy="4291394"/>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Times New Roman" pitchFamily="18" charset="0"/>
              <a:cs typeface="Times New Roman" pitchFamily="18" charset="0"/>
            </a:rPr>
            <a:t>Kinh</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tế</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học</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thực</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chứng</a:t>
          </a:r>
          <a:endParaRPr lang="en-US" sz="2200" b="1"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Sự</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mô</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tả</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phân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tích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giải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thích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các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sự</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kiện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hiện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tượng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kinh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một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cách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khách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quan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khoa</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học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dựa</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trên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những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bằng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chứng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thực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tế</a:t>
          </a:r>
          <a:r>
            <a:rPr lang="en-US" sz="2200" kern="1200" dirty="0">
              <a:latin typeface="Times New Roman" pitchFamily="18" charset="0"/>
              <a:cs typeface="Times New Roman" pitchFamily="18" charset="0"/>
            </a:rPr>
            <a:t>.</a:t>
          </a: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Trả</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lời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cho</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câu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hỏi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Vấn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đề</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đó</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là</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gì</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Là</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như</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nào</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Tại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sao</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lại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như</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Điều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gì</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xảy</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ra</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nếu</a:t>
          </a:r>
          <a:r>
            <a:rPr lang="en-US" sz="2200" kern="1200" dirty="0">
              <a:latin typeface="Times New Roman" pitchFamily="18" charset="0"/>
              <a:cs typeface="Times New Roman" pitchFamily="18" charset="0"/>
            </a:rPr>
            <a:t>…?</a:t>
          </a: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Ví</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dụ</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Nâng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mức</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lương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tối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thiểu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có</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thể</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làm</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thất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nghiệp</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tăng</a:t>
          </a:r>
          <a:r>
            <a:rPr lang="en-US" sz="2200" kern="1200" dirty="0">
              <a:latin typeface="Times New Roman" pitchFamily="18" charset="0"/>
              <a:cs typeface="Times New Roman" pitchFamily="18" charset="0"/>
            </a:rPr>
            <a:t>.</a:t>
          </a:r>
        </a:p>
      </dsp:txBody>
      <dsp:txXfrm>
        <a:off x="500395" y="2267192"/>
        <a:ext cx="3653633" cy="4064054"/>
      </dsp:txXfrm>
    </dsp:sp>
    <dsp:sp modelId="{C2944BB8-582D-4775-93DB-6DB4CD2C8B0D}">
      <dsp:nvSpPr>
        <dsp:cNvPr id="0" name=""/>
        <dsp:cNvSpPr/>
      </dsp:nvSpPr>
      <dsp:spPr>
        <a:xfrm>
          <a:off x="4650715" y="1789656"/>
          <a:ext cx="3649359" cy="414780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8E840C0-0552-457A-B3A0-795E5E8EBD99}">
      <dsp:nvSpPr>
        <dsp:cNvPr id="0" name=""/>
        <dsp:cNvSpPr/>
      </dsp:nvSpPr>
      <dsp:spPr>
        <a:xfrm>
          <a:off x="5033731" y="2153522"/>
          <a:ext cx="3649359" cy="41478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3820" tIns="83820" rIns="83820" bIns="83820" numCol="1" spcCol="1270" anchor="ctr" anchorCtr="0">
          <a:noAutofit/>
        </a:bodyPr>
        <a:lstStyle/>
        <a:p>
          <a:pPr marL="0" lvl="0" indent="0" algn="ctr" defTabSz="977900">
            <a:lnSpc>
              <a:spcPct val="90000"/>
            </a:lnSpc>
            <a:spcBef>
              <a:spcPct val="0"/>
            </a:spcBef>
            <a:spcAft>
              <a:spcPct val="35000"/>
            </a:spcAft>
            <a:buNone/>
          </a:pPr>
          <a:r>
            <a:rPr lang="en-US" sz="2200" b="1" kern="1200" dirty="0" err="1">
              <a:latin typeface="Times New Roman" pitchFamily="18" charset="0"/>
              <a:cs typeface="Times New Roman" pitchFamily="18" charset="0"/>
            </a:rPr>
            <a:t>Kinh</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tế</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học</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chuẩn</a:t>
          </a:r>
          <a:r>
            <a:rPr lang="en-US" sz="2200" b="1" kern="1200" dirty="0">
              <a:latin typeface="Times New Roman" pitchFamily="18" charset="0"/>
              <a:cs typeface="Times New Roman" pitchFamily="18" charset="0"/>
            </a:rPr>
            <a:t> </a:t>
          </a:r>
          <a:r>
            <a:rPr lang="en-US" sz="2200" b="1" kern="1200" dirty="0" err="1">
              <a:latin typeface="Times New Roman" pitchFamily="18" charset="0"/>
              <a:cs typeface="Times New Roman" pitchFamily="18" charset="0"/>
            </a:rPr>
            <a:t>tắc</a:t>
          </a:r>
          <a:endParaRPr lang="en-US" sz="2200" b="1" kern="1200" dirty="0">
            <a:latin typeface="Times New Roman" pitchFamily="18" charset="0"/>
            <a:cs typeface="Times New Roman" pitchFamily="18" charset="0"/>
          </a:endParaRP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Sự</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đánh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giá</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chủ</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quan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phán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xét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về</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mặt</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giá</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trị</a:t>
          </a:r>
          <a:r>
            <a:rPr lang="en-US" sz="2200" kern="1200" dirty="0">
              <a:latin typeface="Times New Roman" pitchFamily="18" charset="0"/>
              <a:cs typeface="Times New Roman" pitchFamily="18" charset="0"/>
            </a:rPr>
            <a:t>.</a:t>
          </a: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Trả</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lời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cho</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câu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hỏi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Nên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làm</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gì</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Nên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làm</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như</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thế</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nào</a:t>
          </a:r>
          <a:r>
            <a:rPr lang="en-US" sz="2200" kern="1200" dirty="0">
              <a:latin typeface="Times New Roman" pitchFamily="18" charset="0"/>
              <a:cs typeface="Times New Roman" pitchFamily="18" charset="0"/>
            </a:rPr>
            <a:t>?</a:t>
          </a:r>
        </a:p>
        <a:p>
          <a:pPr marL="0" lvl="0" indent="0" algn="just" defTabSz="977900">
            <a:lnSpc>
              <a:spcPct val="90000"/>
            </a:lnSpc>
            <a:spcBef>
              <a:spcPct val="0"/>
            </a:spcBef>
            <a:spcAft>
              <a:spcPct val="35000"/>
            </a:spcAft>
            <a:buNone/>
          </a:pP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Ví</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dụ</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Chính</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phủ</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nên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tăng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lương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tối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thiểu</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để</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cải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thiện</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đời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sống</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người</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lao</a:t>
          </a:r>
          <a:r>
            <a:rPr lang="en-US" sz="2200" kern="1200" dirty="0">
              <a:latin typeface="Times New Roman" pitchFamily="18" charset="0"/>
              <a:cs typeface="Times New Roman" pitchFamily="18" charset="0"/>
            </a:rPr>
            <a:t> </a:t>
          </a:r>
          <a:r>
            <a:rPr lang="en-US" sz="2200" kern="1200" dirty="0" err="1">
              <a:latin typeface="Times New Roman" pitchFamily="18" charset="0"/>
              <a:cs typeface="Times New Roman" pitchFamily="18" charset="0"/>
            </a:rPr>
            <a:t>động</a:t>
          </a:r>
          <a:r>
            <a:rPr lang="en-US" sz="2200" kern="1200" dirty="0">
              <a:latin typeface="Times New Roman" pitchFamily="18" charset="0"/>
              <a:cs typeface="Times New Roman" pitchFamily="18" charset="0"/>
            </a:rPr>
            <a:t>.</a:t>
          </a:r>
        </a:p>
      </dsp:txBody>
      <dsp:txXfrm>
        <a:off x="5140617" y="2260408"/>
        <a:ext cx="3435587" cy="3934028"/>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B4EC90-4C35-4787-8A06-6B71853CAAA1}" type="datetimeFigureOut">
              <a:rPr lang="en-GB" smtClean="0"/>
              <a:t>09/05/2026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4999EE-074A-418B-998A-17D1BAA8EDFC}" type="slidenum">
              <a:rPr lang="en-GB" smtClean="0"/>
              <a:t>‹#›</a:t>
            </a:fld>
            <a:endParaRPr lang="en-GB"/>
          </a:p>
        </p:txBody>
      </p:sp>
    </p:spTree>
    <p:extLst>
      <p:ext uri="{BB962C8B-B14F-4D97-AF65-F5344CB8AC3E}">
        <p14:creationId xmlns:p14="http://schemas.microsoft.com/office/powerpoint/2010/main" val="166020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E7E6E6">
                  <a:lumMod val="10000"/>
                </a:srgbClr>
              </a:solidFill>
              <a:latin typeface="Times New Roman" panose="02020603050405020304" pitchFamily="18" charset="0"/>
              <a:cs typeface="Times New Roman" panose="02020603050405020304" pitchFamily="18" charset="0"/>
              <a:sym typeface="+mn-lt"/>
            </a:endParaRPr>
          </a:p>
        </p:txBody>
      </p:sp>
      <p:sp>
        <p:nvSpPr>
          <p:cNvPr id="4" name="灯片编号占位符 3"/>
          <p:cNvSpPr>
            <a:spLocks noGrp="1"/>
          </p:cNvSpPr>
          <p:nvPr>
            <p:ph type="sldNum" sz="quarter" idx="10"/>
          </p:nvPr>
        </p:nvSpPr>
        <p:spPr/>
        <p:txBody>
          <a:bodyPr/>
          <a:lstStyle/>
          <a:p>
            <a:fld id="{2BB2B86F-0BDE-4C9A-93E0-705925128E55}" type="slidenum">
              <a:rPr lang="zh-CN" altLang="en-US" smtClean="0"/>
              <a:t>2</a:t>
            </a:fld>
            <a:endParaRPr lang="zh-CN" altLang="en-US"/>
          </a:p>
        </p:txBody>
      </p:sp>
    </p:spTree>
    <p:extLst>
      <p:ext uri="{BB962C8B-B14F-4D97-AF65-F5344CB8AC3E}">
        <p14:creationId xmlns:p14="http://schemas.microsoft.com/office/powerpoint/2010/main" val="1279226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err="1">
                <a:solidFill>
                  <a:srgbClr val="0000FF"/>
                </a:solidFill>
                <a:latin typeface="Times New Roman" pitchFamily="18" charset="0"/>
                <a:cs typeface="Times New Roman" pitchFamily="18" charset="0"/>
              </a:rPr>
              <a:t>Sự</a:t>
            </a:r>
            <a:r>
              <a:rPr lang="en-US" sz="1200" dirty="0">
                <a:solidFill>
                  <a:srgbClr val="0000FF"/>
                </a:solidFill>
                <a:latin typeface="Times New Roman" pitchFamily="18" charset="0"/>
                <a:cs typeface="Times New Roman" pitchFamily="18" charset="0"/>
              </a:rPr>
              <a:t> khan </a:t>
            </a:r>
            <a:r>
              <a:rPr lang="en-US" sz="1200" dirty="0" err="1">
                <a:solidFill>
                  <a:srgbClr val="0000FF"/>
                </a:solidFill>
                <a:latin typeface="Times New Roman" pitchFamily="18" charset="0"/>
                <a:cs typeface="Times New Roman" pitchFamily="18" charset="0"/>
              </a:rPr>
              <a:t>hiếm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hữu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hội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thỏa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mọi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ngày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con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Nhu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ngon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mặc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đẹp</a:t>
            </a:r>
            <a:r>
              <a:rPr lang="en-US" sz="1200" dirty="0">
                <a:solidFill>
                  <a:srgbClr val="0000FF"/>
                </a:solidFill>
                <a:latin typeface="Times New Roman" pitchFamily="18" charset="0"/>
                <a:cs typeface="Times New Roman" pitchFamily="18" charset="0"/>
              </a:rPr>
              <a:t>, ở </a:t>
            </a:r>
            <a:r>
              <a:rPr lang="en-US" sz="1200" dirty="0" err="1">
                <a:solidFill>
                  <a:srgbClr val="0000FF"/>
                </a:solidFill>
                <a:latin typeface="Times New Roman" pitchFamily="18" charset="0"/>
                <a:cs typeface="Times New Roman" pitchFamily="18" charset="0"/>
              </a:rPr>
              <a:t>nhà</a:t>
            </a:r>
            <a:r>
              <a:rPr lang="en-US" sz="1200" dirty="0">
                <a:solidFill>
                  <a:srgbClr val="0000FF"/>
                </a:solidFill>
                <a:latin typeface="Times New Roman" pitchFamily="18" charset="0"/>
                <a:cs typeface="Times New Roman" pitchFamily="18" charset="0"/>
              </a:rPr>
              <a:t> to, </a:t>
            </a:r>
            <a:r>
              <a:rPr lang="en-US" sz="1200" dirty="0" err="1">
                <a:solidFill>
                  <a:srgbClr val="0000FF"/>
                </a:solidFill>
                <a:latin typeface="Times New Roman" pitchFamily="18" charset="0"/>
                <a:cs typeface="Times New Roman" pitchFamily="18" charset="0"/>
              </a:rPr>
              <a:t>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xe</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xịn</a:t>
            </a:r>
            <a:r>
              <a:rPr lang="en-US" sz="1200" dirty="0">
                <a:solidFill>
                  <a:srgbClr val="0000FF"/>
                </a:solidFill>
                <a:latin typeface="Times New Roman" pitchFamily="18" charset="0"/>
                <a:cs typeface="Times New Roman" pitchFamily="18" charset="0"/>
              </a:rPr>
              <a:t>…</a:t>
            </a:r>
          </a:p>
          <a:p>
            <a:pPr algn="just"/>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hữu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khỏe</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gian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tài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nguyên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a:t>
            </a:fld>
            <a:endParaRPr lang="en-GB"/>
          </a:p>
        </p:txBody>
      </p:sp>
    </p:spTree>
    <p:extLst>
      <p:ext uri="{BB962C8B-B14F-4D97-AF65-F5344CB8AC3E}">
        <p14:creationId xmlns:p14="http://schemas.microsoft.com/office/powerpoint/2010/main" val="20337690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dirty="0">
                <a:solidFill>
                  <a:srgbClr val="0000FF"/>
                </a:solidFill>
                <a:latin typeface="Times New Roman" pitchFamily="18" charset="0"/>
                <a:cs typeface="Times New Roman" pitchFamily="18" charset="0"/>
              </a:rPr>
              <a:t>Hai </a:t>
            </a:r>
            <a:r>
              <a:rPr lang="en-US" sz="1200" b="1" dirty="0" err="1">
                <a:solidFill>
                  <a:srgbClr val="0000FF"/>
                </a:solidFill>
                <a:latin typeface="Times New Roman" pitchFamily="18" charset="0"/>
                <a:cs typeface="Times New Roman" pitchFamily="18" charset="0"/>
              </a:rPr>
              <a:t>khía</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cạnh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quan</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trọng</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của</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kinh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tế</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học</a:t>
            </a:r>
            <a:r>
              <a:rPr lang="en-US" sz="1200"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khan </a:t>
            </a:r>
            <a:r>
              <a:rPr lang="en-US" sz="1200" dirty="0" err="1">
                <a:solidFill>
                  <a:srgbClr val="0000FF"/>
                </a:solidFill>
                <a:latin typeface="Times New Roman" pitchFamily="18" charset="0"/>
                <a:cs typeface="Times New Roman" pitchFamily="18" charset="0"/>
              </a:rPr>
              <a:t>hiếm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tài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nguyên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đủ</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đáp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con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nghĩa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tài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nguyên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kiệm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thoả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con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 </a:t>
            </a:r>
            <a:r>
              <a:rPr lang="en-US" sz="1200" b="1" dirty="0">
                <a:solidFill>
                  <a:srgbClr val="0000FF"/>
                </a:solidFill>
                <a:latin typeface="Times New Roman" pitchFamily="18" charset="0"/>
                <a:cs typeface="Times New Roman" pitchFamily="18" charset="0"/>
              </a:rPr>
              <a:t>Hai </a:t>
            </a:r>
            <a:r>
              <a:rPr lang="en-US" sz="1200" b="1" dirty="0" err="1">
                <a:solidFill>
                  <a:srgbClr val="0000FF"/>
                </a:solidFill>
                <a:latin typeface="Times New Roman" pitchFamily="18" charset="0"/>
                <a:cs typeface="Times New Roman" pitchFamily="18" charset="0"/>
              </a:rPr>
              <a:t>cách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tiếp</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cận</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của</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kinh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tế</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học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vi </a:t>
            </a:r>
            <a:r>
              <a:rPr lang="en-US" sz="1200" dirty="0" err="1">
                <a:solidFill>
                  <a:srgbClr val="0000FF"/>
                </a:solidFill>
                <a:latin typeface="Times New Roman" pitchFamily="18" charset="0"/>
                <a:cs typeface="Times New Roman" pitchFamily="18" charset="0"/>
              </a:rPr>
              <a:t>mô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học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học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chuẩn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tắc</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6</a:t>
            </a:fld>
            <a:endParaRPr lang="en-GB"/>
          </a:p>
        </p:txBody>
      </p:sp>
    </p:spTree>
    <p:extLst>
      <p:ext uri="{BB962C8B-B14F-4D97-AF65-F5344CB8AC3E}">
        <p14:creationId xmlns:p14="http://schemas.microsoft.com/office/powerpoint/2010/main" val="3722666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err="1">
                <a:solidFill>
                  <a:srgbClr val="0000FF"/>
                </a:solidFill>
                <a:latin typeface="Times New Roman" pitchFamily="18" charset="0"/>
                <a:cs typeface="Times New Roman" pitchFamily="18" charset="0"/>
              </a:rPr>
              <a:t>Mối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quan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hệ</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mật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thiết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bổ</a:t>
            </a:r>
            <a:r>
              <a:rPr lang="en-US" sz="1200" dirty="0">
                <a:solidFill>
                  <a:srgbClr val="0000FF"/>
                </a:solidFill>
                <a:latin typeface="Times New Roman" pitchFamily="18" charset="0"/>
                <a:cs typeface="Times New Roman" pitchFamily="18" charset="0"/>
              </a:rPr>
              <a:t> sung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nhau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hoạt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thuộc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vi </a:t>
            </a:r>
            <a:r>
              <a:rPr lang="en-US" sz="1200" dirty="0" err="1">
                <a:solidFill>
                  <a:srgbClr val="0000FF"/>
                </a:solidFill>
                <a:latin typeface="Times New Roman" pitchFamily="18" charset="0"/>
                <a:cs typeface="Times New Roman" pitchFamily="18" charset="0"/>
              </a:rPr>
              <a:t>mô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=&gt;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trưởng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Chính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sách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thuế</a:t>
            </a:r>
            <a:r>
              <a:rPr lang="en-US" sz="1200" dirty="0">
                <a:solidFill>
                  <a:srgbClr val="0000FF"/>
                </a:solidFill>
                <a:latin typeface="Times New Roman" pitchFamily="18" charset="0"/>
                <a:cs typeface="Times New Roman" pitchFamily="18" charset="0"/>
              </a:rPr>
              <a:t> =&gt;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a:t>
            </a:r>
          </a:p>
          <a:p>
            <a:pPr algn="just"/>
            <a:r>
              <a:rPr lang="en-US" sz="1200" dirty="0" err="1">
                <a:solidFill>
                  <a:srgbClr val="0000FF"/>
                </a:solidFill>
                <a:latin typeface="Times New Roman" pitchFamily="18" charset="0"/>
                <a:cs typeface="Times New Roman" pitchFamily="18" charset="0"/>
              </a:rPr>
              <a:t>Ví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rừng</a:t>
            </a:r>
            <a:r>
              <a:rPr lang="en-US" sz="1200" dirty="0">
                <a:solidFill>
                  <a:srgbClr val="0000FF"/>
                </a:solidFill>
                <a:latin typeface="Times New Roman" pitchFamily="18" charset="0"/>
                <a:cs typeface="Times New Roman" pitchFamily="18" charset="0"/>
              </a:rPr>
              <a:t> – </a:t>
            </a:r>
            <a:r>
              <a:rPr lang="en-US" sz="1200" dirty="0" err="1">
                <a:solidFill>
                  <a:srgbClr val="0000FF"/>
                </a:solidFill>
                <a:latin typeface="Times New Roman" pitchFamily="18" charset="0"/>
                <a:cs typeface="Times New Roman" pitchFamily="18" charset="0"/>
              </a:rPr>
              <a:t>từng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cây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rừng</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7</a:t>
            </a:fld>
            <a:endParaRPr lang="en-GB"/>
          </a:p>
        </p:txBody>
      </p:sp>
    </p:spTree>
    <p:extLst>
      <p:ext uri="{BB962C8B-B14F-4D97-AF65-F5344CB8AC3E}">
        <p14:creationId xmlns:p14="http://schemas.microsoft.com/office/powerpoint/2010/main" val="1864697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lnSpc>
                <a:spcPct val="140000"/>
              </a:lnSpc>
              <a:spcBef>
                <a:spcPts val="0"/>
              </a:spcBef>
            </a:pPr>
            <a:r>
              <a:rPr lang="en-US" sz="1200" b="1" dirty="0">
                <a:solidFill>
                  <a:srgbClr val="0000FF"/>
                </a:solidFill>
                <a:latin typeface="Times New Roman" pitchFamily="18" charset="0"/>
                <a:cs typeface="Times New Roman" pitchFamily="18" charset="0"/>
              </a:rPr>
              <a:t>3 </a:t>
            </a:r>
            <a:r>
              <a:rPr lang="en-US" sz="1200" b="1" dirty="0" err="1">
                <a:solidFill>
                  <a:srgbClr val="0000FF"/>
                </a:solidFill>
                <a:latin typeface="Times New Roman" pitchFamily="18" charset="0"/>
                <a:cs typeface="Times New Roman" pitchFamily="18" charset="0"/>
              </a:rPr>
              <a:t>nhóm</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chủ</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thể</a:t>
            </a:r>
            <a:r>
              <a:rPr lang="en-US" sz="1200" b="1"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quyết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về</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khan </a:t>
            </a:r>
            <a:r>
              <a:rPr lang="en-US" sz="1200" dirty="0" err="1">
                <a:solidFill>
                  <a:srgbClr val="0000FF"/>
                </a:solidFill>
                <a:latin typeface="Times New Roman" pitchFamily="18" charset="0"/>
                <a:cs typeface="Times New Roman" pitchFamily="18" charset="0"/>
              </a:rPr>
              <a:t>hiếm</a:t>
            </a:r>
            <a:r>
              <a:rPr lang="en-US" sz="1200" dirty="0">
                <a:solidFill>
                  <a:srgbClr val="0000FF"/>
                </a:solidFill>
                <a:latin typeface="Times New Roman" pitchFamily="18" charset="0"/>
                <a:cs typeface="Times New Roman" pitchFamily="18" charset="0"/>
              </a:rPr>
              <a:t>:</a:t>
            </a:r>
          </a:p>
          <a:p>
            <a:pPr lvl="0" algn="just">
              <a:lnSpc>
                <a:spcPct val="140000"/>
              </a:lnSpc>
              <a:spcBef>
                <a:spcPts val="0"/>
              </a:spcBef>
            </a:pP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cung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vốn</a:t>
            </a:r>
            <a:r>
              <a:rPr lang="en-US" sz="1200" dirty="0">
                <a:solidFill>
                  <a:srgbClr val="0000FF"/>
                </a:solidFill>
                <a:latin typeface="Times New Roman" pitchFamily="18" charset="0"/>
                <a:cs typeface="Times New Roman" pitchFamily="18" charset="0"/>
              </a:rPr>
              <a:t>. </a:t>
            </a:r>
          </a:p>
          <a:p>
            <a:pPr lvl="0" algn="just">
              <a:lnSpc>
                <a:spcPct val="140000"/>
              </a:lnSpc>
              <a:spcBef>
                <a:spcPts val="0"/>
              </a:spcBef>
            </a:pP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hộ</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chủ</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a:t>
            </a:r>
          </a:p>
          <a:p>
            <a:pPr lvl="0" algn="just">
              <a:lnSpc>
                <a:spcPct val="140000"/>
              </a:lnSpc>
              <a:spcBef>
                <a:spcPts val="0"/>
              </a:spcBef>
            </a:pP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Chính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phủ</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chính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phủ</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chỉnh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hành</a:t>
            </a:r>
            <a:r>
              <a:rPr lang="en-US" sz="1200" dirty="0">
                <a:solidFill>
                  <a:srgbClr val="0000FF"/>
                </a:solidFill>
                <a:latin typeface="Times New Roman" pitchFamily="18" charset="0"/>
                <a:cs typeface="Times New Roman" pitchFamily="18" charset="0"/>
              </a:rPr>
              <a:t> vi hay </a:t>
            </a:r>
            <a:r>
              <a:rPr lang="en-US" sz="1200" dirty="0" err="1">
                <a:solidFill>
                  <a:srgbClr val="0000FF"/>
                </a:solidFill>
                <a:latin typeface="Times New Roman" pitchFamily="18" charset="0"/>
                <a:cs typeface="Times New Roman" pitchFamily="18" charset="0"/>
              </a:rPr>
              <a:t>quyết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hộ</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thông</a:t>
            </a:r>
            <a:r>
              <a:rPr lang="en-US" sz="1200" dirty="0">
                <a:solidFill>
                  <a:srgbClr val="0000FF"/>
                </a:solidFill>
                <a:latin typeface="Times New Roman" pitchFamily="18" charset="0"/>
                <a:cs typeface="Times New Roman" pitchFamily="18" charset="0"/>
              </a:rPr>
              <a:t> qua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luật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pháp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cấp</a:t>
            </a:r>
            <a:endParaRPr lang="en-US" sz="1200" dirty="0">
              <a:solidFill>
                <a:srgbClr val="0000FF"/>
              </a:solidFill>
              <a:latin typeface="Times New Roman" pitchFamily="18" charset="0"/>
              <a:cs typeface="Times New Roman" pitchFamily="18" charset="0"/>
            </a:endParaRPr>
          </a:p>
        </p:txBody>
      </p:sp>
      <p:sp>
        <p:nvSpPr>
          <p:cNvPr id="4" name="Slide Number Placeholder 3"/>
          <p:cNvSpPr>
            <a:spLocks noGrp="1"/>
          </p:cNvSpPr>
          <p:nvPr>
            <p:ph type="sldNum" sz="quarter" idx="5"/>
          </p:nvPr>
        </p:nvSpPr>
        <p:spPr/>
        <p:txBody>
          <a:bodyPr/>
          <a:lstStyle/>
          <a:p>
            <a:fld id="{A14999EE-074A-418B-998A-17D1BAA8EDFC}" type="slidenum">
              <a:rPr lang="en-GB" smtClean="0"/>
              <a:t>9</a:t>
            </a:fld>
            <a:endParaRPr lang="en-GB"/>
          </a:p>
        </p:txBody>
      </p:sp>
    </p:spTree>
    <p:extLst>
      <p:ext uri="{BB962C8B-B14F-4D97-AF65-F5344CB8AC3E}">
        <p14:creationId xmlns:p14="http://schemas.microsoft.com/office/powerpoint/2010/main" val="7861504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lgn="just">
              <a:lnSpc>
                <a:spcPct val="140000"/>
              </a:lnSpc>
              <a:spcBef>
                <a:spcPts val="0"/>
              </a:spcBef>
            </a:pPr>
            <a:r>
              <a:rPr lang="en-US" sz="1200" dirty="0">
                <a:solidFill>
                  <a:srgbClr val="0000FF"/>
                </a:solidFill>
                <a:latin typeface="Times New Roman" pitchFamily="18" charset="0"/>
                <a:cs typeface="Times New Roman" pitchFamily="18" charset="0"/>
              </a:rPr>
              <a:t>Lao </a:t>
            </a:r>
            <a:r>
              <a:rPr lang="en-US" sz="1200" dirty="0" err="1">
                <a:solidFill>
                  <a:srgbClr val="0000FF"/>
                </a:solidFill>
                <a:latin typeface="Times New Roman" pitchFamily="18" charset="0"/>
                <a:cs typeface="Times New Roman" pitchFamily="18" charset="0"/>
              </a:rPr>
              <a:t>động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từ</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lương</a:t>
            </a:r>
            <a:r>
              <a:rPr lang="en-US" sz="1200" dirty="0">
                <a:solidFill>
                  <a:srgbClr val="0000FF"/>
                </a:solidFill>
                <a:latin typeface="Times New Roman" pitchFamily="18" charset="0"/>
                <a:cs typeface="Times New Roman" pitchFamily="18" charset="0"/>
              </a:rPr>
              <a:t>.</a:t>
            </a:r>
          </a:p>
          <a:p>
            <a:pPr lvl="0" algn="just">
              <a:lnSpc>
                <a:spcPct val="140000"/>
              </a:lnSpc>
              <a:spcBef>
                <a:spcPts val="0"/>
              </a:spcBef>
            </a:pPr>
            <a:r>
              <a:rPr lang="en-US" sz="1200" dirty="0" err="1">
                <a:solidFill>
                  <a:srgbClr val="0000FF"/>
                </a:solidFill>
                <a:latin typeface="Times New Roman" pitchFamily="18" charset="0"/>
                <a:cs typeface="Times New Roman" pitchFamily="18" charset="0"/>
              </a:rPr>
              <a:t>Đất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từ</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thuê</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đất</a:t>
            </a:r>
            <a:r>
              <a:rPr lang="en-US" sz="1200" dirty="0">
                <a:solidFill>
                  <a:srgbClr val="0000FF"/>
                </a:solidFill>
                <a:latin typeface="Times New Roman" pitchFamily="18" charset="0"/>
                <a:cs typeface="Times New Roman" pitchFamily="18" charset="0"/>
              </a:rPr>
              <a:t>.</a:t>
            </a:r>
          </a:p>
          <a:p>
            <a:pPr lvl="0" algn="just">
              <a:lnSpc>
                <a:spcPct val="140000"/>
              </a:lnSpc>
              <a:spcBef>
                <a:spcPts val="0"/>
              </a:spcBef>
            </a:pPr>
            <a:r>
              <a:rPr lang="en-US" sz="1200" dirty="0" err="1">
                <a:solidFill>
                  <a:srgbClr val="0000FF"/>
                </a:solidFill>
                <a:latin typeface="Times New Roman" pitchFamily="18" charset="0"/>
                <a:cs typeface="Times New Roman" pitchFamily="18" charset="0"/>
              </a:rPr>
              <a:t>Tư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bản</a:t>
            </a:r>
            <a:r>
              <a:rPr lang="en-US" sz="1200" dirty="0">
                <a:solidFill>
                  <a:srgbClr val="0000FF"/>
                </a:solidFill>
                <a:latin typeface="Times New Roman" pitchFamily="18" charset="0"/>
                <a:cs typeface="Times New Roman" pitchFamily="18" charset="0"/>
              </a:rPr>
              <a:t>/</a:t>
            </a:r>
            <a:r>
              <a:rPr lang="en-US" sz="1200" dirty="0" err="1">
                <a:solidFill>
                  <a:srgbClr val="0000FF"/>
                </a:solidFill>
                <a:latin typeface="Times New Roman" pitchFamily="18" charset="0"/>
                <a:cs typeface="Times New Roman" pitchFamily="18" charset="0"/>
              </a:rPr>
              <a:t>vốn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từ</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lãi</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10</a:t>
            </a:fld>
            <a:endParaRPr lang="en-GB"/>
          </a:p>
        </p:txBody>
      </p:sp>
    </p:spTree>
    <p:extLst>
      <p:ext uri="{BB962C8B-B14F-4D97-AF65-F5344CB8AC3E}">
        <p14:creationId xmlns:p14="http://schemas.microsoft.com/office/powerpoint/2010/main" val="359328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dirty="0">
                <a:solidFill>
                  <a:srgbClr val="0000FF"/>
                </a:solidFill>
                <a:latin typeface="Times New Roman" pitchFamily="18" charset="0"/>
                <a:cs typeface="Times New Roman" pitchFamily="18" charset="0"/>
              </a:rPr>
              <a:t>1.2.1. </a:t>
            </a:r>
            <a:r>
              <a:rPr lang="en-US" sz="1200" b="1" dirty="0" err="1">
                <a:solidFill>
                  <a:srgbClr val="0000FF"/>
                </a:solidFill>
                <a:latin typeface="Times New Roman" pitchFamily="18" charset="0"/>
                <a:cs typeface="Times New Roman" pitchFamily="18" charset="0"/>
              </a:rPr>
              <a:t>Quyết</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định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sản</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xuất</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cái</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gì</a:t>
            </a:r>
            <a:r>
              <a:rPr lang="en-US" sz="1200" b="1"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Trong </a:t>
            </a:r>
            <a:r>
              <a:rPr lang="en-US" sz="1200" dirty="0" err="1">
                <a:solidFill>
                  <a:srgbClr val="0000FF"/>
                </a:solidFill>
                <a:latin typeface="Times New Roman" pitchFamily="18" charset="0"/>
                <a:cs typeface="Times New Roman" pitchFamily="18" charset="0"/>
              </a:rPr>
              <a:t>điều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kiện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khan </a:t>
            </a:r>
            <a:r>
              <a:rPr lang="en-US" sz="1200" dirty="0" err="1">
                <a:solidFill>
                  <a:srgbClr val="0000FF"/>
                </a:solidFill>
                <a:latin typeface="Times New Roman" pitchFamily="18" charset="0"/>
                <a:cs typeface="Times New Roman" pitchFamily="18" charset="0"/>
              </a:rPr>
              <a:t>hiếm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sự</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chọn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quyết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số</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bao </a:t>
            </a:r>
            <a:r>
              <a:rPr lang="en-US" sz="1200" dirty="0" err="1">
                <a:solidFill>
                  <a:srgbClr val="0000FF"/>
                </a:solidFill>
                <a:latin typeface="Times New Roman" pitchFamily="18" charset="0"/>
                <a:cs typeface="Times New Roman" pitchFamily="18" charset="0"/>
              </a:rPr>
              <a:t>nhiêu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nhằm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thỏa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hội</a:t>
            </a:r>
            <a:r>
              <a:rPr lang="en-US" sz="1200" dirty="0">
                <a:solidFill>
                  <a:srgbClr val="0000FF"/>
                </a:solidFill>
                <a:latin typeface="Times New Roman" pitchFamily="18" charset="0"/>
                <a:cs typeface="Times New Roman" pitchFamily="18" charset="0"/>
              </a:rPr>
              <a:t>.</a:t>
            </a:r>
          </a:p>
          <a:p>
            <a:pPr algn="just"/>
            <a:r>
              <a:rPr lang="en-US" sz="1200" b="1" dirty="0">
                <a:solidFill>
                  <a:srgbClr val="0000FF"/>
                </a:solidFill>
                <a:latin typeface="Times New Roman" pitchFamily="18" charset="0"/>
                <a:cs typeface="Times New Roman" pitchFamily="18" charset="0"/>
              </a:rPr>
              <a:t>1.2.2. </a:t>
            </a:r>
            <a:r>
              <a:rPr lang="en-US" sz="1200" b="1" dirty="0" err="1">
                <a:solidFill>
                  <a:srgbClr val="0000FF"/>
                </a:solidFill>
                <a:latin typeface="Times New Roman" pitchFamily="18" charset="0"/>
                <a:cs typeface="Times New Roman" pitchFamily="18" charset="0"/>
              </a:rPr>
              <a:t>Quyết</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định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sản</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xuất</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như</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thế</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nào</a:t>
            </a:r>
            <a:r>
              <a:rPr lang="en-US" sz="1200" b="1" dirty="0">
                <a:solidFill>
                  <a:srgbClr val="0000FF"/>
                </a:solidFill>
                <a:latin typeface="Times New Roman" pitchFamily="18" charset="0"/>
                <a:cs typeface="Times New Roman" pitchFamily="18" charset="0"/>
              </a:rPr>
              <a:t>?</a:t>
            </a:r>
          </a:p>
          <a:p>
            <a:pPr algn="just"/>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nghĩa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do ai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bằng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nghệ</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những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tài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nguyên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a:t>
            </a:r>
            <a:r>
              <a:rPr lang="vi-VN"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giữa</a:t>
            </a:r>
            <a:r>
              <a:rPr lang="en-US" sz="1200" dirty="0">
                <a:solidFill>
                  <a:srgbClr val="0000FF"/>
                </a:solidFill>
                <a:latin typeface="Times New Roman" pitchFamily="18" charset="0"/>
                <a:cs typeface="Times New Roman" pitchFamily="18" charset="0"/>
              </a:rPr>
              <a:t> con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máy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móc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nghệ</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a:t>
            </a:r>
            <a:r>
              <a:rPr lang="vi-VN"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bao </a:t>
            </a:r>
            <a:r>
              <a:rPr lang="en-US" sz="1200" dirty="0" err="1">
                <a:solidFill>
                  <a:srgbClr val="0000FF"/>
                </a:solidFill>
                <a:latin typeface="Times New Roman" pitchFamily="18" charset="0"/>
                <a:cs typeface="Times New Roman" pitchFamily="18" charset="0"/>
              </a:rPr>
              <a:t>nhiêu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lý</a:t>
            </a:r>
            <a:r>
              <a:rPr lang="en-US" sz="1200" dirty="0">
                <a:solidFill>
                  <a:srgbClr val="0000FF"/>
                </a:solidFill>
                <a:latin typeface="Times New Roman" pitchFamily="18" charset="0"/>
                <a:cs typeface="Times New Roman" pitchFamily="18" charset="0"/>
              </a:rPr>
              <a:t>?</a:t>
            </a:r>
            <a:r>
              <a:rPr lang="vi-VN"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tìm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phương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pháp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nghệ</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sự</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giữa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thiểu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phí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nhuận</a:t>
            </a:r>
            <a:r>
              <a:rPr lang="en-US" sz="1200" dirty="0">
                <a:solidFill>
                  <a:srgbClr val="0000FF"/>
                </a:solidFill>
                <a:latin typeface="Times New Roman" pitchFamily="18" charset="0"/>
                <a:cs typeface="Times New Roman" pitchFamily="18" charset="0"/>
              </a:rPr>
              <a:t>.</a:t>
            </a:r>
          </a:p>
          <a:p>
            <a:pPr algn="just"/>
            <a:r>
              <a:rPr lang="en-US" sz="1200" b="1" dirty="0">
                <a:solidFill>
                  <a:srgbClr val="0000FF"/>
                </a:solidFill>
                <a:latin typeface="Times New Roman" pitchFamily="18" charset="0"/>
                <a:cs typeface="Times New Roman" pitchFamily="18" charset="0"/>
              </a:rPr>
              <a:t>1.2.3. </a:t>
            </a:r>
            <a:r>
              <a:rPr lang="en-US" sz="1200" b="1" dirty="0" err="1">
                <a:solidFill>
                  <a:srgbClr val="0000FF"/>
                </a:solidFill>
                <a:latin typeface="Times New Roman" pitchFamily="18" charset="0"/>
                <a:cs typeface="Times New Roman" pitchFamily="18" charset="0"/>
              </a:rPr>
              <a:t>Quyết</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định</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sản</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xuất</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cho</a:t>
            </a:r>
            <a:r>
              <a:rPr lang="en-US" sz="1200" b="1" dirty="0">
                <a:solidFill>
                  <a:srgbClr val="0000FF"/>
                </a:solidFill>
                <a:latin typeface="Times New Roman" pitchFamily="18" charset="0"/>
                <a:cs typeface="Times New Roman" pitchFamily="18" charset="0"/>
              </a:rPr>
              <a:t> ai hay </a:t>
            </a:r>
            <a:r>
              <a:rPr lang="en-US" sz="1200" b="1" dirty="0" err="1">
                <a:solidFill>
                  <a:srgbClr val="0000FF"/>
                </a:solidFill>
                <a:latin typeface="Times New Roman" pitchFamily="18" charset="0"/>
                <a:cs typeface="Times New Roman" pitchFamily="18" charset="0"/>
              </a:rPr>
              <a:t>phân</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phối</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như</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thế</a:t>
            </a:r>
            <a:r>
              <a:rPr lang="en-US" sz="1200" b="1" dirty="0">
                <a:solidFill>
                  <a:srgbClr val="0000FF"/>
                </a:solidFill>
                <a:latin typeface="Times New Roman" pitchFamily="18" charset="0"/>
                <a:cs typeface="Times New Roman" pitchFamily="18" charset="0"/>
              </a:rPr>
              <a:t> </a:t>
            </a:r>
            <a:r>
              <a:rPr lang="en-US" sz="1200" b="1" dirty="0" err="1">
                <a:solidFill>
                  <a:srgbClr val="0000FF"/>
                </a:solidFill>
                <a:latin typeface="Times New Roman" pitchFamily="18" charset="0"/>
                <a:cs typeface="Times New Roman" pitchFamily="18" charset="0"/>
              </a:rPr>
              <a:t>nào</a:t>
            </a:r>
            <a:r>
              <a:rPr lang="en-US" sz="1200" b="1" dirty="0">
                <a:solidFill>
                  <a:srgbClr val="0000FF"/>
                </a:solidFill>
                <a:latin typeface="Times New Roman" pitchFamily="18" charset="0"/>
                <a:cs typeface="Times New Roman" pitchFamily="18" charset="0"/>
              </a:rPr>
              <a:t>?</a:t>
            </a:r>
          </a:p>
          <a:p>
            <a:pPr algn="just"/>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sau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phân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đến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tay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Ai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Trong </a:t>
            </a:r>
            <a:r>
              <a:rPr lang="en-US" sz="1200" dirty="0" err="1">
                <a:solidFill>
                  <a:srgbClr val="0000FF"/>
                </a:solidFill>
                <a:latin typeface="Times New Roman" pitchFamily="18" charset="0"/>
                <a:cs typeface="Times New Roman" pitchFamily="18" charset="0"/>
              </a:rPr>
              <a:t>nền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ai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a:t>
            </a:r>
          </a:p>
        </p:txBody>
      </p:sp>
      <p:sp>
        <p:nvSpPr>
          <p:cNvPr id="4" name="Slide Number Placeholder 3"/>
          <p:cNvSpPr>
            <a:spLocks noGrp="1"/>
          </p:cNvSpPr>
          <p:nvPr>
            <p:ph type="sldNum" sz="quarter" idx="5"/>
          </p:nvPr>
        </p:nvSpPr>
        <p:spPr/>
        <p:txBody>
          <a:bodyPr/>
          <a:lstStyle/>
          <a:p>
            <a:fld id="{A14999EE-074A-418B-998A-17D1BAA8EDFC}" type="slidenum">
              <a:rPr lang="en-GB" smtClean="0"/>
              <a:t>11</a:t>
            </a:fld>
            <a:endParaRPr lang="en-GB"/>
          </a:p>
        </p:txBody>
      </p:sp>
    </p:spTree>
    <p:extLst>
      <p:ext uri="{BB962C8B-B14F-4D97-AF65-F5344CB8AC3E}">
        <p14:creationId xmlns:p14="http://schemas.microsoft.com/office/powerpoint/2010/main" val="27020988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rgbClr val="0000FF"/>
                </a:solidFill>
                <a:latin typeface="Times New Roman" pitchFamily="18" charset="0"/>
                <a:cs typeface="Times New Roman" pitchFamily="18" charset="0"/>
              </a:rPr>
              <a:t>VD: </a:t>
            </a:r>
            <a:r>
              <a:rPr lang="pt-BR" sz="1200" dirty="0">
                <a:solidFill>
                  <a:srgbClr val="0000FF"/>
                </a:solidFill>
                <a:latin typeface="Times New Roman" pitchFamily="18" charset="0"/>
                <a:cs typeface="Times New Roman" pitchFamily="18" charset="0"/>
              </a:rPr>
              <a:t>người nông dân phải lựa chọn nên trồng cây gì vì đất đai là hạn chế; DN phải lựa chọn đầu tư số vốn vào mục đích gì vì vốn là hạn chế.</a:t>
            </a:r>
            <a:endParaRPr lang="en-US" sz="1200" dirty="0">
              <a:solidFill>
                <a:srgbClr val="0000FF"/>
              </a:solidFill>
              <a:latin typeface="Times New Roman" pitchFamily="18" charset="0"/>
              <a:cs typeface="Times New Roman" pitchFamily="18" charset="0"/>
            </a:endParaRPr>
          </a:p>
          <a:p>
            <a:r>
              <a:rPr lang="pt-BR" sz="1200" dirty="0">
                <a:solidFill>
                  <a:srgbClr val="0000FF"/>
                </a:solidFill>
                <a:latin typeface="Times New Roman" pitchFamily="18" charset="0"/>
                <a:cs typeface="Times New Roman" pitchFamily="18" charset="0"/>
              </a:rPr>
              <a:t>Ví dụ:</a:t>
            </a:r>
            <a:r>
              <a:rPr lang="vi-VN" sz="1200" dirty="0">
                <a:solidFill>
                  <a:srgbClr val="0000FF"/>
                </a:solidFill>
                <a:latin typeface="Times New Roman" pitchFamily="18" charset="0"/>
                <a:cs typeface="Times New Roman" pitchFamily="18" charset="0"/>
              </a:rPr>
              <a:t> nguồn lực là giới hạn ràng buộc:</a:t>
            </a:r>
            <a:r>
              <a:rPr lang="pt-BR" sz="1200" dirty="0">
                <a:solidFill>
                  <a:srgbClr val="0000FF"/>
                </a:solidFill>
                <a:latin typeface="Times New Roman" pitchFamily="18" charset="0"/>
                <a:cs typeface="Times New Roman" pitchFamily="18" charset="0"/>
              </a:rPr>
              <a:t> đối với sinh viên, sức trẻ là thứ có sẵn nhưng tiền lại khan hiếm; đối với người trung niên, tiền có thể có sẵn nhưng sức trẻ có lẽ là khan hiếm.</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a:t>
            </a:fld>
            <a:endParaRPr lang="en-GB"/>
          </a:p>
        </p:txBody>
      </p:sp>
    </p:spTree>
    <p:extLst>
      <p:ext uri="{BB962C8B-B14F-4D97-AF65-F5344CB8AC3E}">
        <p14:creationId xmlns:p14="http://schemas.microsoft.com/office/powerpoint/2010/main" val="5653574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13</a:t>
            </a:fld>
            <a:endParaRPr lang="en-GB"/>
          </a:p>
        </p:txBody>
      </p:sp>
    </p:spTree>
    <p:extLst>
      <p:ext uri="{BB962C8B-B14F-4D97-AF65-F5344CB8AC3E}">
        <p14:creationId xmlns:p14="http://schemas.microsoft.com/office/powerpoint/2010/main" val="579715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err="1">
                <a:solidFill>
                  <a:srgbClr val="0000FF"/>
                </a:solidFill>
                <a:latin typeface="Times New Roman" pitchFamily="18" charset="0"/>
                <a:cs typeface="Times New Roman" pitchFamily="18" charset="0"/>
              </a:rPr>
              <a:t>Ví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a:t>
            </a:r>
            <a:r>
              <a:rPr lang="en-US" sz="1200" dirty="0">
                <a:solidFill>
                  <a:srgbClr val="0000FF"/>
                </a:solidFill>
                <a:latin typeface="Times New Roman" pitchFamily="18" charset="0"/>
                <a:cs typeface="Times New Roman" pitchFamily="18" charset="0"/>
              </a:rPr>
              <a:t>: 1 </a:t>
            </a:r>
            <a:r>
              <a:rPr lang="en-US" sz="1200" dirty="0" err="1">
                <a:solidFill>
                  <a:srgbClr val="0000FF"/>
                </a:solidFill>
                <a:latin typeface="Times New Roman" pitchFamily="18" charset="0"/>
                <a:cs typeface="Times New Roman" pitchFamily="18" charset="0"/>
              </a:rPr>
              <a:t>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yêu</a:t>
            </a:r>
            <a:r>
              <a:rPr lang="en-US" sz="1200" dirty="0">
                <a:solidFill>
                  <a:srgbClr val="0000FF"/>
                </a:solidFill>
                <a:latin typeface="Times New Roman" pitchFamily="18" charset="0"/>
                <a:cs typeface="Times New Roman" pitchFamily="18" charset="0"/>
              </a:rPr>
              <a:t> 2 </a:t>
            </a:r>
            <a:r>
              <a:rPr lang="en-US" sz="1200" dirty="0" err="1">
                <a:solidFill>
                  <a:srgbClr val="0000FF"/>
                </a:solidFill>
                <a:latin typeface="Times New Roman" pitchFamily="18" charset="0"/>
                <a:cs typeface="Times New Roman" pitchFamily="18" charset="0"/>
              </a:rPr>
              <a:t>cô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gái</a:t>
            </a:r>
            <a:r>
              <a:rPr lang="en-US" sz="1200" dirty="0">
                <a:solidFill>
                  <a:srgbClr val="0000FF"/>
                </a:solidFill>
                <a:latin typeface="Times New Roman" pitchFamily="18" charset="0"/>
                <a:cs typeface="Times New Roman" pitchFamily="18" charset="0"/>
              </a:rPr>
              <a:t> =&gt; </a:t>
            </a:r>
            <a:r>
              <a:rPr lang="en-US" sz="1200" dirty="0" err="1">
                <a:solidFill>
                  <a:srgbClr val="0000FF"/>
                </a:solidFill>
                <a:latin typeface="Times New Roman" pitchFamily="18" charset="0"/>
                <a:cs typeface="Times New Roman" pitchFamily="18" charset="0"/>
              </a:rPr>
              <a:t>chỉ</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chọn</a:t>
            </a:r>
            <a:r>
              <a:rPr lang="en-US" sz="1200" dirty="0">
                <a:solidFill>
                  <a:srgbClr val="0000FF"/>
                </a:solidFill>
                <a:latin typeface="Times New Roman" pitchFamily="18" charset="0"/>
                <a:cs typeface="Times New Roman" pitchFamily="18" charset="0"/>
              </a:rPr>
              <a:t> 1</a:t>
            </a:r>
          </a:p>
          <a:p>
            <a:pPr algn="just"/>
            <a:r>
              <a:rPr lang="en-US" sz="1200" dirty="0">
                <a:solidFill>
                  <a:srgbClr val="0000FF"/>
                </a:solidFill>
                <a:latin typeface="Times New Roman" pitchFamily="18" charset="0"/>
                <a:cs typeface="Times New Roman" pitchFamily="18" charset="0"/>
              </a:rPr>
              <a:t>1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3 </a:t>
            </a:r>
            <a:r>
              <a:rPr lang="en-US" sz="1200" dirty="0" err="1">
                <a:solidFill>
                  <a:srgbClr val="0000FF"/>
                </a:solidFill>
                <a:latin typeface="Times New Roman" pitchFamily="18" charset="0"/>
                <a:cs typeface="Times New Roman" pitchFamily="18" charset="0"/>
              </a:rPr>
              <a:t>phương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chế</a:t>
            </a:r>
            <a:r>
              <a:rPr lang="en-US" sz="1200" dirty="0">
                <a:solidFill>
                  <a:srgbClr val="0000FF"/>
                </a:solidFill>
                <a:latin typeface="Times New Roman" pitchFamily="18" charset="0"/>
                <a:cs typeface="Times New Roman" pitchFamily="18" charset="0"/>
              </a:rPr>
              <a:t> =&gt; </a:t>
            </a:r>
            <a:r>
              <a:rPr lang="en-US" sz="1200" dirty="0" err="1">
                <a:solidFill>
                  <a:srgbClr val="0000FF"/>
                </a:solidFill>
                <a:latin typeface="Times New Roman" pitchFamily="18" charset="0"/>
                <a:cs typeface="Times New Roman" pitchFamily="18" charset="0"/>
              </a:rPr>
              <a:t>chỉ</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chọn</a:t>
            </a:r>
            <a:r>
              <a:rPr lang="en-US" sz="1200" dirty="0">
                <a:solidFill>
                  <a:srgbClr val="0000FF"/>
                </a:solidFill>
                <a:latin typeface="Times New Roman" pitchFamily="18" charset="0"/>
                <a:cs typeface="Times New Roman" pitchFamily="18" charset="0"/>
              </a:rPr>
              <a:t> 1</a:t>
            </a:r>
          </a:p>
          <a:p>
            <a:pPr algn="just"/>
            <a:r>
              <a:rPr lang="en-US" sz="1200" dirty="0">
                <a:solidFill>
                  <a:srgbClr val="0000FF"/>
                </a:solidFill>
                <a:latin typeface="Times New Roman" pitchFamily="18" charset="0"/>
                <a:cs typeface="Times New Roman" pitchFamily="18" charset="0"/>
              </a:rPr>
              <a:t>Quay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huống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gửi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kiệm</a:t>
            </a:r>
            <a:r>
              <a:rPr lang="en-US" sz="1200" dirty="0">
                <a:solidFill>
                  <a:srgbClr val="0000FF"/>
                </a:solidFill>
                <a:latin typeface="Times New Roman" pitchFamily="18" charset="0"/>
                <a:cs typeface="Times New Roman" pitchFamily="18" charset="0"/>
              </a:rPr>
              <a:t> hay </a:t>
            </a:r>
            <a:r>
              <a:rPr lang="en-US" sz="1200" dirty="0" err="1">
                <a:solidFill>
                  <a:srgbClr val="0000FF"/>
                </a:solidFill>
                <a:latin typeface="Times New Roman" pitchFamily="18" charset="0"/>
                <a:cs typeface="Times New Roman" pitchFamily="18" charset="0"/>
              </a:rPr>
              <a:t>đầu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chọn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phương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thuộc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rủi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từng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a:t>
            </a:r>
          </a:p>
          <a:p>
            <a:pPr marL="342900" indent="-342900" algn="just">
              <a:buFontTx/>
              <a:buChar char="-"/>
            </a:pPr>
            <a:r>
              <a:rPr lang="en-US" sz="1200" dirty="0">
                <a:solidFill>
                  <a:srgbClr val="0000FF"/>
                </a:solidFill>
                <a:latin typeface="Times New Roman" pitchFamily="18" charset="0"/>
                <a:cs typeface="Times New Roman" pitchFamily="18" charset="0"/>
              </a:rPr>
              <a:t>Thích </a:t>
            </a:r>
            <a:r>
              <a:rPr lang="en-US" sz="1200" dirty="0" err="1">
                <a:solidFill>
                  <a:srgbClr val="0000FF"/>
                </a:solidFill>
                <a:latin typeface="Times New Roman" pitchFamily="18" charset="0"/>
                <a:cs typeface="Times New Roman" pitchFamily="18" charset="0"/>
              </a:rPr>
              <a:t>rủi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ro</a:t>
            </a:r>
            <a:endParaRPr lang="en-US" sz="1200" dirty="0">
              <a:solidFill>
                <a:srgbClr val="0000FF"/>
              </a:solidFill>
              <a:latin typeface="Times New Roman" pitchFamily="18" charset="0"/>
              <a:cs typeface="Times New Roman" pitchFamily="18" charset="0"/>
            </a:endParaRPr>
          </a:p>
          <a:p>
            <a:pPr marL="342900" indent="-342900" algn="just">
              <a:buFontTx/>
              <a:buChar char="-"/>
            </a:pPr>
            <a:r>
              <a:rPr lang="en-US" sz="1200" dirty="0" err="1">
                <a:solidFill>
                  <a:srgbClr val="0000FF"/>
                </a:solidFill>
                <a:latin typeface="Times New Roman" pitchFamily="18" charset="0"/>
                <a:cs typeface="Times New Roman" pitchFamily="18" charset="0"/>
              </a:rPr>
              <a:t>Ngại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rủi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ro</a:t>
            </a:r>
            <a:endParaRPr lang="en-US" sz="1200" dirty="0">
              <a:solidFill>
                <a:srgbClr val="0000FF"/>
              </a:solidFill>
              <a:latin typeface="Times New Roman" pitchFamily="18" charset="0"/>
              <a:cs typeface="Times New Roman" pitchFamily="18" charset="0"/>
            </a:endParaRPr>
          </a:p>
          <a:p>
            <a:pPr marL="342900" indent="-342900" algn="just">
              <a:buFontTx/>
              <a:buChar char="-"/>
            </a:pPr>
            <a:r>
              <a:rPr lang="en-US" sz="1200" dirty="0" err="1">
                <a:solidFill>
                  <a:srgbClr val="0000FF"/>
                </a:solidFill>
                <a:latin typeface="Times New Roman" pitchFamily="18" charset="0"/>
                <a:cs typeface="Times New Roman" pitchFamily="18" charset="0"/>
              </a:rPr>
              <a:t>Bàng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quan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rủi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ro</a:t>
            </a:r>
            <a:endParaRPr lang="en-US" sz="1200" dirty="0">
              <a:solidFill>
                <a:srgbClr val="0000FF"/>
              </a:solidFill>
              <a:latin typeface="Times New Roman" pitchFamily="18" charset="0"/>
              <a:cs typeface="Times New Roman" pitchFamily="18" charset="0"/>
            </a:endParaRPr>
          </a:p>
          <a:p>
            <a:pPr algn="just"/>
            <a:r>
              <a:rPr lang="en-US" sz="1200" dirty="0" err="1">
                <a:solidFill>
                  <a:srgbClr val="0000FF"/>
                </a:solidFill>
                <a:latin typeface="Times New Roman" pitchFamily="18" charset="0"/>
                <a:cs typeface="Times New Roman" pitchFamily="18" charset="0"/>
              </a:rPr>
              <a:t>Phụ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thuộc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chấp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rủi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từng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nhân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trắng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về</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lớn</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14</a:t>
            </a:fld>
            <a:endParaRPr lang="en-GB"/>
          </a:p>
        </p:txBody>
      </p:sp>
    </p:spTree>
    <p:extLst>
      <p:ext uri="{BB962C8B-B14F-4D97-AF65-F5344CB8AC3E}">
        <p14:creationId xmlns:p14="http://schemas.microsoft.com/office/powerpoint/2010/main" val="1953836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nằm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ngoài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đạt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M, do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khan </a:t>
            </a:r>
            <a:r>
              <a:rPr lang="en-US" sz="1200" dirty="0" err="1">
                <a:solidFill>
                  <a:srgbClr val="0000FF"/>
                </a:solidFill>
                <a:latin typeface="Times New Roman" pitchFamily="18" charset="0"/>
                <a:cs typeface="Times New Roman" pitchFamily="18" charset="0"/>
              </a:rPr>
              <a:t>hiếm</a:t>
            </a:r>
            <a:endParaRPr lang="en-US" sz="1200" dirty="0">
              <a:solidFill>
                <a:srgbClr val="0000FF"/>
              </a:solidFill>
              <a:latin typeface="Times New Roman" pitchFamily="18" charset="0"/>
              <a:cs typeface="Times New Roman" pitchFamily="18" charset="0"/>
            </a:endParaRPr>
          </a:p>
          <a:p>
            <a:pPr algn="just"/>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nằm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K, do </a:t>
            </a:r>
            <a:r>
              <a:rPr lang="en-US" sz="1200" dirty="0" err="1">
                <a:solidFill>
                  <a:srgbClr val="0000FF"/>
                </a:solidFill>
                <a:latin typeface="Times New Roman" pitchFamily="18" charset="0"/>
                <a:cs typeface="Times New Roman" pitchFamily="18" charset="0"/>
              </a:rPr>
              <a:t>chưa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nguồn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sẵn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Những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nằm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ta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a:t>
            </a:r>
            <a:endParaRPr lang="vi-VN" sz="1200" dirty="0">
              <a:solidFill>
                <a:srgbClr val="0000FF"/>
              </a:solidFill>
              <a:latin typeface="Times New Roman" pitchFamily="18" charset="0"/>
              <a:cs typeface="Times New Roman"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kinh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làm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chọn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nằm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nó</a:t>
            </a:r>
            <a:r>
              <a:rPr lang="en-US" sz="1200" dirty="0">
                <a:solidFill>
                  <a:srgbClr val="0000FF"/>
                </a:solidFill>
                <a:latin typeface="Times New Roman" pitchFamily="18" charset="0"/>
                <a:cs typeface="Times New Roman" pitchFamily="18" charset="0"/>
              </a:rPr>
              <a:t>.</a:t>
            </a:r>
          </a:p>
        </p:txBody>
      </p:sp>
      <p:sp>
        <p:nvSpPr>
          <p:cNvPr id="4" name="Slide Number Placeholder 3"/>
          <p:cNvSpPr>
            <a:spLocks noGrp="1"/>
          </p:cNvSpPr>
          <p:nvPr>
            <p:ph type="sldNum" sz="quarter" idx="5"/>
          </p:nvPr>
        </p:nvSpPr>
        <p:spPr/>
        <p:txBody>
          <a:bodyPr/>
          <a:lstStyle/>
          <a:p>
            <a:fld id="{A14999EE-074A-418B-998A-17D1BAA8EDFC}" type="slidenum">
              <a:rPr lang="en-GB" smtClean="0"/>
              <a:t>16</a:t>
            </a:fld>
            <a:endParaRPr lang="en-GB"/>
          </a:p>
        </p:txBody>
      </p:sp>
    </p:spTree>
    <p:extLst>
      <p:ext uri="{BB962C8B-B14F-4D97-AF65-F5344CB8AC3E}">
        <p14:creationId xmlns:p14="http://schemas.microsoft.com/office/powerpoint/2010/main" val="389272108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Nguyễn</a:t>
            </a:r>
            <a:r>
              <a:rPr lang="en-US" sz="1200" dirty="0">
                <a:solidFill>
                  <a:srgbClr val="0000FF"/>
                </a:solidFill>
                <a:latin typeface="Times New Roman" pitchFamily="18" charset="0"/>
                <a:cs typeface="Times New Roman" pitchFamily="18" charset="0"/>
              </a:rPr>
              <a:t> Văn </a:t>
            </a:r>
            <a:r>
              <a:rPr lang="en-US" sz="1200" dirty="0" err="1">
                <a:solidFill>
                  <a:srgbClr val="0000FF"/>
                </a:solidFill>
                <a:latin typeface="Times New Roman" pitchFamily="18" charset="0"/>
                <a:cs typeface="Times New Roman" pitchFamily="18" charset="0"/>
              </a:rPr>
              <a:t>Ngọc</a:t>
            </a:r>
            <a:r>
              <a:rPr lang="en-US" sz="1200" dirty="0">
                <a:solidFill>
                  <a:srgbClr val="0000FF"/>
                </a:solidFill>
                <a:latin typeface="Times New Roman" pitchFamily="18" charset="0"/>
                <a:cs typeface="Times New Roman" pitchFamily="18" charset="0"/>
              </a:rPr>
              <a:t> (2007)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vi-VN" sz="1200" dirty="0">
                <a:solidFill>
                  <a:srgbClr val="0000FF"/>
                </a:solidFill>
                <a:latin typeface="Times New Roman" pitchFamily="18" charset="0"/>
                <a:cs typeface="Times New Roman" pitchFamily="18" charset="0"/>
              </a:rPr>
              <a:t>rằng…</a:t>
            </a:r>
          </a:p>
          <a:p>
            <a:r>
              <a:rPr lang="en-US" sz="1200" dirty="0">
                <a:solidFill>
                  <a:srgbClr val="0000FF"/>
                </a:solidFill>
                <a:latin typeface="Times New Roman" pitchFamily="18" charset="0"/>
                <a:cs typeface="Times New Roman" pitchFamily="18" charset="0"/>
              </a:rPr>
              <a:t>David </a:t>
            </a:r>
            <a:r>
              <a:rPr lang="en-US" sz="1200" dirty="0" err="1">
                <a:solidFill>
                  <a:srgbClr val="0000FF"/>
                </a:solidFill>
                <a:latin typeface="Times New Roman" pitchFamily="18" charset="0"/>
                <a:cs typeface="Times New Roman" pitchFamily="18" charset="0"/>
              </a:rPr>
              <a:t>Begg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cộng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sự</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năm</a:t>
            </a:r>
            <a:r>
              <a:rPr lang="en-US" sz="1200" dirty="0">
                <a:solidFill>
                  <a:srgbClr val="0000FF"/>
                </a:solidFill>
                <a:latin typeface="Times New Roman" pitchFamily="18" charset="0"/>
                <a:cs typeface="Times New Roman" pitchFamily="18" charset="0"/>
              </a:rPr>
              <a:t> (2007)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rằng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sự</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dàn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xếp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giữa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đổi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19</a:t>
            </a:fld>
            <a:endParaRPr lang="en-GB"/>
          </a:p>
        </p:txBody>
      </p:sp>
    </p:spTree>
    <p:extLst>
      <p:ext uri="{BB962C8B-B14F-4D97-AF65-F5344CB8AC3E}">
        <p14:creationId xmlns:p14="http://schemas.microsoft.com/office/powerpoint/2010/main" val="13621670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rgbClr val="0000FF"/>
                </a:solidFill>
                <a:latin typeface="Times New Roman" pitchFamily="18" charset="0"/>
                <a:cs typeface="Times New Roman" pitchFamily="18" charset="0"/>
              </a:rPr>
              <a:t>(</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gạo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quần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áo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ô </a:t>
            </a:r>
            <a:r>
              <a:rPr lang="en-US" sz="1200" dirty="0" err="1">
                <a:solidFill>
                  <a:srgbClr val="0000FF"/>
                </a:solidFill>
                <a:latin typeface="Times New Roman" pitchFamily="18" charset="0"/>
                <a:cs typeface="Times New Roman" pitchFamily="18" charset="0"/>
              </a:rPr>
              <a:t>tô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giáo</a:t>
            </a:r>
            <a:r>
              <a:rPr lang="en-US" sz="1200" dirty="0">
                <a:solidFill>
                  <a:srgbClr val="0000FF"/>
                </a:solidFill>
                <a:latin typeface="Times New Roman" pitchFamily="18" charset="0"/>
                <a:cs typeface="Times New Roman" pitchFamily="18" charset="0"/>
              </a:rPr>
              <a:t> </a:t>
            </a:r>
            <a:r>
              <a:rPr lang="vi-VN" sz="1200" dirty="0">
                <a:solidFill>
                  <a:srgbClr val="0000FF"/>
                </a:solidFill>
                <a:latin typeface="Times New Roman" pitchFamily="18" charset="0"/>
                <a:cs typeface="Times New Roman" pitchFamily="18" charset="0"/>
              </a:rPr>
              <a:t>dục…)</a:t>
            </a:r>
          </a:p>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rgbClr val="0000FF"/>
                </a:solidFill>
                <a:latin typeface="Times New Roman" pitchFamily="18" charset="0"/>
                <a:cs typeface="Times New Roman" pitchFamily="18" charset="0"/>
              </a:rPr>
              <a:t>(</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vật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máy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móc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thiết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xưởng</a:t>
            </a:r>
            <a:r>
              <a:rPr lang="en-US" sz="1200" dirty="0">
                <a:solidFill>
                  <a:srgbClr val="0000FF"/>
                </a:solidFill>
                <a:latin typeface="Times New Roman" pitchFamily="18" charset="0"/>
                <a:cs typeface="Times New Roman" pitchFamily="18" charset="0"/>
              </a:rPr>
              <a:t>, …),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lao</a:t>
            </a:r>
            <a:r>
              <a:rPr lang="en-US" sz="1200" dirty="0">
                <a:solidFill>
                  <a:srgbClr val="0000FF"/>
                </a:solidFill>
                <a:latin typeface="Times New Roman" pitchFamily="18" charset="0"/>
                <a:cs typeface="Times New Roman" pitchFamily="18" charset="0"/>
              </a:rPr>
              <a:t> </a:t>
            </a:r>
            <a:r>
              <a:rPr lang="vi-VN" sz="1200" dirty="0">
                <a:solidFill>
                  <a:srgbClr val="0000FF"/>
                </a:solidFill>
                <a:latin typeface="Times New Roman" pitchFamily="18" charset="0"/>
                <a:cs typeface="Times New Roman" pitchFamily="18" charset="0"/>
              </a:rPr>
              <a:t>động…)</a:t>
            </a:r>
            <a:endParaRPr lang="en-US" sz="1200" dirty="0">
              <a:solidFill>
                <a:srgbClr val="0000FF"/>
              </a:solidFill>
              <a:latin typeface="Times New Roman" pitchFamily="18" charset="0"/>
              <a:cs typeface="Times New Roman" pitchFamily="18" charset="0"/>
            </a:endParaRP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21</a:t>
            </a:fld>
            <a:endParaRPr lang="en-GB"/>
          </a:p>
        </p:txBody>
      </p:sp>
    </p:spTree>
    <p:extLst>
      <p:ext uri="{BB962C8B-B14F-4D97-AF65-F5344CB8AC3E}">
        <p14:creationId xmlns:p14="http://schemas.microsoft.com/office/powerpoint/2010/main" val="21660601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rgbClr val="0000FF"/>
                </a:solidFill>
                <a:latin typeface="Times New Roman" pitchFamily="18" charset="0"/>
                <a:cs typeface="Times New Roman" pitchFamily="18" charset="0"/>
              </a:rPr>
              <a:t>(</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hay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quyền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lực</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phối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a:t>
            </a:r>
            <a:endParaRPr lang="vi-VN" sz="1200" dirty="0">
              <a:solidFill>
                <a:srgbClr val="0000FF"/>
              </a:solidFill>
              <a:latin typeface="Times New Roman" pitchFamily="18" charset="0"/>
              <a:cs typeface="Times New Roman" pitchFamily="18" charset="0"/>
            </a:endParaRPr>
          </a:p>
          <a:p>
            <a:r>
              <a:rPr lang="en-US" sz="1200" dirty="0">
                <a:solidFill>
                  <a:srgbClr val="0000FF"/>
                </a:solidFill>
                <a:latin typeface="Times New Roman" pitchFamily="18" charset="0"/>
                <a:cs typeface="Times New Roman" pitchFamily="18" charset="0"/>
              </a:rPr>
              <a:t>(</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hay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riêng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biệt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nhiều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vẫn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phối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22</a:t>
            </a:fld>
            <a:endParaRPr lang="en-GB"/>
          </a:p>
        </p:txBody>
      </p:sp>
    </p:spTree>
    <p:extLst>
      <p:ext uri="{BB962C8B-B14F-4D97-AF65-F5344CB8AC3E}">
        <p14:creationId xmlns:p14="http://schemas.microsoft.com/office/powerpoint/2010/main" val="3593263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a:t>
            </a:r>
            <a:r>
              <a:rPr lang="nl-NL" sz="1200" dirty="0">
                <a:solidFill>
                  <a:srgbClr val="0000FF"/>
                </a:solidFill>
                <a:latin typeface="Times New Roman" pitchFamily="18" charset="0"/>
                <a:cs typeface="Times New Roman" pitchFamily="18" charset="0"/>
              </a:rPr>
              <a:t> Nói đến cầu là nói đến cá nhân, người tiêu dùng.</a:t>
            </a:r>
            <a:endParaRPr lang="vi-VN"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Cầu thị trường là tổng hợp của các cầu cá nhân. Cầu thị trường là cái mà ta có thể quan sát được trong thực tế.</a:t>
            </a:r>
          </a:p>
          <a:p>
            <a:pPr marL="0" marR="0" lvl="0" indent="0" algn="l" defTabSz="914400" rtl="0" eaLnBrk="1" fontAlgn="auto" latinLnBrk="0" hangingPunct="1">
              <a:lnSpc>
                <a:spcPct val="100000"/>
              </a:lnSpc>
              <a:spcBef>
                <a:spcPts val="0"/>
              </a:spcBef>
              <a:spcAft>
                <a:spcPts val="0"/>
              </a:spcAft>
              <a:buClrTx/>
              <a:buSzTx/>
              <a:buFontTx/>
              <a:buNone/>
              <a:tabLst/>
              <a:defRPr/>
            </a:pPr>
            <a:endParaRPr lang="nl-NL"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rgbClr val="0000FF"/>
              </a:solidFill>
              <a:latin typeface="Times New Roman" pitchFamily="18" charset="0"/>
              <a:cs typeface="Times New Roman" pitchFamily="18" charset="0"/>
            </a:endParaRP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23</a:t>
            </a:fld>
            <a:endParaRPr lang="en-GB"/>
          </a:p>
        </p:txBody>
      </p:sp>
    </p:spTree>
    <p:extLst>
      <p:ext uri="{BB962C8B-B14F-4D97-AF65-F5344CB8AC3E}">
        <p14:creationId xmlns:p14="http://schemas.microsoft.com/office/powerpoint/2010/main" val="874343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(khi giá thịt bò tăng lên thì người ta sẽ có xu hướng mua thịt gà nhiều hơn)</a:t>
            </a:r>
            <a:endParaRPr lang="vi-VN"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Chẳng hạn nếu giá điện tăng lên gấp đôi sẽ có ảnh hưởng làm thu nhập thực tế ít đi, vì vậy người tiêu dùng tự cắt giảm việc tiêu thụ điện và các hàng hóa khác là tự nhiên.</a:t>
            </a:r>
            <a:endParaRPr lang="vi-VN" sz="1200" dirty="0">
              <a:solidFill>
                <a:srgbClr val="0000FF"/>
              </a:solidFill>
              <a:latin typeface="Times New Roman" pitchFamily="18" charset="0"/>
              <a:cs typeface="Times New Roman" pitchFamily="18" charset="0"/>
            </a:endParaRP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26</a:t>
            </a:fld>
            <a:endParaRPr lang="en-GB"/>
          </a:p>
        </p:txBody>
      </p:sp>
    </p:spTree>
    <p:extLst>
      <p:ext uri="{BB962C8B-B14F-4D97-AF65-F5344CB8AC3E}">
        <p14:creationId xmlns:p14="http://schemas.microsoft.com/office/powerpoint/2010/main" val="30077630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dirty="0">
                <a:solidFill>
                  <a:srgbClr val="0000FF"/>
                </a:solidFill>
                <a:latin typeface="Times New Roman" pitchFamily="18" charset="0"/>
                <a:cs typeface="Times New Roman" pitchFamily="18" charset="0"/>
              </a:rPr>
              <a:t>Ví dụ: nước mía và trà sữa, phở và bánh mì, ga và điện... </a:t>
            </a:r>
            <a:endParaRPr lang="vi-VN" sz="1200" dirty="0">
              <a:solidFill>
                <a:srgbClr val="0000FF"/>
              </a:solidFill>
              <a:latin typeface="Times New Roman" pitchFamily="18" charset="0"/>
              <a:cs typeface="Times New Roman" pitchFamily="18" charset="0"/>
            </a:endParaRPr>
          </a:p>
          <a:p>
            <a:r>
              <a:rPr lang="nl-NL" sz="1200" dirty="0">
                <a:solidFill>
                  <a:srgbClr val="0000FF"/>
                </a:solidFill>
                <a:latin typeface="Times New Roman" pitchFamily="18" charset="0"/>
                <a:cs typeface="Times New Roman" pitchFamily="18" charset="0"/>
              </a:rPr>
              <a:t>Ví dụ: ga và bếp ga, xăng và xe máy...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28</a:t>
            </a:fld>
            <a:endParaRPr lang="en-GB"/>
          </a:p>
        </p:txBody>
      </p:sp>
    </p:spTree>
    <p:extLst>
      <p:ext uri="{BB962C8B-B14F-4D97-AF65-F5344CB8AC3E}">
        <p14:creationId xmlns:p14="http://schemas.microsoft.com/office/powerpoint/2010/main" val="99765385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Ví dụ: cầu về gạo của Việt Nam và Trung Quốc. Ở mỗi mức giá lượng cầu về gạo của Trung Quốc lớn hơn nhiều so với Việt Nam vì Trung Quốc có dân số lớn hơn nhiều so với dân số Việt Nam.</a:t>
            </a:r>
            <a:endParaRPr lang="vi-VN"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Tuy nhiên sự kỳ vọng của người tiêu dùng còn bao hàm cả kỳ vọng vào thu nhập, về giá hàng hóa liên quan, về thị hiếu, …. Tất cả những kỳ vọng này đều tác động đến cầu về hàng hóa hay dịch vụ ở hiện tại.</a:t>
            </a:r>
          </a:p>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Ví dụ: thích Iphone, cầu về vàng mã vào ngày rằm lớn...</a:t>
            </a:r>
            <a:endParaRPr lang="en-US" sz="1200" dirty="0">
              <a:solidFill>
                <a:srgbClr val="0000FF"/>
              </a:solidFill>
              <a:latin typeface="Times New Roman" pitchFamily="18" charset="0"/>
              <a:cs typeface="Times New Roman" pitchFamily="18" charset="0"/>
            </a:endParaRP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29</a:t>
            </a:fld>
            <a:endParaRPr lang="en-GB"/>
          </a:p>
        </p:txBody>
      </p:sp>
    </p:spTree>
    <p:extLst>
      <p:ext uri="{BB962C8B-B14F-4D97-AF65-F5344CB8AC3E}">
        <p14:creationId xmlns:p14="http://schemas.microsoft.com/office/powerpoint/2010/main" val="28977898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dirty="0">
                <a:solidFill>
                  <a:srgbClr val="0000FF"/>
                </a:solidFill>
                <a:latin typeface="Times New Roman" pitchFamily="18" charset="0"/>
                <a:cs typeface="Times New Roman" pitchFamily="18" charset="0"/>
              </a:rPr>
              <a:t>Ví dụ sự tăng lên của thu nhập, sự gia tăng dân số, sự gia tăng của giá cả hàng hóa thay thế hoặc sự giảm xuống của giá cả hàng hóa bổ sung sẽ làm dịch chuyển toàn bộ đường cầu sang bên phải và ngược lại.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32</a:t>
            </a:fld>
            <a:endParaRPr lang="en-GB"/>
          </a:p>
        </p:txBody>
      </p:sp>
    </p:spTree>
    <p:extLst>
      <p:ext uri="{BB962C8B-B14F-4D97-AF65-F5344CB8AC3E}">
        <p14:creationId xmlns:p14="http://schemas.microsoft.com/office/powerpoint/2010/main" val="30771673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sz="1200" dirty="0">
                <a:solidFill>
                  <a:srgbClr val="0000FF"/>
                </a:solidFill>
                <a:latin typeface="Times New Roman" pitchFamily="18" charset="0"/>
                <a:cs typeface="Times New Roman" pitchFamily="18" charset="0"/>
              </a:rPr>
              <a:t>CS của chính phủ: </a:t>
            </a:r>
            <a:r>
              <a:rPr lang="nl-NL" sz="1200" dirty="0">
                <a:solidFill>
                  <a:srgbClr val="0000FF"/>
                </a:solidFill>
                <a:latin typeface="Times New Roman" pitchFamily="18" charset="0"/>
                <a:cs typeface="Times New Roman" pitchFamily="18" charset="0"/>
              </a:rPr>
              <a:t>Ví dụ: Thuế.</a:t>
            </a:r>
            <a:endParaRPr lang="en-US" sz="1200" dirty="0">
              <a:solidFill>
                <a:srgbClr val="0000FF"/>
              </a:solidFill>
              <a:latin typeface="Times New Roman" pitchFamily="18" charset="0"/>
              <a:cs typeface="Times New Roman" pitchFamily="18" charset="0"/>
            </a:endParaRP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37</a:t>
            </a:fld>
            <a:endParaRPr lang="en-GB"/>
          </a:p>
        </p:txBody>
      </p:sp>
    </p:spTree>
    <p:extLst>
      <p:ext uri="{BB962C8B-B14F-4D97-AF65-F5344CB8AC3E}">
        <p14:creationId xmlns:p14="http://schemas.microsoft.com/office/powerpoint/2010/main" val="7465477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dirty="0">
                <a:solidFill>
                  <a:srgbClr val="0000FF"/>
                </a:solidFill>
                <a:latin typeface="Times New Roman" pitchFamily="18" charset="0"/>
                <a:cs typeface="Times New Roman" pitchFamily="18" charset="0"/>
              </a:rPr>
              <a:t>Mức cân bằng được xác định bởi giao điểm của đường cung và đường cầu. Đặc điểm quan trọng của mức giá cân bằng này là nó không được xác định bởi từng cá nhân riêng lẻ mà nó được hình thành bởi các hoạt động tập thể của toàn bộ người mua và người bán.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41</a:t>
            </a:fld>
            <a:endParaRPr lang="en-GB"/>
          </a:p>
        </p:txBody>
      </p:sp>
    </p:spTree>
    <p:extLst>
      <p:ext uri="{BB962C8B-B14F-4D97-AF65-F5344CB8AC3E}">
        <p14:creationId xmlns:p14="http://schemas.microsoft.com/office/powerpoint/2010/main" val="25574429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nl-NL" sz="1200" dirty="0">
                <a:solidFill>
                  <a:srgbClr val="0000FF"/>
                </a:solidFill>
                <a:latin typeface="Times New Roman" pitchFamily="18" charset="0"/>
                <a:cs typeface="Times New Roman" pitchFamily="18" charset="0"/>
              </a:rPr>
              <a:t>Khi giá thấp hơn mức cân bằng thị trường, cung sẽ giảm (nhà sản xuất thu về lợi nhuận ít), cầu sẽ tăng (người tiêu dùng có khả năng mua được nhiều hàng hóa)</a:t>
            </a:r>
            <a:r>
              <a:rPr lang="en-US" sz="1200" dirty="0">
                <a:solidFill>
                  <a:srgbClr val="0000FF"/>
                </a:solidFill>
                <a:latin typeface="Times New Roman" pitchFamily="18" charset="0"/>
                <a:cs typeface="Times New Roman" pitchFamily="18" charset="0"/>
              </a:rPr>
              <a:t>, </a:t>
            </a:r>
            <a:r>
              <a:rPr lang="nl-NL" sz="1200" dirty="0">
                <a:solidFill>
                  <a:srgbClr val="0000FF"/>
                </a:solidFill>
                <a:latin typeface="Times New Roman" pitchFamily="18" charset="0"/>
                <a:cs typeface="Times New Roman" pitchFamily="18" charset="0"/>
              </a:rPr>
              <a:t>và do đó khoảng cách giữa lượng cung và lượng cầu càng lớn, gây nên hiện tượng thiếu hụt trên thị trường.</a:t>
            </a:r>
          </a:p>
          <a:p>
            <a:r>
              <a:rPr lang="nl-NL" sz="1200" dirty="0">
                <a:solidFill>
                  <a:srgbClr val="0000FF"/>
                </a:solidFill>
                <a:latin typeface="Times New Roman" pitchFamily="18" charset="0"/>
                <a:cs typeface="Times New Roman" pitchFamily="18" charset="0"/>
              </a:rPr>
              <a:t>Khi thị trường đạt tới trạng thái cân bằng, tất cả người bán và người mua đều thỏa mãn và không thay đổi hành vi. Do vậy, không có áp lực nào đẩy giá cả tăng lên hoặc giảm xuống nữa. Hầu hết các thị trường tự do, tình trạng dư thừa hay thiếu hụt chỉ mang tính chất tạm thời vì xu hướng chung của thị trường là luôn hướng về trạng thái cân bằng.</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44</a:t>
            </a:fld>
            <a:endParaRPr lang="en-GB"/>
          </a:p>
        </p:txBody>
      </p:sp>
    </p:spTree>
    <p:extLst>
      <p:ext uri="{BB962C8B-B14F-4D97-AF65-F5344CB8AC3E}">
        <p14:creationId xmlns:p14="http://schemas.microsoft.com/office/powerpoint/2010/main" val="12310501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nl-NL" sz="1200" dirty="0">
                <a:solidFill>
                  <a:srgbClr val="0000FF"/>
                </a:solidFill>
                <a:latin typeface="Times New Roman" pitchFamily="18" charset="0"/>
                <a:cs typeface="Times New Roman" pitchFamily="18" charset="0"/>
              </a:rPr>
              <a:t>- </a:t>
            </a:r>
            <a:r>
              <a:rPr lang="nl-NL" sz="1200" i="1" dirty="0">
                <a:solidFill>
                  <a:srgbClr val="0000FF"/>
                </a:solidFill>
                <a:latin typeface="Times New Roman" pitchFamily="18" charset="0"/>
                <a:cs typeface="Times New Roman" pitchFamily="18" charset="0"/>
              </a:rPr>
              <a:t>Trường hợp 1</a:t>
            </a:r>
            <a:r>
              <a:rPr lang="nl-NL" sz="1200" dirty="0">
                <a:solidFill>
                  <a:srgbClr val="0000FF"/>
                </a:solidFill>
                <a:latin typeface="Times New Roman" pitchFamily="18" charset="0"/>
                <a:cs typeface="Times New Roman" pitchFamily="18" charset="0"/>
              </a:rPr>
              <a:t>: cung không đổi và cầu thay đổi:</a:t>
            </a:r>
            <a:endParaRPr lang="en-US" sz="1200" dirty="0">
              <a:solidFill>
                <a:srgbClr val="0000FF"/>
              </a:solidFill>
              <a:latin typeface="Times New Roman" pitchFamily="18" charset="0"/>
              <a:cs typeface="Times New Roman" pitchFamily="18" charset="0"/>
            </a:endParaRPr>
          </a:p>
          <a:p>
            <a:pPr algn="just"/>
            <a:r>
              <a:rPr lang="nl-NL" sz="1200" dirty="0">
                <a:solidFill>
                  <a:srgbClr val="0000FF"/>
                </a:solidFill>
                <a:latin typeface="Times New Roman" pitchFamily="18" charset="0"/>
                <a:cs typeface="Times New Roman" pitchFamily="18" charset="0"/>
              </a:rPr>
              <a:t>+ Cung không đổi, cầu tăng, giá cân bằng tăng: P</a:t>
            </a:r>
            <a:r>
              <a:rPr lang="nl-NL" sz="1200" baseline="-25000" dirty="0">
                <a:solidFill>
                  <a:srgbClr val="0000FF"/>
                </a:solidFill>
                <a:latin typeface="Times New Roman" pitchFamily="18" charset="0"/>
                <a:cs typeface="Times New Roman" pitchFamily="18" charset="0"/>
              </a:rPr>
              <a:t>E1</a:t>
            </a:r>
            <a:r>
              <a:rPr lang="nl-NL" sz="1200" dirty="0">
                <a:solidFill>
                  <a:srgbClr val="0000FF"/>
                </a:solidFill>
                <a:latin typeface="Times New Roman" pitchFamily="18" charset="0"/>
                <a:cs typeface="Times New Roman" pitchFamily="18" charset="0"/>
              </a:rPr>
              <a:t> &gt; P</a:t>
            </a:r>
            <a:r>
              <a:rPr lang="nl-NL" sz="1200" baseline="-25000" dirty="0">
                <a:solidFill>
                  <a:srgbClr val="0000FF"/>
                </a:solidFill>
                <a:latin typeface="Times New Roman" pitchFamily="18" charset="0"/>
                <a:cs typeface="Times New Roman" pitchFamily="18" charset="0"/>
              </a:rPr>
              <a:t>E0</a:t>
            </a:r>
            <a:endParaRPr lang="en-US" sz="1200" dirty="0">
              <a:solidFill>
                <a:srgbClr val="0000FF"/>
              </a:solidFill>
              <a:latin typeface="Times New Roman" pitchFamily="18" charset="0"/>
              <a:cs typeface="Times New Roman" pitchFamily="18" charset="0"/>
            </a:endParaRPr>
          </a:p>
          <a:p>
            <a:pPr algn="just"/>
            <a:r>
              <a:rPr lang="nl-NL" sz="1200" dirty="0">
                <a:solidFill>
                  <a:srgbClr val="0000FF"/>
                </a:solidFill>
                <a:latin typeface="Times New Roman" pitchFamily="18" charset="0"/>
                <a:cs typeface="Times New Roman" pitchFamily="18" charset="0"/>
              </a:rPr>
              <a:t>+ Cung không đổi, cầu giảm, giá cân bằng giảm: P</a:t>
            </a:r>
            <a:r>
              <a:rPr lang="nl-NL" sz="1200" baseline="-25000" dirty="0">
                <a:solidFill>
                  <a:srgbClr val="0000FF"/>
                </a:solidFill>
                <a:latin typeface="Times New Roman" pitchFamily="18" charset="0"/>
                <a:cs typeface="Times New Roman" pitchFamily="18" charset="0"/>
              </a:rPr>
              <a:t>E2</a:t>
            </a:r>
            <a:r>
              <a:rPr lang="nl-NL" sz="1200" dirty="0">
                <a:solidFill>
                  <a:srgbClr val="0000FF"/>
                </a:solidFill>
                <a:latin typeface="Times New Roman" pitchFamily="18" charset="0"/>
                <a:cs typeface="Times New Roman" pitchFamily="18" charset="0"/>
              </a:rPr>
              <a:t> &lt; P</a:t>
            </a:r>
            <a:r>
              <a:rPr lang="nl-NL" sz="1200" baseline="-25000" dirty="0">
                <a:solidFill>
                  <a:srgbClr val="0000FF"/>
                </a:solidFill>
                <a:latin typeface="Times New Roman" pitchFamily="18" charset="0"/>
                <a:cs typeface="Times New Roman" pitchFamily="18" charset="0"/>
              </a:rPr>
              <a:t>E0</a:t>
            </a:r>
            <a:endParaRPr lang="en-US" sz="1200" dirty="0">
              <a:solidFill>
                <a:srgbClr val="0000FF"/>
              </a:solidFill>
              <a:latin typeface="Times New Roman" pitchFamily="18" charset="0"/>
              <a:cs typeface="Times New Roman" pitchFamily="18" charset="0"/>
            </a:endParaRPr>
          </a:p>
          <a:p>
            <a:pPr algn="just"/>
            <a:r>
              <a:rPr lang="nl-NL" sz="1200" dirty="0">
                <a:solidFill>
                  <a:srgbClr val="0000FF"/>
                </a:solidFill>
                <a:latin typeface="Times New Roman" pitchFamily="18" charset="0"/>
                <a:cs typeface="Times New Roman" pitchFamily="18" charset="0"/>
              </a:rPr>
              <a:t>- </a:t>
            </a:r>
            <a:r>
              <a:rPr lang="nl-NL" sz="1200" i="1" dirty="0">
                <a:solidFill>
                  <a:srgbClr val="0000FF"/>
                </a:solidFill>
                <a:latin typeface="Times New Roman" pitchFamily="18" charset="0"/>
                <a:cs typeface="Times New Roman" pitchFamily="18" charset="0"/>
              </a:rPr>
              <a:t>Trường hợp 2</a:t>
            </a:r>
            <a:r>
              <a:rPr lang="nl-NL" sz="1200" dirty="0">
                <a:solidFill>
                  <a:srgbClr val="0000FF"/>
                </a:solidFill>
                <a:latin typeface="Times New Roman" pitchFamily="18" charset="0"/>
                <a:cs typeface="Times New Roman" pitchFamily="18" charset="0"/>
              </a:rPr>
              <a:t>: cung thay đổi, và cầu không đổi:</a:t>
            </a:r>
            <a:endParaRPr lang="en-US" sz="1200" dirty="0">
              <a:solidFill>
                <a:srgbClr val="0000FF"/>
              </a:solidFill>
              <a:latin typeface="Times New Roman" pitchFamily="18" charset="0"/>
              <a:cs typeface="Times New Roman" pitchFamily="18" charset="0"/>
            </a:endParaRPr>
          </a:p>
          <a:p>
            <a:pPr algn="just"/>
            <a:r>
              <a:rPr lang="nl-NL" sz="1200" dirty="0">
                <a:solidFill>
                  <a:srgbClr val="0000FF"/>
                </a:solidFill>
                <a:latin typeface="Times New Roman" pitchFamily="18" charset="0"/>
                <a:cs typeface="Times New Roman" pitchFamily="18" charset="0"/>
              </a:rPr>
              <a:t>+ Cầu không đổi, cung tăng, giá cân bằng giảm: P</a:t>
            </a:r>
            <a:r>
              <a:rPr lang="nl-NL" sz="1200" baseline="-25000" dirty="0">
                <a:solidFill>
                  <a:srgbClr val="0000FF"/>
                </a:solidFill>
                <a:latin typeface="Times New Roman" pitchFamily="18" charset="0"/>
                <a:cs typeface="Times New Roman" pitchFamily="18" charset="0"/>
              </a:rPr>
              <a:t>E1</a:t>
            </a:r>
            <a:r>
              <a:rPr lang="nl-NL" sz="1200" dirty="0">
                <a:solidFill>
                  <a:srgbClr val="0000FF"/>
                </a:solidFill>
                <a:latin typeface="Times New Roman" pitchFamily="18" charset="0"/>
                <a:cs typeface="Times New Roman" pitchFamily="18" charset="0"/>
              </a:rPr>
              <a:t> &lt; P</a:t>
            </a:r>
            <a:r>
              <a:rPr lang="nl-NL" sz="1200" baseline="-25000" dirty="0">
                <a:solidFill>
                  <a:srgbClr val="0000FF"/>
                </a:solidFill>
                <a:latin typeface="Times New Roman" pitchFamily="18" charset="0"/>
                <a:cs typeface="Times New Roman" pitchFamily="18" charset="0"/>
              </a:rPr>
              <a:t>E0</a:t>
            </a:r>
            <a:endParaRPr lang="en-US" sz="1200" dirty="0">
              <a:solidFill>
                <a:srgbClr val="0000FF"/>
              </a:solidFill>
              <a:latin typeface="Times New Roman" pitchFamily="18" charset="0"/>
              <a:cs typeface="Times New Roman" pitchFamily="18" charset="0"/>
            </a:endParaRPr>
          </a:p>
          <a:p>
            <a:pPr algn="just"/>
            <a:r>
              <a:rPr lang="nl-NL" sz="1200" dirty="0">
                <a:solidFill>
                  <a:srgbClr val="0000FF"/>
                </a:solidFill>
                <a:latin typeface="Times New Roman" pitchFamily="18" charset="0"/>
                <a:cs typeface="Times New Roman" pitchFamily="18" charset="0"/>
              </a:rPr>
              <a:t>+ Cầu không đổi, cung  giảm, giá cân bằng tăng: P</a:t>
            </a:r>
            <a:r>
              <a:rPr lang="nl-NL" sz="1200" baseline="-25000" dirty="0">
                <a:solidFill>
                  <a:srgbClr val="0000FF"/>
                </a:solidFill>
                <a:latin typeface="Times New Roman" pitchFamily="18" charset="0"/>
                <a:cs typeface="Times New Roman" pitchFamily="18" charset="0"/>
              </a:rPr>
              <a:t>E1</a:t>
            </a:r>
            <a:r>
              <a:rPr lang="nl-NL" sz="1200" dirty="0">
                <a:solidFill>
                  <a:srgbClr val="0000FF"/>
                </a:solidFill>
                <a:latin typeface="Times New Roman" pitchFamily="18" charset="0"/>
                <a:cs typeface="Times New Roman" pitchFamily="18" charset="0"/>
              </a:rPr>
              <a:t> &gt; P</a:t>
            </a:r>
            <a:r>
              <a:rPr lang="nl-NL" sz="1200" baseline="-25000" dirty="0">
                <a:solidFill>
                  <a:srgbClr val="0000FF"/>
                </a:solidFill>
                <a:latin typeface="Times New Roman" pitchFamily="18" charset="0"/>
                <a:cs typeface="Times New Roman" pitchFamily="18" charset="0"/>
              </a:rPr>
              <a:t>E0</a:t>
            </a:r>
            <a:endParaRPr lang="en-US" sz="1200" dirty="0">
              <a:solidFill>
                <a:srgbClr val="0000FF"/>
              </a:solidFill>
              <a:latin typeface="Times New Roman" pitchFamily="18" charset="0"/>
              <a:cs typeface="Times New Roman" pitchFamily="18" charset="0"/>
            </a:endParaRPr>
          </a:p>
          <a:p>
            <a:pPr algn="just"/>
            <a:r>
              <a:rPr lang="nl-NL" sz="1200" dirty="0">
                <a:solidFill>
                  <a:srgbClr val="0000FF"/>
                </a:solidFill>
                <a:latin typeface="Times New Roman" pitchFamily="18" charset="0"/>
                <a:cs typeface="Times New Roman" pitchFamily="18" charset="0"/>
              </a:rPr>
              <a:t>- </a:t>
            </a:r>
            <a:r>
              <a:rPr lang="nl-NL" sz="1200" i="1" dirty="0">
                <a:solidFill>
                  <a:srgbClr val="0000FF"/>
                </a:solidFill>
                <a:latin typeface="Times New Roman" pitchFamily="18" charset="0"/>
                <a:cs typeface="Times New Roman" pitchFamily="18" charset="0"/>
              </a:rPr>
              <a:t>Trường hợp 3</a:t>
            </a:r>
            <a:r>
              <a:rPr lang="nl-NL" sz="1200" dirty="0">
                <a:solidFill>
                  <a:srgbClr val="0000FF"/>
                </a:solidFill>
                <a:latin typeface="Times New Roman" pitchFamily="18" charset="0"/>
                <a:cs typeface="Times New Roman" pitchFamily="18" charset="0"/>
              </a:rPr>
              <a:t>: cả cung và cầu một mặt hàng thay đổi. Giá và lượng cân bằng thay đổi phụ thuộc cung, cầu thay đổi cùng chiều hay ngược chiều, cùng mức độ hay khác mức độ.</a:t>
            </a:r>
            <a:endParaRPr lang="en-US" sz="1200" dirty="0">
              <a:solidFill>
                <a:srgbClr val="0000FF"/>
              </a:solidFill>
              <a:latin typeface="Times New Roman" pitchFamily="18" charset="0"/>
              <a:cs typeface="Times New Roman" pitchFamily="18" charset="0"/>
            </a:endParaRP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45</a:t>
            </a:fld>
            <a:endParaRPr lang="en-GB"/>
          </a:p>
        </p:txBody>
      </p:sp>
    </p:spTree>
    <p:extLst>
      <p:ext uri="{BB962C8B-B14F-4D97-AF65-F5344CB8AC3E}">
        <p14:creationId xmlns:p14="http://schemas.microsoft.com/office/powerpoint/2010/main" val="489835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Vì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nhiều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cung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những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sở</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nhân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sở</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về</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giỏ</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chúng</a:t>
            </a:r>
            <a:r>
              <a:rPr lang="en-US" sz="1200" dirty="0">
                <a:solidFill>
                  <a:srgbClr val="0000FF"/>
                </a:solidFill>
                <a:latin typeface="Times New Roman" pitchFamily="18" charset="0"/>
                <a:cs typeface="Times New Roman" pitchFamily="18" charset="0"/>
              </a:rPr>
              <a:t> ta </a:t>
            </a:r>
            <a:r>
              <a:rPr lang="en-US" sz="1200" b="1" i="1" dirty="0" err="1">
                <a:solidFill>
                  <a:srgbClr val="0000FF"/>
                </a:solidFill>
                <a:latin typeface="Times New Roman" pitchFamily="18" charset="0"/>
                <a:cs typeface="Times New Roman" pitchFamily="18" charset="0"/>
              </a:rPr>
              <a:t>giới</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hạn</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một</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số</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loại</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nhất</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định</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trong</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giỏ</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hàng</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hóa</a:t>
            </a:r>
            <a:r>
              <a:rPr lang="en-US" sz="1200" b="1" i="1"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47</a:t>
            </a:fld>
            <a:endParaRPr lang="en-GB"/>
          </a:p>
        </p:txBody>
      </p:sp>
    </p:spTree>
    <p:extLst>
      <p:ext uri="{BB962C8B-B14F-4D97-AF65-F5344CB8AC3E}">
        <p14:creationId xmlns:p14="http://schemas.microsoft.com/office/powerpoint/2010/main" val="174976572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Nếu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còn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dương</a:t>
            </a:r>
            <a:r>
              <a:rPr lang="en-US" sz="1200" dirty="0">
                <a:solidFill>
                  <a:srgbClr val="0000FF"/>
                </a:solidFill>
                <a:latin typeface="Times New Roman" pitchFamily="18" charset="0"/>
                <a:cs typeface="Times New Roman" pitchFamily="18" charset="0"/>
              </a:rPr>
              <a:t> (ổ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còn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tổng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thêm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tổng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hướng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lớn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hướng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đến</a:t>
            </a:r>
            <a:r>
              <a:rPr lang="en-US" sz="1200" dirty="0">
                <a:solidFill>
                  <a:srgbClr val="0000FF"/>
                </a:solidFill>
                <a:latin typeface="Times New Roman" pitchFamily="18" charset="0"/>
                <a:cs typeface="Times New Roman" pitchFamily="18" charset="0"/>
              </a:rPr>
              <a:t> 0.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51</a:t>
            </a:fld>
            <a:endParaRPr lang="en-GB"/>
          </a:p>
        </p:txBody>
      </p:sp>
    </p:spTree>
    <p:extLst>
      <p:ext uri="{BB962C8B-B14F-4D97-AF65-F5344CB8AC3E}">
        <p14:creationId xmlns:p14="http://schemas.microsoft.com/office/powerpoint/2010/main" val="18597550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b="1" i="1" dirty="0" err="1">
                <a:solidFill>
                  <a:srgbClr val="0000FF"/>
                </a:solidFill>
                <a:latin typeface="Times New Roman" pitchFamily="18" charset="0"/>
                <a:cs typeface="Times New Roman" pitchFamily="18" charset="0"/>
              </a:rPr>
              <a:t>Ví</a:t>
            </a:r>
            <a:r>
              <a:rPr lang="en-US" sz="1200" b="1" i="1" dirty="0">
                <a:solidFill>
                  <a:srgbClr val="0000FF"/>
                </a:solidFill>
                <a:latin typeface="Times New Roman" pitchFamily="18" charset="0"/>
                <a:cs typeface="Times New Roman" pitchFamily="18" charset="0"/>
              </a:rPr>
              <a:t> </a:t>
            </a:r>
            <a:r>
              <a:rPr lang="en-US" sz="1200" b="1" i="1" dirty="0" err="1">
                <a:solidFill>
                  <a:srgbClr val="0000FF"/>
                </a:solidFill>
                <a:latin typeface="Times New Roman" pitchFamily="18" charset="0"/>
                <a:cs typeface="Times New Roman" pitchFamily="18" charset="0"/>
              </a:rPr>
              <a:t>dụ</a:t>
            </a:r>
            <a:r>
              <a:rPr lang="en-US" sz="1200" b="1" i="1" dirty="0">
                <a:solidFill>
                  <a:srgbClr val="0000FF"/>
                </a:solidFill>
                <a:latin typeface="Times New Roman" pitchFamily="18" charset="0"/>
                <a:cs typeface="Times New Roman" pitchFamily="18" charset="0"/>
              </a:rPr>
              <a:t>: </a:t>
            </a:r>
            <a:r>
              <a:rPr lang="en-US" sz="1200" dirty="0">
                <a:solidFill>
                  <a:srgbClr val="0000FF"/>
                </a:solidFill>
                <a:latin typeface="Times New Roman" pitchFamily="18" charset="0"/>
                <a:cs typeface="Times New Roman" pitchFamily="18" charset="0"/>
              </a:rPr>
              <a:t>Khi MU &gt; 0,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thêm</a:t>
            </a:r>
            <a:r>
              <a:rPr lang="en-US" sz="1200" dirty="0">
                <a:solidFill>
                  <a:srgbClr val="0000FF"/>
                </a:solidFill>
                <a:latin typeface="Times New Roman" pitchFamily="18" charset="0"/>
                <a:cs typeface="Times New Roman" pitchFamily="18" charset="0"/>
              </a:rPr>
              <a:t>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que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tổng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độ</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giảm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dần</a:t>
            </a:r>
            <a:r>
              <a:rPr lang="en-US" sz="1200" dirty="0">
                <a:solidFill>
                  <a:srgbClr val="0000FF"/>
                </a:solidFill>
                <a:latin typeface="Times New Roman" pitchFamily="18" charset="0"/>
                <a:cs typeface="Times New Roman" pitchFamily="18" charset="0"/>
              </a:rPr>
              <a:t>.</a:t>
            </a:r>
          </a:p>
          <a:p>
            <a:pPr algn="just"/>
            <a:r>
              <a:rPr lang="en-US" sz="1200" dirty="0">
                <a:solidFill>
                  <a:srgbClr val="0000FF"/>
                </a:solidFill>
                <a:latin typeface="Times New Roman" pitchFamily="18" charset="0"/>
                <a:cs typeface="Times New Roman" pitchFamily="18" charset="0"/>
              </a:rPr>
              <a:t>Khi MU = 0,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dừng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số</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ở </a:t>
            </a:r>
            <a:r>
              <a:rPr lang="en-US" sz="1200" dirty="0" err="1">
                <a:solidFill>
                  <a:srgbClr val="0000FF"/>
                </a:solidFill>
                <a:latin typeface="Times New Roman" pitchFamily="18" charset="0"/>
                <a:cs typeface="Times New Roman" pitchFamily="18" charset="0"/>
              </a:rPr>
              <a:t>thời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ưu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TU max = 20</a:t>
            </a:r>
          </a:p>
          <a:p>
            <a:pPr algn="just"/>
            <a:r>
              <a:rPr lang="en-US" sz="1200" dirty="0">
                <a:solidFill>
                  <a:srgbClr val="0000FF"/>
                </a:solidFill>
                <a:latin typeface="Times New Roman" pitchFamily="18" charset="0"/>
                <a:cs typeface="Times New Roman" pitchFamily="18" charset="0"/>
              </a:rPr>
              <a:t>Khi MU &lt; 0,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thêm</a:t>
            </a:r>
            <a:r>
              <a:rPr lang="en-US" sz="1200" dirty="0">
                <a:solidFill>
                  <a:srgbClr val="0000FF"/>
                </a:solidFill>
                <a:latin typeface="Times New Roman" pitchFamily="18" charset="0"/>
                <a:cs typeface="Times New Roman" pitchFamily="18" charset="0"/>
              </a:rPr>
              <a:t> ổ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5 </a:t>
            </a:r>
            <a:r>
              <a:rPr lang="en-US" sz="1200" dirty="0" err="1">
                <a:solidFill>
                  <a:srgbClr val="0000FF"/>
                </a:solidFill>
                <a:latin typeface="Times New Roman" pitchFamily="18" charset="0"/>
                <a:cs typeface="Times New Roman" pitchFamily="18" charset="0"/>
              </a:rPr>
              <a:t>dù</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miễn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vì</a:t>
            </a:r>
            <a:r>
              <a:rPr lang="en-US" sz="1200" dirty="0">
                <a:solidFill>
                  <a:srgbClr val="0000FF"/>
                </a:solidFill>
                <a:latin typeface="Times New Roman" pitchFamily="18" charset="0"/>
                <a:cs typeface="Times New Roman" pitchFamily="18" charset="0"/>
              </a:rPr>
              <a:t> ổ </a:t>
            </a:r>
            <a:r>
              <a:rPr lang="en-US" sz="1200" dirty="0" err="1">
                <a:solidFill>
                  <a:srgbClr val="0000FF"/>
                </a:solidFill>
                <a:latin typeface="Times New Roman" pitchFamily="18" charset="0"/>
                <a:cs typeface="Times New Roman" pitchFamily="18" charset="0"/>
              </a:rPr>
              <a:t>này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mang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-2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tổng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giảm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xuống</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52</a:t>
            </a:fld>
            <a:endParaRPr lang="en-GB"/>
          </a:p>
        </p:txBody>
      </p:sp>
    </p:spTree>
    <p:extLst>
      <p:ext uri="{BB962C8B-B14F-4D97-AF65-F5344CB8AC3E}">
        <p14:creationId xmlns:p14="http://schemas.microsoft.com/office/powerpoint/2010/main" val="2296749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Ví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bụng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sẵn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sàng</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trả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ổ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que </a:t>
            </a:r>
            <a:r>
              <a:rPr lang="en-US" sz="1200" dirty="0" err="1">
                <a:solidFill>
                  <a:srgbClr val="0000FF"/>
                </a:solidFill>
                <a:latin typeface="Times New Roman" pitchFamily="18" charset="0"/>
                <a:cs typeface="Times New Roman" pitchFamily="18" charset="0"/>
              </a:rPr>
              <a:t>thứ</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10.000 </a:t>
            </a:r>
            <a:r>
              <a:rPr lang="en-US" sz="1200" dirty="0" err="1">
                <a:solidFill>
                  <a:srgbClr val="0000FF"/>
                </a:solidFill>
                <a:latin typeface="Times New Roman" pitchFamily="18" charset="0"/>
                <a:cs typeface="Times New Roman" pitchFamily="18" charset="0"/>
              </a:rPr>
              <a:t>đồng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thực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chỉ</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trả</a:t>
            </a:r>
            <a:r>
              <a:rPr lang="en-US" sz="1200" dirty="0">
                <a:solidFill>
                  <a:srgbClr val="0000FF"/>
                </a:solidFill>
                <a:latin typeface="Times New Roman" pitchFamily="18" charset="0"/>
                <a:cs typeface="Times New Roman" pitchFamily="18" charset="0"/>
              </a:rPr>
              <a:t> 2.000 </a:t>
            </a:r>
            <a:r>
              <a:rPr lang="en-US" sz="1200" dirty="0" err="1">
                <a:solidFill>
                  <a:srgbClr val="0000FF"/>
                </a:solidFill>
                <a:latin typeface="Times New Roman" pitchFamily="18" charset="0"/>
                <a:cs typeface="Times New Roman" pitchFamily="18" charset="0"/>
              </a:rPr>
              <a:t>đồng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do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khoản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thặng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dư</a:t>
            </a:r>
            <a:r>
              <a:rPr lang="en-US" sz="1200" dirty="0">
                <a:solidFill>
                  <a:srgbClr val="0000FF"/>
                </a:solidFill>
                <a:latin typeface="Times New Roman" pitchFamily="18" charset="0"/>
                <a:cs typeface="Times New Roman" pitchFamily="18" charset="0"/>
              </a:rPr>
              <a:t> 8.000 </a:t>
            </a:r>
            <a:r>
              <a:rPr lang="en-US" sz="1200" dirty="0" err="1">
                <a:solidFill>
                  <a:srgbClr val="0000FF"/>
                </a:solidFill>
                <a:latin typeface="Times New Roman" pitchFamily="18" charset="0"/>
                <a:cs typeface="Times New Roman" pitchFamily="18" charset="0"/>
              </a:rPr>
              <a:t>đồng</a:t>
            </a:r>
            <a:r>
              <a:rPr lang="en-US" sz="1200" dirty="0">
                <a:solidFill>
                  <a:srgbClr val="0000FF"/>
                </a:solidFill>
                <a:latin typeface="Times New Roman" pitchFamily="18" charset="0"/>
                <a:cs typeface="Times New Roman" pitchFamily="18" charset="0"/>
              </a:rPr>
              <a:t>.</a:t>
            </a:r>
          </a:p>
          <a:p>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họ</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đến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ổ bánh </a:t>
            </a:r>
            <a:r>
              <a:rPr lang="en-US" sz="1200" dirty="0" err="1">
                <a:solidFill>
                  <a:srgbClr val="0000FF"/>
                </a:solidFill>
                <a:latin typeface="Times New Roman" pitchFamily="18" charset="0"/>
                <a:cs typeface="Times New Roman" pitchFamily="18" charset="0"/>
              </a:rPr>
              <a:t>cuối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bằng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phí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cận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hưởng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thặng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ở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ổ bánh </a:t>
            </a:r>
            <a:r>
              <a:rPr lang="en-US" sz="1200" dirty="0" err="1">
                <a:solidFill>
                  <a:srgbClr val="0000FF"/>
                </a:solidFill>
                <a:latin typeface="Times New Roman" pitchFamily="18" charset="0"/>
                <a:cs typeface="Times New Roman" pitchFamily="18" charset="0"/>
              </a:rPr>
              <a:t>trước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CS.</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53</a:t>
            </a:fld>
            <a:endParaRPr lang="en-GB"/>
          </a:p>
        </p:txBody>
      </p:sp>
    </p:spTree>
    <p:extLst>
      <p:ext uri="{BB962C8B-B14F-4D97-AF65-F5344CB8AC3E}">
        <p14:creationId xmlns:p14="http://schemas.microsoft.com/office/powerpoint/2010/main" val="3570802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Ví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a:t>
            </a:r>
            <a:r>
              <a:rPr lang="en-US" sz="1200" dirty="0">
                <a:solidFill>
                  <a:srgbClr val="0000FF"/>
                </a:solidFill>
                <a:latin typeface="Times New Roman" pitchFamily="18" charset="0"/>
                <a:cs typeface="Times New Roman" pitchFamily="18" charset="0"/>
              </a:rPr>
              <a:t>, </a:t>
            </a:r>
            <a:r>
              <a:rPr lang="vi-VN" sz="1200" dirty="0">
                <a:solidFill>
                  <a:srgbClr val="0000FF"/>
                </a:solidFill>
                <a:latin typeface="Times New Roman" pitchFamily="18" charset="0"/>
                <a:cs typeface="Times New Roman" pitchFamily="18" charset="0"/>
              </a:rPr>
              <a:t>đứng </a:t>
            </a:r>
            <a:r>
              <a:rPr lang="en-US" sz="1200" dirty="0" err="1">
                <a:solidFill>
                  <a:srgbClr val="0000FF"/>
                </a:solidFill>
                <a:latin typeface="Times New Roman" pitchFamily="18" charset="0"/>
                <a:cs typeface="Times New Roman" pitchFamily="18" charset="0"/>
              </a:rPr>
              <a:t>trước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hai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giỏ</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 (</a:t>
            </a:r>
            <a:r>
              <a:rPr lang="en-US" sz="1200" i="1" dirty="0">
                <a:solidFill>
                  <a:srgbClr val="0000FF"/>
                </a:solidFill>
                <a:latin typeface="Times New Roman" pitchFamily="18" charset="0"/>
                <a:cs typeface="Times New Roman" pitchFamily="18" charset="0"/>
              </a:rPr>
              <a:t>x</a:t>
            </a:r>
            <a:r>
              <a:rPr lang="en-US" sz="1200" dirty="0">
                <a:solidFill>
                  <a:srgbClr val="0000FF"/>
                </a:solidFill>
                <a:latin typeface="Times New Roman" pitchFamily="18" charset="0"/>
                <a:cs typeface="Times New Roman" pitchFamily="18" charset="0"/>
              </a:rPr>
              <a:t>1;</a:t>
            </a:r>
            <a:r>
              <a:rPr lang="en-US" sz="1200" i="1" dirty="0">
                <a:solidFill>
                  <a:srgbClr val="0000FF"/>
                </a:solidFill>
                <a:latin typeface="Times New Roman" pitchFamily="18" charset="0"/>
                <a:cs typeface="Times New Roman" pitchFamily="18" charset="0"/>
              </a:rPr>
              <a:t>y</a:t>
            </a:r>
            <a:r>
              <a:rPr lang="en-US" sz="1200" dirty="0">
                <a:solidFill>
                  <a:srgbClr val="0000FF"/>
                </a:solidFill>
                <a:latin typeface="Times New Roman" pitchFamily="18" charset="0"/>
                <a:cs typeface="Times New Roman" pitchFamily="18" charset="0"/>
              </a:rPr>
              <a:t>1)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B (</a:t>
            </a:r>
            <a:r>
              <a:rPr lang="en-US" sz="1200" i="1" dirty="0">
                <a:solidFill>
                  <a:srgbClr val="0000FF"/>
                </a:solidFill>
                <a:latin typeface="Times New Roman" pitchFamily="18" charset="0"/>
                <a:cs typeface="Times New Roman" pitchFamily="18" charset="0"/>
              </a:rPr>
              <a:t>x</a:t>
            </a:r>
            <a:r>
              <a:rPr lang="en-US" sz="1200" dirty="0">
                <a:solidFill>
                  <a:srgbClr val="0000FF"/>
                </a:solidFill>
                <a:latin typeface="Times New Roman" pitchFamily="18" charset="0"/>
                <a:cs typeface="Times New Roman" pitchFamily="18" charset="0"/>
              </a:rPr>
              <a:t>2;</a:t>
            </a:r>
            <a:r>
              <a:rPr lang="en-US" sz="1200" i="1" dirty="0">
                <a:solidFill>
                  <a:srgbClr val="0000FF"/>
                </a:solidFill>
                <a:latin typeface="Times New Roman" pitchFamily="18" charset="0"/>
                <a:cs typeface="Times New Roman" pitchFamily="18" charset="0"/>
              </a:rPr>
              <a:t>y</a:t>
            </a:r>
            <a:r>
              <a:rPr lang="en-US" sz="1200" dirty="0">
                <a:solidFill>
                  <a:srgbClr val="0000FF"/>
                </a:solidFill>
                <a:latin typeface="Times New Roman" pitchFamily="18" charset="0"/>
                <a:cs typeface="Times New Roman" pitchFamily="18" charset="0"/>
              </a:rPr>
              <a:t>2) </a:t>
            </a:r>
            <a:r>
              <a:rPr lang="en-US" sz="1200" dirty="0" err="1">
                <a:solidFill>
                  <a:srgbClr val="0000FF"/>
                </a:solidFill>
                <a:latin typeface="Times New Roman" pitchFamily="18" charset="0"/>
                <a:cs typeface="Times New Roman" pitchFamily="18" charset="0"/>
              </a:rPr>
              <a:t>xác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chỉ</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3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(1) </a:t>
            </a:r>
            <a:r>
              <a:rPr lang="en-US" sz="1200" dirty="0" err="1">
                <a:solidFill>
                  <a:srgbClr val="0000FF"/>
                </a:solidFill>
                <a:latin typeface="Times New Roman" pitchFamily="18" charset="0"/>
                <a:cs typeface="Times New Roman" pitchFamily="18" charset="0"/>
              </a:rPr>
              <a:t>hoặc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B, (2) </a:t>
            </a:r>
            <a:r>
              <a:rPr lang="en-US" sz="1200" dirty="0" err="1">
                <a:solidFill>
                  <a:srgbClr val="0000FF"/>
                </a:solidFill>
                <a:latin typeface="Times New Roman" pitchFamily="18" charset="0"/>
                <a:cs typeface="Times New Roman" pitchFamily="18" charset="0"/>
              </a:rPr>
              <a:t>hoặc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B, (3) </a:t>
            </a:r>
            <a:r>
              <a:rPr lang="en-US" sz="1200" dirty="0" err="1">
                <a:solidFill>
                  <a:srgbClr val="0000FF"/>
                </a:solidFill>
                <a:latin typeface="Times New Roman" pitchFamily="18" charset="0"/>
                <a:cs typeface="Times New Roman" pitchFamily="18" charset="0"/>
              </a:rPr>
              <a:t>hoặc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B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A. Ở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sở</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ra</a:t>
            </a:r>
            <a:r>
              <a:rPr lang="en-US" sz="1200" dirty="0">
                <a:solidFill>
                  <a:srgbClr val="0000FF"/>
                </a:solidFill>
                <a:latin typeface="Times New Roman" pitchFamily="18" charset="0"/>
                <a:cs typeface="Times New Roman" pitchFamily="18" charset="0"/>
              </a:rPr>
              <a:t> ở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nói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55</a:t>
            </a:fld>
            <a:endParaRPr lang="en-GB"/>
          </a:p>
        </p:txBody>
      </p:sp>
    </p:spTree>
    <p:extLst>
      <p:ext uri="{BB962C8B-B14F-4D97-AF65-F5344CB8AC3E}">
        <p14:creationId xmlns:p14="http://schemas.microsoft.com/office/powerpoint/2010/main" val="2223388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Chẳng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B,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B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C song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C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A. Trong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đuổi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theo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những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đổi</a:t>
            </a:r>
            <a:r>
              <a:rPr lang="en-US" sz="1200" dirty="0">
                <a:solidFill>
                  <a:srgbClr val="0000FF"/>
                </a:solidFill>
                <a:latin typeface="Times New Roman" pitchFamily="18" charset="0"/>
                <a:cs typeface="Times New Roman" pitchFamily="18" charset="0"/>
              </a:rPr>
              <a:t> A </a:t>
            </a:r>
            <a:r>
              <a:rPr lang="en-US" sz="1200" dirty="0" err="1">
                <a:solidFill>
                  <a:srgbClr val="0000FF"/>
                </a:solidFill>
                <a:latin typeface="Times New Roman" pitchFamily="18" charset="0"/>
                <a:cs typeface="Times New Roman" pitchFamily="18" charset="0"/>
              </a:rPr>
              <a:t>lấy</a:t>
            </a:r>
            <a:r>
              <a:rPr lang="en-US" sz="1200" dirty="0">
                <a:solidFill>
                  <a:srgbClr val="0000FF"/>
                </a:solidFill>
                <a:latin typeface="Times New Roman" pitchFamily="18" charset="0"/>
                <a:cs typeface="Times New Roman" pitchFamily="18" charset="0"/>
              </a:rPr>
              <a:t> C, </a:t>
            </a:r>
            <a:r>
              <a:rPr lang="en-US" sz="1200" dirty="0" err="1">
                <a:solidFill>
                  <a:srgbClr val="0000FF"/>
                </a:solidFill>
                <a:latin typeface="Times New Roman" pitchFamily="18" charset="0"/>
                <a:cs typeface="Times New Roman" pitchFamily="18" charset="0"/>
              </a:rPr>
              <a:t>đổi</a:t>
            </a:r>
            <a:r>
              <a:rPr lang="en-US" sz="1200" dirty="0">
                <a:solidFill>
                  <a:srgbClr val="0000FF"/>
                </a:solidFill>
                <a:latin typeface="Times New Roman" pitchFamily="18" charset="0"/>
                <a:cs typeface="Times New Roman" pitchFamily="18" charset="0"/>
              </a:rPr>
              <a:t> C </a:t>
            </a:r>
            <a:r>
              <a:rPr lang="en-US" sz="1200" dirty="0" err="1">
                <a:solidFill>
                  <a:srgbClr val="0000FF"/>
                </a:solidFill>
                <a:latin typeface="Times New Roman" pitchFamily="18" charset="0"/>
                <a:cs typeface="Times New Roman" pitchFamily="18" charset="0"/>
              </a:rPr>
              <a:t>lấy</a:t>
            </a:r>
            <a:r>
              <a:rPr lang="en-US" sz="1200" dirty="0">
                <a:solidFill>
                  <a:srgbClr val="0000FF"/>
                </a:solidFill>
                <a:latin typeface="Times New Roman" pitchFamily="18" charset="0"/>
                <a:cs typeface="Times New Roman" pitchFamily="18" charset="0"/>
              </a:rPr>
              <a:t> B, </a:t>
            </a:r>
            <a:r>
              <a:rPr lang="en-US" sz="1200" dirty="0" err="1">
                <a:solidFill>
                  <a:srgbClr val="0000FF"/>
                </a:solidFill>
                <a:latin typeface="Times New Roman" pitchFamily="18" charset="0"/>
                <a:cs typeface="Times New Roman" pitchFamily="18" charset="0"/>
              </a:rPr>
              <a:t>đổi</a:t>
            </a:r>
            <a:r>
              <a:rPr lang="en-US" sz="1200" dirty="0">
                <a:solidFill>
                  <a:srgbClr val="0000FF"/>
                </a:solidFill>
                <a:latin typeface="Times New Roman" pitchFamily="18" charset="0"/>
                <a:cs typeface="Times New Roman" pitchFamily="18" charset="0"/>
              </a:rPr>
              <a:t> B </a:t>
            </a:r>
            <a:r>
              <a:rPr lang="en-US" sz="1200" dirty="0" err="1">
                <a:solidFill>
                  <a:srgbClr val="0000FF"/>
                </a:solidFill>
                <a:latin typeface="Times New Roman" pitchFamily="18" charset="0"/>
                <a:cs typeface="Times New Roman" pitchFamily="18" charset="0"/>
              </a:rPr>
              <a:t>lấy</a:t>
            </a:r>
            <a:r>
              <a:rPr lang="en-US" sz="1200" dirty="0">
                <a:solidFill>
                  <a:srgbClr val="0000FF"/>
                </a:solidFill>
                <a:latin typeface="Times New Roman" pitchFamily="18" charset="0"/>
                <a:cs typeface="Times New Roman" pitchFamily="18" charset="0"/>
              </a:rPr>
              <a:t> A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những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khoản</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phí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rốt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cuộc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phải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trở</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về</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giỏ</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phát</a:t>
            </a:r>
            <a:r>
              <a:rPr lang="en-US" sz="1200" dirty="0">
                <a:solidFill>
                  <a:srgbClr val="0000FF"/>
                </a:solidFill>
                <a:latin typeface="Times New Roman" pitchFamily="18" charset="0"/>
                <a:cs typeface="Times New Roman" pitchFamily="18" charset="0"/>
              </a:rPr>
              <a:t> ban </a:t>
            </a:r>
            <a:r>
              <a:rPr lang="en-US" sz="1200" dirty="0" err="1">
                <a:solidFill>
                  <a:srgbClr val="0000FF"/>
                </a:solidFill>
                <a:latin typeface="Times New Roman" pitchFamily="18" charset="0"/>
                <a:cs typeface="Times New Roman" pitchFamily="18" charset="0"/>
              </a:rPr>
              <a:t>đầu</a:t>
            </a:r>
            <a:r>
              <a:rPr lang="en-US" sz="1200" dirty="0">
                <a:solidFill>
                  <a:srgbClr val="0000FF"/>
                </a:solidFill>
                <a:latin typeface="Times New Roman" pitchFamily="18" charset="0"/>
                <a:cs typeface="Times New Roman" pitchFamily="18" charset="0"/>
              </a:rPr>
              <a:t>.</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56</a:t>
            </a:fld>
            <a:endParaRPr lang="en-GB"/>
          </a:p>
        </p:txBody>
      </p:sp>
    </p:spTree>
    <p:extLst>
      <p:ext uri="{BB962C8B-B14F-4D97-AF65-F5344CB8AC3E}">
        <p14:creationId xmlns:p14="http://schemas.microsoft.com/office/powerpoint/2010/main" val="374563736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0000FF"/>
                </a:solidFill>
                <a:latin typeface="Times New Roman" pitchFamily="18" charset="0"/>
                <a:cs typeface="Times New Roman" pitchFamily="18" charset="0"/>
              </a:rPr>
              <a:t>Ở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điểm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chẳng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5 ổ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chưa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chắc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ta </a:t>
            </a:r>
            <a:r>
              <a:rPr lang="en-US" sz="1200" dirty="0" err="1">
                <a:solidFill>
                  <a:srgbClr val="0000FF"/>
                </a:solidFill>
                <a:latin typeface="Times New Roman" pitchFamily="18" charset="0"/>
                <a:cs typeface="Times New Roman" pitchFamily="18" charset="0"/>
              </a:rPr>
              <a:t>thích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ăn</a:t>
            </a:r>
            <a:r>
              <a:rPr lang="en-US" sz="1200" dirty="0">
                <a:solidFill>
                  <a:srgbClr val="0000FF"/>
                </a:solidFill>
                <a:latin typeface="Times New Roman" pitchFamily="18" charset="0"/>
                <a:cs typeface="Times New Roman" pitchFamily="18" charset="0"/>
              </a:rPr>
              <a:t> 4 ổ bánh </a:t>
            </a:r>
            <a:r>
              <a:rPr lang="en-US" sz="1200" dirty="0" err="1">
                <a:solidFill>
                  <a:srgbClr val="0000FF"/>
                </a:solidFill>
                <a:latin typeface="Times New Roman" pitchFamily="18" charset="0"/>
                <a:cs typeface="Times New Roman" pitchFamily="18" charset="0"/>
              </a:rPr>
              <a:t>mì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chỉ</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hợp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57</a:t>
            </a:fld>
            <a:endParaRPr lang="en-GB"/>
          </a:p>
        </p:txBody>
      </p:sp>
    </p:spTree>
    <p:extLst>
      <p:ext uri="{BB962C8B-B14F-4D97-AF65-F5344CB8AC3E}">
        <p14:creationId xmlns:p14="http://schemas.microsoft.com/office/powerpoint/2010/main" val="6693606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chi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vượt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I. </a:t>
            </a:r>
            <a:r>
              <a:rPr lang="en-US" sz="1200" dirty="0" err="1">
                <a:solidFill>
                  <a:srgbClr val="0000FF"/>
                </a:solidFill>
                <a:latin typeface="Times New Roman" pitchFamily="18" charset="0"/>
                <a:cs typeface="Times New Roman" pitchFamily="18" charset="0"/>
              </a:rPr>
              <a:t>Tuy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khối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X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Y </a:t>
            </a:r>
            <a:r>
              <a:rPr lang="en-US" sz="1200" dirty="0" err="1">
                <a:solidFill>
                  <a:srgbClr val="0000FF"/>
                </a:solidFill>
                <a:latin typeface="Times New Roman" pitchFamily="18" charset="0"/>
                <a:cs typeface="Times New Roman" pitchFamily="18" charset="0"/>
              </a:rPr>
              <a:t>mà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chỉ</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tùy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thuộc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I, </a:t>
            </a:r>
            <a:r>
              <a:rPr lang="en-US" sz="1200" dirty="0" err="1">
                <a:solidFill>
                  <a:srgbClr val="0000FF"/>
                </a:solidFill>
                <a:latin typeface="Times New Roman" pitchFamily="18" charset="0"/>
                <a:cs typeface="Times New Roman" pitchFamily="18" charset="0"/>
              </a:rPr>
              <a:t>chúng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còn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thuộc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hàng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hóa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này</a:t>
            </a:r>
            <a:r>
              <a:rPr lang="en-US" sz="1200" dirty="0">
                <a:solidFill>
                  <a:srgbClr val="0000FF"/>
                </a:solidFill>
                <a:latin typeface="Times New Roman" pitchFamily="18" charset="0"/>
                <a:cs typeface="Times New Roman" pitchFamily="18" charset="0"/>
              </a:rPr>
              <a:t>. </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59</a:t>
            </a:fld>
            <a:endParaRPr lang="en-GB"/>
          </a:p>
        </p:txBody>
      </p:sp>
    </p:spTree>
    <p:extLst>
      <p:ext uri="{BB962C8B-B14F-4D97-AF65-F5344CB8AC3E}">
        <p14:creationId xmlns:p14="http://schemas.microsoft.com/office/powerpoint/2010/main" val="25182865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hữu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vô</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nghệ</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dịch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vụ</a:t>
            </a:r>
            <a:r>
              <a:rPr lang="en-US" sz="1200" dirty="0">
                <a:solidFill>
                  <a:srgbClr val="0000FF"/>
                </a:solidFill>
                <a:latin typeface="Times New Roman" pitchFamily="18" charset="0"/>
                <a:cs typeface="Times New Roman" pitchFamily="18" charset="0"/>
              </a:rPr>
              <a:t>)</a:t>
            </a:r>
            <a:endParaRPr lang="vi-VN" sz="1200" dirty="0">
              <a:solidFill>
                <a:srgbClr val="0000FF"/>
              </a:solidFill>
              <a:latin typeface="Times New Roman" pitchFamily="18" charset="0"/>
              <a:cs typeface="Times New Roman" pitchFamily="18" charset="0"/>
            </a:endParaRPr>
          </a:p>
          <a:p>
            <a:r>
              <a:rPr lang="en-US" sz="1200" dirty="0" err="1">
                <a:solidFill>
                  <a:srgbClr val="0000FF"/>
                </a:solidFill>
                <a:latin typeface="Times New Roman" pitchFamily="18" charset="0"/>
                <a:cs typeface="Times New Roman" pitchFamily="18" charset="0"/>
              </a:rPr>
              <a:t>Yếu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cố</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yếu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thay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đổi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gian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hay </a:t>
            </a:r>
            <a:r>
              <a:rPr lang="en-US" sz="1200" dirty="0" err="1">
                <a:solidFill>
                  <a:srgbClr val="0000FF"/>
                </a:solidFill>
                <a:latin typeface="Times New Roman" pitchFamily="18" charset="0"/>
                <a:cs typeface="Times New Roman" pitchFamily="18" charset="0"/>
              </a:rPr>
              <a:t>nếu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thay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đổi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khó</a:t>
            </a:r>
            <a:r>
              <a:rPr lang="en-US" sz="1200" dirty="0">
                <a:solidFill>
                  <a:srgbClr val="0000FF"/>
                </a:solidFill>
                <a:latin typeface="Times New Roman" pitchFamily="18" charset="0"/>
                <a:cs typeface="Times New Roman" pitchFamily="18" charset="0"/>
              </a:rPr>
              <a:t>.</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60</a:t>
            </a:fld>
            <a:endParaRPr lang="en-GB"/>
          </a:p>
        </p:txBody>
      </p:sp>
    </p:spTree>
    <p:extLst>
      <p:ext uri="{BB962C8B-B14F-4D97-AF65-F5344CB8AC3E}">
        <p14:creationId xmlns:p14="http://schemas.microsoft.com/office/powerpoint/2010/main" val="83584152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Số</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ngành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đủ</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lớn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mỗi</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kể</a:t>
            </a:r>
            <a:r>
              <a:rPr lang="en-US" sz="1200" dirty="0">
                <a:solidFill>
                  <a:srgbClr val="0000FF"/>
                </a:solidFill>
                <a:latin typeface="Times New Roman" pitchFamily="18" charset="0"/>
                <a:cs typeface="Times New Roman" pitchFamily="18" charset="0"/>
              </a:rPr>
              <a:t> so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ngành</a:t>
            </a:r>
            <a:r>
              <a:rPr lang="en-US" sz="1200" dirty="0">
                <a:solidFill>
                  <a:srgbClr val="0000FF"/>
                </a:solidFill>
                <a:latin typeface="Times New Roman" pitchFamily="18" charset="0"/>
                <a:cs typeface="Times New Roman" pitchFamily="18" charset="0"/>
              </a:rPr>
              <a:t>.</a:t>
            </a:r>
            <a:endParaRPr lang="vi-VN"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tiêu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dùng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cảm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thấy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thỏa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nhau</a:t>
            </a:r>
            <a:r>
              <a:rPr lang="en-US" sz="1200" dirty="0">
                <a:solidFill>
                  <a:srgbClr val="0000FF"/>
                </a:solidFill>
                <a:latin typeface="Times New Roman" pitchFamily="18" charset="0"/>
                <a:cs typeface="Times New Roman" pitchFamily="18" charset="0"/>
              </a:rPr>
              <a:t>.</a:t>
            </a:r>
            <a:endParaRPr lang="vi-VN"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Nếu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một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định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mình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cao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chung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bán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được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nào</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người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mua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phẩm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giống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như</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vậy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doanh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khác</a:t>
            </a:r>
            <a:r>
              <a:rPr lang="en-US" sz="1200" dirty="0">
                <a:solidFill>
                  <a:srgbClr val="0000FF"/>
                </a:solidFill>
                <a:latin typeface="Times New Roman" pitchFamily="18" charset="0"/>
                <a:cs typeface="Times New Roman" pitchFamily="18" charset="0"/>
              </a:rPr>
              <a:t>.</a:t>
            </a:r>
            <a:endParaRPr lang="vi-VN" sz="1200" dirty="0">
              <a:solidFill>
                <a:srgbClr val="0000FF"/>
              </a:solidFill>
              <a:latin typeface="Times New Roman" pitchFamily="18" charset="0"/>
              <a:cs typeface="Times New Roman"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không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liên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chế</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cung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ứng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nhằm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nâng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vì</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nhiều</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trong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ngành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việc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tổ</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thành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hiệp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hội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kém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quản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tốn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nhiều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thời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gian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thương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khác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hơn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tổ</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chức</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xuất</a:t>
            </a:r>
            <a:r>
              <a:rPr lang="en-US" sz="1200" dirty="0">
                <a:solidFill>
                  <a:srgbClr val="0000FF"/>
                </a:solidFill>
                <a:latin typeface="Times New Roman" pitchFamily="18" charset="0"/>
                <a:cs typeface="Times New Roman" pitchFamily="18" charset="0"/>
              </a:rPr>
              <a:t>; (ii) </a:t>
            </a:r>
            <a:r>
              <a:rPr lang="en-US" sz="1200" dirty="0" err="1">
                <a:solidFill>
                  <a:srgbClr val="0000FF"/>
                </a:solidFill>
                <a:latin typeface="Times New Roman" pitchFamily="18" charset="0"/>
                <a:cs typeface="Times New Roman" pitchFamily="18" charset="0"/>
              </a:rPr>
              <a:t>nếu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cầu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thị</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trường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rất</a:t>
            </a:r>
            <a:r>
              <a:rPr lang="en-US" sz="1200" dirty="0">
                <a:solidFill>
                  <a:srgbClr val="0000FF"/>
                </a:solidFill>
                <a:latin typeface="Times New Roman" pitchFamily="18" charset="0"/>
                <a:cs typeface="Times New Roman" pitchFamily="18" charset="0"/>
              </a:rPr>
              <a:t> co </a:t>
            </a:r>
            <a:r>
              <a:rPr lang="en-US" sz="1200" dirty="0" err="1">
                <a:solidFill>
                  <a:srgbClr val="0000FF"/>
                </a:solidFill>
                <a:latin typeface="Times New Roman" pitchFamily="18" charset="0"/>
                <a:cs typeface="Times New Roman" pitchFamily="18" charset="0"/>
              </a:rPr>
              <a:t>giãn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khả</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của</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là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rất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ít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Thậm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chí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nếu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có</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cấu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kết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nhau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để</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điều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này</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thu</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hút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các</a:t>
            </a:r>
            <a:r>
              <a:rPr lang="en-US" sz="1200" dirty="0">
                <a:solidFill>
                  <a:srgbClr val="0000FF"/>
                </a:solidFill>
                <a:latin typeface="Times New Roman" pitchFamily="18" charset="0"/>
                <a:cs typeface="Times New Roman" pitchFamily="18" charset="0"/>
              </a:rPr>
              <a:t> DN </a:t>
            </a:r>
            <a:r>
              <a:rPr lang="en-US" sz="1200" dirty="0" err="1">
                <a:solidFill>
                  <a:srgbClr val="0000FF"/>
                </a:solidFill>
                <a:latin typeface="Times New Roman" pitchFamily="18" charset="0"/>
                <a:cs typeface="Times New Roman" pitchFamily="18" charset="0"/>
              </a:rPr>
              <a:t>mới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nhập</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ngành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và</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làm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sản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lượng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tăng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dẫn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tới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giá</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sẽ</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lại</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giảm</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xuống</a:t>
            </a:r>
            <a:r>
              <a:rPr lang="en-US" sz="1200" dirty="0">
                <a:solidFill>
                  <a:srgbClr val="0000FF"/>
                </a:solidFill>
                <a:latin typeface="Times New Roman" pitchFamily="18" charset="0"/>
                <a:cs typeface="Times New Roman" pitchFamily="18" charset="0"/>
              </a:rPr>
              <a:t>.</a:t>
            </a:r>
          </a:p>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63</a:t>
            </a:fld>
            <a:endParaRPr lang="en-GB"/>
          </a:p>
        </p:txBody>
      </p:sp>
    </p:spTree>
    <p:extLst>
      <p:ext uri="{BB962C8B-B14F-4D97-AF65-F5344CB8AC3E}">
        <p14:creationId xmlns:p14="http://schemas.microsoft.com/office/powerpoint/2010/main" val="18478947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err="1">
                <a:solidFill>
                  <a:srgbClr val="0000FF"/>
                </a:solidFill>
                <a:latin typeface="Times New Roman" pitchFamily="18" charset="0"/>
                <a:cs typeface="Times New Roman" pitchFamily="18" charset="0"/>
              </a:rPr>
              <a:t>Ví</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dụ</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ngành</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đường</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sắt</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điện</a:t>
            </a:r>
            <a:r>
              <a:rPr lang="en-US" sz="1200" dirty="0">
                <a:solidFill>
                  <a:srgbClr val="0000FF"/>
                </a:solidFill>
                <a:latin typeface="Times New Roman" pitchFamily="18" charset="0"/>
                <a:cs typeface="Times New Roman" pitchFamily="18" charset="0"/>
              </a:rPr>
              <a:t>, </a:t>
            </a:r>
            <a:r>
              <a:rPr lang="en-US" sz="1200" dirty="0" err="1">
                <a:solidFill>
                  <a:srgbClr val="0000FF"/>
                </a:solidFill>
                <a:latin typeface="Times New Roman" pitchFamily="18" charset="0"/>
                <a:cs typeface="Times New Roman" pitchFamily="18" charset="0"/>
              </a:rPr>
              <a:t>nước</a:t>
            </a:r>
            <a:r>
              <a:rPr lang="en-US" sz="1200" dirty="0">
                <a:solidFill>
                  <a:srgbClr val="0000FF"/>
                </a:solidFill>
                <a:latin typeface="Times New Roman" pitchFamily="18" charset="0"/>
                <a:cs typeface="Times New Roman" pitchFamily="18" charset="0"/>
              </a:rPr>
              <a:t>…</a:t>
            </a:r>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65</a:t>
            </a:fld>
            <a:endParaRPr lang="en-GB"/>
          </a:p>
        </p:txBody>
      </p:sp>
    </p:spTree>
    <p:extLst>
      <p:ext uri="{BB962C8B-B14F-4D97-AF65-F5344CB8AC3E}">
        <p14:creationId xmlns:p14="http://schemas.microsoft.com/office/powerpoint/2010/main" val="31845090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124</a:t>
            </a:fld>
            <a:endParaRPr lang="en-GB"/>
          </a:p>
        </p:txBody>
      </p:sp>
    </p:spTree>
    <p:extLst>
      <p:ext uri="{BB962C8B-B14F-4D97-AF65-F5344CB8AC3E}">
        <p14:creationId xmlns:p14="http://schemas.microsoft.com/office/powerpoint/2010/main" val="42202518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125</a:t>
            </a:fld>
            <a:endParaRPr lang="en-GB"/>
          </a:p>
        </p:txBody>
      </p:sp>
    </p:spTree>
    <p:extLst>
      <p:ext uri="{BB962C8B-B14F-4D97-AF65-F5344CB8AC3E}">
        <p14:creationId xmlns:p14="http://schemas.microsoft.com/office/powerpoint/2010/main" val="6495605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126</a:t>
            </a:fld>
            <a:endParaRPr lang="en-GB"/>
          </a:p>
        </p:txBody>
      </p:sp>
    </p:spTree>
    <p:extLst>
      <p:ext uri="{BB962C8B-B14F-4D97-AF65-F5344CB8AC3E}">
        <p14:creationId xmlns:p14="http://schemas.microsoft.com/office/powerpoint/2010/main" val="6094665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127</a:t>
            </a:fld>
            <a:endParaRPr lang="en-GB"/>
          </a:p>
        </p:txBody>
      </p:sp>
    </p:spTree>
    <p:extLst>
      <p:ext uri="{BB962C8B-B14F-4D97-AF65-F5344CB8AC3E}">
        <p14:creationId xmlns:p14="http://schemas.microsoft.com/office/powerpoint/2010/main" val="199817990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128</a:t>
            </a:fld>
            <a:endParaRPr lang="en-GB"/>
          </a:p>
        </p:txBody>
      </p:sp>
    </p:spTree>
    <p:extLst>
      <p:ext uri="{BB962C8B-B14F-4D97-AF65-F5344CB8AC3E}">
        <p14:creationId xmlns:p14="http://schemas.microsoft.com/office/powerpoint/2010/main" val="335258535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129</a:t>
            </a:fld>
            <a:endParaRPr lang="en-GB"/>
          </a:p>
        </p:txBody>
      </p:sp>
    </p:spTree>
    <p:extLst>
      <p:ext uri="{BB962C8B-B14F-4D97-AF65-F5344CB8AC3E}">
        <p14:creationId xmlns:p14="http://schemas.microsoft.com/office/powerpoint/2010/main" val="357572219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130</a:t>
            </a:fld>
            <a:endParaRPr lang="en-GB"/>
          </a:p>
        </p:txBody>
      </p:sp>
    </p:spTree>
    <p:extLst>
      <p:ext uri="{BB962C8B-B14F-4D97-AF65-F5344CB8AC3E}">
        <p14:creationId xmlns:p14="http://schemas.microsoft.com/office/powerpoint/2010/main" val="24697511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131</a:t>
            </a:fld>
            <a:endParaRPr lang="en-GB"/>
          </a:p>
        </p:txBody>
      </p:sp>
    </p:spTree>
    <p:extLst>
      <p:ext uri="{BB962C8B-B14F-4D97-AF65-F5344CB8AC3E}">
        <p14:creationId xmlns:p14="http://schemas.microsoft.com/office/powerpoint/2010/main" val="29043423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132</a:t>
            </a:fld>
            <a:endParaRPr lang="en-GB"/>
          </a:p>
        </p:txBody>
      </p:sp>
    </p:spTree>
    <p:extLst>
      <p:ext uri="{BB962C8B-B14F-4D97-AF65-F5344CB8AC3E}">
        <p14:creationId xmlns:p14="http://schemas.microsoft.com/office/powerpoint/2010/main" val="317985681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133</a:t>
            </a:fld>
            <a:endParaRPr lang="en-GB"/>
          </a:p>
        </p:txBody>
      </p:sp>
    </p:spTree>
    <p:extLst>
      <p:ext uri="{BB962C8B-B14F-4D97-AF65-F5344CB8AC3E}">
        <p14:creationId xmlns:p14="http://schemas.microsoft.com/office/powerpoint/2010/main" val="205315403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14999EE-074A-418B-998A-17D1BAA8EDFC}" type="slidenum">
              <a:rPr lang="en-GB" smtClean="0"/>
              <a:t>134</a:t>
            </a:fld>
            <a:endParaRPr lang="en-GB"/>
          </a:p>
        </p:txBody>
      </p:sp>
    </p:spTree>
    <p:extLst>
      <p:ext uri="{BB962C8B-B14F-4D97-AF65-F5344CB8AC3E}">
        <p14:creationId xmlns:p14="http://schemas.microsoft.com/office/powerpoint/2010/main" val="23437218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5BB929E-395A-4C76-8229-E5DCB246BC1E}"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BB929E-395A-4C76-8229-E5DCB246BC1E}"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BB929E-395A-4C76-8229-E5DCB246BC1E}"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5BB929E-395A-4C76-8229-E5DCB246BC1E}"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5BB929E-395A-4C76-8229-E5DCB246BC1E}" type="datetimeFigureOut">
              <a:rPr lang="en-US" smtClean="0"/>
              <a:pPr/>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5BB929E-395A-4C76-8229-E5DCB246BC1E}" type="datetimeFigureOut">
              <a:rPr lang="en-US" smtClean="0"/>
              <a:pPr/>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5BB929E-395A-4C76-8229-E5DCB246BC1E}" type="datetimeFigureOut">
              <a:rPr lang="en-US" smtClean="0"/>
              <a:pPr/>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B929E-395A-4C76-8229-E5DCB246BC1E}"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5BB929E-395A-4C76-8229-E5DCB246BC1E}"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BB929E-395A-4C76-8229-E5DCB246BC1E}"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5BB929E-395A-4C76-8229-E5DCB246BC1E}"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948F9E5-2D6F-40F9-BA18-335B268CCB2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6_空白">
    <p:spTree>
      <p:nvGrpSpPr>
        <p:cNvPr id="1" name=""/>
        <p:cNvGrpSpPr/>
        <p:nvPr/>
      </p:nvGrpSpPr>
      <p:grpSpPr>
        <a:xfrm>
          <a:off x="0" y="0"/>
          <a:ext cx="0" cy="0"/>
          <a:chOff x="0" y="0"/>
          <a:chExt cx="0" cy="0"/>
        </a:xfrm>
      </p:grpSpPr>
      <p:sp>
        <p:nvSpPr>
          <p:cNvPr id="5" name="图片占位符 4">
            <a:extLst>
              <a:ext uri="{FF2B5EF4-FFF2-40B4-BE49-F238E27FC236}">
                <a16:creationId xmlns:a16="http://schemas.microsoft.com/office/drawing/2014/main" id="{B56A1173-05C8-47BE-8BC6-FDDED89A6622}"/>
              </a:ext>
            </a:extLst>
          </p:cNvPr>
          <p:cNvSpPr>
            <a:spLocks noGrp="1"/>
          </p:cNvSpPr>
          <p:nvPr>
            <p:ph type="pic" sz="quarter" idx="10"/>
          </p:nvPr>
        </p:nvSpPr>
        <p:spPr>
          <a:xfrm>
            <a:off x="902686" y="1711509"/>
            <a:ext cx="1559960" cy="2079946"/>
          </a:xfrm>
          <a:custGeom>
            <a:avLst/>
            <a:gdLst>
              <a:gd name="connsiteX0" fmla="*/ 1039973 w 2079946"/>
              <a:gd name="connsiteY0" fmla="*/ 0 h 2079946"/>
              <a:gd name="connsiteX1" fmla="*/ 2079946 w 2079946"/>
              <a:gd name="connsiteY1" fmla="*/ 1039973 h 2079946"/>
              <a:gd name="connsiteX2" fmla="*/ 1039973 w 2079946"/>
              <a:gd name="connsiteY2" fmla="*/ 2079946 h 2079946"/>
              <a:gd name="connsiteX3" fmla="*/ 0 w 2079946"/>
              <a:gd name="connsiteY3" fmla="*/ 1039973 h 2079946"/>
              <a:gd name="connsiteX4" fmla="*/ 1039973 w 2079946"/>
              <a:gd name="connsiteY4" fmla="*/ 0 h 20799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79946" h="2079946">
                <a:moveTo>
                  <a:pt x="1039973" y="0"/>
                </a:moveTo>
                <a:cubicBezTo>
                  <a:pt x="1614334" y="0"/>
                  <a:pt x="2079946" y="465612"/>
                  <a:pt x="2079946" y="1039973"/>
                </a:cubicBezTo>
                <a:cubicBezTo>
                  <a:pt x="2079946" y="1614334"/>
                  <a:pt x="1614334" y="2079946"/>
                  <a:pt x="1039973" y="2079946"/>
                </a:cubicBezTo>
                <a:cubicBezTo>
                  <a:pt x="465612" y="2079946"/>
                  <a:pt x="0" y="1614334"/>
                  <a:pt x="0" y="1039973"/>
                </a:cubicBezTo>
                <a:cubicBezTo>
                  <a:pt x="0" y="465612"/>
                  <a:pt x="465612" y="0"/>
                  <a:pt x="1039973" y="0"/>
                </a:cubicBezTo>
                <a:close/>
              </a:path>
            </a:pathLst>
          </a:custGeom>
        </p:spPr>
        <p:txBody>
          <a:bodyPr wrap="square">
            <a:noAutofit/>
          </a:bodyPr>
          <a:lstStyle/>
          <a:p>
            <a:endParaRPr lang="zh-CN" altLang="en-US"/>
          </a:p>
        </p:txBody>
      </p:sp>
      <p:sp>
        <p:nvSpPr>
          <p:cNvPr id="3" name="文本框 2">
            <a:extLst>
              <a:ext uri="{FF2B5EF4-FFF2-40B4-BE49-F238E27FC236}">
                <a16:creationId xmlns:a16="http://schemas.microsoft.com/office/drawing/2014/main" id="{5AAD451F-B464-4AD8-9FED-4778595551B2}"/>
              </a:ext>
            </a:extLst>
          </p:cNvPr>
          <p:cNvSpPr txBox="1"/>
          <p:nvPr userDrawn="1"/>
        </p:nvSpPr>
        <p:spPr>
          <a:xfrm>
            <a:off x="11480491" y="19812000"/>
            <a:ext cx="2292659" cy="335280"/>
          </a:xfrm>
          <a:prstGeom prst="rect">
            <a:avLst/>
          </a:prstGeom>
          <a:noFill/>
        </p:spPr>
        <p:txBody>
          <a:bodyPr wrap="square" rtlCol="0">
            <a:normAutofit/>
          </a:bodyPr>
          <a:lstStyle/>
          <a:p>
            <a:pPr fontAlgn="base"/>
            <a:r>
              <a:rPr lang="vi-VN" altLang="vi-VN" sz="600" b="0" i="0" u="none" strike="noStrike" kern="1200">
                <a:solidFill>
                  <a:srgbClr val="E6E6E6"/>
                </a:solidFill>
                <a:effectLst/>
                <a:latin typeface="Noto Sans"/>
                <a:ea typeface="Noto Sans"/>
                <a:cs typeface="+mn-cs"/>
              </a:rPr>
              <a:t>slidedocsBlue –Chuồn chuồn-</a:t>
            </a:r>
          </a:p>
          <a:p>
            <a:r>
              <a:rPr lang="vi-VN" altLang="vi-VN" sz="600">
                <a:solidFill>
                  <a:srgbClr val="E6E6E6"/>
                </a:solidFill>
                <a:latin typeface="Noto Sans"/>
                <a:ea typeface="Noto Sans"/>
              </a:rPr>
              <a:t>-THIẾT KẾ</a:t>
            </a:r>
            <a:endParaRPr lang="zh-CN" altLang="en-US" sz="600">
              <a:solidFill>
                <a:srgbClr val="E6E6E6"/>
              </a:solidFill>
            </a:endParaRPr>
          </a:p>
        </p:txBody>
      </p:sp>
    </p:spTree>
    <p:extLst>
      <p:ext uri="{BB962C8B-B14F-4D97-AF65-F5344CB8AC3E}">
        <p14:creationId xmlns:p14="http://schemas.microsoft.com/office/powerpoint/2010/main" val="363638249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BB929E-395A-4C76-8229-E5DCB246BC1E}" type="datetimeFigureOut">
              <a:rPr lang="en-US" smtClean="0"/>
              <a:pPr/>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48F9E5-2D6F-40F9-BA18-335B268CCB2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pirhUuaJwds&amp;t=107s"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6" name="Rectangle 3"/>
          <p:cNvSpPr>
            <a:spLocks noGrp="1" noChangeArrowheads="1"/>
          </p:cNvSpPr>
          <p:nvPr>
            <p:ph type="subTitle" idx="1"/>
          </p:nvPr>
        </p:nvSpPr>
        <p:spPr>
          <a:xfrm>
            <a:off x="152400" y="2133600"/>
            <a:ext cx="8839200" cy="4343400"/>
          </a:xfrm>
        </p:spPr>
        <p:txBody>
          <a:bodyPr>
            <a:normAutofit fontScale="92500" lnSpcReduction="10000"/>
          </a:bodyPr>
          <a:lstStyle/>
          <a:p>
            <a:pPr eaLnBrk="1" hangingPunct="1"/>
            <a:r>
              <a:rPr lang="en-US" sz="7200" dirty="0">
                <a:solidFill>
                  <a:srgbClr val="0000FF"/>
                </a:solidFill>
                <a:latin typeface="Times New Roman" pitchFamily="18" charset="0"/>
              </a:rPr>
              <a:t>KINH TẾ VI MÔ</a:t>
            </a:r>
          </a:p>
          <a:p>
            <a:pPr eaLnBrk="1" hangingPunct="1"/>
            <a:r>
              <a:rPr lang="en-US" sz="7200" dirty="0">
                <a:solidFill>
                  <a:srgbClr val="0000FF"/>
                </a:solidFill>
                <a:latin typeface="Times New Roman" pitchFamily="18" charset="0"/>
              </a:rPr>
              <a:t>(Microeconomics)</a:t>
            </a:r>
          </a:p>
          <a:p>
            <a:pPr eaLnBrk="1" hangingPunct="1"/>
            <a:endParaRPr lang="en-US" sz="3600" dirty="0">
              <a:solidFill>
                <a:srgbClr val="0000FF"/>
              </a:solidFill>
              <a:latin typeface="Times New Roman" pitchFamily="18" charset="0"/>
            </a:endParaRPr>
          </a:p>
          <a:p>
            <a:pPr algn="r" eaLnBrk="1" hangingPunct="1"/>
            <a:endParaRPr lang="en-US" sz="3600" dirty="0">
              <a:solidFill>
                <a:srgbClr val="0000FF"/>
              </a:solidFill>
              <a:latin typeface="Times New Roman" pitchFamily="18" charset="0"/>
            </a:endParaRPr>
          </a:p>
          <a:p>
            <a:pPr eaLnBrk="1" hangingPunct="1"/>
            <a:r>
              <a:rPr lang="en-US" sz="3600" dirty="0">
                <a:solidFill>
                  <a:srgbClr val="0000FF"/>
                </a:solidFill>
                <a:latin typeface="Times New Roman" pitchFamily="18" charset="0"/>
              </a:rPr>
              <a:t>TS. Trần Thị Thanh Diệu</a:t>
            </a:r>
          </a:p>
          <a:p>
            <a:pPr eaLnBrk="1" hangingPunct="1"/>
            <a:r>
              <a:rPr lang="en-US" sz="3200" dirty="0">
                <a:solidFill>
                  <a:srgbClr val="0000FF"/>
                </a:solidFill>
                <a:latin typeface="Times New Roman" pitchFamily="18" charset="0"/>
              </a:rPr>
              <a:t>tranthithanhdieu@</a:t>
            </a:r>
            <a:r>
              <a:rPr lang="en-US" dirty="0">
                <a:solidFill>
                  <a:srgbClr val="0000FF"/>
                </a:solidFill>
                <a:latin typeface="Times New Roman" pitchFamily="18" charset="0"/>
              </a:rPr>
              <a:t>qnu</a:t>
            </a:r>
            <a:r>
              <a:rPr lang="en-US" sz="3200" dirty="0">
                <a:solidFill>
                  <a:srgbClr val="0000FF"/>
                </a:solidFill>
                <a:latin typeface="Times New Roman" pitchFamily="18" charset="0"/>
              </a:rPr>
              <a:t>.edu.vn</a:t>
            </a:r>
          </a:p>
          <a:p>
            <a:pPr eaLnBrk="1" hangingPunct="1"/>
            <a:endParaRPr lang="en-US" sz="3200" dirty="0">
              <a:solidFill>
                <a:srgbClr val="990000"/>
              </a:solidFill>
              <a:latin typeface="Times New Roman" pitchFamily="18" charset="0"/>
            </a:endParaRPr>
          </a:p>
          <a:p>
            <a:pPr eaLnBrk="1" hangingPunct="1"/>
            <a:endParaRPr lang="en-US" sz="2400" dirty="0">
              <a:solidFill>
                <a:schemeClr val="tx1"/>
              </a:solidFill>
              <a:latin typeface="Times New Roman" pitchFamily="18" charset="0"/>
            </a:endParaRPr>
          </a:p>
          <a:p>
            <a:pPr eaLnBrk="1" hangingPunct="1"/>
            <a:endParaRPr lang="en-US" sz="2400" dirty="0">
              <a:solidFill>
                <a:schemeClr val="tx1"/>
              </a:solidFill>
              <a:latin typeface="Times New Roman" pitchFamily="18" charset="0"/>
            </a:endParaRPr>
          </a:p>
        </p:txBody>
      </p:sp>
      <p:sp>
        <p:nvSpPr>
          <p:cNvPr id="2050" name="Rectangle 2"/>
          <p:cNvSpPr>
            <a:spLocks noGrp="1" noChangeArrowheads="1"/>
          </p:cNvSpPr>
          <p:nvPr>
            <p:ph type="ctrTitle"/>
          </p:nvPr>
        </p:nvSpPr>
        <p:spPr>
          <a:xfrm>
            <a:off x="0" y="381000"/>
            <a:ext cx="9144000" cy="914400"/>
          </a:xfrm>
        </p:spPr>
        <p:txBody>
          <a:bodyPr>
            <a:normAutofit fontScale="90000"/>
          </a:bodyPr>
          <a:lstStyle/>
          <a:p>
            <a:pPr eaLnBrk="1" fontAlgn="auto" hangingPunct="1">
              <a:spcAft>
                <a:spcPts val="0"/>
              </a:spcAft>
              <a:defRPr/>
            </a:pPr>
            <a:r>
              <a:rPr sz="2400" dirty="0">
                <a:solidFill>
                  <a:srgbClr val="0000FF"/>
                </a:solidFill>
                <a:effectLst>
                  <a:outerShdw blurRad="38100" dist="38100" dir="2700000" algn="tl">
                    <a:srgbClr val="C0C0C0"/>
                  </a:outerShdw>
                </a:effectLst>
                <a:latin typeface="Times New Roman" pitchFamily="18" charset="0"/>
              </a:rPr>
              <a:t>TRƯỜNG ĐẠI HỌC QUY NHƠN</a:t>
            </a:r>
            <a:br>
              <a:rPr sz="2400" dirty="0">
                <a:solidFill>
                  <a:srgbClr val="0000FF"/>
                </a:solidFill>
                <a:effectLst>
                  <a:outerShdw blurRad="38100" dist="38100" dir="2700000" algn="tl">
                    <a:srgbClr val="C0C0C0"/>
                  </a:outerShdw>
                </a:effectLst>
                <a:latin typeface="Times New Roman" pitchFamily="18" charset="0"/>
              </a:rPr>
            </a:br>
            <a:r>
              <a:rPr sz="2400" dirty="0">
                <a:solidFill>
                  <a:srgbClr val="0000FF"/>
                </a:solidFill>
                <a:effectLst>
                  <a:outerShdw blurRad="38100" dist="38100" dir="2700000" algn="tl">
                    <a:srgbClr val="C0C0C0"/>
                  </a:outerShdw>
                </a:effectLst>
                <a:latin typeface="Times New Roman" pitchFamily="18" charset="0"/>
              </a:rPr>
              <a:t>KHOA TÀI CHÍNH-NGÂN HÀNG &amp; QUẢN TRỊ KINH DOANH</a:t>
            </a:r>
            <a:br>
              <a:rPr sz="2400" dirty="0">
                <a:solidFill>
                  <a:srgbClr val="0000FF"/>
                </a:solidFill>
                <a:effectLst>
                  <a:outerShdw blurRad="38100" dist="38100" dir="2700000" algn="tl">
                    <a:srgbClr val="C0C0C0"/>
                  </a:outerShdw>
                </a:effectLst>
                <a:latin typeface="Times New Roman" pitchFamily="18" charset="0"/>
              </a:rPr>
            </a:br>
            <a:endParaRPr sz="2400" dirty="0">
              <a:solidFill>
                <a:srgbClr val="0000FF"/>
              </a:solidFill>
              <a:effectLst>
                <a:outerShdw blurRad="38100" dist="38100" dir="2700000" algn="tl">
                  <a:srgbClr val="C0C0C0"/>
                </a:outerShdw>
              </a:effectLst>
              <a:latin typeface="Times New Roman" pitchFamily="18" charset="0"/>
            </a:endParaRPr>
          </a:p>
        </p:txBody>
      </p:sp>
    </p:spTree>
  </p:cSld>
  <p:clrMapOvr>
    <a:masterClrMapping/>
  </p:clrMapOvr>
  <p:transition spd="slow">
    <p:newsfla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p:cNvSpPr txBox="1"/>
          <p:nvPr/>
        </p:nvSpPr>
        <p:spPr>
          <a:xfrm>
            <a:off x="433451" y="1638418"/>
            <a:ext cx="8122719" cy="1623587"/>
          </a:xfrm>
          <a:prstGeom prst="rect">
            <a:avLst/>
          </a:prstGeom>
          <a:noFill/>
        </p:spPr>
        <p:txBody>
          <a:bodyPr wrap="square" rtlCol="0">
            <a:noAutofit/>
          </a:bodyPr>
          <a:lstStyle/>
          <a:p>
            <a:pPr lvl="0" algn="just">
              <a:lnSpc>
                <a:spcPct val="110000"/>
              </a:lnSpc>
            </a:pPr>
            <a:r>
              <a:rPr lang="vi-VN" altLang="vi-VN" sz="2200" b="1"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Đơn vị công tác: Khoa TC-NH &amp; QTKD</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Đại học: Tài chính – Ngân hàng, trường Đại học Quy Nhơn (2011)</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Thạc </a:t>
            </a:r>
            <a:r>
              <a:rPr lang="vi-VN" altLang="vi-VN" sz="2200" dirty="0" err="1">
                <a:solidFill>
                  <a:srgbClr val="E7E6E6">
                    <a:lumMod val="10000"/>
                  </a:srgbClr>
                </a:solidFill>
                <a:latin typeface="Times New Roman" panose="02020603050405020304" pitchFamily="18" charset="0"/>
                <a:ea typeface="Noto Sans"/>
                <a:cs typeface="Times New Roman" panose="02020603050405020304" pitchFamily="18" charset="0"/>
                <a:sym typeface="+mn-lt"/>
              </a:rPr>
              <a:t>sỹ</a:t>
            </a: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 Quản lý Tài chính, trường Đại học </a:t>
            </a:r>
            <a:r>
              <a:rPr lang="vi-VN" altLang="vi-VN" sz="2200" dirty="0" err="1">
                <a:solidFill>
                  <a:srgbClr val="E7E6E6">
                    <a:lumMod val="10000"/>
                  </a:srgbClr>
                </a:solidFill>
                <a:latin typeface="Times New Roman" panose="02020603050405020304" pitchFamily="18" charset="0"/>
                <a:ea typeface="Noto Sans"/>
                <a:cs typeface="Times New Roman" panose="02020603050405020304" pitchFamily="18" charset="0"/>
                <a:sym typeface="+mn-lt"/>
              </a:rPr>
              <a:t>Bordeaux</a:t>
            </a: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 Pháp (2014)</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Tiến sĩ: Tài chính – Ngân hàng, trường</a:t>
            </a:r>
            <a:r>
              <a:rPr lang="en-US"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 </a:t>
            </a: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Đ</a:t>
            </a:r>
            <a:r>
              <a:rPr lang="en-US"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H </a:t>
            </a: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Kinh tế quốc dân (2021</a:t>
            </a:r>
            <a:r>
              <a:rPr lang="en-US"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a:t>
            </a:r>
            <a:endPar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endParaRPr>
          </a:p>
        </p:txBody>
      </p:sp>
      <p:sp>
        <p:nvSpPr>
          <p:cNvPr id="2" name="TextBox 1">
            <a:extLst>
              <a:ext uri="{FF2B5EF4-FFF2-40B4-BE49-F238E27FC236}">
                <a16:creationId xmlns:a16="http://schemas.microsoft.com/office/drawing/2014/main" id="{80309F91-C143-F94C-842C-E678C001A151}"/>
              </a:ext>
            </a:extLst>
          </p:cNvPr>
          <p:cNvSpPr txBox="1"/>
          <p:nvPr/>
        </p:nvSpPr>
        <p:spPr>
          <a:xfrm>
            <a:off x="3276600" y="606609"/>
            <a:ext cx="3502244" cy="561919"/>
          </a:xfrm>
          <a:prstGeom prst="rect">
            <a:avLst/>
          </a:prstGeom>
          <a:solidFill>
            <a:schemeClr val="bg1"/>
          </a:solidFill>
        </p:spPr>
        <p:txBody>
          <a:bodyPr wrap="square" rtlCol="0">
            <a:noAutofit/>
          </a:bodyPr>
          <a:lstStyle/>
          <a:p>
            <a:pPr lvl="0" algn="ctr">
              <a:lnSpc>
                <a:spcPct val="120000"/>
              </a:lnSpc>
            </a:pPr>
            <a:r>
              <a:rPr lang="vi-VN" altLang="vi-VN" sz="3300" b="1"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GIỚI THIỆU</a:t>
            </a:r>
            <a:endParaRPr lang="en-US" altLang="zh-CN" sz="3300" b="1" dirty="0">
              <a:solidFill>
                <a:srgbClr val="E7E6E6">
                  <a:lumMod val="10000"/>
                </a:srgbClr>
              </a:solidFill>
              <a:latin typeface="Times New Roman" panose="02020603050405020304" pitchFamily="18" charset="0"/>
              <a:cs typeface="Times New Roman" panose="02020603050405020304" pitchFamily="18" charset="0"/>
              <a:sym typeface="+mn-lt"/>
            </a:endParaRPr>
          </a:p>
        </p:txBody>
      </p:sp>
      <p:pic>
        <p:nvPicPr>
          <p:cNvPr id="4" name="Picture 3">
            <a:extLst>
              <a:ext uri="{FF2B5EF4-FFF2-40B4-BE49-F238E27FC236}">
                <a16:creationId xmlns:a16="http://schemas.microsoft.com/office/drawing/2014/main" id="{C94DA61E-715E-9EA9-ACF8-9CBD8B72A96E}"/>
              </a:ext>
            </a:extLst>
          </p:cNvPr>
          <p:cNvPicPr>
            <a:picLocks noChangeAspect="1"/>
          </p:cNvPicPr>
          <p:nvPr/>
        </p:nvPicPr>
        <p:blipFill rotWithShape="1">
          <a:blip r:embed="rId3">
            <a:extLst>
              <a:ext uri="{28A0092B-C50C-407E-A947-70E740481C1C}">
                <a14:useLocalDpi xmlns:a14="http://schemas.microsoft.com/office/drawing/2010/main" val="0"/>
              </a:ext>
            </a:extLst>
          </a:blip>
          <a:srcRect l="30323" t="37696" r="49921" b="29965"/>
          <a:stretch/>
        </p:blipFill>
        <p:spPr>
          <a:xfrm>
            <a:off x="6540190" y="4020520"/>
            <a:ext cx="2590800" cy="2826329"/>
          </a:xfrm>
          <a:prstGeom prst="rect">
            <a:avLst/>
          </a:prstGeom>
        </p:spPr>
      </p:pic>
      <p:sp>
        <p:nvSpPr>
          <p:cNvPr id="5" name="TextBox 4">
            <a:extLst>
              <a:ext uri="{FF2B5EF4-FFF2-40B4-BE49-F238E27FC236}">
                <a16:creationId xmlns:a16="http://schemas.microsoft.com/office/drawing/2014/main" id="{C917D2D4-2F94-847D-1BDA-069056F19C6E}"/>
              </a:ext>
            </a:extLst>
          </p:cNvPr>
          <p:cNvSpPr txBox="1"/>
          <p:nvPr/>
        </p:nvSpPr>
        <p:spPr>
          <a:xfrm>
            <a:off x="433451" y="3277592"/>
            <a:ext cx="8122719" cy="2818408"/>
          </a:xfrm>
          <a:prstGeom prst="rect">
            <a:avLst/>
          </a:prstGeom>
          <a:noFill/>
        </p:spPr>
        <p:txBody>
          <a:bodyPr wrap="square" rtlCol="0">
            <a:noAutofit/>
          </a:bodyPr>
          <a:lstStyle/>
          <a:p>
            <a:pPr lvl="0" algn="just">
              <a:lnSpc>
                <a:spcPct val="110000"/>
              </a:lnSpc>
            </a:pPr>
            <a:r>
              <a:rPr lang="vi-VN" altLang="vi-VN" sz="2200" b="1"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Phân môn phụ trách giảng dạy</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Kinh tế quản lý</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Quản trị rủi ro tài chính</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Thanh toán quốc tế</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Kinh tế vi mô</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Tài chính – Tiền tệ</a:t>
            </a:r>
          </a:p>
          <a:p>
            <a:pPr marL="257175" indent="-257175" algn="just">
              <a:lnSpc>
                <a:spcPct val="110000"/>
              </a:lnSpc>
              <a:buFontTx/>
              <a:buChar char="-"/>
            </a:pPr>
            <a:r>
              <a:rPr lang="vi-VN" altLang="vi-VN" sz="2200" dirty="0">
                <a:solidFill>
                  <a:srgbClr val="E7E6E6">
                    <a:lumMod val="10000"/>
                  </a:srgbClr>
                </a:solidFill>
                <a:latin typeface="Times New Roman" panose="02020603050405020304" pitchFamily="18" charset="0"/>
                <a:ea typeface="Noto Sans"/>
                <a:cs typeface="Times New Roman" panose="02020603050405020304" pitchFamily="18" charset="0"/>
                <a:sym typeface="+mn-lt"/>
              </a:rPr>
              <a:t>Quản lý tài chính cá nhân</a:t>
            </a:r>
          </a:p>
        </p:txBody>
      </p:sp>
    </p:spTree>
    <p:extLst>
      <p:ext uri="{BB962C8B-B14F-4D97-AF65-F5344CB8AC3E}">
        <p14:creationId xmlns:p14="http://schemas.microsoft.com/office/powerpoint/2010/main" val="3250954834"/>
      </p:ext>
    </p:extLst>
  </p:cSld>
  <p:clrMapOvr>
    <a:masterClrMapping/>
  </p:clrMapOvr>
  <mc:AlternateContent xmlns:mc="http://schemas.openxmlformats.org/markup-compatibility/2006" xmlns:p14="http://schemas.microsoft.com/office/powerpoint/2010/main">
    <mc:Choice Requires="p14">
      <p:transition spd="slow" p14:dur="1500" advClick="0" advTm="3000">
        <p:random/>
      </p:transition>
    </mc:Choice>
    <mc:Fallback xmlns="" xmlns:m="http://schemas.openxmlformats.org/officeDocument/2006/math" xmlns:w="http://schemas.openxmlformats.org/wordprocessingml/2006/main" xmlns:wp="http://schemas.openxmlformats.org/drawingml/2006/wordprocessingDrawing" xmlns:a14="http://schemas.microsoft.com/office/drawing/2010/main" xmlns:p15="http://schemas.microsoft.com/office/powerpoint/2012/main" xmlns:p159="http://schemas.microsoft.com/office/powerpoint/2015/09/main">
      <p:transition spd="slow" advClick="0" advTm="3000">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577948" cy="6155871"/>
          </a:xfrm>
        </p:spPr>
        <p:txBody>
          <a:bodyPr>
            <a:normAutofit/>
          </a:bodyPr>
          <a:lstStyle/>
          <a:p>
            <a:pPr eaLnBrk="1" hangingPunct="1"/>
            <a:r>
              <a:rPr lang="en-US" sz="3600" b="1" dirty="0">
                <a:solidFill>
                  <a:srgbClr val="0000FF"/>
                </a:solidFill>
                <a:latin typeface="Times New Roman" pitchFamily="18" charset="0"/>
              </a:rPr>
              <a:t>NỘI DUNG MÔN HỌC</a:t>
            </a: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1. </a:t>
            </a:r>
            <a:r>
              <a:rPr lang="en-US" sz="2800" dirty="0" err="1">
                <a:solidFill>
                  <a:srgbClr val="0000FF"/>
                </a:solidFill>
                <a:latin typeface="Times New Roman" pitchFamily="18" charset="0"/>
                <a:cs typeface="Times New Roman" pitchFamily="18" charset="0"/>
              </a:rPr>
              <a:t>Kinh</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tế</a:t>
            </a:r>
            <a:r>
              <a:rPr lang="en-US" sz="2800" dirty="0">
                <a:solidFill>
                  <a:srgbClr val="0000FF"/>
                </a:solidFill>
                <a:latin typeface="Times New Roman" pitchFamily="18" charset="0"/>
                <a:cs typeface="Times New Roman" pitchFamily="18" charset="0"/>
              </a:rPr>
              <a:t> vi </a:t>
            </a:r>
            <a:r>
              <a:rPr lang="en-US" sz="2800" dirty="0" err="1">
                <a:solidFill>
                  <a:srgbClr val="0000FF"/>
                </a:solidFill>
                <a:latin typeface="Times New Roman" pitchFamily="18" charset="0"/>
                <a:cs typeface="Times New Roman" pitchFamily="18" charset="0"/>
              </a:rPr>
              <a:t>mô</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và</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những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vấn</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đề</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kinh</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tế</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cơ</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bản</a:t>
            </a:r>
            <a:endParaRPr lang="en-US" sz="2800" dirty="0">
              <a:solidFill>
                <a:srgbClr val="0000FF"/>
              </a:solidFill>
              <a:latin typeface="Times New Roman" pitchFamily="18" charset="0"/>
              <a:cs typeface="Times New Roman" pitchFamily="18" charset="0"/>
            </a:endParaRP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2. </a:t>
            </a:r>
            <a:r>
              <a:rPr lang="en-US" sz="2800" dirty="0" err="1">
                <a:solidFill>
                  <a:srgbClr val="0000FF"/>
                </a:solidFill>
                <a:latin typeface="Times New Roman" pitchFamily="18" charset="0"/>
                <a:cs typeface="Times New Roman" pitchFamily="18" charset="0"/>
              </a:rPr>
              <a:t>Cung</a:t>
            </a:r>
            <a:r>
              <a:rPr lang="en-US" sz="2800" dirty="0">
                <a:solidFill>
                  <a:srgbClr val="0000FF"/>
                </a:solidFill>
                <a:latin typeface="Times New Roman" pitchFamily="18" charset="0"/>
                <a:cs typeface="Times New Roman" pitchFamily="18" charset="0"/>
              </a:rPr>
              <a:t> – </a:t>
            </a:r>
            <a:r>
              <a:rPr lang="en-US" sz="2800" dirty="0" err="1">
                <a:solidFill>
                  <a:srgbClr val="0000FF"/>
                </a:solidFill>
                <a:latin typeface="Times New Roman" pitchFamily="18" charset="0"/>
                <a:cs typeface="Times New Roman" pitchFamily="18" charset="0"/>
              </a:rPr>
              <a:t>cầu</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và</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giá</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cả</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thị</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trường</a:t>
            </a:r>
            <a:endParaRPr lang="en-US" sz="2800" dirty="0">
              <a:solidFill>
                <a:srgbClr val="0000FF"/>
              </a:solidFill>
              <a:latin typeface="Times New Roman" pitchFamily="18" charset="0"/>
              <a:cs typeface="Times New Roman" pitchFamily="18" charset="0"/>
            </a:endParaRP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3: </a:t>
            </a:r>
            <a:r>
              <a:rPr lang="en-US" sz="2800" dirty="0" err="1">
                <a:solidFill>
                  <a:srgbClr val="0000FF"/>
                </a:solidFill>
                <a:latin typeface="Times New Roman" pitchFamily="18" charset="0"/>
                <a:cs typeface="Times New Roman" pitchFamily="18" charset="0"/>
              </a:rPr>
              <a:t>Lý</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thuyết</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hành</a:t>
            </a:r>
            <a:r>
              <a:rPr lang="en-US" sz="2800" dirty="0">
                <a:solidFill>
                  <a:srgbClr val="0000FF"/>
                </a:solidFill>
                <a:latin typeface="Times New Roman" pitchFamily="18" charset="0"/>
                <a:cs typeface="Times New Roman" pitchFamily="18" charset="0"/>
              </a:rPr>
              <a:t> vi </a:t>
            </a:r>
            <a:r>
              <a:rPr lang="en-US" sz="2800" dirty="0" err="1">
                <a:solidFill>
                  <a:srgbClr val="0000FF"/>
                </a:solidFill>
                <a:latin typeface="Times New Roman" pitchFamily="18" charset="0"/>
                <a:cs typeface="Times New Roman" pitchFamily="18" charset="0"/>
              </a:rPr>
              <a:t>người</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tiêu</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dùng</a:t>
            </a:r>
            <a:r>
              <a:rPr lang="en-US" sz="2800" dirty="0">
                <a:solidFill>
                  <a:srgbClr val="0000FF"/>
                </a:solidFill>
                <a:latin typeface="Times New Roman" pitchFamily="18" charset="0"/>
                <a:cs typeface="Times New Roman" pitchFamily="18" charset="0"/>
              </a:rPr>
              <a:t> </a:t>
            </a: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4: </a:t>
            </a:r>
            <a:r>
              <a:rPr lang="en-US" sz="2800" dirty="0" err="1">
                <a:solidFill>
                  <a:srgbClr val="0000FF"/>
                </a:solidFill>
                <a:latin typeface="Times New Roman" pitchFamily="18" charset="0"/>
                <a:cs typeface="Times New Roman" pitchFamily="18" charset="0"/>
              </a:rPr>
              <a:t>Lý</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thuyết</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hành</a:t>
            </a:r>
            <a:r>
              <a:rPr lang="en-US" sz="2800" dirty="0">
                <a:solidFill>
                  <a:srgbClr val="0000FF"/>
                </a:solidFill>
                <a:latin typeface="Times New Roman" pitchFamily="18" charset="0"/>
                <a:cs typeface="Times New Roman" pitchFamily="18" charset="0"/>
              </a:rPr>
              <a:t> vi </a:t>
            </a:r>
            <a:r>
              <a:rPr lang="en-US" sz="2800" dirty="0" err="1">
                <a:solidFill>
                  <a:srgbClr val="0000FF"/>
                </a:solidFill>
                <a:latin typeface="Times New Roman" pitchFamily="18" charset="0"/>
                <a:cs typeface="Times New Roman" pitchFamily="18" charset="0"/>
              </a:rPr>
              <a:t>người</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sản</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xuất</a:t>
            </a:r>
            <a:endParaRPr lang="en-US" sz="2800" dirty="0">
              <a:solidFill>
                <a:srgbClr val="0000FF"/>
              </a:solidFill>
              <a:latin typeface="Times New Roman" pitchFamily="18" charset="0"/>
              <a:cs typeface="Times New Roman" pitchFamily="18" charset="0"/>
            </a:endParaRP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5: </a:t>
            </a:r>
            <a:r>
              <a:rPr lang="en-US" sz="2800" dirty="0" err="1">
                <a:solidFill>
                  <a:srgbClr val="0000FF"/>
                </a:solidFill>
                <a:latin typeface="Times New Roman" pitchFamily="18" charset="0"/>
                <a:cs typeface="Times New Roman" pitchFamily="18" charset="0"/>
              </a:rPr>
              <a:t>Cạnh</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tranh</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và</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độc</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quyền</a:t>
            </a:r>
            <a:endParaRPr lang="en-US" sz="2800" dirty="0">
              <a:solidFill>
                <a:srgbClr val="0000FF"/>
              </a:solidFill>
              <a:latin typeface="Times New Roman" pitchFamily="18" charset="0"/>
              <a:cs typeface="Times New Roman" pitchFamily="18" charset="0"/>
            </a:endParaRP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6: </a:t>
            </a:r>
            <a:r>
              <a:rPr lang="en-US" sz="2800" dirty="0" err="1">
                <a:solidFill>
                  <a:srgbClr val="0000FF"/>
                </a:solidFill>
                <a:latin typeface="Times New Roman" pitchFamily="18" charset="0"/>
                <a:cs typeface="Times New Roman" pitchFamily="18" charset="0"/>
              </a:rPr>
              <a:t>Thị</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trường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yếu</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tố</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sản</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xuất</a:t>
            </a:r>
            <a:r>
              <a:rPr lang="en-US" sz="2800" dirty="0">
                <a:solidFill>
                  <a:srgbClr val="0000FF"/>
                </a:solidFill>
                <a:latin typeface="Times New Roman" pitchFamily="18" charset="0"/>
                <a:cs typeface="Times New Roman" pitchFamily="18" charset="0"/>
              </a:rPr>
              <a:t> </a:t>
            </a:r>
          </a:p>
          <a:p>
            <a:pPr algn="just"/>
            <a:r>
              <a:rPr lang="en-US" sz="2800" dirty="0" err="1">
                <a:solidFill>
                  <a:srgbClr val="0000FF"/>
                </a:solidFill>
                <a:latin typeface="Times New Roman" pitchFamily="18" charset="0"/>
                <a:cs typeface="Times New Roman" pitchFamily="18" charset="0"/>
              </a:rPr>
              <a:t>Chương</a:t>
            </a:r>
            <a:r>
              <a:rPr lang="en-US" sz="2800" dirty="0">
                <a:solidFill>
                  <a:srgbClr val="0000FF"/>
                </a:solidFill>
                <a:latin typeface="Times New Roman" pitchFamily="18" charset="0"/>
                <a:cs typeface="Times New Roman" pitchFamily="18" charset="0"/>
              </a:rPr>
              <a:t> 7: </a:t>
            </a:r>
            <a:r>
              <a:rPr lang="en-US" sz="2800" dirty="0" err="1">
                <a:solidFill>
                  <a:srgbClr val="0000FF"/>
                </a:solidFill>
                <a:latin typeface="Times New Roman" pitchFamily="18" charset="0"/>
                <a:cs typeface="Times New Roman" pitchFamily="18" charset="0"/>
              </a:rPr>
              <a:t>Những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thất</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bại</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của</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thị</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trường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và</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vai</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trò</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điều</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tiết</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của</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Chính</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phủ</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trong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nền</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kinh</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tế</a:t>
            </a:r>
            <a:endParaRPr lang="en-US" sz="28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4855903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05800" cy="6155871"/>
          </a:xfrm>
        </p:spPr>
        <p:txBody>
          <a:bodyPr>
            <a:normAutofit fontScale="77500" lnSpcReduction="20000"/>
          </a:bodyPr>
          <a:lstStyle/>
          <a:p>
            <a:pPr eaLnBrk="1" hangingPunct="1"/>
            <a:r>
              <a:rPr lang="en-US" sz="3600" b="1" dirty="0">
                <a:solidFill>
                  <a:srgbClr val="0000FF"/>
                </a:solidFill>
                <a:latin typeface="Times New Roman" pitchFamily="18" charset="0"/>
              </a:rPr>
              <a:t>GIÁO TRÌNH VÀ TÀI LIỆU THAM KHẢO</a:t>
            </a:r>
          </a:p>
          <a:p>
            <a:pPr algn="just">
              <a:lnSpc>
                <a:spcPct val="140000"/>
              </a:lnSpc>
              <a:spcBef>
                <a:spcPts val="0"/>
              </a:spcBef>
            </a:pPr>
            <a:r>
              <a:rPr lang="vi-VN" sz="2800" dirty="0">
                <a:solidFill>
                  <a:srgbClr val="0000FF"/>
                </a:solidFill>
                <a:latin typeface="Times New Roman" pitchFamily="18" charset="0"/>
                <a:cs typeface="Times New Roman" pitchFamily="18" charset="0"/>
              </a:rPr>
              <a:t>1. </a:t>
            </a:r>
            <a:r>
              <a:rPr lang="en-US" sz="2800" dirty="0" err="1">
                <a:solidFill>
                  <a:srgbClr val="0000FF"/>
                </a:solidFill>
                <a:latin typeface="Times New Roman" pitchFamily="18" charset="0"/>
                <a:cs typeface="Times New Roman" pitchFamily="18" charset="0"/>
              </a:rPr>
              <a:t>Đỗ</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Ngọc</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Mỹ</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Đặng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Thị</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Thanh</a:t>
            </a:r>
            <a:r>
              <a:rPr lang="en-US" sz="2800" dirty="0">
                <a:solidFill>
                  <a:srgbClr val="0000FF"/>
                </a:solidFill>
                <a:latin typeface="Times New Roman" pitchFamily="18" charset="0"/>
                <a:cs typeface="Times New Roman" pitchFamily="18" charset="0"/>
              </a:rPr>
              <a:t> Loan, </a:t>
            </a:r>
            <a:r>
              <a:rPr lang="en-US" sz="2800" dirty="0" err="1">
                <a:solidFill>
                  <a:srgbClr val="0000FF"/>
                </a:solidFill>
                <a:latin typeface="Times New Roman" pitchFamily="18" charset="0"/>
                <a:cs typeface="Times New Roman" pitchFamily="18" charset="0"/>
              </a:rPr>
              <a:t>Nguyễn</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Thị</a:t>
            </a:r>
            <a:r>
              <a:rPr lang="en-US" sz="2800" dirty="0">
                <a:solidFill>
                  <a:srgbClr val="0000FF"/>
                </a:solidFill>
                <a:latin typeface="Times New Roman" pitchFamily="18" charset="0"/>
                <a:cs typeface="Times New Roman" pitchFamily="18" charset="0"/>
              </a:rPr>
              <a:t> Kim </a:t>
            </a:r>
            <a:r>
              <a:rPr lang="en-US" sz="2800" dirty="0" err="1">
                <a:solidFill>
                  <a:srgbClr val="0000FF"/>
                </a:solidFill>
                <a:latin typeface="Times New Roman" pitchFamily="18" charset="0"/>
                <a:cs typeface="Times New Roman" pitchFamily="18" charset="0"/>
              </a:rPr>
              <a:t>Ánh</a:t>
            </a:r>
            <a:r>
              <a:rPr lang="en-US" sz="2800" dirty="0">
                <a:solidFill>
                  <a:srgbClr val="0000FF"/>
                </a:solidFill>
                <a:latin typeface="Times New Roman" pitchFamily="18" charset="0"/>
                <a:cs typeface="Times New Roman" pitchFamily="18" charset="0"/>
              </a:rPr>
              <a:t> </a:t>
            </a:r>
            <a:r>
              <a:rPr lang="vi-VN" sz="2800" dirty="0">
                <a:solidFill>
                  <a:srgbClr val="0000FF"/>
                </a:solidFill>
                <a:latin typeface="Times New Roman" pitchFamily="18" charset="0"/>
                <a:cs typeface="Times New Roman" pitchFamily="18" charset="0"/>
              </a:rPr>
              <a:t>(201</a:t>
            </a:r>
            <a:r>
              <a:rPr lang="en-US" sz="2800" dirty="0">
                <a:solidFill>
                  <a:srgbClr val="0000FF"/>
                </a:solidFill>
                <a:latin typeface="Times New Roman" pitchFamily="18" charset="0"/>
                <a:cs typeface="Times New Roman" pitchFamily="18" charset="0"/>
              </a:rPr>
              <a:t>7</a:t>
            </a:r>
            <a:r>
              <a:rPr lang="vi-VN" sz="2800"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Giáo</a:t>
            </a:r>
            <a:r>
              <a:rPr lang="en-US" sz="2800" i="1"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trình</a:t>
            </a:r>
            <a:r>
              <a:rPr lang="vi-VN" sz="2800" i="1" dirty="0">
                <a:solidFill>
                  <a:srgbClr val="0000FF"/>
                </a:solidFill>
                <a:latin typeface="Times New Roman" pitchFamily="18" charset="0"/>
                <a:cs typeface="Times New Roman" pitchFamily="18" charset="0"/>
              </a:rPr>
              <a:t> kinh tế vi mô</a:t>
            </a:r>
            <a:r>
              <a:rPr lang="vi-VN" sz="2800" dirty="0">
                <a:solidFill>
                  <a:srgbClr val="0000FF"/>
                </a:solidFill>
                <a:latin typeface="Times New Roman" pitchFamily="18" charset="0"/>
                <a:cs typeface="Times New Roman" pitchFamily="18" charset="0"/>
              </a:rPr>
              <a:t>, </a:t>
            </a:r>
            <a:r>
              <a:rPr lang="en-US" sz="2800" dirty="0">
                <a:solidFill>
                  <a:srgbClr val="0000FF"/>
                </a:solidFill>
                <a:latin typeface="Times New Roman" pitchFamily="18" charset="0"/>
                <a:cs typeface="Times New Roman" pitchFamily="18" charset="0"/>
              </a:rPr>
              <a:t>T</a:t>
            </a:r>
            <a:r>
              <a:rPr lang="vi-VN" sz="2800" dirty="0">
                <a:solidFill>
                  <a:srgbClr val="0000FF"/>
                </a:solidFill>
                <a:latin typeface="Times New Roman" pitchFamily="18" charset="0"/>
                <a:cs typeface="Times New Roman" pitchFamily="18" charset="0"/>
              </a:rPr>
              <a:t>rường Đại học Quy Nhơn.</a:t>
            </a:r>
            <a:endParaRPr lang="en-US" sz="2800" dirty="0">
              <a:solidFill>
                <a:srgbClr val="0000FF"/>
              </a:solidFill>
              <a:latin typeface="Times New Roman" pitchFamily="18" charset="0"/>
              <a:cs typeface="Times New Roman" pitchFamily="18" charset="0"/>
            </a:endParaRPr>
          </a:p>
          <a:p>
            <a:pPr algn="just">
              <a:lnSpc>
                <a:spcPct val="140000"/>
              </a:lnSpc>
              <a:spcBef>
                <a:spcPts val="0"/>
              </a:spcBef>
            </a:pPr>
            <a:r>
              <a:rPr lang="vi-VN" sz="2800" dirty="0">
                <a:solidFill>
                  <a:srgbClr val="0000FF"/>
                </a:solidFill>
                <a:latin typeface="Times New Roman" pitchFamily="18" charset="0"/>
                <a:cs typeface="Times New Roman" pitchFamily="18" charset="0"/>
              </a:rPr>
              <a:t>2. Bộ giáo dục đào tạo (2005), </a:t>
            </a:r>
            <a:r>
              <a:rPr lang="vi-VN" sz="2800" i="1" dirty="0">
                <a:solidFill>
                  <a:srgbClr val="0000FF"/>
                </a:solidFill>
                <a:latin typeface="Times New Roman" pitchFamily="18" charset="0"/>
                <a:cs typeface="Times New Roman" pitchFamily="18" charset="0"/>
              </a:rPr>
              <a:t>Giáo trình Kinh tế học vi mô</a:t>
            </a:r>
            <a:r>
              <a:rPr lang="vi-VN" sz="2800" dirty="0">
                <a:solidFill>
                  <a:srgbClr val="0000FF"/>
                </a:solidFill>
                <a:latin typeface="Times New Roman" pitchFamily="18" charset="0"/>
                <a:cs typeface="Times New Roman" pitchFamily="18" charset="0"/>
              </a:rPr>
              <a:t>, NXB Giáo dục.</a:t>
            </a:r>
            <a:endParaRPr lang="en-US" sz="2800" dirty="0">
              <a:solidFill>
                <a:srgbClr val="0000FF"/>
              </a:solidFill>
              <a:latin typeface="Times New Roman" pitchFamily="18" charset="0"/>
              <a:cs typeface="Times New Roman" pitchFamily="18" charset="0"/>
            </a:endParaRPr>
          </a:p>
          <a:p>
            <a:pPr algn="just">
              <a:lnSpc>
                <a:spcPct val="140000"/>
              </a:lnSpc>
              <a:spcBef>
                <a:spcPts val="0"/>
              </a:spcBef>
            </a:pPr>
            <a:r>
              <a:rPr lang="vi-VN" sz="2800" dirty="0">
                <a:solidFill>
                  <a:srgbClr val="0000FF"/>
                </a:solidFill>
                <a:latin typeface="Times New Roman" pitchFamily="18" charset="0"/>
                <a:cs typeface="Times New Roman" pitchFamily="18" charset="0"/>
              </a:rPr>
              <a:t>3. Ngô Đình Giao (2004), </a:t>
            </a:r>
            <a:r>
              <a:rPr lang="vi-VN" sz="2800" i="1" dirty="0">
                <a:solidFill>
                  <a:srgbClr val="0000FF"/>
                </a:solidFill>
                <a:latin typeface="Times New Roman" pitchFamily="18" charset="0"/>
                <a:cs typeface="Times New Roman" pitchFamily="18" charset="0"/>
              </a:rPr>
              <a:t>Giáo trình Kinh tế học vi mô</a:t>
            </a:r>
            <a:r>
              <a:rPr lang="vi-VN" sz="2800" dirty="0">
                <a:solidFill>
                  <a:srgbClr val="0000FF"/>
                </a:solidFill>
                <a:latin typeface="Times New Roman" pitchFamily="18" charset="0"/>
                <a:cs typeface="Times New Roman" pitchFamily="18" charset="0"/>
              </a:rPr>
              <a:t>, NXB Giáo dục. </a:t>
            </a:r>
            <a:endParaRPr lang="en-US" sz="2800" dirty="0">
              <a:solidFill>
                <a:srgbClr val="0000FF"/>
              </a:solidFill>
              <a:latin typeface="Times New Roman" pitchFamily="18" charset="0"/>
              <a:cs typeface="Times New Roman" pitchFamily="18" charset="0"/>
            </a:endParaRPr>
          </a:p>
          <a:p>
            <a:pPr algn="just">
              <a:lnSpc>
                <a:spcPct val="140000"/>
              </a:lnSpc>
              <a:spcBef>
                <a:spcPts val="0"/>
              </a:spcBef>
            </a:pPr>
            <a:r>
              <a:rPr lang="vi-VN" sz="2800" dirty="0">
                <a:solidFill>
                  <a:srgbClr val="0000FF"/>
                </a:solidFill>
                <a:latin typeface="Times New Roman" pitchFamily="18" charset="0"/>
                <a:cs typeface="Times New Roman" pitchFamily="18" charset="0"/>
              </a:rPr>
              <a:t>4. Nguyễn Văn Dần (2006), </a:t>
            </a:r>
            <a:r>
              <a:rPr lang="vi-VN" sz="2800" i="1" dirty="0">
                <a:solidFill>
                  <a:srgbClr val="0000FF"/>
                </a:solidFill>
                <a:latin typeface="Times New Roman" pitchFamily="18" charset="0"/>
                <a:cs typeface="Times New Roman" pitchFamily="18" charset="0"/>
              </a:rPr>
              <a:t>Những vấn đề cơ bản về kinh tế học vi mô</a:t>
            </a:r>
            <a:r>
              <a:rPr lang="vi-VN" sz="2800" dirty="0">
                <a:solidFill>
                  <a:srgbClr val="0000FF"/>
                </a:solidFill>
                <a:latin typeface="Times New Roman" pitchFamily="18" charset="0"/>
                <a:cs typeface="Times New Roman" pitchFamily="18" charset="0"/>
              </a:rPr>
              <a:t>, NXB Lao động – Xã hội.</a:t>
            </a:r>
            <a:endParaRPr lang="en-US" sz="2800" dirty="0">
              <a:solidFill>
                <a:srgbClr val="0000FF"/>
              </a:solidFill>
              <a:latin typeface="Times New Roman" pitchFamily="18" charset="0"/>
              <a:cs typeface="Times New Roman" pitchFamily="18" charset="0"/>
            </a:endParaRPr>
          </a:p>
          <a:p>
            <a:pPr algn="just">
              <a:lnSpc>
                <a:spcPct val="140000"/>
              </a:lnSpc>
              <a:spcBef>
                <a:spcPts val="0"/>
              </a:spcBef>
            </a:pPr>
            <a:r>
              <a:rPr lang="vi-VN" sz="2800" dirty="0">
                <a:solidFill>
                  <a:srgbClr val="0000FF"/>
                </a:solidFill>
                <a:latin typeface="Times New Roman" pitchFamily="18" charset="0"/>
                <a:cs typeface="Times New Roman" pitchFamily="18" charset="0"/>
              </a:rPr>
              <a:t>5. Vũ Kim Dũng, Cao Thúy Xiêm, Phạm Văn Minh (2006), </a:t>
            </a:r>
            <a:r>
              <a:rPr lang="vi-VN" sz="2800" i="1" dirty="0">
                <a:solidFill>
                  <a:srgbClr val="0000FF"/>
                </a:solidFill>
                <a:latin typeface="Times New Roman" pitchFamily="18" charset="0"/>
                <a:cs typeface="Times New Roman" pitchFamily="18" charset="0"/>
              </a:rPr>
              <a:t>101 bài tập kinh tế vi mô chọn lọc</a:t>
            </a:r>
            <a:r>
              <a:rPr lang="vi-VN" sz="2800" dirty="0">
                <a:solidFill>
                  <a:srgbClr val="0000FF"/>
                </a:solidFill>
                <a:latin typeface="Times New Roman" pitchFamily="18" charset="0"/>
                <a:cs typeface="Times New Roman" pitchFamily="18" charset="0"/>
              </a:rPr>
              <a:t>, NXB Văn hóa thông tin.</a:t>
            </a:r>
            <a:endParaRPr lang="en-US" sz="2800" dirty="0">
              <a:solidFill>
                <a:srgbClr val="0000FF"/>
              </a:solidFill>
              <a:latin typeface="Times New Roman" pitchFamily="18" charset="0"/>
              <a:cs typeface="Times New Roman" pitchFamily="18" charset="0"/>
            </a:endParaRPr>
          </a:p>
          <a:p>
            <a:pPr algn="just">
              <a:lnSpc>
                <a:spcPct val="140000"/>
              </a:lnSpc>
              <a:spcBef>
                <a:spcPts val="0"/>
              </a:spcBef>
            </a:pPr>
            <a:r>
              <a:rPr lang="en-US" sz="2800" dirty="0">
                <a:solidFill>
                  <a:srgbClr val="0000FF"/>
                </a:solidFill>
                <a:latin typeface="Times New Roman" pitchFamily="18" charset="0"/>
                <a:cs typeface="Times New Roman" pitchFamily="18" charset="0"/>
              </a:rPr>
              <a:t>6. David </a:t>
            </a:r>
            <a:r>
              <a:rPr lang="en-US" sz="2800" dirty="0" err="1">
                <a:solidFill>
                  <a:srgbClr val="0000FF"/>
                </a:solidFill>
                <a:latin typeface="Times New Roman" pitchFamily="18" charset="0"/>
                <a:cs typeface="Times New Roman" pitchFamily="18" charset="0"/>
              </a:rPr>
              <a:t>Begg</a:t>
            </a:r>
            <a:r>
              <a:rPr lang="en-US" sz="2800" dirty="0">
                <a:solidFill>
                  <a:srgbClr val="0000FF"/>
                </a:solidFill>
                <a:latin typeface="Times New Roman" pitchFamily="18" charset="0"/>
                <a:cs typeface="Times New Roman" pitchFamily="18" charset="0"/>
              </a:rPr>
              <a:t>, Stanley Fischer, </a:t>
            </a:r>
            <a:r>
              <a:rPr lang="en-US" sz="2800" dirty="0" err="1">
                <a:solidFill>
                  <a:srgbClr val="0000FF"/>
                </a:solidFill>
                <a:latin typeface="Times New Roman" pitchFamily="18" charset="0"/>
                <a:cs typeface="Times New Roman" pitchFamily="18" charset="0"/>
              </a:rPr>
              <a:t>Rudiger</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Dornbusch</a:t>
            </a:r>
            <a:r>
              <a:rPr lang="en-US" sz="2800" dirty="0">
                <a:solidFill>
                  <a:srgbClr val="0000FF"/>
                </a:solidFill>
                <a:latin typeface="Times New Roman" pitchFamily="18" charset="0"/>
                <a:cs typeface="Times New Roman" pitchFamily="18" charset="0"/>
              </a:rPr>
              <a:t> (2007), </a:t>
            </a:r>
            <a:r>
              <a:rPr lang="en-US" sz="2800" i="1" dirty="0" err="1">
                <a:solidFill>
                  <a:srgbClr val="0000FF"/>
                </a:solidFill>
                <a:latin typeface="Times New Roman" pitchFamily="18" charset="0"/>
                <a:cs typeface="Times New Roman" pitchFamily="18" charset="0"/>
              </a:rPr>
              <a:t>Kinh</a:t>
            </a:r>
            <a:r>
              <a:rPr lang="en-US" sz="2800" i="1"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tế</a:t>
            </a:r>
            <a:r>
              <a:rPr lang="en-US" sz="2800" i="1"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học</a:t>
            </a:r>
            <a:r>
              <a:rPr lang="en-US" sz="2800" dirty="0">
                <a:solidFill>
                  <a:srgbClr val="0000FF"/>
                </a:solidFill>
                <a:latin typeface="Times New Roman" pitchFamily="18" charset="0"/>
                <a:cs typeface="Times New Roman" pitchFamily="18" charset="0"/>
              </a:rPr>
              <a:t>, NXB </a:t>
            </a:r>
            <a:r>
              <a:rPr lang="en-US" sz="2800" dirty="0" err="1">
                <a:solidFill>
                  <a:srgbClr val="0000FF"/>
                </a:solidFill>
                <a:latin typeface="Times New Roman" pitchFamily="18" charset="0"/>
                <a:cs typeface="Times New Roman" pitchFamily="18" charset="0"/>
              </a:rPr>
              <a:t>Thống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kê</a:t>
            </a:r>
            <a:r>
              <a:rPr lang="en-US" sz="2800" dirty="0">
                <a:solidFill>
                  <a:srgbClr val="0000FF"/>
                </a:solidFill>
                <a:latin typeface="Times New Roman" pitchFamily="18" charset="0"/>
                <a:cs typeface="Times New Roman" pitchFamily="18" charset="0"/>
              </a:rPr>
              <a:t>. </a:t>
            </a:r>
          </a:p>
          <a:p>
            <a:pPr algn="just">
              <a:lnSpc>
                <a:spcPct val="140000"/>
              </a:lnSpc>
              <a:spcBef>
                <a:spcPts val="0"/>
              </a:spcBef>
            </a:pPr>
            <a:r>
              <a:rPr lang="en-US" sz="2800" dirty="0">
                <a:solidFill>
                  <a:srgbClr val="0000FF"/>
                </a:solidFill>
                <a:latin typeface="Times New Roman" pitchFamily="18" charset="0"/>
                <a:cs typeface="Times New Roman" pitchFamily="18" charset="0"/>
              </a:rPr>
              <a:t>7. Paul A Samuelson, William D. </a:t>
            </a:r>
            <a:r>
              <a:rPr lang="en-US" sz="2800" dirty="0" err="1">
                <a:solidFill>
                  <a:srgbClr val="0000FF"/>
                </a:solidFill>
                <a:latin typeface="Times New Roman" pitchFamily="18" charset="0"/>
                <a:cs typeface="Times New Roman" pitchFamily="18" charset="0"/>
              </a:rPr>
              <a:t>Nordhalls</a:t>
            </a:r>
            <a:r>
              <a:rPr lang="en-US" sz="2800" dirty="0">
                <a:solidFill>
                  <a:srgbClr val="0000FF"/>
                </a:solidFill>
                <a:latin typeface="Times New Roman" pitchFamily="18" charset="0"/>
                <a:cs typeface="Times New Roman" pitchFamily="18" charset="0"/>
              </a:rPr>
              <a:t> (2002), </a:t>
            </a:r>
            <a:r>
              <a:rPr lang="en-US" sz="2800" i="1" dirty="0" err="1">
                <a:solidFill>
                  <a:srgbClr val="0000FF"/>
                </a:solidFill>
                <a:latin typeface="Times New Roman" pitchFamily="18" charset="0"/>
                <a:cs typeface="Times New Roman" pitchFamily="18" charset="0"/>
              </a:rPr>
              <a:t>Kinh</a:t>
            </a:r>
            <a:r>
              <a:rPr lang="en-US" sz="2800" i="1"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tế</a:t>
            </a:r>
            <a:r>
              <a:rPr lang="en-US" sz="2800" i="1"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học</a:t>
            </a:r>
            <a:r>
              <a:rPr lang="en-US" sz="2800" i="1" dirty="0">
                <a:solidFill>
                  <a:srgbClr val="0000FF"/>
                </a:solidFill>
                <a:latin typeface="Times New Roman" pitchFamily="18" charset="0"/>
                <a:cs typeface="Times New Roman" pitchFamily="18" charset="0"/>
              </a:rPr>
              <a:t> (</a:t>
            </a:r>
            <a:r>
              <a:rPr lang="en-US" sz="2800" i="1" dirty="0" err="1">
                <a:solidFill>
                  <a:srgbClr val="0000FF"/>
                </a:solidFill>
                <a:latin typeface="Times New Roman" pitchFamily="18" charset="0"/>
                <a:cs typeface="Times New Roman" pitchFamily="18" charset="0"/>
              </a:rPr>
              <a:t>tập</a:t>
            </a:r>
            <a:r>
              <a:rPr lang="en-US" sz="2800" i="1" dirty="0">
                <a:solidFill>
                  <a:srgbClr val="0000FF"/>
                </a:solidFill>
                <a:latin typeface="Times New Roman" pitchFamily="18" charset="0"/>
                <a:cs typeface="Times New Roman" pitchFamily="18" charset="0"/>
              </a:rPr>
              <a:t> 1), </a:t>
            </a:r>
            <a:r>
              <a:rPr lang="en-US" sz="2800" dirty="0">
                <a:solidFill>
                  <a:srgbClr val="0000FF"/>
                </a:solidFill>
                <a:latin typeface="Times New Roman" pitchFamily="18" charset="0"/>
                <a:cs typeface="Times New Roman" pitchFamily="18" charset="0"/>
              </a:rPr>
              <a:t>NXB </a:t>
            </a:r>
            <a:r>
              <a:rPr lang="en-US" sz="2800" dirty="0" err="1">
                <a:solidFill>
                  <a:srgbClr val="0000FF"/>
                </a:solidFill>
                <a:latin typeface="Times New Roman" pitchFamily="18" charset="0"/>
                <a:cs typeface="Times New Roman" pitchFamily="18" charset="0"/>
              </a:rPr>
              <a:t>Thống</a:t>
            </a:r>
            <a:r>
              <a:rPr lang="en-US" sz="2800" dirty="0">
                <a:solidFill>
                  <a:srgbClr val="0000FF"/>
                </a:solidFill>
                <a:latin typeface="Times New Roman" pitchFamily="18" charset="0"/>
                <a:cs typeface="Times New Roman" pitchFamily="18" charset="0"/>
              </a:rPr>
              <a:t> </a:t>
            </a:r>
            <a:r>
              <a:rPr lang="en-US" sz="2800" dirty="0" err="1">
                <a:solidFill>
                  <a:srgbClr val="0000FF"/>
                </a:solidFill>
                <a:latin typeface="Times New Roman" pitchFamily="18" charset="0"/>
                <a:cs typeface="Times New Roman" pitchFamily="18" charset="0"/>
              </a:rPr>
              <a:t>kê</a:t>
            </a:r>
            <a:r>
              <a:rPr lang="en-US" sz="28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8818175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577948" cy="6155871"/>
          </a:xfrm>
        </p:spPr>
        <p:txBody>
          <a:bodyPr>
            <a:normAutofit/>
          </a:bodyPr>
          <a:lstStyle/>
          <a:p>
            <a:pPr eaLnBrk="1" hangingPunct="1"/>
            <a:r>
              <a:rPr lang="en-US" sz="2400" b="1" dirty="0">
                <a:solidFill>
                  <a:srgbClr val="0000FF"/>
                </a:solidFill>
                <a:latin typeface="Times New Roman" pitchFamily="18" charset="0"/>
              </a:rPr>
              <a:t>CHƯƠNG 1</a:t>
            </a:r>
          </a:p>
          <a:p>
            <a:pPr eaLnBrk="1" hangingPunct="1"/>
            <a:r>
              <a:rPr lang="en-US" sz="2400" b="1" dirty="0">
                <a:solidFill>
                  <a:srgbClr val="0000FF"/>
                </a:solidFill>
                <a:latin typeface="Times New Roman" pitchFamily="18" charset="0"/>
              </a:rPr>
              <a:t>KINH TẾ VI MÔ VÀ NHỮNG VẤN ĐỀ KINH TẾ CƠ BẢN</a:t>
            </a:r>
          </a:p>
          <a:p>
            <a:pPr algn="just"/>
            <a:r>
              <a:rPr lang="en-US" sz="2400" b="1" dirty="0">
                <a:solidFill>
                  <a:srgbClr val="0000FF"/>
                </a:solidFill>
                <a:latin typeface="Times New Roman" pitchFamily="18" charset="0"/>
                <a:cs typeface="Times New Roman" pitchFamily="18" charset="0"/>
              </a:rPr>
              <a:t>1.1.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1.1.1.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endParaRPr lang="en-US" sz="2400" b="1" dirty="0">
              <a:solidFill>
                <a:srgbClr val="0000FF"/>
              </a:solidFill>
              <a:latin typeface="Times New Roman" pitchFamily="18" charset="0"/>
              <a:cs typeface="Times New Roman" pitchFamily="18" charset="0"/>
            </a:endParaRPr>
          </a:p>
        </p:txBody>
      </p:sp>
      <p:pic>
        <p:nvPicPr>
          <p:cNvPr id="1028" name="Picture 4">
            <a:extLst>
              <a:ext uri="{FF2B5EF4-FFF2-40B4-BE49-F238E27FC236}">
                <a16:creationId xmlns:a16="http://schemas.microsoft.com/office/drawing/2014/main" id="{CF312CAC-93A9-1998-FB31-4CE3FD45FE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2188241"/>
            <a:ext cx="6756741" cy="42827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5880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283025"/>
            <a:ext cx="8305800" cy="6422575"/>
          </a:xfrm>
        </p:spPr>
        <p:txBody>
          <a:bodyPr>
            <a:normAutofit/>
          </a:bodyPr>
          <a:lstStyle/>
          <a:p>
            <a:pPr eaLnBrk="1" hangingPunct="1"/>
            <a:r>
              <a:rPr lang="en-US" sz="2400" b="1" dirty="0">
                <a:solidFill>
                  <a:srgbClr val="0000FF"/>
                </a:solidFill>
                <a:latin typeface="Times New Roman" pitchFamily="18" charset="0"/>
              </a:rPr>
              <a:t>CHƯƠNG 1</a:t>
            </a:r>
          </a:p>
          <a:p>
            <a:pPr eaLnBrk="1" hangingPunct="1"/>
            <a:r>
              <a:rPr lang="en-US" sz="2400" b="1" dirty="0">
                <a:solidFill>
                  <a:srgbClr val="0000FF"/>
                </a:solidFill>
                <a:latin typeface="Times New Roman" pitchFamily="18" charset="0"/>
              </a:rPr>
              <a:t>KINH TẾ VI MÔ VÀ NHỮNG VẤN ĐỀ KINH TẾ CƠ BẢN</a:t>
            </a:r>
          </a:p>
          <a:p>
            <a:pPr algn="just"/>
            <a:r>
              <a:rPr lang="en-US" sz="2400" b="1" dirty="0">
                <a:solidFill>
                  <a:srgbClr val="0000FF"/>
                </a:solidFill>
                <a:latin typeface="Times New Roman" pitchFamily="18" charset="0"/>
                <a:cs typeface="Times New Roman" pitchFamily="18" charset="0"/>
              </a:rPr>
              <a:t>1.1.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1.1.1.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endParaRPr lang="en-US" sz="2400" b="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Kinh </a:t>
            </a:r>
            <a:r>
              <a:rPr lang="en-US" sz="2400" i="1" dirty="0" err="1">
                <a:solidFill>
                  <a:srgbClr val="0000FF"/>
                </a:solidFill>
                <a:latin typeface="Times New Roman" pitchFamily="18" charset="0"/>
                <a:cs typeface="Times New Roman" pitchFamily="18" charset="0"/>
              </a:rPr>
              <a:t>tế</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học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môn</a:t>
            </a:r>
            <a:r>
              <a:rPr lang="en-US" sz="2400" i="1" dirty="0">
                <a:solidFill>
                  <a:srgbClr val="0000FF"/>
                </a:solidFill>
                <a:latin typeface="Times New Roman" pitchFamily="18" charset="0"/>
                <a:cs typeface="Times New Roman" pitchFamily="18" charset="0"/>
              </a:rPr>
              <a:t> khoa </a:t>
            </a:r>
            <a:r>
              <a:rPr lang="en-US" sz="2400" i="1" dirty="0" err="1">
                <a:solidFill>
                  <a:srgbClr val="0000FF"/>
                </a:solidFill>
                <a:latin typeface="Times New Roman" pitchFamily="18" charset="0"/>
                <a:cs typeface="Times New Roman" pitchFamily="18" charset="0"/>
              </a:rPr>
              <a:t>học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nghiên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cứu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việc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xã</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hội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lựa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chọn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sử</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dụng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nguồn</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lực</a:t>
            </a:r>
            <a:r>
              <a:rPr lang="en-US" sz="2400" b="1" i="1" dirty="0">
                <a:solidFill>
                  <a:srgbClr val="0000FF"/>
                </a:solidFill>
                <a:latin typeface="Times New Roman" pitchFamily="18" charset="0"/>
                <a:cs typeface="Times New Roman" pitchFamily="18" charset="0"/>
              </a:rPr>
              <a:t> khan </a:t>
            </a:r>
            <a:r>
              <a:rPr lang="en-US" sz="2400" b="1" i="1" dirty="0" err="1">
                <a:solidFill>
                  <a:srgbClr val="0000FF"/>
                </a:solidFill>
                <a:latin typeface="Times New Roman" pitchFamily="18" charset="0"/>
                <a:cs typeface="Times New Roman" pitchFamily="18" charset="0"/>
              </a:rPr>
              <a:t>hiếm</a:t>
            </a:r>
            <a:r>
              <a:rPr lang="en-US" sz="2400" b="1"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thế</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nào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để</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xuất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ra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giá</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phối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chúng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đối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tượng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đạt</a:t>
            </a:r>
            <a:r>
              <a:rPr lang="en-US" sz="2400"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hiệu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quả</a:t>
            </a:r>
            <a:r>
              <a:rPr lang="en-US" sz="2400" i="1" dirty="0">
                <a:solidFill>
                  <a:srgbClr val="0000FF"/>
                </a:solidFill>
                <a:latin typeface="Times New Roman" pitchFamily="18" charset="0"/>
                <a:cs typeface="Times New Roman" pitchFamily="18" charset="0"/>
              </a:rPr>
              <a:t>.</a:t>
            </a:r>
            <a:endParaRPr lang="vi-VN" sz="2400" i="1" dirty="0">
              <a:solidFill>
                <a:srgbClr val="0000FF"/>
              </a:solidFill>
              <a:latin typeface="Times New Roman" pitchFamily="18" charset="0"/>
              <a:cs typeface="Times New Roman" pitchFamily="18" charset="0"/>
            </a:endParaRPr>
          </a:p>
          <a:p>
            <a:pPr algn="just"/>
            <a:endParaRPr lang="vi-VN" sz="2400" i="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hlinkClick r:id="rId3"/>
              </a:rPr>
              <a:t>https://www.youtube.com/watch?v=pirhUuaJwds&amp;t=107s</a:t>
            </a:r>
            <a:endParaRPr lang="vi-VN" sz="2400" i="1" dirty="0">
              <a:solidFill>
                <a:srgbClr val="0000FF"/>
              </a:solidFill>
              <a:latin typeface="Times New Roman" pitchFamily="18" charset="0"/>
              <a:cs typeface="Times New Roman" pitchFamily="18" charset="0"/>
            </a:endParaRPr>
          </a:p>
          <a:p>
            <a:pPr algn="just"/>
            <a:r>
              <a:rPr lang="vi-VN" sz="2400" i="1" dirty="0">
                <a:solidFill>
                  <a:srgbClr val="0000FF"/>
                </a:solidFill>
                <a:latin typeface="Times New Roman" pitchFamily="18" charset="0"/>
                <a:cs typeface="Times New Roman" pitchFamily="18" charset="0"/>
              </a:rPr>
              <a:t>(Kinh tế vi mô và Kinh tế vĩ mô)</a:t>
            </a:r>
            <a:endParaRPr lang="en-US" sz="2400" i="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4146298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577948" cy="6498775"/>
          </a:xfrm>
        </p:spPr>
        <p:txBody>
          <a:bodyPr>
            <a:normAutofit/>
          </a:bodyPr>
          <a:lstStyle/>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p:txBody>
      </p:sp>
      <p:graphicFrame>
        <p:nvGraphicFramePr>
          <p:cNvPr id="7" name="Diagram 6"/>
          <p:cNvGraphicFramePr/>
          <p:nvPr>
            <p:extLst>
              <p:ext uri="{D42A27DB-BD31-4B8C-83A1-F6EECF244321}">
                <p14:modId xmlns:p14="http://schemas.microsoft.com/office/powerpoint/2010/main" val="44725899"/>
              </p:ext>
            </p:extLst>
          </p:nvPr>
        </p:nvGraphicFramePr>
        <p:xfrm>
          <a:off x="152400" y="47950"/>
          <a:ext cx="8686800" cy="5133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394945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577948" cy="6498775"/>
          </a:xfrm>
        </p:spPr>
        <p:txBody>
          <a:bodyPr>
            <a:normAutofit/>
          </a:bodyPr>
          <a:lstStyle/>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p:txBody>
      </p:sp>
      <p:graphicFrame>
        <p:nvGraphicFramePr>
          <p:cNvPr id="7" name="Diagram 6"/>
          <p:cNvGraphicFramePr/>
          <p:nvPr>
            <p:extLst>
              <p:ext uri="{D42A27DB-BD31-4B8C-83A1-F6EECF244321}">
                <p14:modId xmlns:p14="http://schemas.microsoft.com/office/powerpoint/2010/main" val="3688775969"/>
              </p:ext>
            </p:extLst>
          </p:nvPr>
        </p:nvGraphicFramePr>
        <p:xfrm>
          <a:off x="152400" y="47950"/>
          <a:ext cx="8686800" cy="66576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1253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64807" y="283025"/>
            <a:ext cx="8014386" cy="6422575"/>
          </a:xfrm>
        </p:spPr>
        <p:txBody>
          <a:bodyPr>
            <a:normAutofit/>
          </a:bodyPr>
          <a:lstStyle/>
          <a:p>
            <a:pPr algn="just">
              <a:lnSpc>
                <a:spcPct val="140000"/>
              </a:lnSpc>
              <a:spcBef>
                <a:spcPts val="0"/>
              </a:spcBef>
            </a:pPr>
            <a:r>
              <a:rPr lang="en-US" sz="2400" b="1" dirty="0">
                <a:solidFill>
                  <a:srgbClr val="0000FF"/>
                </a:solidFill>
                <a:latin typeface="Times New Roman" pitchFamily="18" charset="0"/>
                <a:cs typeface="Times New Roman" pitchFamily="18" charset="0"/>
              </a:rPr>
              <a:t>1.1.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endParaRPr lang="en-US" sz="2400" b="1" dirty="0">
              <a:solidFill>
                <a:srgbClr val="0000FF"/>
              </a:solidFill>
              <a:latin typeface="Times New Roman" pitchFamily="18" charset="0"/>
              <a:cs typeface="Times New Roman" pitchFamily="18" charset="0"/>
            </a:endParaRPr>
          </a:p>
          <a:p>
            <a:pPr algn="just">
              <a:lnSpc>
                <a:spcPct val="140000"/>
              </a:lnSpc>
              <a:spcBef>
                <a:spcPts val="0"/>
              </a:spcBef>
            </a:pPr>
            <a:r>
              <a:rPr lang="en-US" sz="2400" b="1" dirty="0">
                <a:solidFill>
                  <a:srgbClr val="0000FF"/>
                </a:solidFill>
                <a:latin typeface="Times New Roman" pitchFamily="18" charset="0"/>
                <a:cs typeface="Times New Roman" pitchFamily="18" charset="0"/>
              </a:rPr>
              <a:t>1.1.2. </a:t>
            </a:r>
            <a:r>
              <a:rPr lang="en-US" sz="2400" b="1" dirty="0" err="1">
                <a:solidFill>
                  <a:srgbClr val="0000FF"/>
                </a:solidFill>
                <a:latin typeface="Times New Roman" pitchFamily="18" charset="0"/>
                <a:cs typeface="Times New Roman" pitchFamily="18" charset="0"/>
              </a:rPr>
              <a:t>Nền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endParaRPr lang="en-US" sz="2400" b="1" dirty="0">
              <a:solidFill>
                <a:srgbClr val="0000FF"/>
              </a:solidFill>
              <a:latin typeface="Times New Roman" pitchFamily="18" charset="0"/>
              <a:cs typeface="Times New Roman" pitchFamily="18" charset="0"/>
            </a:endParaRPr>
          </a:p>
          <a:p>
            <a:pPr algn="just">
              <a:lnSpc>
                <a:spcPct val="140000"/>
              </a:lnSpc>
              <a:spcBef>
                <a:spcPts val="0"/>
              </a:spcBef>
            </a:pPr>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bổ</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mang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a:t>
            </a:r>
          </a:p>
        </p:txBody>
      </p:sp>
      <p:pic>
        <p:nvPicPr>
          <p:cNvPr id="1026" name="Picture 2">
            <a:extLst>
              <a:ext uri="{FF2B5EF4-FFF2-40B4-BE49-F238E27FC236}">
                <a16:creationId xmlns:a16="http://schemas.microsoft.com/office/drawing/2014/main" id="{4E6A30F0-9C97-1495-A52B-F6ED30DD73D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807" y="2590800"/>
            <a:ext cx="2971341" cy="170542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a:extLst>
              <a:ext uri="{FF2B5EF4-FFF2-40B4-BE49-F238E27FC236}">
                <a16:creationId xmlns:a16="http://schemas.microsoft.com/office/drawing/2014/main" id="{45132B4C-C16F-6515-A3F7-7349E9FBAC4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649031" y="2398502"/>
            <a:ext cx="3333579" cy="2083487"/>
          </a:xfrm>
          <a:prstGeom prst="rect">
            <a:avLst/>
          </a:prstGeom>
          <a:noFill/>
          <a:extLst>
            <a:ext uri="{909E8E84-426E-40DD-AFC4-6F175D3DCCD1}">
              <a14:hiddenFill xmlns:a14="http://schemas.microsoft.com/office/drawing/2010/main">
                <a:solidFill>
                  <a:srgbClr val="FFFFFF"/>
                </a:solidFill>
              </a14:hiddenFill>
            </a:ext>
          </a:extLst>
        </p:spPr>
      </p:pic>
      <p:sp>
        <p:nvSpPr>
          <p:cNvPr id="6" name="AutoShape 6" descr="Government Icon PNG Images, Vectors Free Download - Pngtree">
            <a:extLst>
              <a:ext uri="{FF2B5EF4-FFF2-40B4-BE49-F238E27FC236}">
                <a16:creationId xmlns:a16="http://schemas.microsoft.com/office/drawing/2014/main" id="{BC891FE3-3AE2-B17D-7A27-E2C6CB12C190}"/>
              </a:ext>
            </a:extLst>
          </p:cNvPr>
          <p:cNvSpPr>
            <a:spLocks noChangeAspect="1" noChangeArrowheads="1"/>
          </p:cNvSpPr>
          <p:nvPr/>
        </p:nvSpPr>
        <p:spPr bwMode="auto">
          <a:xfrm>
            <a:off x="4419600" y="3276600"/>
            <a:ext cx="2895600" cy="28956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8" name="Picture 7">
            <a:extLst>
              <a:ext uri="{FF2B5EF4-FFF2-40B4-BE49-F238E27FC236}">
                <a16:creationId xmlns:a16="http://schemas.microsoft.com/office/drawing/2014/main" id="{D83928EF-ACC3-342E-517A-ECEE67AE03C2}"/>
              </a:ext>
            </a:extLst>
          </p:cNvPr>
          <p:cNvPicPr>
            <a:picLocks noChangeAspect="1"/>
          </p:cNvPicPr>
          <p:nvPr/>
        </p:nvPicPr>
        <p:blipFill>
          <a:blip r:embed="rId5"/>
          <a:stretch>
            <a:fillRect/>
          </a:stretch>
        </p:blipFill>
        <p:spPr>
          <a:xfrm>
            <a:off x="2978710" y="4240283"/>
            <a:ext cx="2430909" cy="2447909"/>
          </a:xfrm>
          <a:prstGeom prst="rect">
            <a:avLst/>
          </a:prstGeom>
        </p:spPr>
      </p:pic>
    </p:spTree>
    <p:extLst>
      <p:ext uri="{BB962C8B-B14F-4D97-AF65-F5344CB8AC3E}">
        <p14:creationId xmlns:p14="http://schemas.microsoft.com/office/powerpoint/2010/main" val="266836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762000" y="283025"/>
            <a:ext cx="7696200" cy="6422575"/>
          </a:xfrm>
        </p:spPr>
        <p:txBody>
          <a:bodyPr>
            <a:normAutofit/>
          </a:bodyPr>
          <a:lstStyle/>
          <a:p>
            <a:pPr algn="just">
              <a:lnSpc>
                <a:spcPct val="140000"/>
              </a:lnSpc>
              <a:spcBef>
                <a:spcPts val="0"/>
              </a:spcBef>
            </a:pPr>
            <a:r>
              <a:rPr lang="en-US" sz="2400" b="1" dirty="0">
                <a:solidFill>
                  <a:srgbClr val="0000FF"/>
                </a:solidFill>
                <a:latin typeface="Times New Roman" pitchFamily="18" charset="0"/>
                <a:cs typeface="Times New Roman" pitchFamily="18" charset="0"/>
              </a:rPr>
              <a:t>1.1.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endParaRPr lang="en-US" sz="2400" b="1" dirty="0">
              <a:solidFill>
                <a:srgbClr val="0000FF"/>
              </a:solidFill>
              <a:latin typeface="Times New Roman" pitchFamily="18" charset="0"/>
              <a:cs typeface="Times New Roman" pitchFamily="18" charset="0"/>
            </a:endParaRPr>
          </a:p>
          <a:p>
            <a:pPr algn="just">
              <a:lnSpc>
                <a:spcPct val="140000"/>
              </a:lnSpc>
              <a:spcBef>
                <a:spcPts val="0"/>
              </a:spcBef>
            </a:pPr>
            <a:r>
              <a:rPr lang="en-US" sz="2400" b="1" dirty="0">
                <a:solidFill>
                  <a:srgbClr val="0000FF"/>
                </a:solidFill>
                <a:latin typeface="Times New Roman" pitchFamily="18" charset="0"/>
                <a:cs typeface="Times New Roman" pitchFamily="18" charset="0"/>
              </a:rPr>
              <a:t>1.1.2. </a:t>
            </a:r>
            <a:r>
              <a:rPr lang="en-US" sz="2400" b="1" dirty="0" err="1">
                <a:solidFill>
                  <a:srgbClr val="0000FF"/>
                </a:solidFill>
                <a:latin typeface="Times New Roman" pitchFamily="18" charset="0"/>
                <a:cs typeface="Times New Roman" pitchFamily="18" charset="0"/>
              </a:rPr>
              <a:t>Nền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endParaRPr lang="en-US" sz="2400" b="1" dirty="0">
              <a:solidFill>
                <a:srgbClr val="0000FF"/>
              </a:solidFill>
              <a:latin typeface="Times New Roman" pitchFamily="18" charset="0"/>
              <a:cs typeface="Times New Roman" pitchFamily="18" charset="0"/>
            </a:endParaRPr>
          </a:p>
          <a:p>
            <a:pPr algn="just">
              <a:lnSpc>
                <a:spcPct val="140000"/>
              </a:lnSpc>
              <a:spcBef>
                <a:spcPts val="0"/>
              </a:spcBef>
            </a:pP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r>
              <a:rPr lang="en-US" sz="2400" b="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a:t>
            </a:r>
          </a:p>
        </p:txBody>
      </p:sp>
      <p:pic>
        <p:nvPicPr>
          <p:cNvPr id="2050" name="Picture 2">
            <a:extLst>
              <a:ext uri="{FF2B5EF4-FFF2-40B4-BE49-F238E27FC236}">
                <a16:creationId xmlns:a16="http://schemas.microsoft.com/office/drawing/2014/main" id="{CA5426E0-EB2F-D222-B7BA-1E859AAAA0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875" y="2590800"/>
            <a:ext cx="5048250" cy="37661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31656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283025"/>
            <a:ext cx="8915400" cy="6422575"/>
          </a:xfrm>
        </p:spPr>
        <p:txBody>
          <a:bodyPr>
            <a:normAutofit/>
          </a:bodyPr>
          <a:lstStyle/>
          <a:p>
            <a:pPr algn="just">
              <a:lnSpc>
                <a:spcPct val="140000"/>
              </a:lnSpc>
              <a:spcBef>
                <a:spcPts val="0"/>
              </a:spcBef>
            </a:pPr>
            <a:r>
              <a:rPr lang="en-US" sz="2800" b="1" dirty="0">
                <a:solidFill>
                  <a:srgbClr val="0000FF"/>
                </a:solidFill>
                <a:latin typeface="Times New Roman" pitchFamily="18" charset="0"/>
                <a:cs typeface="Times New Roman" pitchFamily="18" charset="0"/>
              </a:rPr>
              <a:t>1.2. Ba </a:t>
            </a:r>
            <a:r>
              <a:rPr lang="en-US" sz="2800" b="1" dirty="0" err="1">
                <a:solidFill>
                  <a:srgbClr val="0000FF"/>
                </a:solidFill>
                <a:latin typeface="Times New Roman" pitchFamily="18" charset="0"/>
                <a:cs typeface="Times New Roman" pitchFamily="18" charset="0"/>
              </a:rPr>
              <a:t>vấn</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đề</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kinh</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tế</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cơ</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bản</a:t>
            </a:r>
            <a:endParaRPr lang="en-US" sz="2800" b="1" dirty="0">
              <a:solidFill>
                <a:srgbClr val="0000FF"/>
              </a:solidFill>
              <a:latin typeface="Times New Roman" pitchFamily="18" charset="0"/>
              <a:cs typeface="Times New Roman" pitchFamily="18" charset="0"/>
            </a:endParaRPr>
          </a:p>
        </p:txBody>
      </p:sp>
      <p:pic>
        <p:nvPicPr>
          <p:cNvPr id="2050" name="Picture 2">
            <a:extLst>
              <a:ext uri="{FF2B5EF4-FFF2-40B4-BE49-F238E27FC236}">
                <a16:creationId xmlns:a16="http://schemas.microsoft.com/office/drawing/2014/main" id="{D22445E2-766C-63DD-EB74-195410F75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266607"/>
            <a:ext cx="4419600" cy="5225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276215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09BD65D-8334-ABA6-EAC6-AF123BDC923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15000" y="4929187"/>
            <a:ext cx="3429000" cy="192881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Grp="1" noChangeArrowheads="1"/>
          </p:cNvSpPr>
          <p:nvPr>
            <p:ph type="subTitle" idx="1"/>
          </p:nvPr>
        </p:nvSpPr>
        <p:spPr>
          <a:xfrm>
            <a:off x="457200" y="283025"/>
            <a:ext cx="8229600" cy="6422575"/>
          </a:xfrm>
        </p:spPr>
        <p:txBody>
          <a:bodyPr>
            <a:normAutofit/>
          </a:bodyPr>
          <a:lstStyle/>
          <a:p>
            <a:pPr algn="just">
              <a:lnSpc>
                <a:spcPct val="140000"/>
              </a:lnSpc>
              <a:spcBef>
                <a:spcPts val="0"/>
              </a:spcBef>
            </a:pPr>
            <a:r>
              <a:rPr lang="en-US" sz="2800" b="1" dirty="0">
                <a:solidFill>
                  <a:srgbClr val="0000FF"/>
                </a:solidFill>
                <a:latin typeface="Times New Roman" pitchFamily="18" charset="0"/>
                <a:cs typeface="Times New Roman" pitchFamily="18" charset="0"/>
              </a:rPr>
              <a:t>1.3. </a:t>
            </a:r>
            <a:r>
              <a:rPr lang="en-US" sz="2800" b="1" dirty="0" err="1">
                <a:solidFill>
                  <a:srgbClr val="0000FF"/>
                </a:solidFill>
                <a:latin typeface="Times New Roman" pitchFamily="18" charset="0"/>
                <a:cs typeface="Times New Roman" pitchFamily="18" charset="0"/>
              </a:rPr>
              <a:t>Lựa</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chọn</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kinh</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tế</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tối</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ưu</a:t>
            </a:r>
            <a:endParaRPr lang="en-US" sz="28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1.3.1.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cơ</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bản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lý</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thuyết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endParaRPr lang="en-US" sz="2400" b="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Lý</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thuyết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lựa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tìm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a:t>
            </a:r>
          </a:p>
          <a:p>
            <a:pPr algn="just"/>
            <a:r>
              <a:rPr lang="pt-BR" sz="2400" i="1" dirty="0">
                <a:solidFill>
                  <a:srgbClr val="0000FF"/>
                </a:solidFill>
                <a:latin typeface="Times New Roman" pitchFamily="18" charset="0"/>
                <a:cs typeface="Times New Roman" pitchFamily="18" charset="0"/>
              </a:rPr>
              <a:t>- Lý do của sự lựa chọn </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a:t>
            </a:r>
            <a:r>
              <a:rPr lang="pt-BR" sz="2400" i="1" dirty="0">
                <a:solidFill>
                  <a:srgbClr val="0000FF"/>
                </a:solidFill>
                <a:latin typeface="Times New Roman" pitchFamily="18" charset="0"/>
                <a:cs typeface="Times New Roman" pitchFamily="18" charset="0"/>
              </a:rPr>
              <a:t>Sự lựa chọn là cần thiết </a:t>
            </a:r>
            <a:r>
              <a:rPr lang="pt-BR" sz="2400" dirty="0">
                <a:solidFill>
                  <a:srgbClr val="0000FF"/>
                </a:solidFill>
                <a:latin typeface="Times New Roman" pitchFamily="18" charset="0"/>
                <a:cs typeface="Times New Roman" pitchFamily="18" charset="0"/>
              </a:rPr>
              <a:t>bởi vì các nguồn lực là có giới hạn.</a:t>
            </a:r>
            <a:endParaRPr lang="vi-VN"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a:t>
            </a:r>
            <a:r>
              <a:rPr lang="vi-VN" sz="2400" dirty="0">
                <a:solidFill>
                  <a:srgbClr val="0000FF"/>
                </a:solidFill>
                <a:latin typeface="Times New Roman" pitchFamily="18" charset="0"/>
                <a:cs typeface="Times New Roman" pitchFamily="18" charset="0"/>
              </a:rPr>
              <a:t> </a:t>
            </a:r>
            <a:r>
              <a:rPr lang="pt-BR" sz="2400" i="1" dirty="0">
                <a:solidFill>
                  <a:srgbClr val="0000FF"/>
                </a:solidFill>
                <a:latin typeface="Times New Roman" pitchFamily="18" charset="0"/>
                <a:cs typeface="Times New Roman" pitchFamily="18" charset="0"/>
              </a:rPr>
              <a:t>Sự lựa chọn có thể thực hiện được</a:t>
            </a:r>
            <a:r>
              <a:rPr lang="pt-BR" sz="2400" dirty="0">
                <a:solidFill>
                  <a:srgbClr val="0000FF"/>
                </a:solidFill>
                <a:latin typeface="Times New Roman" pitchFamily="18" charset="0"/>
                <a:cs typeface="Times New Roman" pitchFamily="18" charset="0"/>
              </a:rPr>
              <a:t> là vì một nguồn lực khan hiếm có thể sử dụng vào mục đích này hay mục đích khác.</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Đôi khi có một số </a:t>
            </a:r>
            <a:r>
              <a:rPr lang="pt-BR" sz="2400" i="1" dirty="0">
                <a:solidFill>
                  <a:srgbClr val="0000FF"/>
                </a:solidFill>
                <a:latin typeface="Times New Roman" pitchFamily="18" charset="0"/>
                <a:cs typeface="Times New Roman" pitchFamily="18" charset="0"/>
              </a:rPr>
              <a:t>yếu tố khan hiếm nhất</a:t>
            </a:r>
            <a:r>
              <a:rPr lang="pt-BR" sz="2400" dirty="0">
                <a:solidFill>
                  <a:srgbClr val="0000FF"/>
                </a:solidFill>
                <a:latin typeface="Times New Roman" pitchFamily="18" charset="0"/>
                <a:cs typeface="Times New Roman" pitchFamily="18" charset="0"/>
              </a:rPr>
              <a:t>, khi lựa chọn người ta phải tập trung vào nguồn lực khan hiếm đó, nó là giới hạn ràng buộc hạn chế khả năng lựa chọn. </a:t>
            </a:r>
          </a:p>
        </p:txBody>
      </p:sp>
    </p:spTree>
    <p:extLst>
      <p:ext uri="{BB962C8B-B14F-4D97-AF65-F5344CB8AC3E}">
        <p14:creationId xmlns:p14="http://schemas.microsoft.com/office/powerpoint/2010/main" val="39737823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153400" cy="6270175"/>
          </a:xfrm>
        </p:spPr>
        <p:txBody>
          <a:bodyPr>
            <a:normAutofit/>
          </a:bodyPr>
          <a:lstStyle/>
          <a:p>
            <a:pPr algn="just">
              <a:lnSpc>
                <a:spcPct val="140000"/>
              </a:lnSpc>
              <a:spcBef>
                <a:spcPts val="0"/>
              </a:spcBef>
            </a:pPr>
            <a:r>
              <a:rPr lang="en-US" sz="2800" b="1" dirty="0">
                <a:solidFill>
                  <a:srgbClr val="0000FF"/>
                </a:solidFill>
                <a:latin typeface="Times New Roman" pitchFamily="18" charset="0"/>
                <a:cs typeface="Times New Roman" pitchFamily="18" charset="0"/>
              </a:rPr>
              <a:t>1.3. </a:t>
            </a:r>
            <a:r>
              <a:rPr lang="en-US" sz="2800" b="1" dirty="0" err="1">
                <a:solidFill>
                  <a:srgbClr val="0000FF"/>
                </a:solidFill>
                <a:latin typeface="Times New Roman" pitchFamily="18" charset="0"/>
                <a:cs typeface="Times New Roman" pitchFamily="18" charset="0"/>
              </a:rPr>
              <a:t>Lựa</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chọn</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kinh</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tế</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tối</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ưu</a:t>
            </a:r>
            <a:endParaRPr lang="en-US" sz="28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1.3.1.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cơ</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bản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lý</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thuyết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endParaRPr lang="en-US" sz="2400" b="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 </a:t>
            </a:r>
            <a:r>
              <a:rPr lang="pt-BR" sz="2400" i="1" dirty="0">
                <a:solidFill>
                  <a:srgbClr val="0000FF"/>
                </a:solidFill>
                <a:latin typeface="Times New Roman" pitchFamily="18" charset="0"/>
                <a:cs typeface="Times New Roman" pitchFamily="18" charset="0"/>
              </a:rPr>
              <a:t>Mục tiêu của sự lựa chọn</a:t>
            </a:r>
            <a:r>
              <a:rPr lang="pt-BR" sz="2400" dirty="0">
                <a:solidFill>
                  <a:srgbClr val="0000FF"/>
                </a:solidFill>
                <a:latin typeface="Times New Roman" pitchFamily="18" charset="0"/>
                <a:cs typeface="Times New Roman" pitchFamily="18" charset="0"/>
              </a:rPr>
              <a:t>: là mục tiêu của những tác nhân kinh tế.</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Đối với người tiêu dùng: tối đa hóa lợi ích.</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Đối với doanh nghiệp: tối đa hóa lợi nhuận. </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Đối với chính phủ: tối đa hóa phúc lợi xã hội.</a:t>
            </a:r>
          </a:p>
          <a:p>
            <a:pPr algn="just"/>
            <a:r>
              <a:rPr lang="en-US" sz="2400"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Khan </a:t>
            </a:r>
            <a:r>
              <a:rPr lang="en-US" sz="2400" i="1" dirty="0" err="1">
                <a:solidFill>
                  <a:srgbClr val="0000FF"/>
                </a:solidFill>
                <a:latin typeface="Times New Roman" pitchFamily="18" charset="0"/>
                <a:cs typeface="Times New Roman" pitchFamily="18" charset="0"/>
              </a:rPr>
              <a:t>hiếm</a:t>
            </a:r>
            <a:r>
              <a:rPr lang="en-US" sz="2400" i="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đủ</a:t>
            </a:r>
            <a:r>
              <a:rPr lang="en-US" sz="2400" dirty="0">
                <a:solidFill>
                  <a:srgbClr val="0000FF"/>
                </a:solidFill>
                <a:latin typeface="Times New Roman" pitchFamily="18" charset="0"/>
                <a:cs typeface="Times New Roman" pitchFamily="18" charset="0"/>
              </a:rPr>
              <a:t> so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p>
          <a:p>
            <a:pPr algn="just"/>
            <a:r>
              <a:rPr lang="en-US" sz="2400" dirty="0">
                <a:solidFill>
                  <a:srgbClr val="0000FF"/>
                </a:solidFill>
                <a:latin typeface="Times New Roman" pitchFamily="18" charset="0"/>
                <a:cs typeface="Times New Roman" pitchFamily="18" charset="0"/>
              </a:rPr>
              <a:t>Theo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học</a:t>
            </a:r>
            <a:r>
              <a:rPr lang="en-US" sz="2400" dirty="0">
                <a:solidFill>
                  <a:srgbClr val="0000FF"/>
                </a:solidFill>
                <a:latin typeface="Times New Roman" pitchFamily="18" charset="0"/>
                <a:cs typeface="Times New Roman" pitchFamily="18" charset="0"/>
              </a:rPr>
              <a:t> David </a:t>
            </a:r>
            <a:r>
              <a:rPr lang="en-US" sz="2400" dirty="0" err="1">
                <a:solidFill>
                  <a:srgbClr val="0000FF"/>
                </a:solidFill>
                <a:latin typeface="Times New Roman" pitchFamily="18" charset="0"/>
                <a:cs typeface="Times New Roman" pitchFamily="18" charset="0"/>
              </a:rPr>
              <a:t>Begg</a:t>
            </a:r>
            <a:r>
              <a:rPr lang="en-US" sz="2400" dirty="0">
                <a:solidFill>
                  <a:srgbClr val="0000FF"/>
                </a:solidFill>
                <a:latin typeface="Times New Roman" pitchFamily="18" charset="0"/>
                <a:cs typeface="Times New Roman" pitchFamily="18" charset="0"/>
              </a:rPr>
              <a:t>, 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0,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trả</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đáp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gọi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9954755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283025"/>
            <a:ext cx="8153400" cy="6422575"/>
          </a:xfrm>
        </p:spPr>
        <p:txBody>
          <a:bodyPr>
            <a:normAutofit/>
          </a:bodyPr>
          <a:lstStyle/>
          <a:p>
            <a:pPr algn="just">
              <a:lnSpc>
                <a:spcPct val="140000"/>
              </a:lnSpc>
              <a:spcBef>
                <a:spcPts val="0"/>
              </a:spcBef>
            </a:pPr>
            <a:r>
              <a:rPr lang="en-US" sz="2800" b="1" dirty="0">
                <a:solidFill>
                  <a:srgbClr val="0000FF"/>
                </a:solidFill>
                <a:latin typeface="Times New Roman" pitchFamily="18" charset="0"/>
                <a:cs typeface="Times New Roman" pitchFamily="18" charset="0"/>
              </a:rPr>
              <a:t>1.3. </a:t>
            </a:r>
            <a:r>
              <a:rPr lang="en-US" sz="2800" b="1" dirty="0" err="1">
                <a:solidFill>
                  <a:srgbClr val="0000FF"/>
                </a:solidFill>
                <a:latin typeface="Times New Roman" pitchFamily="18" charset="0"/>
                <a:cs typeface="Times New Roman" pitchFamily="18" charset="0"/>
              </a:rPr>
              <a:t>Lựa</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chọn</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kinh</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tế</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tối</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ưu</a:t>
            </a:r>
            <a:endParaRPr lang="en-US" sz="28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1.3.1.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cơ</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bản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lý</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thuyết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endParaRPr lang="en-US" sz="2400" b="1"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Nhu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vô</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=&gt; </a:t>
            </a:r>
            <a:r>
              <a:rPr lang="en-US" sz="2400" dirty="0" err="1">
                <a:solidFill>
                  <a:srgbClr val="0000FF"/>
                </a:solidFill>
                <a:latin typeface="Times New Roman" pitchFamily="18" charset="0"/>
                <a:cs typeface="Times New Roman" pitchFamily="18" charset="0"/>
              </a:rPr>
              <a:t>đòi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hỏi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=&gt;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nghĩa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ưu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=&gt;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sinh</a:t>
            </a:r>
            <a:r>
              <a:rPr lang="en-US" sz="2400" dirty="0">
                <a:solidFill>
                  <a:srgbClr val="0000FF"/>
                </a:solidFill>
                <a:latin typeface="Times New Roman" pitchFamily="18" charset="0"/>
                <a:cs typeface="Times New Roman" pitchFamily="18" charset="0"/>
              </a:rPr>
              <a:t> </a:t>
            </a:r>
            <a:r>
              <a:rPr lang="en-US" sz="2400" b="1" i="1" dirty="0">
                <a:solidFill>
                  <a:srgbClr val="0000FF"/>
                </a:solidFill>
                <a:latin typeface="Times New Roman" pitchFamily="18" charset="0"/>
                <a:cs typeface="Times New Roman" pitchFamily="18" charset="0"/>
              </a:rPr>
              <a:t>chi </a:t>
            </a:r>
            <a:r>
              <a:rPr lang="en-US" sz="2400" b="1" i="1" dirty="0" err="1">
                <a:solidFill>
                  <a:srgbClr val="0000FF"/>
                </a:solidFill>
                <a:latin typeface="Times New Roman" pitchFamily="18" charset="0"/>
                <a:cs typeface="Times New Roman" pitchFamily="18" charset="0"/>
              </a:rPr>
              <a:t>phí</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cơ</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lỡ</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endParaRPr lang="vi-VN" sz="2400"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Xem clip 4: </a:t>
            </a:r>
            <a:r>
              <a:rPr lang="en-US" sz="2400" i="1" dirty="0" err="1">
                <a:solidFill>
                  <a:srgbClr val="0000FF"/>
                </a:solidFill>
                <a:latin typeface="Times New Roman" pitchFamily="18" charset="0"/>
                <a:cs typeface="Times New Roman" pitchFamily="18" charset="0"/>
              </a:rPr>
              <a:t>Tại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lãi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vẫn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lỗ</a:t>
            </a:r>
            <a:r>
              <a:rPr lang="en-US" sz="2400" i="1" dirty="0">
                <a:solidFill>
                  <a:srgbClr val="0000FF"/>
                </a:solidFill>
                <a:latin typeface="Times New Roman" pitchFamily="18" charset="0"/>
                <a:cs typeface="Times New Roman" pitchFamily="18" charset="0"/>
              </a:rPr>
              <a:t>?</a:t>
            </a:r>
          </a:p>
          <a:p>
            <a:pPr algn="just"/>
            <a:endParaRPr lang="en-US" sz="2400" dirty="0">
              <a:solidFill>
                <a:srgbClr val="0000FF"/>
              </a:solidFill>
              <a:latin typeface="Times New Roman" pitchFamily="18" charset="0"/>
              <a:cs typeface="Times New Roman" pitchFamily="18" charset="0"/>
            </a:endParaRPr>
          </a:p>
        </p:txBody>
      </p:sp>
      <p:pic>
        <p:nvPicPr>
          <p:cNvPr id="6" name="Picture 5">
            <a:extLst>
              <a:ext uri="{FF2B5EF4-FFF2-40B4-BE49-F238E27FC236}">
                <a16:creationId xmlns:a16="http://schemas.microsoft.com/office/drawing/2014/main" id="{1C8B3E54-F037-73FE-E15B-839F95F2A193}"/>
              </a:ext>
            </a:extLst>
          </p:cNvPr>
          <p:cNvPicPr>
            <a:picLocks noChangeAspect="1"/>
          </p:cNvPicPr>
          <p:nvPr/>
        </p:nvPicPr>
        <p:blipFill>
          <a:blip r:embed="rId3"/>
          <a:stretch>
            <a:fillRect/>
          </a:stretch>
        </p:blipFill>
        <p:spPr>
          <a:xfrm>
            <a:off x="3048000" y="3982649"/>
            <a:ext cx="2521080" cy="2571882"/>
          </a:xfrm>
          <a:prstGeom prst="rect">
            <a:avLst/>
          </a:prstGeom>
        </p:spPr>
      </p:pic>
    </p:spTree>
    <p:extLst>
      <p:ext uri="{BB962C8B-B14F-4D97-AF65-F5344CB8AC3E}">
        <p14:creationId xmlns:p14="http://schemas.microsoft.com/office/powerpoint/2010/main" val="3653553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305800" cy="6422575"/>
          </a:xfrm>
        </p:spPr>
        <p:txBody>
          <a:bodyPr>
            <a:normAutofit lnSpcReduction="10000"/>
          </a:bodyPr>
          <a:lstStyle/>
          <a:p>
            <a:pPr algn="just">
              <a:lnSpc>
                <a:spcPct val="140000"/>
              </a:lnSpc>
              <a:spcBef>
                <a:spcPts val="0"/>
              </a:spcBef>
            </a:pPr>
            <a:r>
              <a:rPr lang="en-US" sz="2800" b="1" dirty="0">
                <a:solidFill>
                  <a:srgbClr val="0000FF"/>
                </a:solidFill>
                <a:latin typeface="Times New Roman" pitchFamily="18" charset="0"/>
                <a:cs typeface="Times New Roman" pitchFamily="18" charset="0"/>
              </a:rPr>
              <a:t>1.3. </a:t>
            </a:r>
            <a:r>
              <a:rPr lang="en-US" sz="2800" b="1" dirty="0" err="1">
                <a:solidFill>
                  <a:srgbClr val="0000FF"/>
                </a:solidFill>
                <a:latin typeface="Times New Roman" pitchFamily="18" charset="0"/>
                <a:cs typeface="Times New Roman" pitchFamily="18" charset="0"/>
              </a:rPr>
              <a:t>Lựa</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chọn</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kinh</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tế</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tối</a:t>
            </a:r>
            <a:r>
              <a:rPr lang="en-US" sz="2800" b="1" dirty="0">
                <a:solidFill>
                  <a:srgbClr val="0000FF"/>
                </a:solidFill>
                <a:latin typeface="Times New Roman" pitchFamily="18" charset="0"/>
                <a:cs typeface="Times New Roman" pitchFamily="18" charset="0"/>
              </a:rPr>
              <a:t> </a:t>
            </a:r>
            <a:r>
              <a:rPr lang="en-US" sz="2800" b="1" dirty="0" err="1">
                <a:solidFill>
                  <a:srgbClr val="0000FF"/>
                </a:solidFill>
                <a:latin typeface="Times New Roman" pitchFamily="18" charset="0"/>
                <a:cs typeface="Times New Roman" pitchFamily="18" charset="0"/>
              </a:rPr>
              <a:t>ưu</a:t>
            </a:r>
            <a:endParaRPr lang="en-US" sz="28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1.3.2. </a:t>
            </a:r>
            <a:r>
              <a:rPr lang="en-US" sz="2400" b="1" dirty="0" err="1">
                <a:solidFill>
                  <a:srgbClr val="0000FF"/>
                </a:solidFill>
                <a:latin typeface="Times New Roman" pitchFamily="18" charset="0"/>
                <a:cs typeface="Times New Roman" pitchFamily="18" charset="0"/>
              </a:rPr>
              <a:t>Bản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phương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pháp</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ưu</a:t>
            </a:r>
            <a:endParaRPr lang="en-US" sz="2400" b="1" dirty="0">
              <a:solidFill>
                <a:srgbClr val="0000FF"/>
              </a:solidFill>
              <a:latin typeface="Times New Roman" pitchFamily="18" charset="0"/>
              <a:cs typeface="Times New Roman" pitchFamily="18" charset="0"/>
            </a:endParaRPr>
          </a:p>
          <a:p>
            <a:pPr algn="just"/>
            <a:r>
              <a:rPr lang="vi-VN" sz="2400" b="1" i="1" dirty="0">
                <a:solidFill>
                  <a:srgbClr val="0000FF"/>
                </a:solidFill>
                <a:latin typeface="Times New Roman" pitchFamily="18" charset="0"/>
                <a:cs typeface="Times New Roman" pitchFamily="18" charset="0"/>
              </a:rPr>
              <a:t>	</a:t>
            </a:r>
            <a:r>
              <a:rPr lang="pt-BR" sz="2400" b="1" i="1" dirty="0">
                <a:solidFill>
                  <a:srgbClr val="0000FF"/>
                </a:solidFill>
                <a:latin typeface="Times New Roman" pitchFamily="18" charset="0"/>
                <a:cs typeface="Times New Roman" pitchFamily="18" charset="0"/>
              </a:rPr>
              <a:t>Bản chất của sự lựa chọn kinh tế tối ưu </a:t>
            </a:r>
            <a:r>
              <a:rPr lang="pt-BR" sz="2400" dirty="0">
                <a:solidFill>
                  <a:srgbClr val="0000FF"/>
                </a:solidFill>
                <a:latin typeface="Times New Roman" pitchFamily="18" charset="0"/>
                <a:cs typeface="Times New Roman" pitchFamily="18" charset="0"/>
              </a:rPr>
              <a:t>là căn cứ vào nhu cầu vô hạn của con người, của xã hội, của thị trường để ra các quyết định tối ưu về sản xuất cái gì, sản xuất như thế nào và sản xuất cho ai trong giới hạn cho phép của nguồn lực hiện có.</a:t>
            </a:r>
          </a:p>
          <a:p>
            <a:pPr algn="just"/>
            <a:r>
              <a:rPr lang="vi-VN" sz="2400" dirty="0">
                <a:solidFill>
                  <a:srgbClr val="0000FF"/>
                </a:solidFill>
                <a:latin typeface="Times New Roman" pitchFamily="18" charset="0"/>
                <a:cs typeface="Times New Roman" pitchFamily="18" charset="0"/>
              </a:rPr>
              <a:t>	</a:t>
            </a:r>
            <a:r>
              <a:rPr lang="pt-BR" sz="2400" dirty="0">
                <a:solidFill>
                  <a:srgbClr val="0000FF"/>
                </a:solidFill>
                <a:latin typeface="Times New Roman" pitchFamily="18" charset="0"/>
                <a:cs typeface="Times New Roman" pitchFamily="18" charset="0"/>
              </a:rPr>
              <a:t>Trong việc lựa chọn kinh tế tối ưu thông thường người ta sử dụng mô hình toán với các bài toán tối ưu. Nhưng ràng buộc quan trọng nhất là giới hạn của </a:t>
            </a:r>
            <a:r>
              <a:rPr lang="pt-BR" sz="2400" b="1" i="1" dirty="0">
                <a:solidFill>
                  <a:srgbClr val="0000FF"/>
                </a:solidFill>
                <a:latin typeface="Times New Roman" pitchFamily="18" charset="0"/>
                <a:cs typeface="Times New Roman" pitchFamily="18" charset="0"/>
              </a:rPr>
              <a:t>đường giới hạn khả năng sản xuất</a:t>
            </a:r>
            <a:r>
              <a:rPr lang="pt-BR" sz="2400" dirty="0">
                <a:solidFill>
                  <a:srgbClr val="0000FF"/>
                </a:solidFill>
                <a:latin typeface="Times New Roman" pitchFamily="18" charset="0"/>
                <a:cs typeface="Times New Roman" pitchFamily="18" charset="0"/>
              </a:rPr>
              <a:t>. Điều đó cũng có nghĩa là việc chúng ta có thể sản xuất cái gì và bao nhiêu trong một khoảng thời gian nào đó luôn luôn có một giới hạn nhất định của nguồn lực cho phép.</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a:t>
            </a:r>
            <a:r>
              <a:rPr lang="pt-BR" sz="2400" b="1" i="1" dirty="0">
                <a:solidFill>
                  <a:srgbClr val="0000FF"/>
                </a:solidFill>
                <a:latin typeface="Times New Roman" pitchFamily="18" charset="0"/>
                <a:cs typeface="Times New Roman" pitchFamily="18" charset="0"/>
              </a:rPr>
              <a:t>Đường giới hạn khả năng sản xuất (PPF) </a:t>
            </a:r>
            <a:r>
              <a:rPr lang="pt-BR" sz="2400" i="1" dirty="0">
                <a:solidFill>
                  <a:srgbClr val="0000FF"/>
                </a:solidFill>
                <a:latin typeface="Times New Roman" pitchFamily="18" charset="0"/>
                <a:cs typeface="Times New Roman" pitchFamily="18" charset="0"/>
              </a:rPr>
              <a:t>là đường thể hiện các kết hợp hàng hóa tối đa mà một nền kinh tế, một doanh nghiệp có khả năng sản xuất được dựa trên các nguồn lực và công nghệ sẵn có và được sử dụng một cách có hiệu quả nhất.</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0023740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283025"/>
            <a:ext cx="8235592" cy="6422575"/>
          </a:xfrm>
        </p:spPr>
        <p:txBody>
          <a:bodyPr>
            <a:normAutofit/>
          </a:bodyPr>
          <a:lstStyle/>
          <a:p>
            <a:pPr algn="just"/>
            <a:r>
              <a:rPr lang="en-US" sz="2400" b="1" dirty="0">
                <a:solidFill>
                  <a:srgbClr val="0000FF"/>
                </a:solidFill>
                <a:latin typeface="Times New Roman" pitchFamily="18" charset="0"/>
                <a:cs typeface="Times New Roman" pitchFamily="18" charset="0"/>
              </a:rPr>
              <a:t>1.3.2. </a:t>
            </a:r>
            <a:r>
              <a:rPr lang="en-US" sz="2400" b="1" dirty="0" err="1">
                <a:solidFill>
                  <a:srgbClr val="0000FF"/>
                </a:solidFill>
                <a:latin typeface="Times New Roman" pitchFamily="18" charset="0"/>
                <a:cs typeface="Times New Roman" pitchFamily="18" charset="0"/>
              </a:rPr>
              <a:t>Bản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phương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pháp</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ưu</a:t>
            </a:r>
            <a:endParaRPr lang="en-US" sz="2400" b="1" dirty="0">
              <a:solidFill>
                <a:srgbClr val="0000FF"/>
              </a:solidFill>
              <a:latin typeface="Times New Roman" pitchFamily="18" charset="0"/>
              <a:cs typeface="Times New Roman" pitchFamily="18" charset="0"/>
            </a:endParaRPr>
          </a:p>
          <a:p>
            <a:pPr algn="just"/>
            <a:r>
              <a:rPr lang="en-US" sz="2400" b="1" dirty="0" err="1">
                <a:solidFill>
                  <a:srgbClr val="0000FF"/>
                </a:solidFill>
                <a:latin typeface="Times New Roman" pitchFamily="18" charset="0"/>
                <a:cs typeface="Times New Roman" pitchFamily="18" charset="0"/>
              </a:rPr>
              <a:t>Ví</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dụ</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giới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hạn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khả</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năng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r>
              <a:rPr lang="en-US" sz="2400" b="1"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5 </a:t>
            </a:r>
            <a:r>
              <a:rPr lang="en-US" sz="2400" dirty="0" err="1">
                <a:solidFill>
                  <a:srgbClr val="0000FF"/>
                </a:solidFill>
                <a:latin typeface="Times New Roman" pitchFamily="18" charset="0"/>
                <a:cs typeface="Times New Roman" pitchFamily="18" charset="0"/>
              </a:rPr>
              <a:t>nghìn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150 </a:t>
            </a:r>
            <a:r>
              <a:rPr lang="en-US" sz="2400" dirty="0" err="1">
                <a:solidFill>
                  <a:srgbClr val="0000FF"/>
                </a:solidFill>
                <a:latin typeface="Times New Roman" pitchFamily="18" charset="0"/>
                <a:cs typeface="Times New Roman" pitchFamily="18" charset="0"/>
              </a:rPr>
              <a:t>nghìn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tấn</a:t>
            </a:r>
            <a:r>
              <a:rPr lang="en-US" sz="2400" dirty="0">
                <a:solidFill>
                  <a:srgbClr val="0000FF"/>
                </a:solidFill>
                <a:latin typeface="Times New Roman" pitchFamily="18" charset="0"/>
                <a:cs typeface="Times New Roman" pitchFamily="18" charset="0"/>
              </a:rPr>
              <a:t>. </a:t>
            </a:r>
          </a:p>
          <a:p>
            <a:pPr algn="just"/>
            <a:endParaRPr lang="en-US" sz="2400" b="1" dirty="0">
              <a:solidFill>
                <a:srgbClr val="0000FF"/>
              </a:solidFill>
              <a:latin typeface="Times New Roman" pitchFamily="18" charset="0"/>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826182699"/>
              </p:ext>
            </p:extLst>
          </p:nvPr>
        </p:nvGraphicFramePr>
        <p:xfrm>
          <a:off x="533400" y="2848721"/>
          <a:ext cx="3276600" cy="3785608"/>
        </p:xfrm>
        <a:graphic>
          <a:graphicData uri="http://schemas.openxmlformats.org/drawingml/2006/table">
            <a:tbl>
              <a:tblPr firstRow="1" firstCol="1" lastRow="1" lastCol="1" bandRow="1" bandCol="1">
                <a:tableStyleId>{5C22544A-7EE6-4342-B048-85BDC9FD1C3A}</a:tableStyleId>
              </a:tblPr>
              <a:tblGrid>
                <a:gridCol w="990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878816">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Khả năng</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Sữa (nghìn lít)</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Bánh mì (nghìn tấn)</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0"/>
                  </a:ext>
                </a:extLst>
              </a:tr>
              <a:tr h="439408">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A</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5</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0</a:t>
                      </a:r>
                      <a:endParaRPr lang="en-US" sz="20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1"/>
                  </a:ext>
                </a:extLst>
              </a:tr>
              <a:tr h="439408">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B</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4</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50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2"/>
                  </a:ext>
                </a:extLst>
              </a:tr>
              <a:tr h="439408">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C</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3</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90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3"/>
                  </a:ext>
                </a:extLst>
              </a:tr>
              <a:tr h="439408">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D</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2</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120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4"/>
                  </a:ext>
                </a:extLst>
              </a:tr>
              <a:tr h="439408">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E</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1</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140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5"/>
                  </a:ext>
                </a:extLst>
              </a:tr>
              <a:tr h="439408">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F</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a:effectLst/>
                          <a:latin typeface="Times New Roman" pitchFamily="18" charset="0"/>
                          <a:cs typeface="Times New Roman" pitchFamily="18" charset="0"/>
                        </a:rPr>
                        <a:t>0</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pt-BR" sz="2000" dirty="0">
                          <a:effectLst/>
                          <a:latin typeface="Times New Roman" pitchFamily="18" charset="0"/>
                          <a:cs typeface="Times New Roman" pitchFamily="18" charset="0"/>
                        </a:rPr>
                        <a:t>150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6"/>
                  </a:ext>
                </a:extLst>
              </a:tr>
            </a:tbl>
          </a:graphicData>
        </a:graphic>
      </p:graphicFrame>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2743200"/>
            <a:ext cx="5334000" cy="3367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01941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609600" y="283025"/>
            <a:ext cx="7924800" cy="6422575"/>
          </a:xfrm>
        </p:spPr>
        <p:txBody>
          <a:bodyPr>
            <a:normAutofit/>
          </a:bodyPr>
          <a:lstStyle/>
          <a:p>
            <a:pPr algn="just"/>
            <a:r>
              <a:rPr lang="en-US" sz="2400" b="1" dirty="0">
                <a:solidFill>
                  <a:srgbClr val="0000FF"/>
                </a:solidFill>
                <a:latin typeface="Times New Roman" pitchFamily="18" charset="0"/>
                <a:cs typeface="Times New Roman" pitchFamily="18" charset="0"/>
              </a:rPr>
              <a:t>1.3.2. </a:t>
            </a:r>
            <a:r>
              <a:rPr lang="en-US" sz="2400" b="1" dirty="0" err="1">
                <a:solidFill>
                  <a:srgbClr val="0000FF"/>
                </a:solidFill>
                <a:latin typeface="Times New Roman" pitchFamily="18" charset="0"/>
                <a:cs typeface="Times New Roman" pitchFamily="18" charset="0"/>
              </a:rPr>
              <a:t>Bản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phương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pháp</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ưu</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Khi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trưởng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kỳ</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chúng</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a:t>
            </a:r>
          </a:p>
          <a:p>
            <a:pPr marL="342900" indent="-342900" algn="just">
              <a:buFontTx/>
              <a:buChar char="-"/>
            </a:pP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thêm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endParaRPr lang="en-US" sz="2400" dirty="0">
              <a:solidFill>
                <a:srgbClr val="0000FF"/>
              </a:solidFill>
              <a:latin typeface="Times New Roman" pitchFamily="18" charset="0"/>
              <a:cs typeface="Times New Roman" pitchFamily="18" charset="0"/>
            </a:endParaRPr>
          </a:p>
          <a:p>
            <a:pPr marL="342900" indent="-342900" algn="just">
              <a:buFontTx/>
              <a:buChar char="-"/>
            </a:pP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thêm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đào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a:t>
            </a:r>
          </a:p>
          <a:p>
            <a:pPr marL="342900" indent="-342900" algn="just">
              <a:buFontTx/>
              <a:buChar char="-"/>
            </a:pPr>
            <a:r>
              <a:rPr lang="en-US" sz="2400" dirty="0" err="1">
                <a:solidFill>
                  <a:srgbClr val="0000FF"/>
                </a:solidFill>
                <a:latin typeface="Times New Roman" pitchFamily="18" charset="0"/>
                <a:cs typeface="Times New Roman" pitchFamily="18" charset="0"/>
              </a:rPr>
              <a:t>Cải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nghệ</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trước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10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1 </a:t>
            </a:r>
            <a:r>
              <a:rPr lang="en-US" sz="2400" dirty="0" err="1">
                <a:solidFill>
                  <a:srgbClr val="0000FF"/>
                </a:solidFill>
                <a:latin typeface="Times New Roman" pitchFamily="18" charset="0"/>
                <a:cs typeface="Times New Roman" pitchFamily="18" charset="0"/>
              </a:rPr>
              <a:t>sp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nghệ</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1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100 </a:t>
            </a:r>
            <a:r>
              <a:rPr lang="en-US" sz="2400" dirty="0" err="1">
                <a:solidFill>
                  <a:srgbClr val="0000FF"/>
                </a:solidFill>
                <a:latin typeface="Times New Roman" pitchFamily="18" charset="0"/>
                <a:cs typeface="Times New Roman" pitchFamily="18" charset="0"/>
              </a:rPr>
              <a:t>sp</a:t>
            </a:r>
            <a:r>
              <a:rPr lang="en-US" sz="2400" dirty="0">
                <a:solidFill>
                  <a:srgbClr val="0000FF"/>
                </a:solidFill>
                <a:latin typeface="Times New Roman" pitchFamily="18" charset="0"/>
                <a:cs typeface="Times New Roman" pitchFamily="18" charset="0"/>
              </a:rPr>
              <a:t>)</a:t>
            </a:r>
          </a:p>
          <a:p>
            <a:pPr marL="342900" indent="-342900" algn="just">
              <a:buFontTx/>
              <a:buChar char="-"/>
            </a:pP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hỗ</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ban </a:t>
            </a:r>
            <a:r>
              <a:rPr lang="en-US" sz="2400" dirty="0" err="1">
                <a:solidFill>
                  <a:srgbClr val="0000FF"/>
                </a:solidFill>
                <a:latin typeface="Times New Roman" pitchFamily="18" charset="0"/>
                <a:cs typeface="Times New Roman" pitchFamily="18" charset="0"/>
              </a:rPr>
              <a:t>quản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ty…)</a:t>
            </a:r>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4162384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70365"/>
            <a:ext cx="8382000" cy="6422575"/>
          </a:xfrm>
        </p:spPr>
        <p:txBody>
          <a:bodyPr>
            <a:noAutofit/>
          </a:bodyPr>
          <a:lstStyle/>
          <a:p>
            <a:pPr algn="just">
              <a:lnSpc>
                <a:spcPct val="140000"/>
              </a:lnSpc>
              <a:spcBef>
                <a:spcPts val="0"/>
              </a:spcBef>
            </a:pPr>
            <a:r>
              <a:rPr lang="en-US" sz="2400" b="1" dirty="0">
                <a:solidFill>
                  <a:srgbClr val="0000FF"/>
                </a:solidFill>
                <a:latin typeface="Times New Roman" pitchFamily="18" charset="0"/>
                <a:cs typeface="Times New Roman" pitchFamily="18" charset="0"/>
              </a:rPr>
              <a:t>1.3.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ưu</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1.3.3. Các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ảnh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hưởng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đến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việc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cơ</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bản</a:t>
            </a:r>
            <a:endParaRPr lang="vi-VN"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(HV tự nghiên cứu) </a:t>
            </a:r>
          </a:p>
          <a:p>
            <a:pPr algn="just"/>
            <a:r>
              <a:rPr lang="en-US" sz="2400" b="1" dirty="0">
                <a:solidFill>
                  <a:srgbClr val="0000FF"/>
                </a:solidFill>
                <a:latin typeface="Times New Roman" pitchFamily="18" charset="0"/>
                <a:cs typeface="Times New Roman" pitchFamily="18" charset="0"/>
              </a:rPr>
              <a:t>1.4. </a:t>
            </a:r>
            <a:r>
              <a:rPr lang="en-US" sz="2400" b="1" dirty="0" err="1">
                <a:solidFill>
                  <a:srgbClr val="0000FF"/>
                </a:solidFill>
                <a:latin typeface="Times New Roman" pitchFamily="18" charset="0"/>
                <a:cs typeface="Times New Roman" pitchFamily="18" charset="0"/>
              </a:rPr>
              <a:t>Đối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tượng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nội</a:t>
            </a:r>
            <a:r>
              <a:rPr lang="en-US" sz="2400" b="1" dirty="0">
                <a:solidFill>
                  <a:srgbClr val="0000FF"/>
                </a:solidFill>
                <a:latin typeface="Times New Roman" pitchFamily="18" charset="0"/>
                <a:cs typeface="Times New Roman" pitchFamily="18" charset="0"/>
              </a:rPr>
              <a:t> dung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phương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pháp</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nghiên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cứu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kinh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tế</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học</a:t>
            </a:r>
            <a:r>
              <a:rPr lang="en-US" sz="2400" b="1" dirty="0">
                <a:solidFill>
                  <a:srgbClr val="0000FF"/>
                </a:solidFill>
                <a:latin typeface="Times New Roman" pitchFamily="18" charset="0"/>
                <a:cs typeface="Times New Roman" pitchFamily="18" charset="0"/>
              </a:rPr>
              <a:t> vi </a:t>
            </a:r>
            <a:r>
              <a:rPr lang="en-US" sz="2400" b="1" dirty="0" err="1">
                <a:solidFill>
                  <a:srgbClr val="0000FF"/>
                </a:solidFill>
                <a:latin typeface="Times New Roman" pitchFamily="18" charset="0"/>
                <a:cs typeface="Times New Roman" pitchFamily="18" charset="0"/>
              </a:rPr>
              <a:t>mô</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(HV tự nghiên cứu)</a:t>
            </a:r>
            <a:endParaRPr lang="en-US" sz="2400" b="1" dirty="0">
              <a:solidFill>
                <a:srgbClr val="0000FF"/>
              </a:solidFill>
              <a:latin typeface="Times New Roman" pitchFamily="18" charset="0"/>
              <a:cs typeface="Times New Roman" pitchFamily="18" charset="0"/>
            </a:endParaRPr>
          </a:p>
        </p:txBody>
      </p:sp>
      <p:pic>
        <p:nvPicPr>
          <p:cNvPr id="3" name="Picture 2">
            <a:extLst>
              <a:ext uri="{FF2B5EF4-FFF2-40B4-BE49-F238E27FC236}">
                <a16:creationId xmlns:a16="http://schemas.microsoft.com/office/drawing/2014/main" id="{D199BFA1-AB73-093D-9CAE-1D882025C43B}"/>
              </a:ext>
            </a:extLst>
          </p:cNvPr>
          <p:cNvPicPr>
            <a:picLocks noChangeAspect="1"/>
          </p:cNvPicPr>
          <p:nvPr/>
        </p:nvPicPr>
        <p:blipFill>
          <a:blip r:embed="rId2"/>
          <a:stretch>
            <a:fillRect/>
          </a:stretch>
        </p:blipFill>
        <p:spPr>
          <a:xfrm>
            <a:off x="3048000" y="3561879"/>
            <a:ext cx="2883048" cy="2895749"/>
          </a:xfrm>
          <a:prstGeom prst="rect">
            <a:avLst/>
          </a:prstGeom>
        </p:spPr>
      </p:pic>
    </p:spTree>
    <p:extLst>
      <p:ext uri="{BB962C8B-B14F-4D97-AF65-F5344CB8AC3E}">
        <p14:creationId xmlns:p14="http://schemas.microsoft.com/office/powerpoint/2010/main" val="3074427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696ABAF-CD4B-712A-CF6E-0852A3AEA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8650" y="4245429"/>
            <a:ext cx="4705350" cy="268877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a:spLocks noGrp="1" noChangeArrowheads="1"/>
          </p:cNvSpPr>
          <p:nvPr>
            <p:ph type="subTitle" idx="1"/>
          </p:nvPr>
        </p:nvSpPr>
        <p:spPr>
          <a:xfrm>
            <a:off x="381000" y="283025"/>
            <a:ext cx="8534400" cy="4288975"/>
          </a:xfrm>
        </p:spPr>
        <p:txBody>
          <a:bodyPr>
            <a:normAutofit/>
          </a:bodyPr>
          <a:lstStyle/>
          <a:p>
            <a:pPr eaLnBrk="1" hangingPunct="1"/>
            <a:r>
              <a:rPr lang="en-US" sz="2400" b="1" dirty="0">
                <a:solidFill>
                  <a:srgbClr val="0000FF"/>
                </a:solidFill>
                <a:latin typeface="Times New Roman" pitchFamily="18" charset="0"/>
              </a:rPr>
              <a:t>CHƯƠNG 2</a:t>
            </a:r>
          </a:p>
          <a:p>
            <a:pPr eaLnBrk="1" hangingPunct="1"/>
            <a:r>
              <a:rPr lang="en-US" sz="2400" b="1" dirty="0">
                <a:solidFill>
                  <a:srgbClr val="0000FF"/>
                </a:solidFill>
                <a:latin typeface="Times New Roman" pitchFamily="18" charset="0"/>
              </a:rPr>
              <a:t>CUNG – CẦU VÀ GIÁ CẢ THỊ TRƯỜNG</a:t>
            </a:r>
          </a:p>
          <a:p>
            <a:pPr algn="just"/>
            <a:r>
              <a:rPr lang="en-US" sz="2400" b="1" dirty="0">
                <a:solidFill>
                  <a:srgbClr val="0000FF"/>
                </a:solidFill>
                <a:latin typeface="Times New Roman" pitchFamily="18" charset="0"/>
                <a:cs typeface="Times New Roman" pitchFamily="18" charset="0"/>
              </a:rPr>
              <a:t>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phân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loại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2.1.1.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(Samuelson,1948).</a:t>
            </a: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nhóm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Trong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nhóm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nhóm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p>
        </p:txBody>
      </p:sp>
      <p:sp>
        <p:nvSpPr>
          <p:cNvPr id="3" name="TextBox 2">
            <a:extLst>
              <a:ext uri="{FF2B5EF4-FFF2-40B4-BE49-F238E27FC236}">
                <a16:creationId xmlns:a16="http://schemas.microsoft.com/office/drawing/2014/main" id="{389EEA83-7F77-43AA-DA0A-8421D437F8FC}"/>
              </a:ext>
            </a:extLst>
          </p:cNvPr>
          <p:cNvSpPr txBox="1"/>
          <p:nvPr/>
        </p:nvSpPr>
        <p:spPr>
          <a:xfrm>
            <a:off x="304800" y="4572000"/>
            <a:ext cx="4133850" cy="1938992"/>
          </a:xfrm>
          <a:prstGeom prst="rect">
            <a:avLst/>
          </a:prstGeom>
          <a:noFill/>
        </p:spPr>
        <p:txBody>
          <a:bodyPr wrap="square">
            <a:spAutoFit/>
          </a:bodyPr>
          <a:lstStyle/>
          <a:p>
            <a:pPr algn="just"/>
            <a:r>
              <a:rPr lang="vi-VN" sz="2400" i="1" dirty="0">
                <a:solidFill>
                  <a:srgbClr val="0000FF"/>
                </a:solidFill>
                <a:latin typeface="Times New Roman" pitchFamily="18" charset="0"/>
                <a:cs typeface="Times New Roman" pitchFamily="18" charset="0"/>
              </a:rPr>
              <a:t>=&gt;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tập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hợp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vi-VN"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điều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kiện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thỏa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thuận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mà</a:t>
            </a:r>
            <a:r>
              <a:rPr lang="vi-VN"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thông</a:t>
            </a:r>
            <a:r>
              <a:rPr lang="en-US" sz="2400" i="1" dirty="0">
                <a:solidFill>
                  <a:srgbClr val="0000FF"/>
                </a:solidFill>
                <a:latin typeface="Times New Roman" pitchFamily="18" charset="0"/>
                <a:cs typeface="Times New Roman" pitchFamily="18" charset="0"/>
              </a:rPr>
              <a:t> qua </a:t>
            </a:r>
            <a:r>
              <a:rPr lang="en-US" sz="2400" i="1" dirty="0" err="1">
                <a:solidFill>
                  <a:srgbClr val="0000FF"/>
                </a:solidFill>
                <a:latin typeface="Times New Roman" pitchFamily="18" charset="0"/>
                <a:cs typeface="Times New Roman" pitchFamily="18" charset="0"/>
              </a:rPr>
              <a:t>đó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mua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tiến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sự</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đổi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với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i="1" dirty="0">
                <a:solidFill>
                  <a:srgbClr val="0000FF"/>
                </a:solidFill>
                <a:latin typeface="Times New Roman" pitchFamily="18" charset="0"/>
                <a:cs typeface="Times New Roman" pitchFamily="18" charset="0"/>
              </a:rPr>
              <a:t>.</a:t>
            </a:r>
            <a:endParaRPr lang="en-GB" sz="2400" dirty="0"/>
          </a:p>
        </p:txBody>
      </p:sp>
    </p:spTree>
    <p:extLst>
      <p:ext uri="{BB962C8B-B14F-4D97-AF65-F5344CB8AC3E}">
        <p14:creationId xmlns:p14="http://schemas.microsoft.com/office/powerpoint/2010/main" val="782416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155871"/>
          </a:xfrm>
        </p:spPr>
        <p:txBody>
          <a:bodyPr>
            <a:normAutofit lnSpcReduction="10000"/>
          </a:bodyPr>
          <a:lstStyle/>
          <a:p>
            <a:pPr algn="just"/>
            <a:r>
              <a:rPr lang="en-US" sz="2400" b="1" dirty="0">
                <a:solidFill>
                  <a:srgbClr val="0000FF"/>
                </a:solidFill>
                <a:latin typeface="Times New Roman" pitchFamily="18" charset="0"/>
                <a:cs typeface="Times New Roman" pitchFamily="18" charset="0"/>
              </a:rPr>
              <a:t>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phân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loại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2.1.1.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Ở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ta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gặp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Song ở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diễn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thông</a:t>
            </a:r>
            <a:r>
              <a:rPr lang="en-US" sz="2400" dirty="0">
                <a:solidFill>
                  <a:srgbClr val="0000FF"/>
                </a:solidFill>
                <a:latin typeface="Times New Roman" pitchFamily="18" charset="0"/>
                <a:cs typeface="Times New Roman" pitchFamily="18" charset="0"/>
              </a:rPr>
              <a:t> qua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trung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ở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khoán</a:t>
            </a:r>
            <a:r>
              <a:rPr lang="en-US" sz="2400" dirty="0">
                <a:solidFill>
                  <a:srgbClr val="0000FF"/>
                </a:solidFill>
                <a:latin typeface="Times New Roman" pitchFamily="18" charset="0"/>
                <a:cs typeface="Times New Roman" pitchFamily="18" charset="0"/>
              </a:rPr>
              <a:t>).</a:t>
            </a:r>
          </a:p>
          <a:p>
            <a:pPr algn="just"/>
            <a:r>
              <a:rPr lang="vi-VN" sz="2400" dirty="0">
                <a:solidFill>
                  <a:srgbClr val="0000FF"/>
                </a:solidFill>
                <a:latin typeface="Times New Roman" pitchFamily="18" charset="0"/>
                <a:cs typeface="Times New Roman" pitchFamily="18" charset="0"/>
              </a:rPr>
              <a:t>	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song ở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diễn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endParaRPr lang="en-US"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Trong </a:t>
            </a:r>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tổ</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lẻ</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phối</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mọi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mọi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mọi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thông</a:t>
            </a:r>
            <a:r>
              <a:rPr lang="en-US" sz="2400" dirty="0">
                <a:solidFill>
                  <a:srgbClr val="0000FF"/>
                </a:solidFill>
                <a:latin typeface="Times New Roman" pitchFamily="18" charset="0"/>
                <a:cs typeface="Times New Roman" pitchFamily="18" charset="0"/>
              </a:rPr>
              <a:t> qua </a:t>
            </a:r>
            <a:r>
              <a:rPr lang="en-US" sz="2400" dirty="0" err="1">
                <a:solidFill>
                  <a:srgbClr val="0000FF"/>
                </a:solidFill>
                <a:latin typeface="Times New Roman" pitchFamily="18" charset="0"/>
                <a:cs typeface="Times New Roman" pitchFamily="18" charset="0"/>
              </a:rPr>
              <a:t>hệ</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thống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863487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155871"/>
          </a:xfrm>
        </p:spPr>
        <p:txBody>
          <a:bodyPr>
            <a:normAutofit/>
          </a:bodyPr>
          <a:lstStyle/>
          <a:p>
            <a:pPr algn="just"/>
            <a:r>
              <a:rPr lang="en-US" sz="2400" b="1" dirty="0">
                <a:solidFill>
                  <a:srgbClr val="0000FF"/>
                </a:solidFill>
                <a:latin typeface="Times New Roman" pitchFamily="18" charset="0"/>
                <a:cs typeface="Times New Roman" pitchFamily="18" charset="0"/>
              </a:rPr>
              <a:t>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phân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loại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2.1.2. </a:t>
            </a:r>
            <a:r>
              <a:rPr lang="en-US" sz="2400" b="1" dirty="0" err="1">
                <a:solidFill>
                  <a:srgbClr val="0000FF"/>
                </a:solidFill>
                <a:latin typeface="Times New Roman" pitchFamily="18" charset="0"/>
                <a:cs typeface="Times New Roman" pitchFamily="18" charset="0"/>
              </a:rPr>
              <a:t>Phân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loại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loại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theo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nội</a:t>
            </a:r>
            <a:r>
              <a:rPr lang="en-US" sz="2400" i="1" dirty="0">
                <a:solidFill>
                  <a:srgbClr val="0000FF"/>
                </a:solidFill>
                <a:latin typeface="Times New Roman" pitchFamily="18" charset="0"/>
                <a:cs typeface="Times New Roman" pitchFamily="18" charset="0"/>
              </a:rPr>
              <a:t> dung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dịch</a:t>
            </a:r>
            <a:r>
              <a:rPr lang="en-US" sz="2400" i="1" dirty="0">
                <a:solidFill>
                  <a:srgbClr val="0000FF"/>
                </a:solidFill>
                <a:latin typeface="Times New Roman" pitchFamily="18" charset="0"/>
                <a:cs typeface="Times New Roman" pitchFamily="18" charset="0"/>
              </a:rPr>
              <a:t>:</a:t>
            </a:r>
            <a:endParaRPr lang="vi-VN" sz="2400" i="1" dirty="0">
              <a:solidFill>
                <a:srgbClr val="0000FF"/>
              </a:solidFill>
              <a:latin typeface="Times New Roman" pitchFamily="18" charset="0"/>
              <a:cs typeface="Times New Roman" pitchFamily="18" charset="0"/>
            </a:endParaRPr>
          </a:p>
          <a:p>
            <a:pPr algn="just"/>
            <a:r>
              <a:rPr lang="vi-VN" sz="2400" i="1"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loại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theo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không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gian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kinh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tế</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theo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quan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hệ</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đổi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diễn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ra</a:t>
            </a:r>
            <a:r>
              <a:rPr lang="en-US" sz="2400" i="1" dirty="0">
                <a:solidFill>
                  <a:srgbClr val="0000FF"/>
                </a:solidFill>
                <a:latin typeface="Times New Roman" pitchFamily="18" charset="0"/>
                <a:cs typeface="Times New Roman" pitchFamily="18" charset="0"/>
              </a:rPr>
              <a:t>:</a:t>
            </a:r>
            <a:endParaRPr lang="vi-VN" sz="2400" i="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vực</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quốc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vùng</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địa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phương</a:t>
            </a:r>
            <a:r>
              <a:rPr lang="en-US" sz="2400" dirty="0">
                <a:solidFill>
                  <a:srgbClr val="0000FF"/>
                </a:solidFill>
                <a:latin typeface="Times New Roman" pitchFamily="18" charset="0"/>
                <a:cs typeface="Times New Roman" pitchFamily="18" charset="0"/>
              </a:rPr>
              <a:t>.</a:t>
            </a:r>
          </a:p>
          <a:p>
            <a:pPr algn="just"/>
            <a:r>
              <a:rPr lang="vi-VN" sz="2400" dirty="0">
                <a:solidFill>
                  <a:srgbClr val="0000FF"/>
                </a:solidFill>
                <a:latin typeface="Times New Roman" pitchFamily="18" charset="0"/>
                <a:cs typeface="Times New Roman" pitchFamily="18" charset="0"/>
              </a:rPr>
              <a:t>+ Thị trường k</a:t>
            </a:r>
            <a:r>
              <a:rPr lang="en-US" sz="2400" dirty="0" err="1">
                <a:solidFill>
                  <a:srgbClr val="0000FF"/>
                </a:solidFill>
                <a:latin typeface="Times New Roman" pitchFamily="18" charset="0"/>
                <a:cs typeface="Times New Roman" pitchFamily="18" charset="0"/>
              </a:rPr>
              <a:t>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Việt</a:t>
            </a:r>
            <a:r>
              <a:rPr lang="en-US" sz="2400" dirty="0">
                <a:solidFill>
                  <a:srgbClr val="0000FF"/>
                </a:solidFill>
                <a:latin typeface="Times New Roman" pitchFamily="18" charset="0"/>
                <a:cs typeface="Times New Roman" pitchFamily="18" charset="0"/>
              </a:rPr>
              <a:t> Nam…</a:t>
            </a:r>
          </a:p>
        </p:txBody>
      </p:sp>
    </p:spTree>
    <p:extLst>
      <p:ext uri="{BB962C8B-B14F-4D97-AF65-F5344CB8AC3E}">
        <p14:creationId xmlns:p14="http://schemas.microsoft.com/office/powerpoint/2010/main" val="1843765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155871"/>
          </a:xfrm>
        </p:spPr>
        <p:txBody>
          <a:bodyPr>
            <a:normAutofit/>
          </a:bodyPr>
          <a:lstStyle/>
          <a:p>
            <a:pPr algn="just"/>
            <a:r>
              <a:rPr lang="en-US" sz="2400" b="1" dirty="0">
                <a:solidFill>
                  <a:srgbClr val="0000FF"/>
                </a:solidFill>
                <a:latin typeface="Times New Roman" pitchFamily="18" charset="0"/>
                <a:cs typeface="Times New Roman" pitchFamily="18" charset="0"/>
              </a:rPr>
              <a:t>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phân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loại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2.1.2. </a:t>
            </a:r>
            <a:r>
              <a:rPr lang="en-US" sz="2400" b="1" dirty="0" err="1">
                <a:solidFill>
                  <a:srgbClr val="0000FF"/>
                </a:solidFill>
                <a:latin typeface="Times New Roman" pitchFamily="18" charset="0"/>
                <a:cs typeface="Times New Roman" pitchFamily="18" charset="0"/>
              </a:rPr>
              <a:t>Phân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loại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loại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theo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cấu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trúc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vi-VN" sz="2400" i="1" dirty="0">
                <a:solidFill>
                  <a:srgbClr val="0000FF"/>
                </a:solidFill>
                <a:latin typeface="Times New Roman" pitchFamily="18" charset="0"/>
                <a:cs typeface="Times New Roman" pitchFamily="18" charset="0"/>
              </a:rPr>
              <a:t>trường:</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r>
              <a:rPr lang="en-US" sz="2400" dirty="0">
                <a:solidFill>
                  <a:srgbClr val="0000FF"/>
                </a:solidFill>
                <a:latin typeface="Times New Roman" pitchFamily="18" charset="0"/>
                <a:cs typeface="Times New Roman" pitchFamily="18" charset="0"/>
              </a:rPr>
              <a:t> </a:t>
            </a: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túy</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nhóm</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 T</a:t>
            </a:r>
            <a:r>
              <a:rPr lang="en-US" sz="2400" dirty="0" err="1">
                <a:solidFill>
                  <a:srgbClr val="0000FF"/>
                </a:solidFill>
                <a:latin typeface="Times New Roman" pitchFamily="18" charset="0"/>
                <a:cs typeface="Times New Roman" pitchFamily="18" charset="0"/>
              </a:rPr>
              <a: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Mặc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hành</a:t>
            </a:r>
            <a:r>
              <a:rPr lang="en-US" sz="2400" dirty="0">
                <a:solidFill>
                  <a:srgbClr val="0000FF"/>
                </a:solidFill>
                <a:latin typeface="Times New Roman" pitchFamily="18" charset="0"/>
                <a:cs typeface="Times New Roman" pitchFamily="18" charset="0"/>
              </a:rPr>
              <a:t> vi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mang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riêng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bị</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bởi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thù</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985920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2296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Cầu (cá nhân) </a:t>
            </a:r>
            <a:r>
              <a:rPr lang="nl-NL" sz="2400" i="1" dirty="0">
                <a:solidFill>
                  <a:srgbClr val="0000FF"/>
                </a:solidFill>
                <a:latin typeface="Times New Roman" pitchFamily="18" charset="0"/>
                <a:cs typeface="Times New Roman" pitchFamily="18" charset="0"/>
              </a:rPr>
              <a:t>là số lượng (quantity) hàng hóa hay dịch vụ mà một người mua có </a:t>
            </a:r>
            <a:r>
              <a:rPr lang="nl-NL" sz="2400" b="1" i="1" dirty="0">
                <a:solidFill>
                  <a:srgbClr val="FF0000"/>
                </a:solidFill>
                <a:latin typeface="Times New Roman" pitchFamily="18" charset="0"/>
                <a:cs typeface="Times New Roman" pitchFamily="18" charset="0"/>
              </a:rPr>
              <a:t>khả năng và sẵn sàng mua </a:t>
            </a:r>
            <a:r>
              <a:rPr lang="nl-NL" sz="2400" i="1" dirty="0">
                <a:solidFill>
                  <a:srgbClr val="0000FF"/>
                </a:solidFill>
                <a:latin typeface="Times New Roman" pitchFamily="18" charset="0"/>
                <a:cs typeface="Times New Roman" pitchFamily="18" charset="0"/>
              </a:rPr>
              <a:t>ở các mức giá (price) khác nhau trong một thời gian nhất định</a:t>
            </a:r>
            <a:r>
              <a:rPr lang="nl-NL" sz="2400" dirty="0">
                <a:solidFill>
                  <a:srgbClr val="0000FF"/>
                </a:solidFill>
                <a:latin typeface="Times New Roman" pitchFamily="18" charset="0"/>
                <a:cs typeface="Times New Roman" pitchFamily="18" charset="0"/>
              </a:rPr>
              <a:t>.</a:t>
            </a:r>
          </a:p>
          <a:p>
            <a:pPr algn="just"/>
            <a:r>
              <a:rPr lang="vi-VN" sz="2400"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Cầu chỉ hình thành khi hội tụ đủ 2 điều kiện: </a:t>
            </a:r>
            <a:r>
              <a:rPr lang="nl-NL" sz="2400" b="1" dirty="0">
                <a:solidFill>
                  <a:srgbClr val="FF0000"/>
                </a:solidFill>
                <a:latin typeface="Times New Roman" pitchFamily="18" charset="0"/>
                <a:cs typeface="Times New Roman" pitchFamily="18" charset="0"/>
              </a:rPr>
              <a:t>mong muốn và có khả năng</a:t>
            </a:r>
            <a:r>
              <a:rPr lang="nl-NL" sz="2400" dirty="0">
                <a:solidFill>
                  <a:srgbClr val="0000FF"/>
                </a:solidFill>
                <a:latin typeface="Times New Roman" pitchFamily="18" charset="0"/>
                <a:cs typeface="Times New Roman" pitchFamily="18" charset="0"/>
              </a:rPr>
              <a:t> (thanh toán).</a:t>
            </a: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Cầu thị trường </a:t>
            </a:r>
            <a:r>
              <a:rPr lang="nl-NL" sz="2400" dirty="0">
                <a:solidFill>
                  <a:srgbClr val="0000FF"/>
                </a:solidFill>
                <a:latin typeface="Times New Roman" pitchFamily="18" charset="0"/>
                <a:cs typeface="Times New Roman" pitchFamily="18" charset="0"/>
              </a:rPr>
              <a:t>là tổng số hàng hóa và dịch vụ mà mọi người sẵn sàng và có khả năng mua ở các mức giá khác nhau trong khoảng thời gian nhất định.</a:t>
            </a:r>
            <a:endParaRPr lang="vi-VN" sz="2400" dirty="0">
              <a:solidFill>
                <a:srgbClr val="0000FF"/>
              </a:solidFill>
              <a:latin typeface="Times New Roman" pitchFamily="18" charset="0"/>
              <a:cs typeface="Times New Roman" pitchFamily="18" charset="0"/>
            </a:endParaRP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Lượng cầu </a:t>
            </a:r>
            <a:r>
              <a:rPr lang="nl-NL" sz="2400" dirty="0">
                <a:solidFill>
                  <a:srgbClr val="0000FF"/>
                </a:solidFill>
                <a:latin typeface="Times New Roman" pitchFamily="18" charset="0"/>
                <a:cs typeface="Times New Roman" pitchFamily="18" charset="0"/>
              </a:rPr>
              <a:t>là lượng hàng hóa và dịch vụ mà người mua sẵn sàng và có khả năng mua ở một mức giá xác định trong một thời gian nhất định.</a:t>
            </a:r>
          </a:p>
        </p:txBody>
      </p:sp>
    </p:spTree>
    <p:extLst>
      <p:ext uri="{BB962C8B-B14F-4D97-AF65-F5344CB8AC3E}">
        <p14:creationId xmlns:p14="http://schemas.microsoft.com/office/powerpoint/2010/main" val="458570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7126"/>
            <a:ext cx="83058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en-US" sz="2400" b="1" i="1" dirty="0" err="1">
                <a:solidFill>
                  <a:srgbClr val="0000FF"/>
                </a:solidFill>
                <a:latin typeface="Times New Roman" pitchFamily="18" charset="0"/>
                <a:cs typeface="Times New Roman" pitchFamily="18" charset="0"/>
              </a:rPr>
              <a:t>Biểu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cầu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và</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đường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cầu</a:t>
            </a:r>
            <a:endParaRPr lang="en-US" sz="2400" b="1" i="1"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Biểu cầu</a:t>
            </a:r>
            <a:r>
              <a:rPr lang="nl-NL" sz="2400" i="1"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là bảng chỉ số lượng hàng hóa và dịch vụ mà người tiêu dùng sẵn sàng và có khả năng mua ở các mức giá khác nhau trong một thời gian nhất định.</a:t>
            </a:r>
          </a:p>
          <a:p>
            <a:pPr algn="just"/>
            <a:r>
              <a:rPr lang="nl-NL" sz="2400" dirty="0">
                <a:solidFill>
                  <a:srgbClr val="0000FF"/>
                </a:solidFill>
                <a:latin typeface="Times New Roman" pitchFamily="18" charset="0"/>
                <a:cs typeface="Times New Roman" pitchFamily="18" charset="0"/>
              </a:rPr>
              <a:t>Ví dụ biểu cầu về gạo của thị trường gạo Bình Định</a:t>
            </a:r>
          </a:p>
          <a:p>
            <a:pPr algn="just"/>
            <a:endParaRPr lang="en-US" sz="2400" dirty="0">
              <a:solidFill>
                <a:srgbClr val="0000FF"/>
              </a:solidFill>
              <a:latin typeface="Times New Roman" pitchFamily="18" charset="0"/>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437563614"/>
              </p:ext>
            </p:extLst>
          </p:nvPr>
        </p:nvGraphicFramePr>
        <p:xfrm>
          <a:off x="1700936" y="3365062"/>
          <a:ext cx="4395064" cy="2871600"/>
        </p:xfrm>
        <a:graphic>
          <a:graphicData uri="http://schemas.openxmlformats.org/drawingml/2006/table">
            <a:tbl>
              <a:tblPr firstRow="1" firstCol="1" lastRow="1" lastCol="1" bandRow="1" bandCol="1">
                <a:tableStyleId>{5C22544A-7EE6-4342-B048-85BDC9FD1C3A}</a:tableStyleId>
              </a:tblPr>
              <a:tblGrid>
                <a:gridCol w="813664">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1905000">
                  <a:extLst>
                    <a:ext uri="{9D8B030D-6E8A-4147-A177-3AD203B41FA5}">
                      <a16:colId xmlns:a16="http://schemas.microsoft.com/office/drawing/2014/main" val="20002"/>
                    </a:ext>
                  </a:extLst>
                </a:gridCol>
              </a:tblGrid>
              <a:tr h="0">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Kết hợp</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P- Giá (1.000 đồng/kg)</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Q</a:t>
                      </a:r>
                      <a:r>
                        <a:rPr lang="nl-NL" sz="2000" baseline="-25000">
                          <a:effectLst/>
                          <a:latin typeface="Times New Roman" pitchFamily="18" charset="0"/>
                          <a:cs typeface="Times New Roman" pitchFamily="18" charset="0"/>
                        </a:rPr>
                        <a:t>D</a:t>
                      </a:r>
                      <a:r>
                        <a:rPr lang="nl-NL" sz="2000">
                          <a:effectLst/>
                          <a:latin typeface="Times New Roman" pitchFamily="18" charset="0"/>
                          <a:cs typeface="Times New Roman" pitchFamily="18" charset="0"/>
                        </a:rPr>
                        <a:t>- Lượng cầu (1.000 kg/tháng)</a:t>
                      </a:r>
                      <a:endParaRPr lang="en-US" sz="20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0"/>
                  </a:ext>
                </a:extLst>
              </a:tr>
              <a:tr h="0">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A</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4</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50</a:t>
                      </a:r>
                      <a:endParaRPr lang="en-US" sz="20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1"/>
                  </a:ext>
                </a:extLst>
              </a:tr>
              <a:tr h="0">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B</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8</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40</a:t>
                      </a:r>
                      <a:endParaRPr lang="en-US" sz="20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2"/>
                  </a:ext>
                </a:extLst>
              </a:tr>
              <a:tr h="0">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C</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12</a:t>
                      </a:r>
                      <a:endParaRPr lang="en-US" sz="20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30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3"/>
                  </a:ext>
                </a:extLst>
              </a:tr>
              <a:tr h="0">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E</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16</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20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4"/>
                  </a:ext>
                </a:extLst>
              </a:tr>
              <a:tr h="0">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G</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a:effectLst/>
                          <a:latin typeface="Times New Roman" pitchFamily="18" charset="0"/>
                          <a:cs typeface="Times New Roman" pitchFamily="18" charset="0"/>
                        </a:rPr>
                        <a:t>20</a:t>
                      </a:r>
                      <a:endParaRPr lang="en-US" sz="20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000" dirty="0">
                          <a:effectLst/>
                          <a:latin typeface="Times New Roman" pitchFamily="18" charset="0"/>
                          <a:cs typeface="Times New Roman" pitchFamily="18" charset="0"/>
                        </a:rPr>
                        <a:t>10</a:t>
                      </a:r>
                      <a:endParaRPr lang="en-US" sz="20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p:sp>
        <p:nvSpPr>
          <p:cNvPr id="3" name="Rectangle 2"/>
          <p:cNvSpPr/>
          <p:nvPr/>
        </p:nvSpPr>
        <p:spPr>
          <a:xfrm>
            <a:off x="7086600" y="3657600"/>
            <a:ext cx="1447800" cy="16002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=&gt;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giảm</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7028952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3058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en-US" sz="2400" b="1" i="1" dirty="0" err="1">
                <a:solidFill>
                  <a:srgbClr val="0000FF"/>
                </a:solidFill>
                <a:latin typeface="Times New Roman" pitchFamily="18" charset="0"/>
                <a:cs typeface="Times New Roman" pitchFamily="18" charset="0"/>
              </a:rPr>
              <a:t>Biểu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cầu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và</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đường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cầu</a:t>
            </a:r>
            <a:endParaRPr lang="en-US" sz="2400" b="1" i="1"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Biểu diễn biểu cầu dưới dạng đồ thị ta có đường cầu. Hay nói cách khác, đường biểu diễn mối quan hệ giữa lượng cầu và giá gọi là </a:t>
            </a:r>
            <a:r>
              <a:rPr lang="nl-NL" sz="2400" i="1" dirty="0">
                <a:solidFill>
                  <a:srgbClr val="0000FF"/>
                </a:solidFill>
                <a:latin typeface="Times New Roman" pitchFamily="18" charset="0"/>
                <a:cs typeface="Times New Roman" pitchFamily="18" charset="0"/>
              </a:rPr>
              <a:t>đường cầu</a:t>
            </a:r>
            <a:r>
              <a:rPr lang="nl-NL" sz="2400"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p:txBody>
      </p:sp>
      <p:pic>
        <p:nvPicPr>
          <p:cNvPr id="4097" name="Pict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2819400"/>
            <a:ext cx="6705600" cy="38170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959314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2.2.2. </a:t>
            </a:r>
            <a:r>
              <a:rPr lang="en-US" sz="2400" b="1" dirty="0" err="1">
                <a:solidFill>
                  <a:srgbClr val="0000FF"/>
                </a:solidFill>
                <a:latin typeface="Times New Roman" pitchFamily="18" charset="0"/>
                <a:cs typeface="Times New Roman" pitchFamily="18" charset="0"/>
              </a:rPr>
              <a:t>Luật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Giả định tất cả các yếu tố khác không thay đổi</a:t>
            </a:r>
            <a:r>
              <a:rPr lang="nl-NL" sz="2400" i="1" dirty="0">
                <a:solidFill>
                  <a:srgbClr val="0000FF"/>
                </a:solidFill>
                <a:latin typeface="Times New Roman" pitchFamily="18" charset="0"/>
                <a:cs typeface="Times New Roman" pitchFamily="18" charset="0"/>
              </a:rPr>
              <a:t>, Lượng cầu của một hàng hóa hoặc dịch vụ trong khoảng thời gian xác định tăng lên khi giá của hàng hóa hoặc dịch vụ đó giảm xuống và ngược lại</a:t>
            </a:r>
            <a:r>
              <a:rPr lang="nl-NL" sz="2400" dirty="0">
                <a:solidFill>
                  <a:srgbClr val="0000FF"/>
                </a:solidFill>
                <a:latin typeface="Times New Roman" pitchFamily="18" charset="0"/>
                <a:cs typeface="Times New Roman" pitchFamily="18" charset="0"/>
              </a:rPr>
              <a:t>.</a:t>
            </a:r>
          </a:p>
          <a:p>
            <a:pPr algn="just"/>
            <a:r>
              <a:rPr lang="vi-VN" sz="2400" dirty="0">
                <a:solidFill>
                  <a:srgbClr val="0000FF"/>
                </a:solidFill>
                <a:latin typeface="Times New Roman" pitchFamily="18" charset="0"/>
                <a:cs typeface="Times New Roman" pitchFamily="18" charset="0"/>
              </a:rPr>
              <a:t>=&gt; Đ</a:t>
            </a:r>
            <a:r>
              <a:rPr lang="nl-NL" sz="2400" dirty="0">
                <a:solidFill>
                  <a:srgbClr val="0000FF"/>
                </a:solidFill>
                <a:latin typeface="Times New Roman" pitchFamily="18" charset="0"/>
                <a:cs typeface="Times New Roman" pitchFamily="18" charset="0"/>
              </a:rPr>
              <a:t>ường cầu luôn luôn dốc xuống.</a:t>
            </a:r>
          </a:p>
          <a:p>
            <a:pPr algn="just"/>
            <a:r>
              <a:rPr lang="nl-NL" sz="2400" dirty="0">
                <a:solidFill>
                  <a:srgbClr val="0000FF"/>
                </a:solidFill>
                <a:latin typeface="Times New Roman" pitchFamily="18" charset="0"/>
                <a:cs typeface="Times New Roman" pitchFamily="18" charset="0"/>
              </a:rPr>
              <a:t>Tại sao lượng cầu lại có xu hướng tăng lên khi giá cả giảm xuống?</a:t>
            </a:r>
          </a:p>
          <a:p>
            <a:pPr marL="342900" indent="-342900" algn="just">
              <a:buFont typeface="Arial" panose="020B0604020202020204" pitchFamily="34" charset="0"/>
              <a:buChar char="•"/>
            </a:pPr>
            <a:r>
              <a:rPr lang="vi-VN" sz="2400" b="1" dirty="0">
                <a:solidFill>
                  <a:srgbClr val="0000FF"/>
                </a:solidFill>
                <a:latin typeface="Times New Roman" pitchFamily="18" charset="0"/>
                <a:cs typeface="Times New Roman" pitchFamily="18" charset="0"/>
              </a:rPr>
              <a:t>T</a:t>
            </a:r>
            <a:r>
              <a:rPr lang="nl-NL" sz="2400" b="1" dirty="0">
                <a:solidFill>
                  <a:srgbClr val="0000FF"/>
                </a:solidFill>
                <a:latin typeface="Times New Roman" pitchFamily="18" charset="0"/>
                <a:cs typeface="Times New Roman" pitchFamily="18" charset="0"/>
              </a:rPr>
              <a:t>hứ nhất là hiệu ứng thay thế</a:t>
            </a:r>
            <a:r>
              <a:rPr lang="nl-NL" sz="2400" dirty="0">
                <a:solidFill>
                  <a:srgbClr val="0000FF"/>
                </a:solidFill>
                <a:latin typeface="Times New Roman" pitchFamily="18" charset="0"/>
                <a:cs typeface="Times New Roman" pitchFamily="18" charset="0"/>
              </a:rPr>
              <a:t>: khi giá của một loại hàng hóa tăng lên người tiêu dùng sẽ thay thế nó bằng một loại hàng hóa tương </a:t>
            </a:r>
            <a:r>
              <a:rPr lang="vi-VN" sz="2400" dirty="0">
                <a:solidFill>
                  <a:srgbClr val="0000FF"/>
                </a:solidFill>
                <a:latin typeface="Times New Roman" pitchFamily="18" charset="0"/>
                <a:cs typeface="Times New Roman" pitchFamily="18" charset="0"/>
              </a:rPr>
              <a:t>tự.</a:t>
            </a:r>
          </a:p>
          <a:p>
            <a:pPr marL="342900" indent="-342900" algn="just">
              <a:buFont typeface="Arial" panose="020B0604020202020204" pitchFamily="34" charset="0"/>
              <a:buChar char="•"/>
            </a:pPr>
            <a:r>
              <a:rPr lang="vi-VN" sz="2400" b="1" dirty="0">
                <a:solidFill>
                  <a:srgbClr val="0000FF"/>
                </a:solidFill>
                <a:latin typeface="Times New Roman" pitchFamily="18" charset="0"/>
                <a:cs typeface="Times New Roman" pitchFamily="18" charset="0"/>
              </a:rPr>
              <a:t>T</a:t>
            </a:r>
            <a:r>
              <a:rPr lang="nl-NL" sz="2400" b="1" dirty="0">
                <a:solidFill>
                  <a:srgbClr val="0000FF"/>
                </a:solidFill>
                <a:latin typeface="Times New Roman" pitchFamily="18" charset="0"/>
                <a:cs typeface="Times New Roman" pitchFamily="18" charset="0"/>
              </a:rPr>
              <a:t>hứ hai là hiệu ứng thu nhập</a:t>
            </a:r>
            <a:r>
              <a:rPr lang="nl-NL" sz="2400" dirty="0">
                <a:solidFill>
                  <a:srgbClr val="0000FF"/>
                </a:solidFill>
                <a:latin typeface="Times New Roman" pitchFamily="18" charset="0"/>
                <a:cs typeface="Times New Roman" pitchFamily="18" charset="0"/>
              </a:rPr>
              <a:t>: khi giá tăng lên người tiêu dùng tự thấy mình sẽ nghèo hơn trước đó.</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932806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283025"/>
            <a:ext cx="8806548" cy="6155871"/>
          </a:xfrm>
        </p:spPr>
        <p:txBody>
          <a:bodyPr>
            <a:normAutofit fontScale="92500" lnSpcReduction="10000"/>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2.2.3.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định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hàm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2.2.3.1. Các yếu tố xác định cầu</a:t>
            </a:r>
          </a:p>
          <a:p>
            <a:pPr algn="just"/>
            <a:r>
              <a:rPr lang="nl-NL" sz="2400" dirty="0">
                <a:solidFill>
                  <a:srgbClr val="0000FF"/>
                </a:solidFill>
                <a:latin typeface="Times New Roman" pitchFamily="18" charset="0"/>
                <a:cs typeface="Times New Roman" pitchFamily="18" charset="0"/>
              </a:rPr>
              <a:t>Đường cầu biểu diễn mối quan hệ giữa giá và lượng cầu. Điều đó cho thấy rằng </a:t>
            </a:r>
            <a:r>
              <a:rPr lang="nl-NL" sz="2400" i="1" dirty="0">
                <a:solidFill>
                  <a:srgbClr val="0000FF"/>
                </a:solidFill>
                <a:latin typeface="Times New Roman" pitchFamily="18" charset="0"/>
                <a:cs typeface="Times New Roman" pitchFamily="18" charset="0"/>
              </a:rPr>
              <a:t>giá cả hàng hóa hay dịch vụ (P</a:t>
            </a:r>
            <a:r>
              <a:rPr lang="nl-NL" sz="2400" i="1" baseline="-25000" dirty="0">
                <a:solidFill>
                  <a:srgbClr val="0000FF"/>
                </a:solidFill>
                <a:latin typeface="Times New Roman" pitchFamily="18" charset="0"/>
                <a:cs typeface="Times New Roman" pitchFamily="18" charset="0"/>
              </a:rPr>
              <a:t>X</a:t>
            </a:r>
            <a:r>
              <a:rPr lang="nl-NL" sz="2400" i="1" dirty="0">
                <a:solidFill>
                  <a:srgbClr val="0000FF"/>
                </a:solidFill>
                <a:latin typeface="Times New Roman" pitchFamily="18" charset="0"/>
                <a:cs typeface="Times New Roman" pitchFamily="18" charset="0"/>
              </a:rPr>
              <a:t>)</a:t>
            </a:r>
            <a:r>
              <a:rPr lang="nl-NL" sz="2400" dirty="0">
                <a:solidFill>
                  <a:srgbClr val="0000FF"/>
                </a:solidFill>
                <a:latin typeface="Times New Roman" pitchFamily="18" charset="0"/>
                <a:cs typeface="Times New Roman" pitchFamily="18" charset="0"/>
              </a:rPr>
              <a:t> chính là yếu tố xác định cầu. Theo luật cầu nếu giá một hàng hóa nào đó giảm hoặc tăng thì lượng cầu hàng hóa đó tăng hoặc giảm. Tuy nhiên, ngoài giá cả còn có rất nhiều yếu tố làm thay đổi đường cầu như: thu nhập người tiêu dùng, giá cả hàng hóa có liên quan, quy mô thị trường, thị hiếu và kỳ vọng của người tiêu dùng, ....</a:t>
            </a:r>
            <a:endParaRPr lang="en-US" sz="2400" dirty="0">
              <a:solidFill>
                <a:srgbClr val="0000FF"/>
              </a:solidFill>
              <a:latin typeface="Times New Roman" pitchFamily="18" charset="0"/>
              <a:cs typeface="Times New Roman" pitchFamily="18" charset="0"/>
            </a:endParaRPr>
          </a:p>
          <a:p>
            <a:pPr algn="just"/>
            <a:r>
              <a:rPr lang="nl-NL" sz="2400" i="1" dirty="0">
                <a:solidFill>
                  <a:srgbClr val="0000FF"/>
                </a:solidFill>
                <a:latin typeface="Times New Roman" pitchFamily="18" charset="0"/>
                <a:cs typeface="Times New Roman" pitchFamily="18" charset="0"/>
              </a:rPr>
              <a:t>+ Thu nhập của người tiêu dùng (I)</a:t>
            </a:r>
            <a:r>
              <a:rPr lang="nl-NL" sz="2400" dirty="0">
                <a:solidFill>
                  <a:srgbClr val="0000FF"/>
                </a:solidFill>
                <a:latin typeface="Times New Roman" pitchFamily="18" charset="0"/>
                <a:cs typeface="Times New Roman" pitchFamily="18" charset="0"/>
              </a:rPr>
              <a:t> là một yếu tố quan trọng xác định cầu. Thu nhập ảnh hưởng trực tiếp đến khả năng mua của người tiêu dùng, khi thu nhập của người tiêu dùng tăng lên thì xu hướng chung của các cá nhân sẽ là mua nhiều hàng hóa hơn khi giá không thay đổi. Tuy nhiên điều này còn phụ thuộc vào loại hàng hóa và dịch vụ đối với cá nhân người tiêu dùng. Theo quy luật Engel, nếu những hàng hóa hay dịch vụ nào có cầu tăng lên khi thu nhập tăng lên và ngược lại được gọi là </a:t>
            </a:r>
            <a:r>
              <a:rPr lang="nl-NL" sz="2400" i="1" dirty="0">
                <a:solidFill>
                  <a:srgbClr val="0000FF"/>
                </a:solidFill>
                <a:latin typeface="Times New Roman" pitchFamily="18" charset="0"/>
                <a:cs typeface="Times New Roman" pitchFamily="18" charset="0"/>
              </a:rPr>
              <a:t>hàng hóa thông thường</a:t>
            </a:r>
            <a:r>
              <a:rPr lang="nl-NL" sz="2400" dirty="0">
                <a:solidFill>
                  <a:srgbClr val="0000FF"/>
                </a:solidFill>
                <a:latin typeface="Times New Roman" pitchFamily="18" charset="0"/>
                <a:cs typeface="Times New Roman" pitchFamily="18" charset="0"/>
              </a:rPr>
              <a:t>. Hàng hóa hay dịch vụ nào có cầu giảm khi thu nhập tăng lên và ngược lại gọi là </a:t>
            </a:r>
            <a:r>
              <a:rPr lang="nl-NL" sz="2400" i="1" dirty="0">
                <a:solidFill>
                  <a:srgbClr val="0000FF"/>
                </a:solidFill>
                <a:latin typeface="Times New Roman" pitchFamily="18" charset="0"/>
                <a:cs typeface="Times New Roman" pitchFamily="18" charset="0"/>
              </a:rPr>
              <a:t>hàng hóa thứ cấp</a:t>
            </a:r>
            <a:r>
              <a:rPr lang="nl-NL"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5638559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1534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2.2.3.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định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hàm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2.2.3.1. Các yếu tố xác định cầu</a:t>
            </a:r>
          </a:p>
          <a:p>
            <a:pPr algn="just"/>
            <a:r>
              <a:rPr lang="nl-NL"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G</a:t>
            </a:r>
            <a:r>
              <a:rPr lang="nl-NL" sz="2400" dirty="0">
                <a:solidFill>
                  <a:srgbClr val="0000FF"/>
                </a:solidFill>
                <a:latin typeface="Times New Roman" pitchFamily="18" charset="0"/>
                <a:cs typeface="Times New Roman" pitchFamily="18" charset="0"/>
              </a:rPr>
              <a:t>iá của bản thân hàng hóa hay dịch vụ đó</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vi-VN" sz="2400" i="1" dirty="0">
                <a:solidFill>
                  <a:srgbClr val="0000FF"/>
                </a:solidFill>
                <a:latin typeface="Times New Roman" pitchFamily="18" charset="0"/>
                <a:cs typeface="Times New Roman" pitchFamily="18" charset="0"/>
              </a:rPr>
              <a:t>G</a:t>
            </a:r>
            <a:r>
              <a:rPr lang="nl-NL" sz="2400" i="1" dirty="0">
                <a:solidFill>
                  <a:srgbClr val="0000FF"/>
                </a:solidFill>
                <a:latin typeface="Times New Roman" pitchFamily="18" charset="0"/>
                <a:cs typeface="Times New Roman" pitchFamily="18" charset="0"/>
              </a:rPr>
              <a:t>iá cả và tính sẵn có của hàng hóa hay dịch vụ khác có liên quan (P</a:t>
            </a:r>
            <a:r>
              <a:rPr lang="nl-NL" sz="2400" i="1" baseline="-25000" dirty="0">
                <a:solidFill>
                  <a:srgbClr val="0000FF"/>
                </a:solidFill>
                <a:latin typeface="Times New Roman" pitchFamily="18" charset="0"/>
                <a:cs typeface="Times New Roman" pitchFamily="18" charset="0"/>
              </a:rPr>
              <a:t>Y</a:t>
            </a:r>
            <a:r>
              <a:rPr lang="nl-NL" sz="2400" i="1" dirty="0">
                <a:solidFill>
                  <a:srgbClr val="0000FF"/>
                </a:solidFill>
                <a:latin typeface="Times New Roman" pitchFamily="18" charset="0"/>
                <a:cs typeface="Times New Roman" pitchFamily="18" charset="0"/>
              </a:rPr>
              <a:t>)</a:t>
            </a:r>
            <a:r>
              <a:rPr lang="vi-VN" sz="2400" dirty="0">
                <a:solidFill>
                  <a:srgbClr val="0000FF"/>
                </a:solidFill>
                <a:latin typeface="Times New Roman" pitchFamily="18" charset="0"/>
                <a:cs typeface="Times New Roman" pitchFamily="18" charset="0"/>
              </a:rPr>
              <a:t>, bao gồm:</a:t>
            </a:r>
            <a:endParaRPr lang="en-US" sz="2400" dirty="0">
              <a:solidFill>
                <a:srgbClr val="0000FF"/>
              </a:solidFill>
              <a:latin typeface="Times New Roman" pitchFamily="18" charset="0"/>
              <a:cs typeface="Times New Roman" pitchFamily="18" charset="0"/>
            </a:endParaRPr>
          </a:p>
          <a:p>
            <a:pPr algn="just"/>
            <a:r>
              <a:rPr lang="vi-VN" sz="2400" i="1" dirty="0">
                <a:solidFill>
                  <a:srgbClr val="0000FF"/>
                </a:solidFill>
                <a:latin typeface="Times New Roman" pitchFamily="18" charset="0"/>
                <a:cs typeface="Times New Roman" pitchFamily="18" charset="0"/>
              </a:rPr>
              <a:t>	</a:t>
            </a:r>
            <a:r>
              <a:rPr lang="nl-NL" sz="2400" i="1" dirty="0">
                <a:solidFill>
                  <a:srgbClr val="0000FF"/>
                </a:solidFill>
                <a:latin typeface="Times New Roman" pitchFamily="18" charset="0"/>
                <a:cs typeface="Times New Roman" pitchFamily="18" charset="0"/>
              </a:rPr>
              <a:t>Hàng hóa thay thế </a:t>
            </a:r>
            <a:r>
              <a:rPr lang="nl-NL" sz="2400" dirty="0">
                <a:solidFill>
                  <a:srgbClr val="0000FF"/>
                </a:solidFill>
                <a:latin typeface="Times New Roman" pitchFamily="18" charset="0"/>
                <a:cs typeface="Times New Roman" pitchFamily="18" charset="0"/>
              </a:rPr>
              <a:t>là hàng hóa có thể sử dụng thay cho hàng hóa khác. Khi giá của một loại hàng hóa thay thế thay đổi thì cầu đối với hàng hóa kia cũng thay đổi. </a:t>
            </a:r>
            <a:r>
              <a:rPr lang="nl-NL" sz="2400" b="1" i="1" dirty="0">
                <a:solidFill>
                  <a:srgbClr val="0000FF"/>
                </a:solidFill>
                <a:latin typeface="Times New Roman" pitchFamily="18" charset="0"/>
                <a:cs typeface="Times New Roman" pitchFamily="18" charset="0"/>
              </a:rPr>
              <a:t>Khi giá của A tăng thì cầu về B tăng và ngược lại.</a:t>
            </a:r>
          </a:p>
          <a:p>
            <a:pPr algn="just"/>
            <a:r>
              <a:rPr lang="vi-VN" sz="2400" i="1" dirty="0">
                <a:solidFill>
                  <a:srgbClr val="0000FF"/>
                </a:solidFill>
                <a:latin typeface="Times New Roman" pitchFamily="18" charset="0"/>
                <a:cs typeface="Times New Roman" pitchFamily="18" charset="0"/>
              </a:rPr>
              <a:t>	</a:t>
            </a:r>
            <a:r>
              <a:rPr lang="nl-NL" sz="2400" i="1" dirty="0">
                <a:solidFill>
                  <a:srgbClr val="0000FF"/>
                </a:solidFill>
                <a:latin typeface="Times New Roman" pitchFamily="18" charset="0"/>
                <a:cs typeface="Times New Roman" pitchFamily="18" charset="0"/>
              </a:rPr>
              <a:t>Hàng hóa bổ sung </a:t>
            </a:r>
            <a:r>
              <a:rPr lang="nl-NL" sz="2400" dirty="0">
                <a:solidFill>
                  <a:srgbClr val="0000FF"/>
                </a:solidFill>
                <a:latin typeface="Times New Roman" pitchFamily="18" charset="0"/>
                <a:cs typeface="Times New Roman" pitchFamily="18" charset="0"/>
              </a:rPr>
              <a:t>là hàng hóa được sử dụng đồng thời với hàng hóa khác. Khi giá của hàng hóa này tăng lên, cầu về hàng hóa bổ sung kia giảm xuống. </a:t>
            </a:r>
            <a:r>
              <a:rPr lang="nl-NL" sz="2400" b="1" i="1" dirty="0">
                <a:solidFill>
                  <a:srgbClr val="0000FF"/>
                </a:solidFill>
                <a:latin typeface="Times New Roman" pitchFamily="18" charset="0"/>
                <a:cs typeface="Times New Roman" pitchFamily="18" charset="0"/>
              </a:rPr>
              <a:t>Khi giá của A tăng thì cầu về B sẽ giảm và ngược lại.</a:t>
            </a:r>
            <a:endParaRPr lang="en-US" sz="2400" b="1" i="1"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760008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3058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2.2.3.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định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hàm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2.2.3.1. Các yếu tố xác định cầu</a:t>
            </a:r>
          </a:p>
          <a:p>
            <a:pPr algn="just"/>
            <a:r>
              <a:rPr lang="nl-NL" sz="2600" i="1" dirty="0">
                <a:solidFill>
                  <a:srgbClr val="0000FF"/>
                </a:solidFill>
                <a:latin typeface="Times New Roman" pitchFamily="18" charset="0"/>
                <a:cs typeface="Times New Roman" pitchFamily="18" charset="0"/>
              </a:rPr>
              <a:t>+ Quy mô thị trường (N)</a:t>
            </a:r>
            <a:r>
              <a:rPr lang="nl-NL" sz="2600" dirty="0">
                <a:solidFill>
                  <a:srgbClr val="0000FF"/>
                </a:solidFill>
                <a:latin typeface="Times New Roman" pitchFamily="18" charset="0"/>
                <a:cs typeface="Times New Roman" pitchFamily="18" charset="0"/>
              </a:rPr>
              <a:t> </a:t>
            </a:r>
            <a:r>
              <a:rPr lang="vi-VN" sz="2600" dirty="0">
                <a:solidFill>
                  <a:srgbClr val="0000FF"/>
                </a:solidFill>
                <a:latin typeface="Times New Roman" pitchFamily="18" charset="0"/>
                <a:cs typeface="Times New Roman" pitchFamily="18" charset="0"/>
              </a:rPr>
              <a:t>: quy mô thị trường càng lớn, </a:t>
            </a:r>
            <a:r>
              <a:rPr lang="nl-NL" sz="2600" dirty="0">
                <a:solidFill>
                  <a:srgbClr val="0000FF"/>
                </a:solidFill>
                <a:latin typeface="Times New Roman" pitchFamily="18" charset="0"/>
                <a:cs typeface="Times New Roman" pitchFamily="18" charset="0"/>
              </a:rPr>
              <a:t>số lượng người càng đông thì cầu về hàng hóa, dịch vụ càng nhiều.</a:t>
            </a:r>
            <a:endParaRPr lang="vi-VN" sz="2600" dirty="0">
              <a:solidFill>
                <a:srgbClr val="0000FF"/>
              </a:solidFill>
              <a:latin typeface="Times New Roman" pitchFamily="18" charset="0"/>
              <a:cs typeface="Times New Roman" pitchFamily="18" charset="0"/>
            </a:endParaRPr>
          </a:p>
          <a:p>
            <a:pPr algn="just"/>
            <a:r>
              <a:rPr lang="nl-NL" sz="2600" i="1" dirty="0">
                <a:solidFill>
                  <a:srgbClr val="0000FF"/>
                </a:solidFill>
                <a:latin typeface="Times New Roman" pitchFamily="18" charset="0"/>
                <a:cs typeface="Times New Roman" pitchFamily="18" charset="0"/>
              </a:rPr>
              <a:t>+ Các kỳ vọng (E)</a:t>
            </a:r>
            <a:r>
              <a:rPr lang="nl-NL" sz="2600" dirty="0">
                <a:solidFill>
                  <a:srgbClr val="0000FF"/>
                </a:solidFill>
                <a:latin typeface="Times New Roman" pitchFamily="18" charset="0"/>
                <a:cs typeface="Times New Roman" pitchFamily="18" charset="0"/>
              </a:rPr>
              <a:t> được hiểu là sự mong đợi của người tiêu dùng và nó có tác động đến cầu về hàng hóa dịch vụ. Nếu người tiêu dùng dự đoán và mong đợi giá của hàng hóa nào đó trong tương lai sẽ giảm xuống thì cầu về hàng hóa hiện tại giảm và ngược lại.</a:t>
            </a:r>
            <a:endParaRPr lang="vi-VN" sz="2600" dirty="0">
              <a:solidFill>
                <a:srgbClr val="0000FF"/>
              </a:solidFill>
              <a:latin typeface="Times New Roman" pitchFamily="18" charset="0"/>
              <a:cs typeface="Times New Roman" pitchFamily="18" charset="0"/>
            </a:endParaRPr>
          </a:p>
          <a:p>
            <a:pPr algn="just"/>
            <a:r>
              <a:rPr lang="nl-NL" sz="2600" dirty="0">
                <a:solidFill>
                  <a:srgbClr val="0000FF"/>
                </a:solidFill>
                <a:latin typeface="Times New Roman" pitchFamily="18" charset="0"/>
                <a:cs typeface="Times New Roman" pitchFamily="18" charset="0"/>
              </a:rPr>
              <a:t>+ Sở thích, nhu cầu, thị hiếu, phong tục tập quán... </a:t>
            </a:r>
          </a:p>
          <a:p>
            <a:pPr algn="just"/>
            <a:r>
              <a:rPr lang="nl-NL" sz="2600" dirty="0">
                <a:solidFill>
                  <a:srgbClr val="0000FF"/>
                </a:solidFill>
                <a:latin typeface="Times New Roman" pitchFamily="18" charset="0"/>
                <a:cs typeface="Times New Roman" pitchFamily="18" charset="0"/>
              </a:rPr>
              <a:t>+ Các yếu tố khác: thời tiết, khí hậu, thiên tai, quảng cáo...</a:t>
            </a:r>
            <a:endParaRPr lang="en-US" sz="26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99515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229600" cy="6155871"/>
          </a:xfrm>
        </p:spPr>
        <p:txBody>
          <a:bodyPr>
            <a:normAutofit fontScale="92500" lnSpcReduction="10000"/>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2.2.3.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định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hàm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2.2.3.2. Hàm số của cầu</a:t>
            </a:r>
          </a:p>
          <a:p>
            <a:pPr algn="just"/>
            <a:r>
              <a:rPr lang="nl-NL" sz="2400" dirty="0">
                <a:solidFill>
                  <a:srgbClr val="0000FF"/>
                </a:solidFill>
                <a:latin typeface="Times New Roman" pitchFamily="18" charset="0"/>
                <a:cs typeface="Times New Roman" pitchFamily="18" charset="0"/>
              </a:rPr>
              <a:t>Với tất cả các yếu tố tác động đến cầu ta có thể viết hàm cầu dưới dạng như sau: </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Trong đó: 	</a:t>
            </a:r>
            <a:r>
              <a:rPr lang="en-US" sz="2400"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 L</a:t>
            </a:r>
            <a:r>
              <a:rPr lang="vi-VN" sz="2400" dirty="0">
                <a:solidFill>
                  <a:srgbClr val="0000FF"/>
                </a:solidFill>
                <a:latin typeface="Times New Roman" pitchFamily="18" charset="0"/>
                <a:cs typeface="Times New Roman" pitchFamily="18" charset="0"/>
              </a:rPr>
              <a:t>ượng cầu đối với hàng hóa X trong thời gian t</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P</a:t>
            </a:r>
            <a:r>
              <a:rPr lang="nl-NL" sz="2400" baseline="-25000" dirty="0">
                <a:solidFill>
                  <a:srgbClr val="0000FF"/>
                </a:solidFill>
                <a:latin typeface="Times New Roman" pitchFamily="18" charset="0"/>
                <a:cs typeface="Times New Roman" pitchFamily="18" charset="0"/>
              </a:rPr>
              <a:t>X</a:t>
            </a:r>
            <a:r>
              <a:rPr lang="nl-NL" sz="2400" dirty="0">
                <a:solidFill>
                  <a:srgbClr val="0000FF"/>
                </a:solidFill>
                <a:latin typeface="Times New Roman" pitchFamily="18" charset="0"/>
                <a:cs typeface="Times New Roman" pitchFamily="18" charset="0"/>
              </a:rPr>
              <a:t>: Giá hàng hóa X</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P</a:t>
            </a:r>
            <a:r>
              <a:rPr lang="nl-NL" sz="2400" baseline="-25000" dirty="0">
                <a:solidFill>
                  <a:srgbClr val="0000FF"/>
                </a:solidFill>
                <a:latin typeface="Times New Roman" pitchFamily="18" charset="0"/>
                <a:cs typeface="Times New Roman" pitchFamily="18" charset="0"/>
              </a:rPr>
              <a:t>Y</a:t>
            </a:r>
            <a:r>
              <a:rPr lang="nl-NL" sz="2400" dirty="0">
                <a:solidFill>
                  <a:srgbClr val="0000FF"/>
                </a:solidFill>
                <a:latin typeface="Times New Roman" pitchFamily="18" charset="0"/>
                <a:cs typeface="Times New Roman" pitchFamily="18" charset="0"/>
              </a:rPr>
              <a:t>: Giá hàng hóa khác có liên quan</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I: Thu nhập của người tiêu dùng</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N: Quy mô thị trường</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T: Thị hiếu</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E:  Kỳ vọng người tiêu dùng</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Khi chỉ xét đến yếu tố giá cả của bản thân hàng hóa hay dịch vụ (P­</a:t>
            </a:r>
            <a:r>
              <a:rPr lang="nl-NL" sz="2400" baseline="-25000" dirty="0">
                <a:solidFill>
                  <a:srgbClr val="0000FF"/>
                </a:solidFill>
                <a:latin typeface="Times New Roman" pitchFamily="18" charset="0"/>
                <a:cs typeface="Times New Roman" pitchFamily="18" charset="0"/>
              </a:rPr>
              <a:t>D</a:t>
            </a:r>
            <a:r>
              <a:rPr lang="nl-NL" sz="2400" dirty="0">
                <a:solidFill>
                  <a:srgbClr val="0000FF"/>
                </a:solidFill>
                <a:latin typeface="Times New Roman" pitchFamily="18" charset="0"/>
                <a:cs typeface="Times New Roman" pitchFamily="18" charset="0"/>
              </a:rPr>
              <a:t>), xem giá và lượng cầu (Q</a:t>
            </a:r>
            <a:r>
              <a:rPr lang="nl-NL" sz="2400" baseline="-25000" dirty="0">
                <a:solidFill>
                  <a:srgbClr val="0000FF"/>
                </a:solidFill>
                <a:latin typeface="Times New Roman" pitchFamily="18" charset="0"/>
                <a:cs typeface="Times New Roman" pitchFamily="18" charset="0"/>
              </a:rPr>
              <a:t>D</a:t>
            </a:r>
            <a:r>
              <a:rPr lang="nl-NL" sz="2400" dirty="0">
                <a:solidFill>
                  <a:srgbClr val="0000FF"/>
                </a:solidFill>
                <a:latin typeface="Times New Roman" pitchFamily="18" charset="0"/>
                <a:cs typeface="Times New Roman" pitchFamily="18" charset="0"/>
              </a:rPr>
              <a:t>) có quan hệ tuyến tính thì hàm cầu có dạng: </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P­</a:t>
            </a:r>
            <a:r>
              <a:rPr lang="nl-NL" sz="2400" baseline="-25000" dirty="0">
                <a:solidFill>
                  <a:srgbClr val="0000FF"/>
                </a:solidFill>
                <a:latin typeface="Times New Roman" pitchFamily="18" charset="0"/>
                <a:cs typeface="Times New Roman" pitchFamily="18" charset="0"/>
              </a:rPr>
              <a:t>D</a:t>
            </a:r>
            <a:r>
              <a:rPr lang="nl-NL" sz="2400" dirty="0">
                <a:solidFill>
                  <a:srgbClr val="0000FF"/>
                </a:solidFill>
                <a:latin typeface="Times New Roman" pitchFamily="18" charset="0"/>
                <a:cs typeface="Times New Roman" pitchFamily="18" charset="0"/>
              </a:rPr>
              <a:t> = a – bQ</a:t>
            </a:r>
            <a:r>
              <a:rPr lang="nl-NL" sz="2400" baseline="-25000" dirty="0">
                <a:solidFill>
                  <a:srgbClr val="0000FF"/>
                </a:solidFill>
                <a:latin typeface="Times New Roman" pitchFamily="18" charset="0"/>
                <a:cs typeface="Times New Roman" pitchFamily="18" charset="0"/>
              </a:rPr>
              <a:t>D</a:t>
            </a:r>
            <a:r>
              <a:rPr lang="nl-NL" sz="2400" dirty="0">
                <a:solidFill>
                  <a:srgbClr val="0000FF"/>
                </a:solidFill>
                <a:latin typeface="Times New Roman" pitchFamily="18" charset="0"/>
                <a:cs typeface="Times New Roman" pitchFamily="18" charset="0"/>
              </a:rPr>
              <a:t> </a:t>
            </a:r>
            <a:r>
              <a:rPr lang="nl-NL" sz="2400" i="1" dirty="0">
                <a:solidFill>
                  <a:srgbClr val="0000FF"/>
                </a:solidFill>
                <a:latin typeface="Times New Roman" pitchFamily="18" charset="0"/>
                <a:cs typeface="Times New Roman" pitchFamily="18" charset="0"/>
              </a:rPr>
              <a:t>(với a,b là những hệ số và b≥0) </a:t>
            </a:r>
            <a:r>
              <a:rPr lang="nl-NL" sz="2400" dirty="0">
                <a:solidFill>
                  <a:srgbClr val="0000FF"/>
                </a:solidFill>
                <a:latin typeface="Times New Roman" pitchFamily="18" charset="0"/>
                <a:cs typeface="Times New Roman" pitchFamily="18" charset="0"/>
              </a:rPr>
              <a:t>                    </a:t>
            </a:r>
            <a:endParaRPr lang="en-US" sz="2400" dirty="0">
              <a:solidFill>
                <a:srgbClr val="0000FF"/>
              </a:solidFill>
              <a:latin typeface="Times New Roman" pitchFamily="18" charset="0"/>
              <a:cs typeface="Times New Roman" pitchFamily="18" charset="0"/>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885503"/>
            <a:ext cx="3810000" cy="526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62232" y="2402964"/>
            <a:ext cx="457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05055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283025"/>
            <a:ext cx="80772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2.2.4. </a:t>
            </a:r>
            <a:r>
              <a:rPr lang="en-US" sz="2400" b="1" dirty="0" err="1">
                <a:solidFill>
                  <a:srgbClr val="0000FF"/>
                </a:solidFill>
                <a:latin typeface="Times New Roman" pitchFamily="18" charset="0"/>
                <a:cs typeface="Times New Roman" pitchFamily="18" charset="0"/>
              </a:rPr>
              <a:t>Sự</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vận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động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dọc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theo</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sự</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dịch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chuyển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Sự thay đổi của </a:t>
            </a:r>
            <a:r>
              <a:rPr lang="nl-NL" sz="2400" b="1" i="1" dirty="0">
                <a:solidFill>
                  <a:srgbClr val="0000FF"/>
                </a:solidFill>
                <a:latin typeface="Times New Roman" pitchFamily="18" charset="0"/>
                <a:cs typeface="Times New Roman" pitchFamily="18" charset="0"/>
              </a:rPr>
              <a:t>lượng cầu </a:t>
            </a:r>
            <a:r>
              <a:rPr lang="nl-NL" sz="2400" dirty="0">
                <a:solidFill>
                  <a:srgbClr val="0000FF"/>
                </a:solidFill>
                <a:latin typeface="Times New Roman" pitchFamily="18" charset="0"/>
                <a:cs typeface="Times New Roman" pitchFamily="18" charset="0"/>
              </a:rPr>
              <a:t>dẫn đến sự </a:t>
            </a:r>
            <a:r>
              <a:rPr lang="nl-NL" sz="2400" b="1" i="1" dirty="0">
                <a:solidFill>
                  <a:srgbClr val="0000FF"/>
                </a:solidFill>
                <a:latin typeface="Times New Roman" pitchFamily="18" charset="0"/>
                <a:cs typeface="Times New Roman" pitchFamily="18" charset="0"/>
              </a:rPr>
              <a:t>vận động dọc theo đường cầu</a:t>
            </a:r>
            <a:r>
              <a:rPr lang="nl-NL" sz="2400" i="1"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còn được gọi là sự vận động của yếu tố nội sinh. Đây </a:t>
            </a:r>
            <a:r>
              <a:rPr lang="nl-NL" sz="2400" b="1" i="1" dirty="0">
                <a:solidFill>
                  <a:srgbClr val="0000FF"/>
                </a:solidFill>
                <a:latin typeface="Times New Roman" pitchFamily="18" charset="0"/>
                <a:cs typeface="Times New Roman" pitchFamily="18" charset="0"/>
              </a:rPr>
              <a:t>là sự thay đổi do giá</a:t>
            </a:r>
            <a:r>
              <a:rPr lang="nl-NL" sz="2400" dirty="0">
                <a:solidFill>
                  <a:srgbClr val="0000FF"/>
                </a:solidFill>
                <a:latin typeface="Times New Roman" pitchFamily="18" charset="0"/>
                <a:cs typeface="Times New Roman" pitchFamily="18" charset="0"/>
              </a:rPr>
              <a:t>, không phải do các yếu tố khác tác động.</a:t>
            </a:r>
            <a:endParaRPr lang="en-US" sz="2400" dirty="0">
              <a:solidFill>
                <a:srgbClr val="0000FF"/>
              </a:solidFill>
              <a:latin typeface="Times New Roman" pitchFamily="18" charset="0"/>
              <a:cs typeface="Times New Roman" pitchFamily="18" charset="0"/>
            </a:endParaRPr>
          </a:p>
        </p:txBody>
      </p:sp>
      <p:pic>
        <p:nvPicPr>
          <p:cNvPr id="2560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819400"/>
            <a:ext cx="6677287" cy="3441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239252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609600" y="283025"/>
            <a:ext cx="8001000" cy="6155871"/>
          </a:xfrm>
        </p:spPr>
        <p:txBody>
          <a:bodyPr>
            <a:normAutofit/>
          </a:bodyPr>
          <a:lstStyle/>
          <a:p>
            <a:pPr algn="just"/>
            <a:r>
              <a:rPr lang="en-US" sz="2400" b="1" dirty="0">
                <a:solidFill>
                  <a:srgbClr val="0000FF"/>
                </a:solidFill>
                <a:latin typeface="Times New Roman" pitchFamily="18" charset="0"/>
                <a:cs typeface="Times New Roman" pitchFamily="18" charset="0"/>
              </a:rPr>
              <a:t>2.2.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(Demand)</a:t>
            </a:r>
          </a:p>
          <a:p>
            <a:pPr algn="just"/>
            <a:r>
              <a:rPr lang="en-US" sz="2400" b="1" dirty="0">
                <a:solidFill>
                  <a:srgbClr val="0000FF"/>
                </a:solidFill>
                <a:latin typeface="Times New Roman" pitchFamily="18" charset="0"/>
                <a:cs typeface="Times New Roman" pitchFamily="18" charset="0"/>
              </a:rPr>
              <a:t>2.2.4. </a:t>
            </a:r>
            <a:r>
              <a:rPr lang="en-US" sz="2400" b="1" dirty="0" err="1">
                <a:solidFill>
                  <a:srgbClr val="0000FF"/>
                </a:solidFill>
                <a:latin typeface="Times New Roman" pitchFamily="18" charset="0"/>
                <a:cs typeface="Times New Roman" pitchFamily="18" charset="0"/>
              </a:rPr>
              <a:t>Sự</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vận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động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dọc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theo</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sự</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dịch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chuyển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endParaRPr lang="en-US" sz="2400" b="1"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Sự thay đổi của cầu dẫn đến </a:t>
            </a:r>
            <a:r>
              <a:rPr lang="nl-NL" sz="2400" b="1" i="1" dirty="0">
                <a:solidFill>
                  <a:srgbClr val="0000FF"/>
                </a:solidFill>
                <a:latin typeface="Times New Roman" pitchFamily="18" charset="0"/>
                <a:cs typeface="Times New Roman" pitchFamily="18" charset="0"/>
              </a:rPr>
              <a:t>sự dịch chuyển của toàn bộ đường cầu sang bên trái (giảm cầu) hoặc bên phải (tăng cầu). </a:t>
            </a:r>
            <a:r>
              <a:rPr lang="nl-NL" sz="2400" dirty="0">
                <a:solidFill>
                  <a:srgbClr val="0000FF"/>
                </a:solidFill>
                <a:latin typeface="Times New Roman" pitchFamily="18" charset="0"/>
                <a:cs typeface="Times New Roman" pitchFamily="18" charset="0"/>
              </a:rPr>
              <a:t>Cầu thay đổi do </a:t>
            </a:r>
            <a:r>
              <a:rPr lang="nl-NL" sz="2400" b="1" i="1" dirty="0">
                <a:solidFill>
                  <a:srgbClr val="0000FF"/>
                </a:solidFill>
                <a:latin typeface="Times New Roman" pitchFamily="18" charset="0"/>
                <a:cs typeface="Times New Roman" pitchFamily="18" charset="0"/>
              </a:rPr>
              <a:t>bất kì yếu tố nào khác ngoài giá </a:t>
            </a:r>
            <a:r>
              <a:rPr lang="nl-NL" sz="2400" dirty="0">
                <a:solidFill>
                  <a:srgbClr val="0000FF"/>
                </a:solidFill>
                <a:latin typeface="Times New Roman" pitchFamily="18" charset="0"/>
                <a:cs typeface="Times New Roman" pitchFamily="18" charset="0"/>
              </a:rPr>
              <a:t>của bản thân hàng hóa đó thay đổi. </a:t>
            </a:r>
            <a:endParaRPr lang="en-US" sz="2400" dirty="0">
              <a:solidFill>
                <a:srgbClr val="0000FF"/>
              </a:solidFill>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842" y="2971800"/>
            <a:ext cx="4594758" cy="3467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5204358" y="4822375"/>
            <a:ext cx="3276600" cy="1752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vi-VN" sz="2400" dirty="0">
                <a:solidFill>
                  <a:srgbClr val="0000FF"/>
                </a:solidFill>
                <a:latin typeface="Times New Roman" pitchFamily="18" charset="0"/>
                <a:cs typeface="Times New Roman" pitchFamily="18" charset="0"/>
              </a:rPr>
              <a:t>Tức là chỉ thay đổi về lượng cầu, còn mức giá không thay đổi.</a:t>
            </a:r>
            <a:endParaRPr lang="en-US" sz="2400" dirty="0"/>
          </a:p>
        </p:txBody>
      </p:sp>
    </p:spTree>
    <p:extLst>
      <p:ext uri="{BB962C8B-B14F-4D97-AF65-F5344CB8AC3E}">
        <p14:creationId xmlns:p14="http://schemas.microsoft.com/office/powerpoint/2010/main" val="36080128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283025"/>
            <a:ext cx="8305800" cy="6155871"/>
          </a:xfrm>
        </p:spPr>
        <p:txBody>
          <a:bodyPr>
            <a:normAutofit/>
          </a:bodyPr>
          <a:lstStyle/>
          <a:p>
            <a:pPr algn="just"/>
            <a:r>
              <a:rPr lang="en-US" sz="2400" b="1" dirty="0">
                <a:solidFill>
                  <a:srgbClr val="0000FF"/>
                </a:solidFill>
                <a:latin typeface="Times New Roman" pitchFamily="18" charset="0"/>
                <a:cs typeface="Times New Roman" pitchFamily="18" charset="0"/>
              </a:rPr>
              <a:t>2.3. </a:t>
            </a:r>
            <a:r>
              <a:rPr lang="en-US" sz="2400" b="1" dirty="0" err="1">
                <a:solidFill>
                  <a:srgbClr val="0000FF"/>
                </a:solidFill>
                <a:latin typeface="Times New Roman" pitchFamily="18" charset="0"/>
                <a:cs typeface="Times New Roman" pitchFamily="18" charset="0"/>
              </a:rPr>
              <a:t>Cung</a:t>
            </a:r>
            <a:r>
              <a:rPr lang="en-US" sz="2400" b="1" dirty="0">
                <a:solidFill>
                  <a:srgbClr val="0000FF"/>
                </a:solidFill>
                <a:latin typeface="Times New Roman" pitchFamily="18" charset="0"/>
                <a:cs typeface="Times New Roman" pitchFamily="18" charset="0"/>
              </a:rPr>
              <a:t> (Supply)</a:t>
            </a:r>
          </a:p>
          <a:p>
            <a:pPr algn="just"/>
            <a:r>
              <a:rPr lang="en-US" sz="2400" b="1" dirty="0">
                <a:solidFill>
                  <a:srgbClr val="0000FF"/>
                </a:solidFill>
                <a:latin typeface="Times New Roman" pitchFamily="18" charset="0"/>
                <a:cs typeface="Times New Roman" pitchFamily="18" charset="0"/>
              </a:rPr>
              <a:t>2.3.1.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vi-VN" sz="2400" i="1" dirty="0">
                <a:solidFill>
                  <a:srgbClr val="0000FF"/>
                </a:solidFill>
                <a:latin typeface="Times New Roman" pitchFamily="18" charset="0"/>
                <a:cs typeface="Times New Roman" pitchFamily="18" charset="0"/>
              </a:rPr>
              <a:t>	</a:t>
            </a:r>
            <a:r>
              <a:rPr lang="nl-NL" sz="2400" i="1" dirty="0">
                <a:solidFill>
                  <a:srgbClr val="0000FF"/>
                </a:solidFill>
                <a:latin typeface="Times New Roman" pitchFamily="18" charset="0"/>
                <a:cs typeface="Times New Roman" pitchFamily="18" charset="0"/>
              </a:rPr>
              <a:t>Cung (cá nhân) là số lượng hàng hóa hay dịch vụ mà người bán </a:t>
            </a:r>
            <a:r>
              <a:rPr lang="nl-NL" sz="2400" b="1" i="1" u="sng" dirty="0">
                <a:solidFill>
                  <a:srgbClr val="0000FF"/>
                </a:solidFill>
                <a:latin typeface="Times New Roman" pitchFamily="18" charset="0"/>
                <a:cs typeface="Times New Roman" pitchFamily="18" charset="0"/>
              </a:rPr>
              <a:t>có khả năng và sẵn sàng bán</a:t>
            </a:r>
            <a:r>
              <a:rPr lang="nl-NL" sz="2400" i="1" dirty="0">
                <a:solidFill>
                  <a:srgbClr val="0000FF"/>
                </a:solidFill>
                <a:latin typeface="Times New Roman" pitchFamily="18" charset="0"/>
                <a:cs typeface="Times New Roman" pitchFamily="18" charset="0"/>
              </a:rPr>
              <a:t> ở các mức giá khác nhau trong một khoảng thời gian nhất định</a:t>
            </a:r>
            <a:r>
              <a:rPr lang="nl-NL" sz="2400" dirty="0">
                <a:solidFill>
                  <a:srgbClr val="0000FF"/>
                </a:solidFill>
                <a:latin typeface="Times New Roman" pitchFamily="18" charset="0"/>
                <a:cs typeface="Times New Roman" pitchFamily="18" charset="0"/>
              </a:rPr>
              <a:t>.</a:t>
            </a: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Cung thị trường </a:t>
            </a:r>
            <a:r>
              <a:rPr lang="nl-NL" sz="2400" dirty="0">
                <a:solidFill>
                  <a:srgbClr val="0000FF"/>
                </a:solidFill>
                <a:latin typeface="Times New Roman" pitchFamily="18" charset="0"/>
                <a:cs typeface="Times New Roman" pitchFamily="18" charset="0"/>
              </a:rPr>
              <a:t>là tổng hợp mức cung của từng cá nhân với nhau.</a:t>
            </a:r>
            <a:endParaRPr lang="en-US" sz="2400" dirty="0">
              <a:solidFill>
                <a:srgbClr val="0000FF"/>
              </a:solidFill>
              <a:latin typeface="Times New Roman" pitchFamily="18" charset="0"/>
              <a:cs typeface="Times New Roman" pitchFamily="18" charset="0"/>
            </a:endParaRP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Lượng cung </a:t>
            </a:r>
            <a:r>
              <a:rPr lang="nl-NL" sz="2400" dirty="0">
                <a:solidFill>
                  <a:srgbClr val="0000FF"/>
                </a:solidFill>
                <a:latin typeface="Times New Roman" pitchFamily="18" charset="0"/>
                <a:cs typeface="Times New Roman" pitchFamily="18" charset="0"/>
              </a:rPr>
              <a:t>là lượng hàng hóa hay dịch vụ mà người bán có khả năng bán và sẵn sàng bán ở một mức giá xác định trong một khoản thời gian nhất định.</a:t>
            </a:r>
            <a:endParaRPr lang="en-US" sz="2400" dirty="0">
              <a:solidFill>
                <a:srgbClr val="0000FF"/>
              </a:solidFill>
              <a:latin typeface="Times New Roman" pitchFamily="18" charset="0"/>
              <a:cs typeface="Times New Roman" pitchFamily="18" charset="0"/>
            </a:endParaRP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Biểu cung </a:t>
            </a:r>
            <a:r>
              <a:rPr lang="nl-NL" sz="2400" dirty="0">
                <a:solidFill>
                  <a:srgbClr val="0000FF"/>
                </a:solidFill>
                <a:latin typeface="Times New Roman" pitchFamily="18" charset="0"/>
                <a:cs typeface="Times New Roman" pitchFamily="18" charset="0"/>
              </a:rPr>
              <a:t>là một bảng mô tả số lượng hàng hóa hoặc dịch vụ mà người bán sẵn sàng và có khả năng bán ở các mức giá khác nhau trong một khoảng thời gian nhất định. </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3942383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24548" y="283025"/>
            <a:ext cx="8262252" cy="6155871"/>
          </a:xfrm>
        </p:spPr>
        <p:txBody>
          <a:bodyPr>
            <a:normAutofit/>
          </a:bodyPr>
          <a:lstStyle/>
          <a:p>
            <a:pPr algn="just"/>
            <a:r>
              <a:rPr lang="en-US" sz="2400" b="1" dirty="0">
                <a:solidFill>
                  <a:srgbClr val="0000FF"/>
                </a:solidFill>
                <a:latin typeface="Times New Roman" pitchFamily="18" charset="0"/>
                <a:cs typeface="Times New Roman" pitchFamily="18" charset="0"/>
              </a:rPr>
              <a:t>2.3. </a:t>
            </a:r>
            <a:r>
              <a:rPr lang="en-US" sz="2400" b="1" dirty="0" err="1">
                <a:solidFill>
                  <a:srgbClr val="0000FF"/>
                </a:solidFill>
                <a:latin typeface="Times New Roman" pitchFamily="18" charset="0"/>
                <a:cs typeface="Times New Roman" pitchFamily="18" charset="0"/>
              </a:rPr>
              <a:t>Cung</a:t>
            </a:r>
            <a:r>
              <a:rPr lang="en-US" sz="2400" b="1" dirty="0">
                <a:solidFill>
                  <a:srgbClr val="0000FF"/>
                </a:solidFill>
                <a:latin typeface="Times New Roman" pitchFamily="18" charset="0"/>
                <a:cs typeface="Times New Roman" pitchFamily="18" charset="0"/>
              </a:rPr>
              <a:t> (Supply)</a:t>
            </a:r>
          </a:p>
          <a:p>
            <a:pPr algn="just"/>
            <a:r>
              <a:rPr lang="en-US" sz="2400" b="1" dirty="0">
                <a:solidFill>
                  <a:srgbClr val="0000FF"/>
                </a:solidFill>
                <a:latin typeface="Times New Roman" pitchFamily="18" charset="0"/>
                <a:cs typeface="Times New Roman" pitchFamily="18" charset="0"/>
              </a:rPr>
              <a:t>2.3.1.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en-US" sz="2400" b="1" i="1" dirty="0" err="1">
                <a:solidFill>
                  <a:srgbClr val="0000FF"/>
                </a:solidFill>
                <a:latin typeface="Times New Roman" pitchFamily="18" charset="0"/>
                <a:cs typeface="Times New Roman" pitchFamily="18" charset="0"/>
              </a:rPr>
              <a:t>Biểu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cung</a:t>
            </a:r>
            <a:r>
              <a:rPr lang="en-US" sz="2400" b="1" i="1" dirty="0">
                <a:solidFill>
                  <a:srgbClr val="0000FF"/>
                </a:solidFill>
                <a:latin typeface="Times New Roman" pitchFamily="18" charset="0"/>
                <a:cs typeface="Times New Roman" pitchFamily="18" charset="0"/>
              </a:rPr>
              <a:t> </a:t>
            </a:r>
          </a:p>
          <a:p>
            <a:pPr algn="just"/>
            <a:r>
              <a:rPr lang="nl-NL" sz="2400" dirty="0">
                <a:solidFill>
                  <a:srgbClr val="0000FF"/>
                </a:solidFill>
                <a:latin typeface="Times New Roman" pitchFamily="18" charset="0"/>
                <a:cs typeface="Times New Roman" pitchFamily="18" charset="0"/>
              </a:rPr>
              <a:t>Ví dụ biểu cung về gạo của thị trường gạo Bình Định. Cung về gạo của thị trường gạo Bình Định bao gồm hai yếu tố: Lượng gạo người bán muốn bán và có khả năng bán tương ứng với giá mỗi kg gạo trên thị trường. </a:t>
            </a:r>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146172226"/>
              </p:ext>
            </p:extLst>
          </p:nvPr>
        </p:nvGraphicFramePr>
        <p:xfrm>
          <a:off x="304800" y="3171658"/>
          <a:ext cx="8534400" cy="3159252"/>
        </p:xfrm>
        <a:graphic>
          <a:graphicData uri="http://schemas.openxmlformats.org/drawingml/2006/table">
            <a:tbl>
              <a:tblPr firstRow="1" firstCol="1" lastRow="1" lastCol="1" bandRow="1" bandCol="1">
                <a:tableStyleId>{5C22544A-7EE6-4342-B048-85BDC9FD1C3A}</a:tableStyleId>
              </a:tblPr>
              <a:tblGrid>
                <a:gridCol w="2679802">
                  <a:extLst>
                    <a:ext uri="{9D8B030D-6E8A-4147-A177-3AD203B41FA5}">
                      <a16:colId xmlns:a16="http://schemas.microsoft.com/office/drawing/2014/main" val="20000"/>
                    </a:ext>
                  </a:extLst>
                </a:gridCol>
                <a:gridCol w="2681508">
                  <a:extLst>
                    <a:ext uri="{9D8B030D-6E8A-4147-A177-3AD203B41FA5}">
                      <a16:colId xmlns:a16="http://schemas.microsoft.com/office/drawing/2014/main" val="20001"/>
                    </a:ext>
                  </a:extLst>
                </a:gridCol>
                <a:gridCol w="3173090">
                  <a:extLst>
                    <a:ext uri="{9D8B030D-6E8A-4147-A177-3AD203B41FA5}">
                      <a16:colId xmlns:a16="http://schemas.microsoft.com/office/drawing/2014/main" val="20002"/>
                    </a:ext>
                  </a:extLst>
                </a:gridCol>
              </a:tblGrid>
              <a:tr h="862140">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Kết hợp</a:t>
                      </a:r>
                      <a:endParaRPr lang="en-US" sz="22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P</a:t>
                      </a:r>
                      <a:r>
                        <a:rPr lang="nl-NL" sz="2200" baseline="-25000" dirty="0">
                          <a:effectLst/>
                          <a:latin typeface="Times New Roman" pitchFamily="18" charset="0"/>
                          <a:cs typeface="Times New Roman" pitchFamily="18" charset="0"/>
                        </a:rPr>
                        <a:t>S </a:t>
                      </a:r>
                      <a:r>
                        <a:rPr lang="nl-NL" sz="2200" dirty="0">
                          <a:effectLst/>
                          <a:latin typeface="Times New Roman" pitchFamily="18" charset="0"/>
                          <a:cs typeface="Times New Roman" pitchFamily="18" charset="0"/>
                        </a:rPr>
                        <a:t>- Giá</a:t>
                      </a:r>
                      <a:endParaRPr lang="en-US" sz="2200" dirty="0">
                        <a:effectLst/>
                        <a:latin typeface="Times New Roman" pitchFamily="18" charset="0"/>
                        <a:cs typeface="Times New Roman" pitchFamily="18" charset="0"/>
                      </a:endParaRPr>
                    </a:p>
                    <a:p>
                      <a:pPr marL="0" marR="0" algn="ctr">
                        <a:lnSpc>
                          <a:spcPct val="150000"/>
                        </a:lnSpc>
                        <a:spcBef>
                          <a:spcPts val="0"/>
                        </a:spcBef>
                        <a:spcAft>
                          <a:spcPts val="0"/>
                        </a:spcAft>
                      </a:pPr>
                      <a:r>
                        <a:rPr lang="nl-NL" sz="2200" dirty="0">
                          <a:effectLst/>
                          <a:latin typeface="Times New Roman" pitchFamily="18" charset="0"/>
                          <a:cs typeface="Times New Roman" pitchFamily="18" charset="0"/>
                        </a:rPr>
                        <a:t>(1.000 đồng/kg)</a:t>
                      </a:r>
                      <a:endParaRPr lang="en-US" sz="22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Q</a:t>
                      </a:r>
                      <a:r>
                        <a:rPr lang="nl-NL" sz="2200" baseline="-25000">
                          <a:effectLst/>
                          <a:latin typeface="Times New Roman" pitchFamily="18" charset="0"/>
                          <a:cs typeface="Times New Roman" pitchFamily="18" charset="0"/>
                        </a:rPr>
                        <a:t>S </a:t>
                      </a:r>
                      <a:r>
                        <a:rPr lang="nl-NL" sz="2200">
                          <a:effectLst/>
                          <a:latin typeface="Times New Roman" pitchFamily="18" charset="0"/>
                          <a:cs typeface="Times New Roman" pitchFamily="18" charset="0"/>
                        </a:rPr>
                        <a:t>- Lượng cung</a:t>
                      </a:r>
                      <a:endParaRPr lang="en-US" sz="2200">
                        <a:effectLst/>
                        <a:latin typeface="Times New Roman" pitchFamily="18" charset="0"/>
                        <a:cs typeface="Times New Roman" pitchFamily="18" charset="0"/>
                      </a:endParaRPr>
                    </a:p>
                    <a:p>
                      <a:pPr marL="0" marR="0" algn="ctr">
                        <a:lnSpc>
                          <a:spcPct val="150000"/>
                        </a:lnSpc>
                        <a:spcBef>
                          <a:spcPts val="0"/>
                        </a:spcBef>
                        <a:spcAft>
                          <a:spcPts val="0"/>
                        </a:spcAft>
                      </a:pPr>
                      <a:r>
                        <a:rPr lang="nl-NL" sz="2200">
                          <a:effectLst/>
                          <a:latin typeface="Times New Roman" pitchFamily="18" charset="0"/>
                          <a:cs typeface="Times New Roman" pitchFamily="18" charset="0"/>
                        </a:rPr>
                        <a:t>(1.000 kg/tháng)</a:t>
                      </a:r>
                      <a:endParaRPr lang="en-US" sz="220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0"/>
                  </a:ext>
                </a:extLst>
              </a:tr>
              <a:tr h="406692">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A</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4</a:t>
                      </a:r>
                      <a:endParaRPr lang="en-US" sz="22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10</a:t>
                      </a:r>
                      <a:endParaRPr lang="en-US" sz="22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1"/>
                  </a:ext>
                </a:extLst>
              </a:tr>
              <a:tr h="406692">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B</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8</a:t>
                      </a:r>
                      <a:endParaRPr lang="en-US" sz="22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20</a:t>
                      </a:r>
                      <a:endParaRPr lang="en-US" sz="22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2"/>
                  </a:ext>
                </a:extLst>
              </a:tr>
              <a:tr h="406692">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C</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12</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30</a:t>
                      </a:r>
                      <a:endParaRPr lang="en-US" sz="22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3"/>
                  </a:ext>
                </a:extLst>
              </a:tr>
              <a:tr h="406692">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E</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16</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40</a:t>
                      </a:r>
                      <a:endParaRPr lang="en-US" sz="22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4"/>
                  </a:ext>
                </a:extLst>
              </a:tr>
              <a:tr h="406692">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G</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a:effectLst/>
                          <a:latin typeface="Times New Roman" pitchFamily="18" charset="0"/>
                          <a:cs typeface="Times New Roman" pitchFamily="18" charset="0"/>
                        </a:rPr>
                        <a:t>20</a:t>
                      </a:r>
                      <a:endParaRPr lang="en-US" sz="22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50000"/>
                        </a:lnSpc>
                        <a:spcBef>
                          <a:spcPts val="0"/>
                        </a:spcBef>
                        <a:spcAft>
                          <a:spcPts val="0"/>
                        </a:spcAft>
                      </a:pPr>
                      <a:r>
                        <a:rPr lang="nl-NL" sz="2200" dirty="0">
                          <a:effectLst/>
                          <a:latin typeface="Times New Roman" pitchFamily="18" charset="0"/>
                          <a:cs typeface="Times New Roman" pitchFamily="18" charset="0"/>
                        </a:rPr>
                        <a:t>50</a:t>
                      </a:r>
                      <a:endParaRPr lang="en-US" sz="22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9326443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05800" cy="6155871"/>
          </a:xfrm>
        </p:spPr>
        <p:txBody>
          <a:bodyPr>
            <a:normAutofit/>
          </a:bodyPr>
          <a:lstStyle/>
          <a:p>
            <a:pPr algn="just"/>
            <a:r>
              <a:rPr lang="en-US" sz="2400" b="1" dirty="0">
                <a:solidFill>
                  <a:srgbClr val="0000FF"/>
                </a:solidFill>
                <a:latin typeface="Times New Roman" pitchFamily="18" charset="0"/>
                <a:cs typeface="Times New Roman" pitchFamily="18" charset="0"/>
              </a:rPr>
              <a:t>2.3. </a:t>
            </a:r>
            <a:r>
              <a:rPr lang="en-US" sz="2400" b="1" dirty="0" err="1">
                <a:solidFill>
                  <a:srgbClr val="0000FF"/>
                </a:solidFill>
                <a:latin typeface="Times New Roman" pitchFamily="18" charset="0"/>
                <a:cs typeface="Times New Roman" pitchFamily="18" charset="0"/>
              </a:rPr>
              <a:t>Cung</a:t>
            </a:r>
            <a:r>
              <a:rPr lang="en-US" sz="2400" b="1" dirty="0">
                <a:solidFill>
                  <a:srgbClr val="0000FF"/>
                </a:solidFill>
                <a:latin typeface="Times New Roman" pitchFamily="18" charset="0"/>
                <a:cs typeface="Times New Roman" pitchFamily="18" charset="0"/>
              </a:rPr>
              <a:t> (Supply)</a:t>
            </a:r>
          </a:p>
          <a:p>
            <a:pPr algn="just"/>
            <a:r>
              <a:rPr lang="en-US" sz="2400" b="1" dirty="0">
                <a:solidFill>
                  <a:srgbClr val="0000FF"/>
                </a:solidFill>
                <a:latin typeface="Times New Roman" pitchFamily="18" charset="0"/>
                <a:cs typeface="Times New Roman" pitchFamily="18" charset="0"/>
              </a:rPr>
              <a:t>2.3.1.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Đường cung </a:t>
            </a:r>
            <a:r>
              <a:rPr lang="nl-NL" sz="2400" dirty="0">
                <a:solidFill>
                  <a:srgbClr val="0000FF"/>
                </a:solidFill>
                <a:latin typeface="Times New Roman" pitchFamily="18" charset="0"/>
                <a:cs typeface="Times New Roman" pitchFamily="18" charset="0"/>
              </a:rPr>
              <a:t>là đường biểu diễn mối quan hệ giữa lượng cung và mức giá, tương ứng với mỗi mức giá có một lượng cung gạo nhất định. Một nét chung của đường cung là có độ nghiêng lên trên về phía phải phản ánh quy luật cung.</a:t>
            </a:r>
            <a:endParaRPr lang="en-US" sz="2400" dirty="0">
              <a:solidFill>
                <a:srgbClr val="0000FF"/>
              </a:solidFill>
              <a:latin typeface="Times New Roman" pitchFamily="18" charset="0"/>
              <a:cs typeface="Times New Roman" pitchFamily="18"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2720525"/>
            <a:ext cx="7772400" cy="379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588179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155871"/>
          </a:xfrm>
        </p:spPr>
        <p:txBody>
          <a:bodyPr>
            <a:normAutofit/>
          </a:bodyPr>
          <a:lstStyle/>
          <a:p>
            <a:pPr algn="just"/>
            <a:r>
              <a:rPr lang="en-US" sz="2400" b="1" dirty="0">
                <a:solidFill>
                  <a:srgbClr val="0000FF"/>
                </a:solidFill>
                <a:latin typeface="Times New Roman" pitchFamily="18" charset="0"/>
                <a:cs typeface="Times New Roman" pitchFamily="18" charset="0"/>
              </a:rPr>
              <a:t>2.3. </a:t>
            </a:r>
            <a:r>
              <a:rPr lang="en-US" sz="2400" b="1" dirty="0" err="1">
                <a:solidFill>
                  <a:srgbClr val="0000FF"/>
                </a:solidFill>
                <a:latin typeface="Times New Roman" pitchFamily="18" charset="0"/>
                <a:cs typeface="Times New Roman" pitchFamily="18" charset="0"/>
              </a:rPr>
              <a:t>Cung</a:t>
            </a:r>
            <a:r>
              <a:rPr lang="en-US" sz="2400" b="1" dirty="0">
                <a:solidFill>
                  <a:srgbClr val="0000FF"/>
                </a:solidFill>
                <a:latin typeface="Times New Roman" pitchFamily="18" charset="0"/>
                <a:cs typeface="Times New Roman" pitchFamily="18" charset="0"/>
              </a:rPr>
              <a:t> (Supply)</a:t>
            </a:r>
          </a:p>
          <a:p>
            <a:pPr algn="just"/>
            <a:r>
              <a:rPr lang="fr-FR" sz="2400" b="1" i="1" dirty="0">
                <a:solidFill>
                  <a:srgbClr val="0000FF"/>
                </a:solidFill>
                <a:latin typeface="Times New Roman" pitchFamily="18" charset="0"/>
                <a:cs typeface="Times New Roman" pitchFamily="18" charset="0"/>
              </a:rPr>
              <a:t>2.3.2. </a:t>
            </a:r>
            <a:r>
              <a:rPr lang="fr-FR" sz="2400" b="1" i="1" dirty="0" err="1">
                <a:solidFill>
                  <a:srgbClr val="0000FF"/>
                </a:solidFill>
                <a:latin typeface="Times New Roman" pitchFamily="18" charset="0"/>
                <a:cs typeface="Times New Roman" pitchFamily="18" charset="0"/>
              </a:rPr>
              <a:t>Luật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cung</a:t>
            </a:r>
            <a:endParaRPr lang="en-US" sz="2400" b="1" i="1" dirty="0">
              <a:solidFill>
                <a:srgbClr val="0000FF"/>
              </a:solidFill>
              <a:latin typeface="Times New Roman" pitchFamily="18" charset="0"/>
              <a:cs typeface="Times New Roman" pitchFamily="18" charset="0"/>
            </a:endParaRPr>
          </a:p>
          <a:p>
            <a:pPr algn="just"/>
            <a:r>
              <a:rPr lang="vi-VN" sz="2400" b="1" i="1" dirty="0">
                <a:solidFill>
                  <a:srgbClr val="0000FF"/>
                </a:solidFill>
                <a:latin typeface="Times New Roman" pitchFamily="18" charset="0"/>
                <a:cs typeface="Times New Roman" pitchFamily="18" charset="0"/>
              </a:rPr>
              <a:t>	</a:t>
            </a:r>
            <a:r>
              <a:rPr lang="nl-NL" sz="2400" b="1" i="1" dirty="0">
                <a:solidFill>
                  <a:srgbClr val="0000FF"/>
                </a:solidFill>
                <a:latin typeface="Times New Roman" pitchFamily="18" charset="0"/>
                <a:cs typeface="Times New Roman" pitchFamily="18" charset="0"/>
              </a:rPr>
              <a:t>Giả định tất cả các yếu tố khác không thay đổi</a:t>
            </a:r>
            <a:r>
              <a:rPr lang="nl-NL" sz="2400" i="1" dirty="0">
                <a:solidFill>
                  <a:srgbClr val="0000FF"/>
                </a:solidFill>
                <a:latin typeface="Times New Roman" pitchFamily="18" charset="0"/>
                <a:cs typeface="Times New Roman" pitchFamily="18" charset="0"/>
              </a:rPr>
              <a:t>, số lượng hàng hóa hay dịch vụ được cung trong khoảng thời gian nhất định tăng lên khi giá của nó tăng lên và ngược lại.</a:t>
            </a:r>
          </a:p>
          <a:p>
            <a:pPr algn="just"/>
            <a:r>
              <a:rPr lang="vi-VN" sz="2400"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Tại sao giá cao hơn lại dẫn đến lượng cung cao hơn?</a:t>
            </a:r>
            <a:endParaRPr lang="vi-VN"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Câu trả lời ở đây là lợi nhuận. Nếu như giá của các yếu tố đầu vào dùng để sản xuất ra hàng hóa được </a:t>
            </a:r>
            <a:r>
              <a:rPr lang="nl-NL" sz="2400" b="1" i="1" dirty="0">
                <a:solidFill>
                  <a:srgbClr val="0000FF"/>
                </a:solidFill>
                <a:latin typeface="Times New Roman" pitchFamily="18" charset="0"/>
                <a:cs typeface="Times New Roman" pitchFamily="18" charset="0"/>
              </a:rPr>
              <a:t>giữ cố định</a:t>
            </a:r>
            <a:r>
              <a:rPr lang="nl-NL" sz="2400" dirty="0">
                <a:solidFill>
                  <a:srgbClr val="0000FF"/>
                </a:solidFill>
                <a:latin typeface="Times New Roman" pitchFamily="18" charset="0"/>
                <a:cs typeface="Times New Roman" pitchFamily="18" charset="0"/>
              </a:rPr>
              <a:t>, thì giá hàng hóa cao hơn có nghĩa là lợi nhuận cao hơn đối với nhà sản xuất. Họ sẽ sản xuất nhiều hơn và thu hút nhiều doanh nghiệp vào sản xuất.</a:t>
            </a:r>
          </a:p>
          <a:p>
            <a:pPr algn="just"/>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255711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305800" cy="6553200"/>
          </a:xfrm>
        </p:spPr>
        <p:txBody>
          <a:bodyPr>
            <a:normAutofit fontScale="92500" lnSpcReduction="20000"/>
          </a:bodyPr>
          <a:lstStyle/>
          <a:p>
            <a:pPr algn="just"/>
            <a:r>
              <a:rPr lang="en-US" sz="2500" b="1" dirty="0">
                <a:solidFill>
                  <a:srgbClr val="0000FF"/>
                </a:solidFill>
                <a:latin typeface="Times New Roman" pitchFamily="18" charset="0"/>
                <a:cs typeface="Times New Roman" pitchFamily="18" charset="0"/>
              </a:rPr>
              <a:t>2.3. </a:t>
            </a:r>
            <a:r>
              <a:rPr lang="en-US" sz="2500" b="1" dirty="0" err="1">
                <a:solidFill>
                  <a:srgbClr val="0000FF"/>
                </a:solidFill>
                <a:latin typeface="Times New Roman" pitchFamily="18" charset="0"/>
                <a:cs typeface="Times New Roman" pitchFamily="18" charset="0"/>
              </a:rPr>
              <a:t>Cung</a:t>
            </a:r>
            <a:r>
              <a:rPr lang="en-US" sz="2500" b="1" dirty="0">
                <a:solidFill>
                  <a:srgbClr val="0000FF"/>
                </a:solidFill>
                <a:latin typeface="Times New Roman" pitchFamily="18" charset="0"/>
                <a:cs typeface="Times New Roman" pitchFamily="18" charset="0"/>
              </a:rPr>
              <a:t> (Supply)</a:t>
            </a:r>
          </a:p>
          <a:p>
            <a:pPr algn="just"/>
            <a:r>
              <a:rPr lang="fr-FR" sz="2500" b="1" i="1" dirty="0">
                <a:solidFill>
                  <a:srgbClr val="0000FF"/>
                </a:solidFill>
                <a:latin typeface="Times New Roman" pitchFamily="18" charset="0"/>
                <a:cs typeface="Times New Roman" pitchFamily="18" charset="0"/>
              </a:rPr>
              <a:t>2.3.3. </a:t>
            </a:r>
            <a:r>
              <a:rPr lang="fr-FR" sz="2500" b="1" i="1" dirty="0" err="1">
                <a:solidFill>
                  <a:srgbClr val="0000FF"/>
                </a:solidFill>
                <a:latin typeface="Times New Roman" pitchFamily="18" charset="0"/>
                <a:cs typeface="Times New Roman" pitchFamily="18" charset="0"/>
              </a:rPr>
              <a:t>Các</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yếu</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tố</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tác</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động</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cung</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và</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hàm</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số</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của</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cung</a:t>
            </a:r>
            <a:endParaRPr lang="en-US" sz="2500" b="1" i="1" dirty="0">
              <a:solidFill>
                <a:srgbClr val="0000FF"/>
              </a:solidFill>
              <a:latin typeface="Times New Roman" pitchFamily="18" charset="0"/>
              <a:cs typeface="Times New Roman" pitchFamily="18" charset="0"/>
            </a:endParaRPr>
          </a:p>
          <a:p>
            <a:pPr algn="just"/>
            <a:r>
              <a:rPr lang="nl-NL" sz="2500" b="1" i="1" dirty="0">
                <a:solidFill>
                  <a:srgbClr val="0000FF"/>
                </a:solidFill>
                <a:latin typeface="Times New Roman" pitchFamily="18" charset="0"/>
                <a:cs typeface="Times New Roman" pitchFamily="18" charset="0"/>
              </a:rPr>
              <a:t>2.3.3.1. Các yếu tố tác động cung</a:t>
            </a:r>
          </a:p>
          <a:p>
            <a:pPr algn="just"/>
            <a:r>
              <a:rPr lang="vi-VN" sz="2500" i="1" dirty="0">
                <a:solidFill>
                  <a:srgbClr val="0000FF"/>
                </a:solidFill>
                <a:latin typeface="Times New Roman" pitchFamily="18" charset="0"/>
                <a:cs typeface="Times New Roman" pitchFamily="18" charset="0"/>
              </a:rPr>
              <a:t>+ </a:t>
            </a:r>
            <a:r>
              <a:rPr lang="nl-NL" sz="2500" i="1" dirty="0">
                <a:solidFill>
                  <a:srgbClr val="0000FF"/>
                </a:solidFill>
                <a:latin typeface="Times New Roman" pitchFamily="18" charset="0"/>
                <a:cs typeface="Times New Roman" pitchFamily="18" charset="0"/>
              </a:rPr>
              <a:t>Giá cả hàng hóa hay dịch vụ (P</a:t>
            </a:r>
            <a:r>
              <a:rPr lang="nl-NL" sz="2500" i="1" baseline="-25000" dirty="0">
                <a:solidFill>
                  <a:srgbClr val="0000FF"/>
                </a:solidFill>
                <a:latin typeface="Times New Roman" pitchFamily="18" charset="0"/>
                <a:cs typeface="Times New Roman" pitchFamily="18" charset="0"/>
              </a:rPr>
              <a:t>X</a:t>
            </a:r>
            <a:r>
              <a:rPr lang="nl-NL" sz="2500" i="1" dirty="0">
                <a:solidFill>
                  <a:srgbClr val="0000FF"/>
                </a:solidFill>
                <a:latin typeface="Times New Roman" pitchFamily="18" charset="0"/>
                <a:cs typeface="Times New Roman" pitchFamily="18" charset="0"/>
              </a:rPr>
              <a:t>)</a:t>
            </a:r>
            <a:r>
              <a:rPr lang="vi-VN" sz="2500" i="1" dirty="0">
                <a:solidFill>
                  <a:srgbClr val="0000FF"/>
                </a:solidFill>
                <a:latin typeface="Times New Roman" pitchFamily="18" charset="0"/>
                <a:cs typeface="Times New Roman" pitchFamily="18" charset="0"/>
              </a:rPr>
              <a:t>: </a:t>
            </a:r>
            <a:r>
              <a:rPr lang="nl-NL" sz="2500" dirty="0">
                <a:solidFill>
                  <a:srgbClr val="0000FF"/>
                </a:solidFill>
                <a:latin typeface="Times New Roman" pitchFamily="18" charset="0"/>
                <a:cs typeface="Times New Roman" pitchFamily="18" charset="0"/>
              </a:rPr>
              <a:t>Nếu giá một mặt hàng nào đó giảm hoặc tăng thì lượng cung hàng hóa đó cũng giảm hoặc tăng theo.</a:t>
            </a:r>
          </a:p>
          <a:p>
            <a:pPr algn="just"/>
            <a:r>
              <a:rPr lang="vi-VN" sz="2500" i="1" dirty="0">
                <a:solidFill>
                  <a:srgbClr val="0000FF"/>
                </a:solidFill>
                <a:latin typeface="Times New Roman" pitchFamily="18" charset="0"/>
                <a:cs typeface="Times New Roman" pitchFamily="18" charset="0"/>
              </a:rPr>
              <a:t>+ </a:t>
            </a:r>
            <a:r>
              <a:rPr lang="nl-NL" sz="2500" i="1" dirty="0">
                <a:solidFill>
                  <a:srgbClr val="0000FF"/>
                </a:solidFill>
                <a:latin typeface="Times New Roman" pitchFamily="18" charset="0"/>
                <a:cs typeface="Times New Roman" pitchFamily="18" charset="0"/>
              </a:rPr>
              <a:t>Công nghệ (T</a:t>
            </a:r>
            <a:r>
              <a:rPr lang="nl-NL" sz="2500" i="1" baseline="-25000" dirty="0">
                <a:solidFill>
                  <a:srgbClr val="0000FF"/>
                </a:solidFill>
                <a:latin typeface="Times New Roman" pitchFamily="18" charset="0"/>
                <a:cs typeface="Times New Roman" pitchFamily="18" charset="0"/>
              </a:rPr>
              <a:t>e</a:t>
            </a:r>
            <a:r>
              <a:rPr lang="nl-NL" sz="2500" i="1" dirty="0">
                <a:solidFill>
                  <a:srgbClr val="0000FF"/>
                </a:solidFill>
                <a:latin typeface="Times New Roman" pitchFamily="18" charset="0"/>
                <a:cs typeface="Times New Roman" pitchFamily="18" charset="0"/>
              </a:rPr>
              <a:t>)</a:t>
            </a:r>
            <a:r>
              <a:rPr lang="nl-NL" sz="2500" dirty="0">
                <a:solidFill>
                  <a:srgbClr val="0000FF"/>
                </a:solidFill>
                <a:latin typeface="Times New Roman" pitchFamily="18" charset="0"/>
                <a:cs typeface="Times New Roman" pitchFamily="18" charset="0"/>
              </a:rPr>
              <a:t> là một yếu tố quan trọng góp phần nâng cao chất lượng, giảm chi phí lao động trong quá trình sản xuất sản phẩm. Công nghệ càng tiên tiến thì ở mỗi mức giá nhất định lượng hàng hóa sản xuất ra càng nhiều. Sự cải tiến công nghệ làm cho đường cung dịch chuyển về phía phải, nghĩa là làm tăng khả năng cung lên.</a:t>
            </a:r>
          </a:p>
          <a:p>
            <a:pPr algn="just"/>
            <a:r>
              <a:rPr lang="vi-VN" sz="2500" i="1" dirty="0">
                <a:solidFill>
                  <a:srgbClr val="0000FF"/>
                </a:solidFill>
                <a:latin typeface="Times New Roman" pitchFamily="18" charset="0"/>
                <a:cs typeface="Times New Roman" pitchFamily="18" charset="0"/>
              </a:rPr>
              <a:t>+ </a:t>
            </a:r>
            <a:r>
              <a:rPr lang="nl-NL" sz="2500" i="1" dirty="0">
                <a:solidFill>
                  <a:srgbClr val="0000FF"/>
                </a:solidFill>
                <a:latin typeface="Times New Roman" pitchFamily="18" charset="0"/>
                <a:cs typeface="Times New Roman" pitchFamily="18" charset="0"/>
              </a:rPr>
              <a:t>Giá của các yếu tố sản xuất (P</a:t>
            </a:r>
            <a:r>
              <a:rPr lang="nl-NL" sz="2500" i="1" baseline="-25000" dirty="0">
                <a:solidFill>
                  <a:srgbClr val="0000FF"/>
                </a:solidFill>
                <a:latin typeface="Times New Roman" pitchFamily="18" charset="0"/>
                <a:cs typeface="Times New Roman" pitchFamily="18" charset="0"/>
              </a:rPr>
              <a:t>Y</a:t>
            </a:r>
            <a:r>
              <a:rPr lang="nl-NL" sz="2500" i="1" dirty="0">
                <a:solidFill>
                  <a:srgbClr val="0000FF"/>
                </a:solidFill>
                <a:latin typeface="Times New Roman" pitchFamily="18" charset="0"/>
                <a:cs typeface="Times New Roman" pitchFamily="18" charset="0"/>
              </a:rPr>
              <a:t>):</a:t>
            </a:r>
            <a:r>
              <a:rPr lang="nl-NL" sz="2500" dirty="0">
                <a:solidFill>
                  <a:srgbClr val="0000FF"/>
                </a:solidFill>
                <a:latin typeface="Times New Roman" pitchFamily="18" charset="0"/>
                <a:cs typeface="Times New Roman" pitchFamily="18" charset="0"/>
              </a:rPr>
              <a:t> Nếu nó giảm sẽ dẫn đến giá thành sản xuất giảm và cơ hội kiếm lợi nhuận sẽ cao lên, do đó các nhà sản xuất có xu hướng sản xuất nhiều lên.</a:t>
            </a:r>
            <a:endParaRPr lang="en-US" sz="2500" dirty="0">
              <a:solidFill>
                <a:srgbClr val="0000FF"/>
              </a:solidFill>
              <a:latin typeface="Times New Roman" pitchFamily="18" charset="0"/>
              <a:cs typeface="Times New Roman" pitchFamily="18" charset="0"/>
            </a:endParaRPr>
          </a:p>
          <a:p>
            <a:pPr algn="just"/>
            <a:r>
              <a:rPr lang="vi-VN" sz="2500" i="1" dirty="0">
                <a:solidFill>
                  <a:srgbClr val="0000FF"/>
                </a:solidFill>
                <a:latin typeface="Times New Roman" pitchFamily="18" charset="0"/>
                <a:cs typeface="Times New Roman" pitchFamily="18" charset="0"/>
              </a:rPr>
              <a:t>+ </a:t>
            </a:r>
            <a:r>
              <a:rPr lang="nl-NL" sz="2500" i="1" dirty="0">
                <a:solidFill>
                  <a:srgbClr val="0000FF"/>
                </a:solidFill>
                <a:latin typeface="Times New Roman" pitchFamily="18" charset="0"/>
                <a:cs typeface="Times New Roman" pitchFamily="18" charset="0"/>
              </a:rPr>
              <a:t>Chính sách của chính phủ (G)</a:t>
            </a:r>
            <a:r>
              <a:rPr lang="nl-NL" sz="2500" dirty="0">
                <a:solidFill>
                  <a:srgbClr val="0000FF"/>
                </a:solidFill>
                <a:latin typeface="Times New Roman" pitchFamily="18" charset="0"/>
                <a:cs typeface="Times New Roman" pitchFamily="18" charset="0"/>
              </a:rPr>
              <a:t> ảnh hưởng quan trọng đến quyết định sản xuất của các hãng, do đó ảnh hưởng đến việc cung sản phẩm.</a:t>
            </a:r>
            <a:endParaRPr lang="vi-VN" sz="2500" dirty="0">
              <a:solidFill>
                <a:srgbClr val="0000FF"/>
              </a:solidFill>
              <a:latin typeface="Times New Roman" pitchFamily="18" charset="0"/>
              <a:cs typeface="Times New Roman" pitchFamily="18" charset="0"/>
            </a:endParaRPr>
          </a:p>
          <a:p>
            <a:pPr algn="just"/>
            <a:r>
              <a:rPr lang="vi-VN" sz="2500" i="1" dirty="0">
                <a:solidFill>
                  <a:srgbClr val="0000FF"/>
                </a:solidFill>
                <a:latin typeface="Times New Roman" pitchFamily="18" charset="0"/>
                <a:cs typeface="Times New Roman" pitchFamily="18" charset="0"/>
              </a:rPr>
              <a:t>+ </a:t>
            </a:r>
            <a:r>
              <a:rPr lang="nl-NL" sz="2500" i="1" dirty="0">
                <a:solidFill>
                  <a:srgbClr val="0000FF"/>
                </a:solidFill>
                <a:latin typeface="Times New Roman" pitchFamily="18" charset="0"/>
                <a:cs typeface="Times New Roman" pitchFamily="18" charset="0"/>
              </a:rPr>
              <a:t>Các kỳ vọng của người sản xuất (E)</a:t>
            </a:r>
            <a:r>
              <a:rPr lang="nl-NL" sz="2500" dirty="0">
                <a:solidFill>
                  <a:srgbClr val="0000FF"/>
                </a:solidFill>
                <a:latin typeface="Times New Roman" pitchFamily="18" charset="0"/>
                <a:cs typeface="Times New Roman" pitchFamily="18" charset="0"/>
              </a:rPr>
              <a:t> về sự thay đổi giá của hàng hóa, giá của các yếu tố sản xuất, chính sách thuế… đều có ảnh hưởng đến cung hàng hóa và dịch vụ. Nếu sự mong đợi, dự đoán có thuận lợi cho sản xuất thì cung sẽ được mở rộng và ngược lại.</a:t>
            </a:r>
            <a:endParaRPr lang="en-US" sz="25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9806598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52401"/>
            <a:ext cx="8806548" cy="6553200"/>
          </a:xfrm>
        </p:spPr>
        <p:txBody>
          <a:bodyPr>
            <a:normAutofit fontScale="92500" lnSpcReduction="10000"/>
          </a:bodyPr>
          <a:lstStyle/>
          <a:p>
            <a:pPr algn="just"/>
            <a:r>
              <a:rPr lang="en-US" sz="2500" b="1" dirty="0">
                <a:solidFill>
                  <a:srgbClr val="0000FF"/>
                </a:solidFill>
                <a:latin typeface="Times New Roman" pitchFamily="18" charset="0"/>
                <a:cs typeface="Times New Roman" pitchFamily="18" charset="0"/>
              </a:rPr>
              <a:t>2.3. </a:t>
            </a:r>
            <a:r>
              <a:rPr lang="en-US" sz="2500" b="1" dirty="0" err="1">
                <a:solidFill>
                  <a:srgbClr val="0000FF"/>
                </a:solidFill>
                <a:latin typeface="Times New Roman" pitchFamily="18" charset="0"/>
                <a:cs typeface="Times New Roman" pitchFamily="18" charset="0"/>
              </a:rPr>
              <a:t>Cung</a:t>
            </a:r>
            <a:r>
              <a:rPr lang="en-US" sz="2500" b="1" dirty="0">
                <a:solidFill>
                  <a:srgbClr val="0000FF"/>
                </a:solidFill>
                <a:latin typeface="Times New Roman" pitchFamily="18" charset="0"/>
                <a:cs typeface="Times New Roman" pitchFamily="18" charset="0"/>
              </a:rPr>
              <a:t> (Supply)</a:t>
            </a:r>
          </a:p>
          <a:p>
            <a:pPr algn="just"/>
            <a:r>
              <a:rPr lang="fr-FR" sz="2500" b="1" i="1" dirty="0">
                <a:solidFill>
                  <a:srgbClr val="0000FF"/>
                </a:solidFill>
                <a:latin typeface="Times New Roman" pitchFamily="18" charset="0"/>
                <a:cs typeface="Times New Roman" pitchFamily="18" charset="0"/>
              </a:rPr>
              <a:t>2.3.3. </a:t>
            </a:r>
            <a:r>
              <a:rPr lang="fr-FR" sz="2500" b="1" i="1" dirty="0" err="1">
                <a:solidFill>
                  <a:srgbClr val="0000FF"/>
                </a:solidFill>
                <a:latin typeface="Times New Roman" pitchFamily="18" charset="0"/>
                <a:cs typeface="Times New Roman" pitchFamily="18" charset="0"/>
              </a:rPr>
              <a:t>Các</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yếu</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tố</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tác</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động</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cung</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và</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hàm</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số</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của</a:t>
            </a:r>
            <a:r>
              <a:rPr lang="fr-FR" sz="2500" b="1" i="1" dirty="0">
                <a:solidFill>
                  <a:srgbClr val="0000FF"/>
                </a:solidFill>
                <a:latin typeface="Times New Roman" pitchFamily="18" charset="0"/>
                <a:cs typeface="Times New Roman" pitchFamily="18" charset="0"/>
              </a:rPr>
              <a:t> </a:t>
            </a:r>
            <a:r>
              <a:rPr lang="fr-FR" sz="2500" b="1" i="1" dirty="0" err="1">
                <a:solidFill>
                  <a:srgbClr val="0000FF"/>
                </a:solidFill>
                <a:latin typeface="Times New Roman" pitchFamily="18" charset="0"/>
                <a:cs typeface="Times New Roman" pitchFamily="18" charset="0"/>
              </a:rPr>
              <a:t>cung</a:t>
            </a:r>
            <a:endParaRPr lang="en-US" sz="2500" b="1" i="1" dirty="0">
              <a:solidFill>
                <a:srgbClr val="0000FF"/>
              </a:solidFill>
              <a:latin typeface="Times New Roman" pitchFamily="18" charset="0"/>
              <a:cs typeface="Times New Roman" pitchFamily="18" charset="0"/>
            </a:endParaRPr>
          </a:p>
          <a:p>
            <a:pPr algn="just"/>
            <a:r>
              <a:rPr lang="nl-NL" sz="2800" b="1" i="1" dirty="0">
                <a:solidFill>
                  <a:srgbClr val="0000FF"/>
                </a:solidFill>
                <a:latin typeface="Times New Roman" pitchFamily="18" charset="0"/>
                <a:cs typeface="Times New Roman" pitchFamily="18" charset="0"/>
              </a:rPr>
              <a:t>2.3.3.2. Hàm số của cung</a:t>
            </a:r>
            <a:endParaRPr lang="en-US" sz="2800" b="1" i="1"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Với tất cả các yếu tố tác động đến cung ta có thể viết hàm cung dưới dạng như sau:  ­                                   </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Trong đó: 	</a:t>
            </a:r>
            <a:r>
              <a:rPr lang="en-US" sz="2800" dirty="0">
                <a:solidFill>
                  <a:srgbClr val="0000FF"/>
                </a:solidFill>
                <a:latin typeface="Times New Roman" pitchFamily="18" charset="0"/>
                <a:cs typeface="Times New Roman" pitchFamily="18" charset="0"/>
              </a:rPr>
              <a:t> </a:t>
            </a:r>
            <a:r>
              <a:rPr lang="nl-NL" sz="2800" dirty="0">
                <a:solidFill>
                  <a:srgbClr val="0000FF"/>
                </a:solidFill>
                <a:latin typeface="Times New Roman" pitchFamily="18" charset="0"/>
                <a:cs typeface="Times New Roman" pitchFamily="18" charset="0"/>
              </a:rPr>
              <a:t>: L</a:t>
            </a:r>
            <a:r>
              <a:rPr lang="vi-VN" sz="2800" dirty="0">
                <a:solidFill>
                  <a:srgbClr val="0000FF"/>
                </a:solidFill>
                <a:latin typeface="Times New Roman" pitchFamily="18" charset="0"/>
                <a:cs typeface="Times New Roman" pitchFamily="18" charset="0"/>
              </a:rPr>
              <a:t>ượng c</a:t>
            </a:r>
            <a:r>
              <a:rPr lang="nl-NL" sz="2800" dirty="0">
                <a:solidFill>
                  <a:srgbClr val="0000FF"/>
                </a:solidFill>
                <a:latin typeface="Times New Roman" pitchFamily="18" charset="0"/>
                <a:cs typeface="Times New Roman" pitchFamily="18" charset="0"/>
              </a:rPr>
              <a:t>ung</a:t>
            </a:r>
            <a:r>
              <a:rPr lang="vi-VN" sz="2800" dirty="0">
                <a:solidFill>
                  <a:srgbClr val="0000FF"/>
                </a:solidFill>
                <a:latin typeface="Times New Roman" pitchFamily="18" charset="0"/>
                <a:cs typeface="Times New Roman" pitchFamily="18" charset="0"/>
              </a:rPr>
              <a:t> đối với hàng hóa X trong thời gian t</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		P</a:t>
            </a:r>
            <a:r>
              <a:rPr lang="nl-NL" sz="2800" baseline="-25000" dirty="0">
                <a:solidFill>
                  <a:srgbClr val="0000FF"/>
                </a:solidFill>
                <a:latin typeface="Times New Roman" pitchFamily="18" charset="0"/>
                <a:cs typeface="Times New Roman" pitchFamily="18" charset="0"/>
              </a:rPr>
              <a:t>X</a:t>
            </a:r>
            <a:r>
              <a:rPr lang="nl-NL" sz="2800" dirty="0">
                <a:solidFill>
                  <a:srgbClr val="0000FF"/>
                </a:solidFill>
                <a:latin typeface="Times New Roman" pitchFamily="18" charset="0"/>
                <a:cs typeface="Times New Roman" pitchFamily="18" charset="0"/>
              </a:rPr>
              <a:t>: Giá hàng hóa X</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		P</a:t>
            </a:r>
            <a:r>
              <a:rPr lang="nl-NL" sz="2800" baseline="-25000" dirty="0">
                <a:solidFill>
                  <a:srgbClr val="0000FF"/>
                </a:solidFill>
                <a:latin typeface="Times New Roman" pitchFamily="18" charset="0"/>
                <a:cs typeface="Times New Roman" pitchFamily="18" charset="0"/>
              </a:rPr>
              <a:t>Y</a:t>
            </a:r>
            <a:r>
              <a:rPr lang="nl-NL" sz="2800" dirty="0">
                <a:solidFill>
                  <a:srgbClr val="0000FF"/>
                </a:solidFill>
                <a:latin typeface="Times New Roman" pitchFamily="18" charset="0"/>
                <a:cs typeface="Times New Roman" pitchFamily="18" charset="0"/>
              </a:rPr>
              <a:t>: Giá cả các yếu tố sản xuất</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		T</a:t>
            </a:r>
            <a:r>
              <a:rPr lang="nl-NL" sz="2800" baseline="-25000" dirty="0">
                <a:solidFill>
                  <a:srgbClr val="0000FF"/>
                </a:solidFill>
                <a:latin typeface="Times New Roman" pitchFamily="18" charset="0"/>
                <a:cs typeface="Times New Roman" pitchFamily="18" charset="0"/>
              </a:rPr>
              <a:t>e</a:t>
            </a:r>
            <a:r>
              <a:rPr lang="nl-NL" sz="2800" dirty="0">
                <a:solidFill>
                  <a:srgbClr val="0000FF"/>
                </a:solidFill>
                <a:latin typeface="Times New Roman" pitchFamily="18" charset="0"/>
                <a:cs typeface="Times New Roman" pitchFamily="18" charset="0"/>
              </a:rPr>
              <a:t>: Công nghệ</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		G: Chính sách của chính phủ</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		E: Kỳ vọng người sản xuất</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Khi chỉ xét đến yếu tố giá cả của bản thân hàng hóa hay dịch vụ, xem giá (P</a:t>
            </a:r>
            <a:r>
              <a:rPr lang="nl-NL" sz="2800" baseline="-25000" dirty="0">
                <a:solidFill>
                  <a:srgbClr val="0000FF"/>
                </a:solidFill>
                <a:latin typeface="Times New Roman" pitchFamily="18" charset="0"/>
                <a:cs typeface="Times New Roman" pitchFamily="18" charset="0"/>
              </a:rPr>
              <a:t>s</a:t>
            </a:r>
            <a:r>
              <a:rPr lang="nl-NL" sz="2800" dirty="0">
                <a:solidFill>
                  <a:srgbClr val="0000FF"/>
                </a:solidFill>
                <a:latin typeface="Times New Roman" pitchFamily="18" charset="0"/>
                <a:cs typeface="Times New Roman" pitchFamily="18" charset="0"/>
              </a:rPr>
              <a:t>) và lượng cung (Q</a:t>
            </a:r>
            <a:r>
              <a:rPr lang="nl-NL" sz="2800" baseline="-25000" dirty="0">
                <a:solidFill>
                  <a:srgbClr val="0000FF"/>
                </a:solidFill>
                <a:latin typeface="Times New Roman" pitchFamily="18" charset="0"/>
                <a:cs typeface="Times New Roman" pitchFamily="18" charset="0"/>
              </a:rPr>
              <a:t>s</a:t>
            </a:r>
            <a:r>
              <a:rPr lang="nl-NL" sz="2800" dirty="0">
                <a:solidFill>
                  <a:srgbClr val="0000FF"/>
                </a:solidFill>
                <a:latin typeface="Times New Roman" pitchFamily="18" charset="0"/>
                <a:cs typeface="Times New Roman" pitchFamily="18" charset="0"/>
              </a:rPr>
              <a:t>) có quan hệ tuyến tính thì hàm cung có dạng: </a:t>
            </a:r>
            <a:endParaRPr lang="en-US" sz="2800" dirty="0">
              <a:solidFill>
                <a:srgbClr val="0000FF"/>
              </a:solidFill>
              <a:latin typeface="Times New Roman" pitchFamily="18" charset="0"/>
              <a:cs typeface="Times New Roman" pitchFamily="18" charset="0"/>
            </a:endParaRPr>
          </a:p>
          <a:p>
            <a:pPr algn="just"/>
            <a:r>
              <a:rPr lang="nl-NL" sz="2800" dirty="0">
                <a:solidFill>
                  <a:srgbClr val="0000FF"/>
                </a:solidFill>
                <a:latin typeface="Times New Roman" pitchFamily="18" charset="0"/>
                <a:cs typeface="Times New Roman" pitchFamily="18" charset="0"/>
              </a:rPr>
              <a:t>		P­</a:t>
            </a:r>
            <a:r>
              <a:rPr lang="nl-NL" sz="2800" baseline="-25000" dirty="0">
                <a:solidFill>
                  <a:srgbClr val="0000FF"/>
                </a:solidFill>
                <a:latin typeface="Times New Roman" pitchFamily="18" charset="0"/>
                <a:cs typeface="Times New Roman" pitchFamily="18" charset="0"/>
              </a:rPr>
              <a:t>s</a:t>
            </a:r>
            <a:r>
              <a:rPr lang="nl-NL" sz="2800" dirty="0">
                <a:solidFill>
                  <a:srgbClr val="0000FF"/>
                </a:solidFill>
                <a:latin typeface="Times New Roman" pitchFamily="18" charset="0"/>
                <a:cs typeface="Times New Roman" pitchFamily="18" charset="0"/>
              </a:rPr>
              <a:t> = c + dQ</a:t>
            </a:r>
            <a:r>
              <a:rPr lang="nl-NL" sz="2800" baseline="-25000" dirty="0">
                <a:solidFill>
                  <a:srgbClr val="0000FF"/>
                </a:solidFill>
                <a:latin typeface="Times New Roman" pitchFamily="18" charset="0"/>
                <a:cs typeface="Times New Roman" pitchFamily="18" charset="0"/>
              </a:rPr>
              <a:t>s</a:t>
            </a:r>
            <a:r>
              <a:rPr lang="nl-NL" sz="2800" dirty="0">
                <a:solidFill>
                  <a:srgbClr val="0000FF"/>
                </a:solidFill>
                <a:latin typeface="Times New Roman" pitchFamily="18" charset="0"/>
                <a:cs typeface="Times New Roman" pitchFamily="18" charset="0"/>
              </a:rPr>
              <a:t> ( với c, d là những hệ số và d≥0) </a:t>
            </a:r>
            <a:endParaRPr lang="en-US" sz="2400" b="1" dirty="0">
              <a:solidFill>
                <a:srgbClr val="0000FF"/>
              </a:solidFill>
              <a:latin typeface="Times New Roman" pitchFamily="18" charset="0"/>
              <a:cs typeface="Times New Roman" pitchFamily="18" charset="0"/>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1752600"/>
            <a:ext cx="3274695" cy="514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3365" y="2133600"/>
            <a:ext cx="5334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969838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315" y="2362200"/>
            <a:ext cx="5760233"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a:spLocks noGrp="1" noChangeArrowheads="1"/>
          </p:cNvSpPr>
          <p:nvPr>
            <p:ph type="subTitle" idx="1"/>
          </p:nvPr>
        </p:nvSpPr>
        <p:spPr>
          <a:xfrm>
            <a:off x="533400" y="152401"/>
            <a:ext cx="8077200" cy="6553200"/>
          </a:xfrm>
        </p:spPr>
        <p:txBody>
          <a:bodyPr>
            <a:normAutofit/>
          </a:bodyPr>
          <a:lstStyle/>
          <a:p>
            <a:pPr algn="just"/>
            <a:r>
              <a:rPr lang="en-US" sz="2500" b="1" dirty="0">
                <a:solidFill>
                  <a:srgbClr val="0000FF"/>
                </a:solidFill>
                <a:latin typeface="Times New Roman" pitchFamily="18" charset="0"/>
                <a:cs typeface="Times New Roman" pitchFamily="18" charset="0"/>
              </a:rPr>
              <a:t>2.3. </a:t>
            </a:r>
            <a:r>
              <a:rPr lang="en-US" sz="2500" b="1" dirty="0" err="1">
                <a:solidFill>
                  <a:srgbClr val="0000FF"/>
                </a:solidFill>
                <a:latin typeface="Times New Roman" pitchFamily="18" charset="0"/>
                <a:cs typeface="Times New Roman" pitchFamily="18" charset="0"/>
              </a:rPr>
              <a:t>Cung</a:t>
            </a:r>
            <a:r>
              <a:rPr lang="en-US" sz="2500" b="1" dirty="0">
                <a:solidFill>
                  <a:srgbClr val="0000FF"/>
                </a:solidFill>
                <a:latin typeface="Times New Roman" pitchFamily="18" charset="0"/>
                <a:cs typeface="Times New Roman" pitchFamily="18" charset="0"/>
              </a:rPr>
              <a:t> (Supply)</a:t>
            </a:r>
          </a:p>
          <a:p>
            <a:pPr algn="just"/>
            <a:r>
              <a:rPr lang="fr-FR" sz="2400" b="1" i="1" dirty="0">
                <a:solidFill>
                  <a:srgbClr val="0000FF"/>
                </a:solidFill>
                <a:latin typeface="Times New Roman" pitchFamily="18" charset="0"/>
                <a:cs typeface="Times New Roman" pitchFamily="18" charset="0"/>
              </a:rPr>
              <a:t>2.3.4. </a:t>
            </a:r>
            <a:r>
              <a:rPr lang="fr-FR" sz="2400" b="1" i="1" dirty="0" err="1">
                <a:solidFill>
                  <a:srgbClr val="0000FF"/>
                </a:solidFill>
                <a:latin typeface="Times New Roman" pitchFamily="18" charset="0"/>
                <a:cs typeface="Times New Roman" pitchFamily="18" charset="0"/>
              </a:rPr>
              <a:t>Sự</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vận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dọc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theo</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cung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và</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sự</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dịch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chuyển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cung</a:t>
            </a:r>
            <a:endParaRPr lang="en-US" sz="2400" b="1" i="1" dirty="0">
              <a:solidFill>
                <a:srgbClr val="0000FF"/>
              </a:solidFill>
              <a:latin typeface="Times New Roman" pitchFamily="18" charset="0"/>
              <a:cs typeface="Times New Roman" pitchFamily="18" charset="0"/>
            </a:endParaRPr>
          </a:p>
          <a:p>
            <a:pPr algn="just"/>
            <a:r>
              <a:rPr lang="nl-NL" sz="2400" b="1" dirty="0">
                <a:solidFill>
                  <a:srgbClr val="0000FF"/>
                </a:solidFill>
                <a:latin typeface="Times New Roman" pitchFamily="18" charset="0"/>
                <a:cs typeface="Times New Roman" pitchFamily="18" charset="0"/>
              </a:rPr>
              <a:t>2.3.4.1. Sự vận động dọc theo đường cung</a:t>
            </a:r>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p:txBody>
      </p:sp>
      <p:sp>
        <p:nvSpPr>
          <p:cNvPr id="2" name="Rectangle 1"/>
          <p:cNvSpPr/>
          <p:nvPr/>
        </p:nvSpPr>
        <p:spPr>
          <a:xfrm>
            <a:off x="4876800" y="1869544"/>
            <a:ext cx="3733800" cy="44958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vi-VN" sz="2300" dirty="0">
                <a:solidFill>
                  <a:srgbClr val="0000FF"/>
                </a:solidFill>
                <a:latin typeface="Times New Roman" pitchFamily="18" charset="0"/>
                <a:cs typeface="Times New Roman" pitchFamily="18" charset="0"/>
              </a:rPr>
              <a:t>N</a:t>
            </a:r>
            <a:r>
              <a:rPr lang="nl-NL" sz="2300" dirty="0">
                <a:solidFill>
                  <a:srgbClr val="0000FF"/>
                </a:solidFill>
                <a:latin typeface="Times New Roman" pitchFamily="18" charset="0"/>
                <a:cs typeface="Times New Roman" pitchFamily="18" charset="0"/>
              </a:rPr>
              <a:t>ếu giá hàng hóa giảm xuống, các yếu tố khác không thay đổi thì có sự giảm của lượng cung đối với hàng hóa đó, gọi là sự vận động xuống phía dưới dọc theo đường </a:t>
            </a:r>
            <a:r>
              <a:rPr lang="vi-VN" sz="2300" dirty="0">
                <a:solidFill>
                  <a:srgbClr val="0000FF"/>
                </a:solidFill>
                <a:latin typeface="Times New Roman" pitchFamily="18" charset="0"/>
                <a:cs typeface="Times New Roman" pitchFamily="18" charset="0"/>
              </a:rPr>
              <a:t>cung.</a:t>
            </a:r>
          </a:p>
          <a:p>
            <a:pPr algn="just"/>
            <a:r>
              <a:rPr lang="vi-VN" sz="2300" dirty="0">
                <a:solidFill>
                  <a:srgbClr val="0000FF"/>
                </a:solidFill>
                <a:latin typeface="Times New Roman" pitchFamily="18" charset="0"/>
                <a:cs typeface="Times New Roman" pitchFamily="18" charset="0"/>
              </a:rPr>
              <a:t>N</a:t>
            </a:r>
            <a:r>
              <a:rPr lang="nl-NL" sz="2300" dirty="0">
                <a:solidFill>
                  <a:srgbClr val="0000FF"/>
                </a:solidFill>
                <a:latin typeface="Times New Roman" pitchFamily="18" charset="0"/>
                <a:cs typeface="Times New Roman" pitchFamily="18" charset="0"/>
              </a:rPr>
              <a:t>ếu giá của hàng hóa tăng lên, các yếu tố khác không đổi thì có sự tăng lên của lượng cung đối với hàng hóa đó gọi là sự vận động lên phía trên dọc theo đường cung.</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85716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609600" y="152401"/>
            <a:ext cx="7924800" cy="6553200"/>
          </a:xfrm>
        </p:spPr>
        <p:txBody>
          <a:bodyPr>
            <a:normAutofit/>
          </a:bodyPr>
          <a:lstStyle/>
          <a:p>
            <a:pPr algn="just"/>
            <a:r>
              <a:rPr lang="en-US" sz="2500" b="1" dirty="0">
                <a:solidFill>
                  <a:srgbClr val="0000FF"/>
                </a:solidFill>
                <a:latin typeface="Times New Roman" pitchFamily="18" charset="0"/>
                <a:cs typeface="Times New Roman" pitchFamily="18" charset="0"/>
              </a:rPr>
              <a:t>2.3. </a:t>
            </a:r>
            <a:r>
              <a:rPr lang="en-US" sz="2500" b="1" dirty="0" err="1">
                <a:solidFill>
                  <a:srgbClr val="0000FF"/>
                </a:solidFill>
                <a:latin typeface="Times New Roman" pitchFamily="18" charset="0"/>
                <a:cs typeface="Times New Roman" pitchFamily="18" charset="0"/>
              </a:rPr>
              <a:t>Cung</a:t>
            </a:r>
            <a:r>
              <a:rPr lang="en-US" sz="2500" b="1" dirty="0">
                <a:solidFill>
                  <a:srgbClr val="0000FF"/>
                </a:solidFill>
                <a:latin typeface="Times New Roman" pitchFamily="18" charset="0"/>
                <a:cs typeface="Times New Roman" pitchFamily="18" charset="0"/>
              </a:rPr>
              <a:t> (Supply)</a:t>
            </a:r>
          </a:p>
          <a:p>
            <a:pPr algn="just"/>
            <a:r>
              <a:rPr lang="fr-FR" sz="2400" b="1" i="1" dirty="0">
                <a:solidFill>
                  <a:srgbClr val="0000FF"/>
                </a:solidFill>
                <a:latin typeface="Times New Roman" pitchFamily="18" charset="0"/>
                <a:cs typeface="Times New Roman" pitchFamily="18" charset="0"/>
              </a:rPr>
              <a:t>2.3.4. </a:t>
            </a:r>
            <a:r>
              <a:rPr lang="fr-FR" sz="2400" b="1" i="1" dirty="0" err="1">
                <a:solidFill>
                  <a:srgbClr val="0000FF"/>
                </a:solidFill>
                <a:latin typeface="Times New Roman" pitchFamily="18" charset="0"/>
                <a:cs typeface="Times New Roman" pitchFamily="18" charset="0"/>
              </a:rPr>
              <a:t>Sự</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vận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dọc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theo</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cung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và</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sự</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dịch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chuyển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cung</a:t>
            </a:r>
            <a:endParaRPr lang="en-US" sz="2400" b="1" i="1" dirty="0">
              <a:solidFill>
                <a:srgbClr val="0000FF"/>
              </a:solidFill>
              <a:latin typeface="Times New Roman" pitchFamily="18" charset="0"/>
              <a:cs typeface="Times New Roman" pitchFamily="18" charset="0"/>
            </a:endParaRPr>
          </a:p>
          <a:p>
            <a:pPr algn="just"/>
            <a:r>
              <a:rPr lang="nl-NL" sz="2400" b="1" dirty="0">
                <a:solidFill>
                  <a:srgbClr val="0000FF"/>
                </a:solidFill>
                <a:latin typeface="Times New Roman" pitchFamily="18" charset="0"/>
                <a:cs typeface="Times New Roman" pitchFamily="18" charset="0"/>
              </a:rPr>
              <a:t>2.3.4.2. Sự dịch chuyển đường cung</a:t>
            </a:r>
            <a:endParaRPr lang="en-US" sz="2400" b="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532" y="2743200"/>
            <a:ext cx="5246890" cy="36221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4876800" y="2133600"/>
            <a:ext cx="3657600" cy="4343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nl-NL" sz="2400" dirty="0">
                <a:solidFill>
                  <a:srgbClr val="0000FF"/>
                </a:solidFill>
                <a:latin typeface="Times New Roman" pitchFamily="18" charset="0"/>
                <a:cs typeface="Times New Roman" pitchFamily="18" charset="0"/>
              </a:rPr>
              <a:t>Cung thay đổi </a:t>
            </a:r>
            <a:r>
              <a:rPr lang="nl-NL" sz="2400" b="1" i="1" dirty="0">
                <a:solidFill>
                  <a:srgbClr val="0000FF"/>
                </a:solidFill>
                <a:latin typeface="Times New Roman" pitchFamily="18" charset="0"/>
                <a:cs typeface="Times New Roman" pitchFamily="18" charset="0"/>
              </a:rPr>
              <a:t>do bất kì yếu tố nào khác ngoài giá</a:t>
            </a:r>
            <a:r>
              <a:rPr lang="nl-NL" sz="2400" dirty="0">
                <a:solidFill>
                  <a:srgbClr val="0000FF"/>
                </a:solidFill>
                <a:latin typeface="Times New Roman" pitchFamily="18" charset="0"/>
                <a:cs typeface="Times New Roman" pitchFamily="18" charset="0"/>
              </a:rPr>
              <a:t> của bản thân hàng hóa đó thay đổi sẽ làm dịch chuyển toàn bộ đường cung sang bên phải (tăng cung) hoặc bên trái (giảm cung).</a:t>
            </a:r>
            <a:endParaRPr lang="vi-VN"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Một sự tăng hay giảm cung kéo theo một sự tăng lên hay giảm xuống về lượng cung ở một mức giá ban đầu không đổi.</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03650419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229600" cy="6553200"/>
          </a:xfrm>
        </p:spPr>
        <p:txBody>
          <a:bodyPr>
            <a:normAutofit/>
          </a:bodyPr>
          <a:lstStyle/>
          <a:p>
            <a:pPr algn="just"/>
            <a:r>
              <a:rPr lang="nl-NL" sz="2400" b="1" dirty="0">
                <a:solidFill>
                  <a:srgbClr val="0000FF"/>
                </a:solidFill>
                <a:latin typeface="Times New Roman" pitchFamily="18" charset="0"/>
                <a:cs typeface="Times New Roman" pitchFamily="18" charset="0"/>
              </a:rPr>
              <a:t>2.4. Cân bằng cung- cầu</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2.4.1. </a:t>
            </a:r>
            <a:r>
              <a:rPr lang="fr-FR" sz="2400" b="1" i="1" dirty="0" err="1">
                <a:solidFill>
                  <a:srgbClr val="0000FF"/>
                </a:solidFill>
                <a:latin typeface="Times New Roman" pitchFamily="18" charset="0"/>
                <a:cs typeface="Times New Roman" pitchFamily="18" charset="0"/>
              </a:rPr>
              <a:t>Các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trạng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thái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endParaRPr lang="en-US" sz="2400" b="1" i="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2.4.1.1. Trạng thái cân bằng thị trường</a:t>
            </a:r>
          </a:p>
          <a:p>
            <a:pPr algn="just"/>
            <a:r>
              <a:rPr lang="nl-NL" sz="2400" b="1" i="1" dirty="0">
                <a:solidFill>
                  <a:srgbClr val="0000FF"/>
                </a:solidFill>
                <a:latin typeface="Times New Roman" pitchFamily="18" charset="0"/>
                <a:cs typeface="Times New Roman" pitchFamily="18" charset="0"/>
              </a:rPr>
              <a:t>Xem clip: câu chuyện con khỉ, cái chuối và quy luật cung cầu</a:t>
            </a:r>
          </a:p>
          <a:p>
            <a:pPr algn="just"/>
            <a:r>
              <a:rPr lang="vi-VN" sz="2400" dirty="0">
                <a:solidFill>
                  <a:srgbClr val="0000FF"/>
                </a:solidFill>
                <a:latin typeface="Times New Roman" pitchFamily="18" charset="0"/>
                <a:cs typeface="Times New Roman" pitchFamily="18" charset="0"/>
              </a:rPr>
              <a:t>	C</a:t>
            </a:r>
            <a:r>
              <a:rPr lang="nl-NL" sz="2400" dirty="0">
                <a:solidFill>
                  <a:srgbClr val="0000FF"/>
                </a:solidFill>
                <a:latin typeface="Times New Roman" pitchFamily="18" charset="0"/>
                <a:cs typeface="Times New Roman" pitchFamily="18" charset="0"/>
              </a:rPr>
              <a:t>ung và cầu thị trường một mặt hàng gặp nhau tại một điểm, đó chính là </a:t>
            </a:r>
            <a:r>
              <a:rPr lang="nl-NL" sz="2400" b="1" i="1" dirty="0">
                <a:solidFill>
                  <a:srgbClr val="0000FF"/>
                </a:solidFill>
                <a:latin typeface="Times New Roman" pitchFamily="18" charset="0"/>
                <a:cs typeface="Times New Roman" pitchFamily="18" charset="0"/>
              </a:rPr>
              <a:t>điểm cân bằng thị trường</a:t>
            </a:r>
            <a:r>
              <a:rPr lang="nl-NL" sz="2400" dirty="0">
                <a:solidFill>
                  <a:srgbClr val="0000FF"/>
                </a:solidFill>
                <a:latin typeface="Times New Roman" pitchFamily="18" charset="0"/>
                <a:cs typeface="Times New Roman" pitchFamily="18" charset="0"/>
              </a:rPr>
              <a:t>. Khi đó thị trường ở trạng thái cân bằng.</a:t>
            </a:r>
          </a:p>
          <a:p>
            <a:pPr algn="just"/>
            <a:r>
              <a:rPr lang="vi-VN" sz="2400"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Trạng thái cân bằng cung - cầu đối với một loại hàng hóa nào đó là trạng thái khi </a:t>
            </a:r>
            <a:r>
              <a:rPr lang="nl-NL" sz="2400" b="1" i="1" dirty="0">
                <a:solidFill>
                  <a:srgbClr val="0000FF"/>
                </a:solidFill>
                <a:latin typeface="Times New Roman" pitchFamily="18" charset="0"/>
                <a:cs typeface="Times New Roman" pitchFamily="18" charset="0"/>
              </a:rPr>
              <a:t>lượng cung hàng hóa đó đủ thỏa mãn lượng cầu </a:t>
            </a:r>
            <a:r>
              <a:rPr lang="nl-NL" sz="2400" b="1" dirty="0">
                <a:solidFill>
                  <a:srgbClr val="0000FF"/>
                </a:solidFill>
                <a:latin typeface="Times New Roman" pitchFamily="18" charset="0"/>
                <a:cs typeface="Times New Roman" pitchFamily="18" charset="0"/>
              </a:rPr>
              <a:t>đối với </a:t>
            </a:r>
            <a:r>
              <a:rPr lang="nl-NL" sz="2400" b="1" i="1" dirty="0">
                <a:solidFill>
                  <a:srgbClr val="0000FF"/>
                </a:solidFill>
                <a:latin typeface="Times New Roman" pitchFamily="18" charset="0"/>
                <a:cs typeface="Times New Roman" pitchFamily="18" charset="0"/>
              </a:rPr>
              <a:t>nó tại một mức giá xác định </a:t>
            </a:r>
            <a:r>
              <a:rPr lang="nl-NL" sz="2400" dirty="0">
                <a:solidFill>
                  <a:srgbClr val="0000FF"/>
                </a:solidFill>
                <a:latin typeface="Times New Roman" pitchFamily="18" charset="0"/>
                <a:cs typeface="Times New Roman" pitchFamily="18" charset="0"/>
              </a:rPr>
              <a:t>trong một thời kỳ nhất định. Tại trạng thái cân bằng này chúng ta có </a:t>
            </a:r>
            <a:r>
              <a:rPr lang="nl-NL" sz="2400" b="1" i="1" dirty="0">
                <a:solidFill>
                  <a:srgbClr val="0000FF"/>
                </a:solidFill>
                <a:latin typeface="Times New Roman" pitchFamily="18" charset="0"/>
                <a:cs typeface="Times New Roman" pitchFamily="18" charset="0"/>
              </a:rPr>
              <a:t>giá cân bằng và sản lượng cân bằng</a:t>
            </a:r>
            <a:r>
              <a:rPr lang="nl-NL" sz="2400" b="1" dirty="0">
                <a:solidFill>
                  <a:srgbClr val="0000FF"/>
                </a:solidFill>
                <a:latin typeface="Times New Roman" pitchFamily="18" charset="0"/>
                <a:cs typeface="Times New Roman" pitchFamily="18" charset="0"/>
              </a:rPr>
              <a:t>.</a:t>
            </a:r>
          </a:p>
          <a:p>
            <a:pPr algn="just"/>
            <a:r>
              <a:rPr lang="vi-VN" sz="2400" dirty="0">
                <a:solidFill>
                  <a:srgbClr val="0000FF"/>
                </a:solidFill>
                <a:latin typeface="Times New Roman" pitchFamily="18" charset="0"/>
                <a:cs typeface="Times New Roman" pitchFamily="18" charset="0"/>
              </a:rPr>
              <a:t>	Giá và sản lượng cân bằng </a:t>
            </a:r>
            <a:r>
              <a:rPr lang="nl-NL" sz="2400" dirty="0">
                <a:solidFill>
                  <a:srgbClr val="0000FF"/>
                </a:solidFill>
                <a:latin typeface="Times New Roman" pitchFamily="18" charset="0"/>
                <a:cs typeface="Times New Roman" pitchFamily="18" charset="0"/>
              </a:rPr>
              <a:t>là cách quy định khách quan theo “bàn tay vô hình” của cơ chế thị trường.</a:t>
            </a:r>
          </a:p>
        </p:txBody>
      </p:sp>
    </p:spTree>
    <p:extLst>
      <p:ext uri="{BB962C8B-B14F-4D97-AF65-F5344CB8AC3E}">
        <p14:creationId xmlns:p14="http://schemas.microsoft.com/office/powerpoint/2010/main" val="568956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229600" cy="6553200"/>
          </a:xfrm>
        </p:spPr>
        <p:txBody>
          <a:bodyPr>
            <a:normAutofit/>
          </a:bodyPr>
          <a:lstStyle/>
          <a:p>
            <a:pPr algn="just"/>
            <a:r>
              <a:rPr lang="nl-NL" sz="2400" b="1" dirty="0">
                <a:solidFill>
                  <a:srgbClr val="0000FF"/>
                </a:solidFill>
                <a:latin typeface="Times New Roman" pitchFamily="18" charset="0"/>
                <a:cs typeface="Times New Roman" pitchFamily="18" charset="0"/>
              </a:rPr>
              <a:t>2.4. Cân bằng cung- cầu</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2.4.1. </a:t>
            </a:r>
            <a:r>
              <a:rPr lang="fr-FR" sz="2400" b="1" i="1" dirty="0" err="1">
                <a:solidFill>
                  <a:srgbClr val="0000FF"/>
                </a:solidFill>
                <a:latin typeface="Times New Roman" pitchFamily="18" charset="0"/>
                <a:cs typeface="Times New Roman" pitchFamily="18" charset="0"/>
              </a:rPr>
              <a:t>Các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trạng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thái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endParaRPr lang="en-US" sz="2400" b="1" i="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2.4.1.1. Trạng thái cân bằng thị trường</a:t>
            </a:r>
          </a:p>
          <a:p>
            <a:pPr algn="just"/>
            <a:r>
              <a:rPr lang="vi-VN" sz="2400" dirty="0">
                <a:solidFill>
                  <a:srgbClr val="0000FF"/>
                </a:solidFill>
                <a:latin typeface="+mj-lt"/>
              </a:rPr>
              <a:t>	</a:t>
            </a:r>
            <a:r>
              <a:rPr lang="vi-VN" sz="2400" dirty="0" err="1">
                <a:solidFill>
                  <a:srgbClr val="0000FF"/>
                </a:solidFill>
                <a:latin typeface="+mj-lt"/>
              </a:rPr>
              <a:t>Adam</a:t>
            </a:r>
            <a:r>
              <a:rPr lang="vi-VN" sz="2400" dirty="0">
                <a:solidFill>
                  <a:srgbClr val="0000FF"/>
                </a:solidFill>
                <a:latin typeface="+mj-lt"/>
              </a:rPr>
              <a:t> Smith</a:t>
            </a:r>
            <a:r>
              <a:rPr lang="en-US" sz="2400" dirty="0">
                <a:solidFill>
                  <a:srgbClr val="0000FF"/>
                </a:solidFill>
                <a:latin typeface="+mj-lt"/>
              </a:rPr>
              <a:t> </a:t>
            </a:r>
            <a:r>
              <a:rPr lang="en-US" sz="2400" dirty="0">
                <a:solidFill>
                  <a:srgbClr val="0000FF"/>
                </a:solidFill>
                <a:latin typeface="Times New Roman" pitchFamily="18" charset="0"/>
                <a:cs typeface="Times New Roman" pitchFamily="18" charset="0"/>
              </a:rPr>
              <a:t>(1776)</a:t>
            </a:r>
            <a:r>
              <a:rPr lang="vi-VN" sz="2400" dirty="0">
                <a:solidFill>
                  <a:srgbClr val="0000FF"/>
                </a:solidFill>
                <a:latin typeface="Times New Roman" pitchFamily="18" charset="0"/>
                <a:cs typeface="Times New Roman" pitchFamily="18" charset="0"/>
              </a:rPr>
              <a:t> </a:t>
            </a:r>
            <a:r>
              <a:rPr lang="vi-VN" sz="2400" dirty="0">
                <a:solidFill>
                  <a:srgbClr val="0000FF"/>
                </a:solidFill>
                <a:latin typeface="+mj-lt"/>
              </a:rPr>
              <a:t>cho rằng “Bàn tay vô hình” có nghĩa là: </a:t>
            </a:r>
            <a:r>
              <a:rPr lang="vi-VN" sz="2400" i="1" dirty="0">
                <a:solidFill>
                  <a:srgbClr val="0000FF"/>
                </a:solidFill>
                <a:latin typeface="+mj-lt"/>
              </a:rPr>
              <a:t>Trong nền kinh tế thị trường, các cá nhân tham gia muốn tối đa hóa lợi nhuận cho mình. Ai cũng muốn thế cho nên vô tình chung đã thúc đẩy sự phát triển và củng cố lợi ích cho cả cộng đồng</a:t>
            </a:r>
            <a:r>
              <a:rPr lang="vi-VN" sz="2400" dirty="0">
                <a:solidFill>
                  <a:srgbClr val="0000FF"/>
                </a:solidFill>
                <a:latin typeface="+mj-lt"/>
              </a:rPr>
              <a:t>. </a:t>
            </a:r>
            <a:endParaRPr lang="en-US" sz="2400" dirty="0">
              <a:solidFill>
                <a:srgbClr val="0000FF"/>
              </a:solidFill>
              <a:latin typeface="+mj-lt"/>
            </a:endParaRPr>
          </a:p>
          <a:p>
            <a:pPr algn="just"/>
            <a:r>
              <a:rPr lang="nl-NL" sz="2400" b="1" dirty="0">
                <a:solidFill>
                  <a:srgbClr val="0000FF"/>
                </a:solidFill>
                <a:latin typeface="Times New Roman" pitchFamily="18" charset="0"/>
                <a:cs typeface="Times New Roman" pitchFamily="18" charset="0"/>
              </a:rPr>
              <a:t>Xem clip: Quy luật Bàn tay vô hình</a:t>
            </a:r>
            <a:endParaRPr lang="en-US" sz="2400" b="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674661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229600" cy="6553200"/>
          </a:xfrm>
        </p:spPr>
        <p:txBody>
          <a:bodyPr>
            <a:normAutofit/>
          </a:bodyPr>
          <a:lstStyle/>
          <a:p>
            <a:pPr algn="just"/>
            <a:r>
              <a:rPr lang="nl-NL" sz="2400" b="1" dirty="0">
                <a:solidFill>
                  <a:srgbClr val="0000FF"/>
                </a:solidFill>
                <a:latin typeface="Times New Roman" pitchFamily="18" charset="0"/>
                <a:cs typeface="Times New Roman" pitchFamily="18" charset="0"/>
              </a:rPr>
              <a:t>2.4. Cân bằng cung- cầu</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2.4.1. </a:t>
            </a:r>
            <a:r>
              <a:rPr lang="fr-FR" sz="2400" b="1" i="1" dirty="0" err="1">
                <a:solidFill>
                  <a:srgbClr val="0000FF"/>
                </a:solidFill>
                <a:latin typeface="Times New Roman" pitchFamily="18" charset="0"/>
                <a:cs typeface="Times New Roman" pitchFamily="18" charset="0"/>
              </a:rPr>
              <a:t>Các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trạng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thái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endParaRPr lang="en-US" sz="2400" b="1" i="1" dirty="0">
              <a:solidFill>
                <a:srgbClr val="0000FF"/>
              </a:solidFill>
              <a:latin typeface="Times New Roman" pitchFamily="18" charset="0"/>
              <a:cs typeface="Times New Roman" pitchFamily="18" charset="0"/>
            </a:endParaRPr>
          </a:p>
          <a:p>
            <a:pPr algn="just"/>
            <a:r>
              <a:rPr lang="nl-NL" sz="2400" b="1" i="1" dirty="0">
                <a:solidFill>
                  <a:srgbClr val="0000FF"/>
                </a:solidFill>
                <a:latin typeface="Times New Roman" pitchFamily="18" charset="0"/>
                <a:cs typeface="Times New Roman" pitchFamily="18" charset="0"/>
              </a:rPr>
              <a:t>2.4.1.1. Trạng thái cân bằng thị trường</a:t>
            </a:r>
          </a:p>
          <a:p>
            <a:pPr algn="just"/>
            <a:r>
              <a:rPr lang="nl-NL" sz="2400" b="1" i="1" dirty="0">
                <a:solidFill>
                  <a:srgbClr val="0000FF"/>
                </a:solidFill>
                <a:latin typeface="Times New Roman" pitchFamily="18" charset="0"/>
                <a:cs typeface="Times New Roman" pitchFamily="18" charset="0"/>
              </a:rPr>
              <a:t>Ví dụ:</a:t>
            </a:r>
            <a:r>
              <a:rPr lang="nl-NL" sz="2400" b="1" i="1" dirty="0"/>
              <a:t> </a:t>
            </a:r>
            <a:r>
              <a:rPr lang="nl-NL" sz="2400" b="1" i="1" dirty="0">
                <a:solidFill>
                  <a:srgbClr val="0000FF"/>
                </a:solidFill>
                <a:latin typeface="Times New Roman" pitchFamily="18" charset="0"/>
                <a:cs typeface="Times New Roman" pitchFamily="18" charset="0"/>
              </a:rPr>
              <a:t>Cân bằng cung - cầu thị trường gạo</a:t>
            </a:r>
            <a:endParaRPr lang="en-US" sz="2400" dirty="0">
              <a:solidFill>
                <a:srgbClr val="0000FF"/>
              </a:solidFill>
              <a:latin typeface="Times New Roman" pitchFamily="18" charset="0"/>
              <a:cs typeface="Times New Roman" pitchFamily="18" charset="0"/>
            </a:endParaRPr>
          </a:p>
          <a:p>
            <a:pPr algn="just"/>
            <a:endParaRPr lang="nl-NL" sz="2400" b="1" i="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p:txBody>
      </p:sp>
      <p:graphicFrame>
        <p:nvGraphicFramePr>
          <p:cNvPr id="2" name="Table 1"/>
          <p:cNvGraphicFramePr>
            <a:graphicFrameLocks noGrp="1"/>
          </p:cNvGraphicFramePr>
          <p:nvPr>
            <p:extLst>
              <p:ext uri="{D42A27DB-BD31-4B8C-83A1-F6EECF244321}">
                <p14:modId xmlns:p14="http://schemas.microsoft.com/office/powerpoint/2010/main" val="1435731893"/>
              </p:ext>
            </p:extLst>
          </p:nvPr>
        </p:nvGraphicFramePr>
        <p:xfrm>
          <a:off x="2286000" y="2286000"/>
          <a:ext cx="4038600" cy="3988562"/>
        </p:xfrm>
        <a:graphic>
          <a:graphicData uri="http://schemas.openxmlformats.org/drawingml/2006/table">
            <a:tbl>
              <a:tblPr firstRow="1" firstCol="1" lastRow="1" lastCol="1" bandRow="1" bandCol="1">
                <a:tableStyleId>{5C22544A-7EE6-4342-B048-85BDC9FD1C3A}</a:tableStyleId>
              </a:tblPr>
              <a:tblGrid>
                <a:gridCol w="1219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1066800">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P</a:t>
                      </a:r>
                      <a:r>
                        <a:rPr lang="nl-NL" sz="2300" baseline="-25000" dirty="0">
                          <a:effectLst/>
                          <a:latin typeface="Times New Roman" pitchFamily="18" charset="0"/>
                          <a:cs typeface="Times New Roman" pitchFamily="18" charset="0"/>
                        </a:rPr>
                        <a:t>S </a:t>
                      </a:r>
                      <a:endParaRPr lang="en-US" sz="2300" dirty="0">
                        <a:effectLst/>
                        <a:latin typeface="Times New Roman" pitchFamily="18" charset="0"/>
                        <a:cs typeface="Times New Roman" pitchFamily="18" charset="0"/>
                      </a:endParaRPr>
                    </a:p>
                    <a:p>
                      <a:pPr marL="0" marR="0" algn="ctr">
                        <a:lnSpc>
                          <a:spcPct val="130000"/>
                        </a:lnSpc>
                        <a:spcBef>
                          <a:spcPts val="0"/>
                        </a:spcBef>
                        <a:spcAft>
                          <a:spcPts val="0"/>
                        </a:spcAft>
                      </a:pPr>
                      <a:r>
                        <a:rPr lang="nl-NL" sz="2300" dirty="0">
                          <a:effectLst/>
                          <a:latin typeface="Times New Roman" pitchFamily="18" charset="0"/>
                          <a:cs typeface="Times New Roman" pitchFamily="18" charset="0"/>
                        </a:rPr>
                        <a:t>(1.000 đ/kg)</a:t>
                      </a:r>
                      <a:endParaRPr lang="en-US" sz="2300" dirty="0">
                        <a:effectLst/>
                        <a:latin typeface="Times New Roman" pitchFamily="18" charset="0"/>
                        <a:ea typeface="Times New Roman"/>
                        <a:cs typeface="Times New Roman" pitchFamily="18" charset="0"/>
                      </a:endParaRPr>
                    </a:p>
                  </a:txBody>
                  <a:tcPr marL="68580" marR="68580" marT="0" marB="0" anchor="ctr"/>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Q</a:t>
                      </a:r>
                      <a:r>
                        <a:rPr lang="nl-NL" sz="2300" baseline="-25000" dirty="0">
                          <a:effectLst/>
                          <a:latin typeface="Times New Roman" pitchFamily="18" charset="0"/>
                          <a:cs typeface="Times New Roman" pitchFamily="18" charset="0"/>
                        </a:rPr>
                        <a:t>D</a:t>
                      </a:r>
                      <a:r>
                        <a:rPr lang="nl-NL" sz="2300" dirty="0">
                          <a:effectLst/>
                          <a:latin typeface="Times New Roman" pitchFamily="18" charset="0"/>
                          <a:cs typeface="Times New Roman" pitchFamily="18" charset="0"/>
                        </a:rPr>
                        <a:t>-(1.000 kg/tháng)</a:t>
                      </a:r>
                      <a:endParaRPr lang="en-US" sz="23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Q</a:t>
                      </a:r>
                      <a:r>
                        <a:rPr lang="nl-NL" sz="2300" baseline="-25000" dirty="0">
                          <a:effectLst/>
                          <a:latin typeface="Times New Roman" pitchFamily="18" charset="0"/>
                          <a:cs typeface="Times New Roman" pitchFamily="18" charset="0"/>
                        </a:rPr>
                        <a:t>S </a:t>
                      </a:r>
                      <a:r>
                        <a:rPr lang="nl-NL" sz="2300" dirty="0">
                          <a:effectLst/>
                          <a:latin typeface="Times New Roman" pitchFamily="18" charset="0"/>
                          <a:cs typeface="Times New Roman" pitchFamily="18" charset="0"/>
                        </a:rPr>
                        <a:t>- (1.000 kg/tháng)</a:t>
                      </a:r>
                      <a:endParaRPr lang="en-US" sz="23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0"/>
                  </a:ext>
                </a:extLst>
              </a:tr>
              <a:tr h="533400">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4</a:t>
                      </a:r>
                      <a:endParaRPr lang="en-US" sz="23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50</a:t>
                      </a:r>
                      <a:endParaRPr lang="en-US" sz="2300" dirty="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10</a:t>
                      </a:r>
                      <a:endParaRPr lang="en-US" sz="23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1"/>
                  </a:ext>
                </a:extLst>
              </a:tr>
              <a:tr h="533400">
                <a:tc>
                  <a:txBody>
                    <a:bodyPr/>
                    <a:lstStyle/>
                    <a:p>
                      <a:pPr marL="0" marR="0" algn="ctr">
                        <a:lnSpc>
                          <a:spcPct val="130000"/>
                        </a:lnSpc>
                        <a:spcBef>
                          <a:spcPts val="0"/>
                        </a:spcBef>
                        <a:spcAft>
                          <a:spcPts val="0"/>
                        </a:spcAft>
                      </a:pPr>
                      <a:r>
                        <a:rPr lang="nl-NL" sz="2300">
                          <a:effectLst/>
                          <a:latin typeface="Times New Roman" pitchFamily="18" charset="0"/>
                          <a:cs typeface="Times New Roman" pitchFamily="18" charset="0"/>
                        </a:rPr>
                        <a:t>8</a:t>
                      </a:r>
                      <a:endParaRPr lang="en-US" sz="23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a:effectLst/>
                          <a:latin typeface="Times New Roman" pitchFamily="18" charset="0"/>
                          <a:cs typeface="Times New Roman" pitchFamily="18" charset="0"/>
                        </a:rPr>
                        <a:t>40</a:t>
                      </a:r>
                      <a:endParaRPr lang="en-US" sz="23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20</a:t>
                      </a:r>
                      <a:endParaRPr lang="en-US" sz="23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2"/>
                  </a:ext>
                </a:extLst>
              </a:tr>
              <a:tr h="533400">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12</a:t>
                      </a:r>
                      <a:endParaRPr lang="en-US" sz="2300" dirty="0">
                        <a:effectLst/>
                        <a:latin typeface="Times New Roman" pitchFamily="18" charset="0"/>
                        <a:ea typeface="Times New Roman"/>
                        <a:cs typeface="Times New Roman" pitchFamily="18" charset="0"/>
                      </a:endParaRPr>
                    </a:p>
                  </a:txBody>
                  <a:tcPr marL="68580" marR="68580" marT="0" marB="0">
                    <a:solidFill>
                      <a:srgbClr val="FFC000"/>
                    </a:solidFill>
                  </a:tcPr>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30</a:t>
                      </a:r>
                      <a:endParaRPr lang="en-US" sz="2300" dirty="0">
                        <a:effectLst/>
                        <a:latin typeface="Times New Roman" pitchFamily="18" charset="0"/>
                        <a:ea typeface="Times New Roman"/>
                        <a:cs typeface="Times New Roman" pitchFamily="18" charset="0"/>
                      </a:endParaRPr>
                    </a:p>
                  </a:txBody>
                  <a:tcPr marL="68580" marR="68580" marT="0" marB="0">
                    <a:solidFill>
                      <a:srgbClr val="FFC000"/>
                    </a:solidFill>
                  </a:tcPr>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30</a:t>
                      </a:r>
                      <a:endParaRPr lang="en-US" sz="2300" dirty="0">
                        <a:effectLst/>
                        <a:latin typeface="Times New Roman" pitchFamily="18" charset="0"/>
                        <a:ea typeface="Times New Roman"/>
                        <a:cs typeface="Times New Roman" pitchFamily="18" charset="0"/>
                      </a:endParaRPr>
                    </a:p>
                  </a:txBody>
                  <a:tcPr marL="68580" marR="68580" marT="0" marB="0">
                    <a:solidFill>
                      <a:srgbClr val="FFC000"/>
                    </a:solidFill>
                  </a:tcPr>
                </a:tc>
                <a:extLst>
                  <a:ext uri="{0D108BD9-81ED-4DB2-BD59-A6C34878D82A}">
                    <a16:rowId xmlns:a16="http://schemas.microsoft.com/office/drawing/2014/main" val="10003"/>
                  </a:ext>
                </a:extLst>
              </a:tr>
              <a:tr h="533400">
                <a:tc>
                  <a:txBody>
                    <a:bodyPr/>
                    <a:lstStyle/>
                    <a:p>
                      <a:pPr marL="0" marR="0" algn="ctr">
                        <a:lnSpc>
                          <a:spcPct val="130000"/>
                        </a:lnSpc>
                        <a:spcBef>
                          <a:spcPts val="0"/>
                        </a:spcBef>
                        <a:spcAft>
                          <a:spcPts val="0"/>
                        </a:spcAft>
                      </a:pPr>
                      <a:r>
                        <a:rPr lang="nl-NL" sz="2300">
                          <a:effectLst/>
                          <a:latin typeface="Times New Roman" pitchFamily="18" charset="0"/>
                          <a:cs typeface="Times New Roman" pitchFamily="18" charset="0"/>
                        </a:rPr>
                        <a:t>16</a:t>
                      </a:r>
                      <a:endParaRPr lang="en-US" sz="23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a:effectLst/>
                          <a:latin typeface="Times New Roman" pitchFamily="18" charset="0"/>
                          <a:cs typeface="Times New Roman" pitchFamily="18" charset="0"/>
                        </a:rPr>
                        <a:t>20</a:t>
                      </a:r>
                      <a:endParaRPr lang="en-US" sz="23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40</a:t>
                      </a:r>
                      <a:endParaRPr lang="en-US" sz="23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4"/>
                  </a:ext>
                </a:extLst>
              </a:tr>
              <a:tr h="533400">
                <a:tc>
                  <a:txBody>
                    <a:bodyPr/>
                    <a:lstStyle/>
                    <a:p>
                      <a:pPr marL="0" marR="0" algn="ctr">
                        <a:lnSpc>
                          <a:spcPct val="130000"/>
                        </a:lnSpc>
                        <a:spcBef>
                          <a:spcPts val="0"/>
                        </a:spcBef>
                        <a:spcAft>
                          <a:spcPts val="0"/>
                        </a:spcAft>
                      </a:pPr>
                      <a:r>
                        <a:rPr lang="nl-NL" sz="2300">
                          <a:effectLst/>
                          <a:latin typeface="Times New Roman" pitchFamily="18" charset="0"/>
                          <a:cs typeface="Times New Roman" pitchFamily="18" charset="0"/>
                        </a:rPr>
                        <a:t>20</a:t>
                      </a:r>
                      <a:endParaRPr lang="en-US" sz="23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a:effectLst/>
                          <a:latin typeface="Times New Roman" pitchFamily="18" charset="0"/>
                          <a:cs typeface="Times New Roman" pitchFamily="18" charset="0"/>
                        </a:rPr>
                        <a:t>10</a:t>
                      </a:r>
                      <a:endParaRPr lang="en-US" sz="2300">
                        <a:effectLst/>
                        <a:latin typeface="Times New Roman" pitchFamily="18" charset="0"/>
                        <a:ea typeface="Times New Roman"/>
                        <a:cs typeface="Times New Roman" pitchFamily="18" charset="0"/>
                      </a:endParaRPr>
                    </a:p>
                  </a:txBody>
                  <a:tcPr marL="68580" marR="68580" marT="0" marB="0"/>
                </a:tc>
                <a:tc>
                  <a:txBody>
                    <a:bodyPr/>
                    <a:lstStyle/>
                    <a:p>
                      <a:pPr marL="0" marR="0" algn="ctr">
                        <a:lnSpc>
                          <a:spcPct val="130000"/>
                        </a:lnSpc>
                        <a:spcBef>
                          <a:spcPts val="0"/>
                        </a:spcBef>
                        <a:spcAft>
                          <a:spcPts val="0"/>
                        </a:spcAft>
                      </a:pPr>
                      <a:r>
                        <a:rPr lang="nl-NL" sz="2300" dirty="0">
                          <a:effectLst/>
                          <a:latin typeface="Times New Roman" pitchFamily="18" charset="0"/>
                          <a:cs typeface="Times New Roman" pitchFamily="18" charset="0"/>
                        </a:rPr>
                        <a:t>50</a:t>
                      </a:r>
                      <a:endParaRPr lang="en-US" sz="2300" dirty="0">
                        <a:effectLst/>
                        <a:latin typeface="Times New Roman" pitchFamily="18" charset="0"/>
                        <a:ea typeface="Times New Roman"/>
                        <a:cs typeface="Times New Roman"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6742897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152401"/>
            <a:ext cx="8077200" cy="6553200"/>
          </a:xfrm>
        </p:spPr>
        <p:txBody>
          <a:bodyPr>
            <a:normAutofit/>
          </a:bodyPr>
          <a:lstStyle/>
          <a:p>
            <a:pPr algn="just"/>
            <a:r>
              <a:rPr lang="nl-NL" sz="2400" b="1" dirty="0">
                <a:solidFill>
                  <a:srgbClr val="0000FF"/>
                </a:solidFill>
                <a:latin typeface="Times New Roman" pitchFamily="18" charset="0"/>
                <a:cs typeface="Times New Roman" pitchFamily="18" charset="0"/>
              </a:rPr>
              <a:t>2.4. Cân bằng cung- cầu</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2.4.1. </a:t>
            </a:r>
            <a:r>
              <a:rPr lang="fr-FR" sz="2400" b="1" i="1" dirty="0" err="1">
                <a:solidFill>
                  <a:srgbClr val="0000FF"/>
                </a:solidFill>
                <a:latin typeface="Times New Roman" pitchFamily="18" charset="0"/>
                <a:cs typeface="Times New Roman" pitchFamily="18" charset="0"/>
              </a:rPr>
              <a:t>Các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trạng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thái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endParaRPr lang="en-US" sz="2400" b="1" i="1" dirty="0">
              <a:solidFill>
                <a:srgbClr val="0000FF"/>
              </a:solidFill>
              <a:latin typeface="Times New Roman" pitchFamily="18" charset="0"/>
              <a:cs typeface="Times New Roman" pitchFamily="18" charset="0"/>
            </a:endParaRPr>
          </a:p>
          <a:p>
            <a:pPr algn="just"/>
            <a:r>
              <a:rPr lang="nl-NL" sz="2400" b="1" dirty="0">
                <a:solidFill>
                  <a:srgbClr val="0000FF"/>
                </a:solidFill>
                <a:latin typeface="Times New Roman" pitchFamily="18" charset="0"/>
                <a:cs typeface="Times New Roman" pitchFamily="18" charset="0"/>
              </a:rPr>
              <a:t>2.4.1.2. Trạng thái dư thừa và thiếu hụt của thị trường</a:t>
            </a:r>
            <a:endParaRPr lang="en-US" sz="2400" b="1" dirty="0">
              <a:solidFill>
                <a:srgbClr val="0000FF"/>
              </a:solidFill>
              <a:latin typeface="Times New Roman" pitchFamily="18" charset="0"/>
              <a:cs typeface="Times New Roman" pitchFamily="18" charset="0"/>
            </a:endParaRPr>
          </a:p>
          <a:p>
            <a:pPr algn="just"/>
            <a:r>
              <a:rPr lang="nl-NL" sz="2400" i="1" dirty="0">
                <a:solidFill>
                  <a:srgbClr val="0000FF"/>
                </a:solidFill>
                <a:latin typeface="Times New Roman" pitchFamily="18" charset="0"/>
                <a:cs typeface="Times New Roman" pitchFamily="18" charset="0"/>
              </a:rPr>
              <a:t>Thiếu hụt của thị trường là kết quả của việc lượng cầu lớn hơn lượng cung ở một mức giá xác định.</a:t>
            </a:r>
            <a:endParaRPr lang="vi-VN" sz="2400" i="1" dirty="0">
              <a:solidFill>
                <a:srgbClr val="0000FF"/>
              </a:solidFill>
              <a:latin typeface="Times New Roman" pitchFamily="18" charset="0"/>
              <a:cs typeface="Times New Roman" pitchFamily="18" charset="0"/>
            </a:endParaRPr>
          </a:p>
          <a:p>
            <a:pPr algn="just"/>
            <a:r>
              <a:rPr lang="nl-NL" sz="2400" i="1" dirty="0">
                <a:solidFill>
                  <a:srgbClr val="0000FF"/>
                </a:solidFill>
                <a:latin typeface="Times New Roman" pitchFamily="18" charset="0"/>
                <a:cs typeface="Times New Roman" pitchFamily="18" charset="0"/>
              </a:rPr>
              <a:t>Ngược lại, Dư thừa của thị trường là kết quả của việc lượng cung lớn hơn lượng cầu ở một mức giá xác định</a:t>
            </a:r>
            <a:r>
              <a:rPr lang="nl-NL" sz="2400" dirty="0">
                <a:solidFill>
                  <a:srgbClr val="0000FF"/>
                </a:solidFill>
                <a:latin typeface="Times New Roman" pitchFamily="18" charset="0"/>
                <a:cs typeface="Times New Roman" pitchFamily="18" charset="0"/>
              </a:rPr>
              <a:t>. </a:t>
            </a:r>
          </a:p>
        </p:txBody>
      </p:sp>
      <p:sp>
        <p:nvSpPr>
          <p:cNvPr id="3" name="TextBox 2">
            <a:extLst>
              <a:ext uri="{FF2B5EF4-FFF2-40B4-BE49-F238E27FC236}">
                <a16:creationId xmlns:a16="http://schemas.microsoft.com/office/drawing/2014/main" id="{5495DEBD-237F-3124-766F-84DA4EF8456E}"/>
              </a:ext>
            </a:extLst>
          </p:cNvPr>
          <p:cNvSpPr txBox="1"/>
          <p:nvPr/>
        </p:nvSpPr>
        <p:spPr>
          <a:xfrm>
            <a:off x="533400" y="3213080"/>
            <a:ext cx="3886200" cy="3416320"/>
          </a:xfrm>
          <a:prstGeom prst="rect">
            <a:avLst/>
          </a:prstGeom>
          <a:noFill/>
        </p:spPr>
        <p:txBody>
          <a:bodyPr wrap="square">
            <a:spAutoFit/>
          </a:bodyPr>
          <a:lstStyle/>
          <a:p>
            <a:pPr algn="just"/>
            <a:r>
              <a:rPr lang="nl-NL" sz="2400" dirty="0">
                <a:solidFill>
                  <a:srgbClr val="0000FF"/>
                </a:solidFill>
                <a:latin typeface="Times New Roman" pitchFamily="18" charset="0"/>
                <a:cs typeface="Times New Roman" pitchFamily="18" charset="0"/>
              </a:rPr>
              <a:t>Để khắc phục hiện tượng thiếu hoặc thừa hàng hóa thì người bán và người mua phải thay đổi hành vi của họ để đạt tới mức cân bằng.</a:t>
            </a:r>
            <a:endParaRPr lang="vi-VN"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Hoạt động của nhiều người bán và nhiều người mua tự động đẩy giá thị trường tới mức giá cân bằng. </a:t>
            </a:r>
            <a:endParaRPr lang="en-US" sz="2400" dirty="0">
              <a:solidFill>
                <a:srgbClr val="0000FF"/>
              </a:solidFill>
              <a:latin typeface="Times New Roman" pitchFamily="18" charset="0"/>
              <a:cs typeface="Times New Roman" pitchFamily="18" charset="0"/>
            </a:endParaRPr>
          </a:p>
        </p:txBody>
      </p:sp>
      <p:pic>
        <p:nvPicPr>
          <p:cNvPr id="5" name="Picture 1">
            <a:extLst>
              <a:ext uri="{FF2B5EF4-FFF2-40B4-BE49-F238E27FC236}">
                <a16:creationId xmlns:a16="http://schemas.microsoft.com/office/drawing/2014/main" id="{9669BCEE-267A-97A4-D809-A240486AB2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6067" y="3007490"/>
            <a:ext cx="4517933" cy="3926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66478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152401"/>
            <a:ext cx="8153400" cy="6553200"/>
          </a:xfrm>
        </p:spPr>
        <p:txBody>
          <a:bodyPr>
            <a:normAutofit/>
          </a:bodyPr>
          <a:lstStyle/>
          <a:p>
            <a:pPr algn="just"/>
            <a:r>
              <a:rPr lang="nl-NL" sz="2400" b="1" dirty="0">
                <a:solidFill>
                  <a:srgbClr val="0000FF"/>
                </a:solidFill>
                <a:latin typeface="Times New Roman" pitchFamily="18" charset="0"/>
                <a:cs typeface="Times New Roman" pitchFamily="18" charset="0"/>
              </a:rPr>
              <a:t>2.4. Cân bằng cung- cầu</a:t>
            </a:r>
            <a:endParaRPr lang="en-US" sz="2400" b="1" dirty="0">
              <a:solidFill>
                <a:srgbClr val="0000FF"/>
              </a:solidFill>
              <a:latin typeface="Times New Roman" pitchFamily="18" charset="0"/>
              <a:cs typeface="Times New Roman" pitchFamily="18" charset="0"/>
            </a:endParaRPr>
          </a:p>
          <a:p>
            <a:pPr algn="just"/>
            <a:r>
              <a:rPr lang="fr-FR" sz="2400" b="1" i="1" dirty="0"/>
              <a:t> </a:t>
            </a:r>
            <a:r>
              <a:rPr lang="fr-FR" sz="2400" b="1" i="1" dirty="0">
                <a:solidFill>
                  <a:srgbClr val="0000FF"/>
                </a:solidFill>
                <a:latin typeface="Times New Roman" pitchFamily="18" charset="0"/>
                <a:cs typeface="Times New Roman" pitchFamily="18" charset="0"/>
              </a:rPr>
              <a:t>2.4.2. </a:t>
            </a:r>
            <a:r>
              <a:rPr lang="fr-FR" sz="2400" b="1" i="1" dirty="0" err="1">
                <a:solidFill>
                  <a:srgbClr val="0000FF"/>
                </a:solidFill>
                <a:latin typeface="Times New Roman" pitchFamily="18" charset="0"/>
                <a:cs typeface="Times New Roman" pitchFamily="18" charset="0"/>
              </a:rPr>
              <a:t>Sự</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thay</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đổi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trạng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thái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endParaRPr lang="en-US" sz="2400" b="1" i="1"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	</a:t>
            </a:r>
            <a:r>
              <a:rPr lang="nl-NL" sz="2400" dirty="0">
                <a:solidFill>
                  <a:srgbClr val="0000FF"/>
                </a:solidFill>
                <a:latin typeface="Times New Roman" pitchFamily="18" charset="0"/>
                <a:cs typeface="Times New Roman" pitchFamily="18" charset="0"/>
              </a:rPr>
              <a:t>Mức giá cân bằng sẽ thay đổi bất cứ khi nào các đường cung hoặc đường cầu dịch chuyển do sự tác động của yếu tố ngoại sinh; khi đó nó sẽ phá vỡ trạng thái cân bằng cũ và thiết lập trạng thái cân bằng mới.</a:t>
            </a:r>
            <a:endParaRPr lang="en-US" sz="2400" dirty="0">
              <a:solidFill>
                <a:srgbClr val="0000FF"/>
              </a:solidFill>
              <a:latin typeface="Times New Roman" pitchFamily="18" charset="0"/>
              <a:cs typeface="Times New Roman" pitchFamily="18" charset="0"/>
            </a:endParaRPr>
          </a:p>
          <a:p>
            <a:pPr algn="just"/>
            <a:r>
              <a:rPr lang="nl-NL" sz="2400" dirty="0">
                <a:solidFill>
                  <a:srgbClr val="0000FF"/>
                </a:solidFill>
                <a:latin typeface="Times New Roman" pitchFamily="18" charset="0"/>
                <a:cs typeface="Times New Roman" pitchFamily="18" charset="0"/>
              </a:rPr>
              <a:t>Các trường hợp thay đổi giá cân bằng:</a:t>
            </a:r>
            <a:endParaRPr lang="en-US" sz="2400" dirty="0">
              <a:solidFill>
                <a:srgbClr val="0000FF"/>
              </a:solidFill>
              <a:latin typeface="Times New Roman" pitchFamily="18" charset="0"/>
              <a:cs typeface="Times New Roman" pitchFamily="18" charset="0"/>
            </a:endParaRPr>
          </a:p>
        </p:txBody>
      </p:sp>
      <p:pic>
        <p:nvPicPr>
          <p:cNvPr id="2" name="Picture 2">
            <a:extLst>
              <a:ext uri="{FF2B5EF4-FFF2-40B4-BE49-F238E27FC236}">
                <a16:creationId xmlns:a16="http://schemas.microsoft.com/office/drawing/2014/main" id="{6FB353F0-B4E4-7681-B6CB-069A43746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289" y="3179955"/>
            <a:ext cx="8739422" cy="350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973726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229600" cy="6553200"/>
          </a:xfrm>
        </p:spPr>
        <p:txBody>
          <a:bodyPr>
            <a:normAutofit/>
          </a:bodyPr>
          <a:lstStyle/>
          <a:p>
            <a:pPr algn="just"/>
            <a:r>
              <a:rPr lang="nl-NL" sz="2400" b="1" dirty="0">
                <a:solidFill>
                  <a:srgbClr val="0000FF"/>
                </a:solidFill>
                <a:latin typeface="Times New Roman" pitchFamily="18" charset="0"/>
                <a:cs typeface="Times New Roman" pitchFamily="18" charset="0"/>
              </a:rPr>
              <a:t>2.5. Co giãn của cầu và co giãn của cung </a:t>
            </a:r>
            <a:endParaRPr lang="vi-VN" sz="2400" b="1" dirty="0">
              <a:solidFill>
                <a:srgbClr val="0000FF"/>
              </a:solidFill>
              <a:latin typeface="Times New Roman" pitchFamily="18" charset="0"/>
              <a:cs typeface="Times New Roman" pitchFamily="18" charset="0"/>
            </a:endParaRPr>
          </a:p>
          <a:p>
            <a:pPr algn="just"/>
            <a:r>
              <a:rPr lang="nl-NL" sz="2400" b="1" dirty="0">
                <a:solidFill>
                  <a:srgbClr val="0000FF"/>
                </a:solidFill>
                <a:latin typeface="Times New Roman" pitchFamily="18" charset="0"/>
                <a:cs typeface="Times New Roman" pitchFamily="18" charset="0"/>
              </a:rPr>
              <a:t>2.6. Những tác động của chính phủ đến thị trường hàng hóa</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2.6.1. </a:t>
            </a:r>
            <a:r>
              <a:rPr lang="fr-FR" sz="2400" b="1" i="1" dirty="0" err="1">
                <a:solidFill>
                  <a:srgbClr val="0000FF"/>
                </a:solidFill>
                <a:latin typeface="Times New Roman" pitchFamily="18" charset="0"/>
                <a:cs typeface="Times New Roman" pitchFamily="18" charset="0"/>
              </a:rPr>
              <a:t>Kiểm</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soát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giá</a:t>
            </a:r>
            <a:endParaRPr lang="en-US" sz="2400" b="1" i="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2.6.2. </a:t>
            </a:r>
            <a:r>
              <a:rPr lang="fr-FR" sz="2400" b="1" i="1" dirty="0" err="1">
                <a:solidFill>
                  <a:srgbClr val="0000FF"/>
                </a:solidFill>
                <a:latin typeface="Times New Roman" pitchFamily="18" charset="0"/>
                <a:cs typeface="Times New Roman" pitchFamily="18" charset="0"/>
              </a:rPr>
              <a:t>Tác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thuế</a:t>
            </a:r>
            <a:endParaRPr lang="en-US" sz="2400" b="1" i="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2.6.3. </a:t>
            </a:r>
            <a:r>
              <a:rPr lang="fr-FR" sz="2400" b="1" i="1" dirty="0" err="1">
                <a:solidFill>
                  <a:srgbClr val="0000FF"/>
                </a:solidFill>
                <a:latin typeface="Times New Roman" pitchFamily="18" charset="0"/>
                <a:cs typeface="Times New Roman" pitchFamily="18" charset="0"/>
              </a:rPr>
              <a:t>Tác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trợ</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cấp</a:t>
            </a:r>
            <a:endParaRPr lang="fr-FR" sz="2400" b="1" i="1" dirty="0">
              <a:solidFill>
                <a:srgbClr val="0000FF"/>
              </a:solidFill>
              <a:latin typeface="Times New Roman" pitchFamily="18" charset="0"/>
              <a:cs typeface="Times New Roman" pitchFamily="18" charset="0"/>
            </a:endParaRPr>
          </a:p>
          <a:p>
            <a:pPr algn="just"/>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(HV tự nghiên cứu)</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64284205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52401"/>
            <a:ext cx="8305800" cy="6553200"/>
          </a:xfrm>
        </p:spPr>
        <p:txBody>
          <a:bodyPr>
            <a:noAutofit/>
          </a:bodyPr>
          <a:lstStyle/>
          <a:p>
            <a:pPr eaLnBrk="1" hangingPunct="1"/>
            <a:r>
              <a:rPr lang="en-US" sz="2400" b="1" dirty="0">
                <a:solidFill>
                  <a:srgbClr val="0000FF"/>
                </a:solidFill>
                <a:latin typeface="Times New Roman" pitchFamily="18" charset="0"/>
              </a:rPr>
              <a:t>CHƯƠNG 3</a:t>
            </a:r>
          </a:p>
          <a:p>
            <a:pPr eaLnBrk="1" hangingPunct="1"/>
            <a:r>
              <a:rPr lang="en-US" sz="2400" b="1" dirty="0">
                <a:solidFill>
                  <a:srgbClr val="0000FF"/>
                </a:solidFill>
                <a:latin typeface="Times New Roman" pitchFamily="18" charset="0"/>
              </a:rPr>
              <a:t>LÝ THUYẾT HÀNH VI NGƯỜI TIÊU DÙNG</a:t>
            </a:r>
          </a:p>
          <a:p>
            <a:pPr algn="just"/>
            <a:r>
              <a:rPr lang="en-US" sz="2400" b="1" dirty="0">
                <a:solidFill>
                  <a:srgbClr val="0000FF"/>
                </a:solidFill>
                <a:latin typeface="Times New Roman" pitchFamily="18" charset="0"/>
                <a:cs typeface="Times New Roman" pitchFamily="18" charset="0"/>
              </a:rPr>
              <a:t>3.1. </a:t>
            </a:r>
            <a:r>
              <a:rPr lang="en-US" sz="2400" b="1" dirty="0" err="1">
                <a:solidFill>
                  <a:srgbClr val="0000FF"/>
                </a:solidFill>
                <a:latin typeface="Times New Roman" pitchFamily="18" charset="0"/>
                <a:cs typeface="Times New Roman" pitchFamily="18" charset="0"/>
              </a:rPr>
              <a:t>Lý</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thuyết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lợi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ích</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3.1.1. </a:t>
            </a:r>
            <a:r>
              <a:rPr lang="fr-FR" sz="2400" b="1" i="1" dirty="0" err="1">
                <a:solidFill>
                  <a:srgbClr val="0000FF"/>
                </a:solidFill>
                <a:latin typeface="Times New Roman" pitchFamily="18" charset="0"/>
                <a:cs typeface="Times New Roman" pitchFamily="18" charset="0"/>
              </a:rPr>
              <a:t>Một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số</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khái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niệm</a:t>
            </a:r>
            <a:endParaRPr lang="en-US" sz="2400" b="1" i="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Giỏ</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hàng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hóa</a:t>
            </a:r>
            <a:r>
              <a:rPr lang="en-US" sz="2400" b="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a:t>
            </a:r>
          </a:p>
          <a:p>
            <a:pPr algn="just"/>
            <a:r>
              <a:rPr lang="en-US" sz="2400"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r>
              <a:rPr lang="en-US" sz="2400" b="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nguyện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vọng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tưởng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riêng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thông</a:t>
            </a:r>
            <a:r>
              <a:rPr lang="en-US" sz="2400" dirty="0">
                <a:solidFill>
                  <a:srgbClr val="0000FF"/>
                </a:solidFill>
                <a:latin typeface="Times New Roman" pitchFamily="18" charset="0"/>
                <a:cs typeface="Times New Roman" pitchFamily="18" charset="0"/>
              </a:rPr>
              <a:t> qua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sắm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a:t>
            </a:r>
          </a:p>
          <a:p>
            <a:pPr algn="just"/>
            <a:r>
              <a:rPr lang="vi-VN" sz="2400" b="1" i="1" dirty="0">
                <a:solidFill>
                  <a:srgbClr val="0000FF"/>
                </a:solidFill>
                <a:latin typeface="Times New Roman" pitchFamily="18" charset="0"/>
                <a:cs typeface="Times New Roman" pitchFamily="18" charset="0"/>
              </a:rPr>
              <a:t>- </a:t>
            </a:r>
            <a:r>
              <a:rPr lang="en-US" sz="2400" b="1" i="1" dirty="0">
                <a:solidFill>
                  <a:srgbClr val="0000FF"/>
                </a:solidFill>
                <a:latin typeface="Times New Roman" pitchFamily="18" charset="0"/>
                <a:cs typeface="Times New Roman" pitchFamily="18" charset="0"/>
              </a:rPr>
              <a:t>H</a:t>
            </a:r>
            <a:r>
              <a:rPr lang="vi-VN" sz="2400" b="1" i="1" dirty="0">
                <a:solidFill>
                  <a:srgbClr val="0000FF"/>
                </a:solidFill>
                <a:latin typeface="Times New Roman" pitchFamily="18" charset="0"/>
                <a:cs typeface="Times New Roman" pitchFamily="18" charset="0"/>
              </a:rPr>
              <a:t>ành vi người tiêu dùng</a:t>
            </a:r>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hiểu</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là hành vi mà người tiêu dùng thể hiện trong việc tìm kiếm, mua sắm, sử dụng, đánh giá và xử lý hàng hóa dịch vụ và đưa ra các ý kiến.</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919940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688E6EB0-899D-7CD2-E49A-24376BF948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14400"/>
            <a:ext cx="9129713"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653271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153400" cy="6553200"/>
          </a:xfrm>
        </p:spPr>
        <p:txBody>
          <a:bodyPr>
            <a:noAutofit/>
          </a:bodyPr>
          <a:lstStyle/>
          <a:p>
            <a:pPr algn="just"/>
            <a:r>
              <a:rPr lang="en-US" sz="2300" b="1" dirty="0">
                <a:solidFill>
                  <a:srgbClr val="0000FF"/>
                </a:solidFill>
                <a:latin typeface="Times New Roman" pitchFamily="18" charset="0"/>
                <a:cs typeface="Times New Roman" pitchFamily="18" charset="0"/>
              </a:rPr>
              <a:t>3.1. </a:t>
            </a:r>
            <a:r>
              <a:rPr lang="en-US" sz="2300" b="1" dirty="0" err="1">
                <a:solidFill>
                  <a:srgbClr val="0000FF"/>
                </a:solidFill>
                <a:latin typeface="Times New Roman" pitchFamily="18" charset="0"/>
                <a:cs typeface="Times New Roman" pitchFamily="18" charset="0"/>
              </a:rPr>
              <a:t>Lý</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lợi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ích</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3.1.1. </a:t>
            </a:r>
            <a:r>
              <a:rPr lang="fr-FR" sz="2300" b="1" i="1" dirty="0" err="1">
                <a:solidFill>
                  <a:srgbClr val="0000FF"/>
                </a:solidFill>
                <a:latin typeface="Times New Roman" pitchFamily="18" charset="0"/>
                <a:cs typeface="Times New Roman" pitchFamily="18" charset="0"/>
              </a:rPr>
              <a:t>Một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khái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niệm</a:t>
            </a:r>
            <a:endParaRPr lang="en-US" sz="2300" b="1" i="1" dirty="0">
              <a:solidFill>
                <a:srgbClr val="0000FF"/>
              </a:solidFill>
              <a:latin typeface="Times New Roman" pitchFamily="18" charset="0"/>
              <a:cs typeface="Times New Roman" pitchFamily="18" charset="0"/>
            </a:endParaRPr>
          </a:p>
          <a:p>
            <a:pPr algn="just"/>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Lý</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thuyết</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hành</a:t>
            </a:r>
            <a:r>
              <a:rPr lang="en-US" sz="2300" b="1" i="1" dirty="0">
                <a:solidFill>
                  <a:srgbClr val="0000FF"/>
                </a:solidFill>
                <a:latin typeface="Times New Roman" pitchFamily="18" charset="0"/>
                <a:cs typeface="Times New Roman" pitchFamily="18" charset="0"/>
              </a:rPr>
              <a:t> vi </a:t>
            </a:r>
            <a:r>
              <a:rPr lang="en-US" sz="2300" b="1" i="1" dirty="0" err="1">
                <a:solidFill>
                  <a:srgbClr val="0000FF"/>
                </a:solidFill>
                <a:latin typeface="Times New Roman" pitchFamily="18" charset="0"/>
                <a:cs typeface="Times New Roman" pitchFamily="18" charset="0"/>
              </a:rPr>
              <a:t>người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tiêu</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dùng</a:t>
            </a:r>
            <a:r>
              <a:rPr lang="en-US" sz="2300" b="1" i="1"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cứu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họ</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họ</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lý</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họ</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Nghiên cứu hành vi người tiêu dùng tập trung vào việc cá nhân quyết định chi tiêu nguồn lực sẵn có (thời gian, tiền bạc, công sức) vào các hàng hóa và dịch vụ như thế nào.</a:t>
            </a:r>
          </a:p>
          <a:p>
            <a:pPr algn="just"/>
            <a:r>
              <a:rPr lang="en-US" sz="2300"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Lợi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ích</a:t>
            </a:r>
            <a:r>
              <a:rPr lang="en-US" sz="2300" b="1" i="1" dirty="0">
                <a:solidFill>
                  <a:srgbClr val="0000FF"/>
                </a:solidFill>
                <a:latin typeface="Times New Roman" pitchFamily="18" charset="0"/>
                <a:cs typeface="Times New Roman" pitchFamily="18" charset="0"/>
              </a:rPr>
              <a:t> </a:t>
            </a:r>
            <a:r>
              <a:rPr lang="en-US" sz="2300" i="1" dirty="0">
                <a:solidFill>
                  <a:srgbClr val="0000FF"/>
                </a:solidFill>
                <a:latin typeface="Times New Roman" pitchFamily="18" charset="0"/>
                <a:cs typeface="Times New Roman" pitchFamily="18" charset="0"/>
              </a:rPr>
              <a:t>(U - Utility)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thỏa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lòng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xúc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giống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mỗi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thoại</a:t>
            </a:r>
            <a:r>
              <a:rPr lang="en-US" sz="2300" dirty="0">
                <a:solidFill>
                  <a:srgbClr val="0000FF"/>
                </a:solidFill>
                <a:latin typeface="Times New Roman" pitchFamily="18" charset="0"/>
                <a:cs typeface="Times New Roman" pitchFamily="18" charset="0"/>
              </a:rPr>
              <a:t> Nokia </a:t>
            </a:r>
            <a:r>
              <a:rPr lang="en-US" sz="2300" dirty="0" err="1">
                <a:solidFill>
                  <a:srgbClr val="0000FF"/>
                </a:solidFill>
                <a:latin typeface="Times New Roman" pitchFamily="18" charset="0"/>
                <a:cs typeface="Times New Roman" pitchFamily="18" charset="0"/>
              </a:rPr>
              <a:t>cũ</a:t>
            </a:r>
            <a:r>
              <a:rPr lang="en-US" sz="2300" dirty="0">
                <a:solidFill>
                  <a:srgbClr val="0000FF"/>
                </a:solidFill>
                <a:latin typeface="Times New Roman" pitchFamily="18" charset="0"/>
                <a:cs typeface="Times New Roman" pitchFamily="18" charset="0"/>
              </a:rPr>
              <a:t>).</a:t>
            </a:r>
            <a:endParaRPr lang="vi-VN" sz="2300"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Do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khi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xem</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xét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việc</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tiêu</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dùng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tối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ưu</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chúng</a:t>
            </a:r>
            <a:r>
              <a:rPr lang="en-US" sz="2300" i="1" dirty="0">
                <a:solidFill>
                  <a:srgbClr val="0000FF"/>
                </a:solidFill>
                <a:latin typeface="Times New Roman" pitchFamily="18" charset="0"/>
                <a:cs typeface="Times New Roman" pitchFamily="18" charset="0"/>
              </a:rPr>
              <a:t> ta </a:t>
            </a:r>
            <a:r>
              <a:rPr lang="en-US" sz="2300" i="1" dirty="0" err="1">
                <a:solidFill>
                  <a:srgbClr val="0000FF"/>
                </a:solidFill>
                <a:latin typeface="Times New Roman" pitchFamily="18" charset="0"/>
                <a:cs typeface="Times New Roman" pitchFamily="18" charset="0"/>
              </a:rPr>
              <a:t>xem</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xét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cho</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một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cá</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nhân</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tiêu</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dùng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cụ</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thể</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và</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giả</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định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các</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lựa</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chọn</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là</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hợp</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lý</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đối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với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họ</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4333983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152401"/>
            <a:ext cx="8153400" cy="6553200"/>
          </a:xfrm>
        </p:spPr>
        <p:txBody>
          <a:bodyPr>
            <a:noAutofit/>
          </a:bodyPr>
          <a:lstStyle/>
          <a:p>
            <a:pPr algn="just"/>
            <a:r>
              <a:rPr lang="en-US" sz="2300" b="1" dirty="0">
                <a:solidFill>
                  <a:srgbClr val="0000FF"/>
                </a:solidFill>
                <a:latin typeface="Times New Roman" pitchFamily="18" charset="0"/>
                <a:cs typeface="Times New Roman" pitchFamily="18" charset="0"/>
              </a:rPr>
              <a:t>3.1. </a:t>
            </a:r>
            <a:r>
              <a:rPr lang="en-US" sz="2300" b="1" dirty="0" err="1">
                <a:solidFill>
                  <a:srgbClr val="0000FF"/>
                </a:solidFill>
                <a:latin typeface="Times New Roman" pitchFamily="18" charset="0"/>
                <a:cs typeface="Times New Roman" pitchFamily="18" charset="0"/>
              </a:rPr>
              <a:t>Lý</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lợi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ích</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3.1.1. </a:t>
            </a:r>
            <a:r>
              <a:rPr lang="fr-FR" sz="2300" b="1" i="1" dirty="0" err="1">
                <a:solidFill>
                  <a:srgbClr val="0000FF"/>
                </a:solidFill>
                <a:latin typeface="Times New Roman" pitchFamily="18" charset="0"/>
                <a:cs typeface="Times New Roman" pitchFamily="18" charset="0"/>
              </a:rPr>
              <a:t>Một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khái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niệm</a:t>
            </a:r>
            <a:endParaRPr lang="en-US" sz="2300" b="1" i="1" dirty="0">
              <a:solidFill>
                <a:srgbClr val="0000FF"/>
              </a:solidFill>
              <a:latin typeface="Times New Roman" pitchFamily="18" charset="0"/>
              <a:cs typeface="Times New Roman" pitchFamily="18" charset="0"/>
            </a:endParaRPr>
          </a:p>
          <a:p>
            <a:pPr marL="342900" indent="-342900" algn="just">
              <a:buFontTx/>
              <a:buChar char="-"/>
            </a:pPr>
            <a:r>
              <a:rPr lang="en-US" sz="2400" b="1" i="1" dirty="0" err="1">
                <a:solidFill>
                  <a:srgbClr val="0000FF"/>
                </a:solidFill>
                <a:latin typeface="Times New Roman" pitchFamily="18" charset="0"/>
                <a:cs typeface="Times New Roman" pitchFamily="18" charset="0"/>
              </a:rPr>
              <a:t>Tổng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lợi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ích</a:t>
            </a:r>
            <a:r>
              <a:rPr lang="en-US" sz="2400" b="1" i="1"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(TU – Total Utility)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lòng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mang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marL="342900" indent="-342900" algn="just">
              <a:buFontTx/>
              <a:buChar char="-"/>
            </a:pPr>
            <a:r>
              <a:rPr lang="en-US" sz="2400" b="1" i="1" dirty="0" err="1">
                <a:solidFill>
                  <a:srgbClr val="0000FF"/>
                </a:solidFill>
                <a:latin typeface="Times New Roman" pitchFamily="18" charset="0"/>
                <a:cs typeface="Times New Roman" pitchFamily="18" charset="0"/>
              </a:rPr>
              <a:t>Lợi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cận</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biên</a:t>
            </a:r>
            <a:r>
              <a:rPr lang="en-US" sz="2400" b="1" i="1"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(MU – Marginal Utility)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thêm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a:t>
            </a:r>
            <a:r>
              <a:rPr lang="en-US" sz="2400" i="1" dirty="0">
                <a:solidFill>
                  <a:srgbClr val="0000FF"/>
                </a:solidFill>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Hay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lòng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giảm</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mang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a:t>
            </a:r>
          </a:p>
          <a:p>
            <a:pPr marL="342900" indent="-342900" algn="just">
              <a:buFontTx/>
              <a:buChar char="-"/>
            </a:pP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9781916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52401"/>
            <a:ext cx="8382000" cy="6553200"/>
          </a:xfrm>
        </p:spPr>
        <p:txBody>
          <a:bodyPr>
            <a:noAutofit/>
          </a:bodyPr>
          <a:lstStyle/>
          <a:p>
            <a:pPr algn="just"/>
            <a:r>
              <a:rPr lang="fr-FR" sz="2200" b="1" i="1" dirty="0">
                <a:solidFill>
                  <a:srgbClr val="0000FF"/>
                </a:solidFill>
                <a:latin typeface="Times New Roman" pitchFamily="18" charset="0"/>
                <a:cs typeface="Times New Roman" pitchFamily="18" charset="0"/>
              </a:rPr>
              <a:t>3.1.1. </a:t>
            </a:r>
            <a:r>
              <a:rPr lang="fr-FR" sz="2200" b="1" i="1" dirty="0" err="1">
                <a:solidFill>
                  <a:srgbClr val="0000FF"/>
                </a:solidFill>
                <a:latin typeface="Times New Roman" pitchFamily="18" charset="0"/>
                <a:cs typeface="Times New Roman" pitchFamily="18" charset="0"/>
              </a:rPr>
              <a:t>Một</a:t>
            </a:r>
            <a:r>
              <a:rPr lang="fr-FR" sz="2200" b="1" i="1" dirty="0">
                <a:solidFill>
                  <a:srgbClr val="0000FF"/>
                </a:solidFill>
                <a:latin typeface="Times New Roman" pitchFamily="18" charset="0"/>
                <a:cs typeface="Times New Roman" pitchFamily="18" charset="0"/>
              </a:rPr>
              <a:t> </a:t>
            </a:r>
            <a:r>
              <a:rPr lang="fr-FR" sz="2200" b="1" i="1" dirty="0" err="1">
                <a:solidFill>
                  <a:srgbClr val="0000FF"/>
                </a:solidFill>
                <a:latin typeface="Times New Roman" pitchFamily="18" charset="0"/>
                <a:cs typeface="Times New Roman" pitchFamily="18" charset="0"/>
              </a:rPr>
              <a:t>số</a:t>
            </a:r>
            <a:r>
              <a:rPr lang="fr-FR" sz="2200" b="1" i="1" dirty="0">
                <a:solidFill>
                  <a:srgbClr val="0000FF"/>
                </a:solidFill>
                <a:latin typeface="Times New Roman" pitchFamily="18" charset="0"/>
                <a:cs typeface="Times New Roman" pitchFamily="18" charset="0"/>
              </a:rPr>
              <a:t> </a:t>
            </a:r>
            <a:r>
              <a:rPr lang="fr-FR" sz="2200" b="1" i="1" dirty="0" err="1">
                <a:solidFill>
                  <a:srgbClr val="0000FF"/>
                </a:solidFill>
                <a:latin typeface="Times New Roman" pitchFamily="18" charset="0"/>
                <a:cs typeface="Times New Roman" pitchFamily="18" charset="0"/>
              </a:rPr>
              <a:t>khái</a:t>
            </a:r>
            <a:r>
              <a:rPr lang="fr-FR" sz="2200" b="1" i="1" dirty="0">
                <a:solidFill>
                  <a:srgbClr val="0000FF"/>
                </a:solidFill>
                <a:latin typeface="Times New Roman" pitchFamily="18" charset="0"/>
                <a:cs typeface="Times New Roman" pitchFamily="18" charset="0"/>
              </a:rPr>
              <a:t> </a:t>
            </a:r>
            <a:r>
              <a:rPr lang="fr-FR" sz="2200" b="1" i="1" dirty="0" err="1">
                <a:solidFill>
                  <a:srgbClr val="0000FF"/>
                </a:solidFill>
                <a:latin typeface="Times New Roman" pitchFamily="18" charset="0"/>
                <a:cs typeface="Times New Roman" pitchFamily="18" charset="0"/>
              </a:rPr>
              <a:t>niệm</a:t>
            </a:r>
            <a:endParaRPr lang="en-US" sz="2200" b="1" i="1" dirty="0">
              <a:solidFill>
                <a:srgbClr val="0000FF"/>
              </a:solidFill>
              <a:latin typeface="Times New Roman" pitchFamily="18" charset="0"/>
              <a:cs typeface="Times New Roman" pitchFamily="18" charset="0"/>
            </a:endParaRPr>
          </a:p>
          <a:p>
            <a:pPr algn="just"/>
            <a:r>
              <a:rPr lang="en-US" sz="2200" i="1" dirty="0" err="1">
                <a:solidFill>
                  <a:srgbClr val="0000FF"/>
                </a:solidFill>
                <a:latin typeface="Times New Roman" pitchFamily="18" charset="0"/>
                <a:cs typeface="Times New Roman" pitchFamily="18" charset="0"/>
              </a:rPr>
              <a:t>Ví</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dụ</a:t>
            </a:r>
            <a:r>
              <a:rPr lang="en-US" sz="2200" i="1" dirty="0">
                <a:solidFill>
                  <a:srgbClr val="0000FF"/>
                </a:solidFill>
                <a:latin typeface="Times New Roman" pitchFamily="18" charset="0"/>
                <a:cs typeface="Times New Roman" pitchFamily="18" charset="0"/>
              </a:rPr>
              <a:t>: </a:t>
            </a:r>
            <a:r>
              <a:rPr lang="pt-BR" sz="2200" dirty="0">
                <a:solidFill>
                  <a:srgbClr val="0000FF"/>
                </a:solidFill>
                <a:latin typeface="Times New Roman" pitchFamily="18" charset="0"/>
                <a:cs typeface="Times New Roman" pitchFamily="18" charset="0"/>
              </a:rPr>
              <a:t>TU và MU của người tiêu dùng khi ăn bánh mì que (uống bia)</a:t>
            </a:r>
          </a:p>
          <a:p>
            <a:pPr algn="just"/>
            <a:endParaRPr lang="pt-BR" sz="2200" dirty="0">
              <a:solidFill>
                <a:srgbClr val="0000FF"/>
              </a:solidFill>
              <a:latin typeface="Times New Roman" pitchFamily="18" charset="0"/>
              <a:cs typeface="Times New Roman" pitchFamily="18" charset="0"/>
            </a:endParaRPr>
          </a:p>
          <a:p>
            <a:pPr algn="just"/>
            <a:endParaRPr lang="pt-BR" sz="2200" dirty="0">
              <a:solidFill>
                <a:srgbClr val="0000FF"/>
              </a:solidFill>
              <a:latin typeface="Times New Roman" pitchFamily="18" charset="0"/>
              <a:cs typeface="Times New Roman" pitchFamily="18" charset="0"/>
            </a:endParaRPr>
          </a:p>
          <a:p>
            <a:pPr algn="just"/>
            <a:endParaRPr lang="pt-BR" sz="2200" dirty="0">
              <a:solidFill>
                <a:srgbClr val="0000FF"/>
              </a:solidFill>
              <a:latin typeface="Times New Roman" pitchFamily="18" charset="0"/>
              <a:cs typeface="Times New Roman" pitchFamily="18" charset="0"/>
            </a:endParaRPr>
          </a:p>
          <a:p>
            <a:pPr algn="just"/>
            <a:endParaRPr lang="pt-BR" sz="2200" dirty="0">
              <a:solidFill>
                <a:srgbClr val="0000FF"/>
              </a:solidFill>
              <a:latin typeface="Times New Roman" pitchFamily="18" charset="0"/>
              <a:cs typeface="Times New Roman" pitchFamily="18" charset="0"/>
            </a:endParaRPr>
          </a:p>
          <a:p>
            <a:pPr algn="just"/>
            <a:endParaRPr lang="pt-BR" sz="2200" dirty="0">
              <a:solidFill>
                <a:srgbClr val="0000FF"/>
              </a:solidFill>
              <a:latin typeface="Times New Roman" pitchFamily="18" charset="0"/>
              <a:cs typeface="Times New Roman" pitchFamily="18" charset="0"/>
            </a:endParaRPr>
          </a:p>
          <a:p>
            <a:pPr algn="just"/>
            <a:endParaRPr lang="pt-BR" sz="2200" dirty="0">
              <a:solidFill>
                <a:srgbClr val="0000FF"/>
              </a:solidFill>
              <a:latin typeface="Times New Roman" pitchFamily="18" charset="0"/>
              <a:cs typeface="Times New Roman" pitchFamily="18" charset="0"/>
            </a:endParaRPr>
          </a:p>
          <a:p>
            <a:pPr algn="just"/>
            <a:endParaRPr lang="vi-VN" sz="2200" dirty="0">
              <a:solidFill>
                <a:srgbClr val="0000FF"/>
              </a:solidFill>
              <a:latin typeface="Times New Roman" pitchFamily="18" charset="0"/>
              <a:cs typeface="Times New Roman" pitchFamily="18" charset="0"/>
            </a:endParaRPr>
          </a:p>
          <a:p>
            <a:pPr algn="just"/>
            <a:endParaRPr lang="vi-VN" sz="2200" dirty="0">
              <a:solidFill>
                <a:srgbClr val="0000FF"/>
              </a:solidFill>
              <a:latin typeface="Times New Roman" pitchFamily="18" charset="0"/>
              <a:cs typeface="Times New Roman" pitchFamily="18" charset="0"/>
            </a:endParaRPr>
          </a:p>
          <a:p>
            <a:pPr algn="just"/>
            <a:r>
              <a:rPr lang="en-US" sz="2200" dirty="0" err="1">
                <a:solidFill>
                  <a:srgbClr val="0000FF"/>
                </a:solidFill>
                <a:latin typeface="Times New Roman" pitchFamily="18" charset="0"/>
                <a:cs typeface="Times New Roman" pitchFamily="18" charset="0"/>
              </a:rPr>
              <a:t>Tại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thời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điểm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với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điều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kiện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các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yếu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tố</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khác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không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thay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đổi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tổng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lợi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ích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đặc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điểm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là</a:t>
            </a:r>
            <a:r>
              <a:rPr lang="en-US" sz="2200" dirty="0">
                <a:solidFill>
                  <a:srgbClr val="0000FF"/>
                </a:solidFill>
                <a:latin typeface="Times New Roman" pitchFamily="18" charset="0"/>
                <a:cs typeface="Times New Roman" pitchFamily="18" charset="0"/>
              </a:rPr>
              <a:t> ban </a:t>
            </a:r>
            <a:r>
              <a:rPr lang="en-US" sz="2200" dirty="0" err="1">
                <a:solidFill>
                  <a:srgbClr val="0000FF"/>
                </a:solidFill>
                <a:latin typeface="Times New Roman" pitchFamily="18" charset="0"/>
                <a:cs typeface="Times New Roman" pitchFamily="18" charset="0"/>
              </a:rPr>
              <a:t>đầu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tăng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số</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lượng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phẩm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tiêu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dùng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thì</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tổng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lợi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ích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tăng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lên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đến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lúc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nào</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tổng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lợi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ích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đạt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cực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đại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tại</a:t>
            </a:r>
            <a:r>
              <a:rPr lang="en-US" sz="2200" dirty="0">
                <a:solidFill>
                  <a:srgbClr val="0000FF"/>
                </a:solidFill>
                <a:latin typeface="Times New Roman" pitchFamily="18" charset="0"/>
                <a:cs typeface="Times New Roman" pitchFamily="18" charset="0"/>
              </a:rPr>
              <a:t> ổ bánh </a:t>
            </a:r>
            <a:r>
              <a:rPr lang="en-US" sz="2200" dirty="0" err="1">
                <a:solidFill>
                  <a:srgbClr val="0000FF"/>
                </a:solidFill>
                <a:latin typeface="Times New Roman" pitchFamily="18" charset="0"/>
                <a:cs typeface="Times New Roman" pitchFamily="18" charset="0"/>
              </a:rPr>
              <a:t>mì</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thứ</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tư</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với</a:t>
            </a:r>
            <a:r>
              <a:rPr lang="en-US" sz="2200" dirty="0">
                <a:solidFill>
                  <a:srgbClr val="0000FF"/>
                </a:solidFill>
                <a:latin typeface="Times New Roman" pitchFamily="18" charset="0"/>
                <a:cs typeface="Times New Roman" pitchFamily="18" charset="0"/>
              </a:rPr>
              <a:t> MU = 0), </a:t>
            </a:r>
            <a:r>
              <a:rPr lang="en-US" sz="2200" dirty="0" err="1">
                <a:solidFill>
                  <a:srgbClr val="0000FF"/>
                </a:solidFill>
                <a:latin typeface="Times New Roman" pitchFamily="18" charset="0"/>
                <a:cs typeface="Times New Roman" pitchFamily="18" charset="0"/>
              </a:rPr>
              <a:t>nếu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tiếp</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tục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gia</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tăng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số</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lượng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phẩm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sử</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dụng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thì</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tổng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lợi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ích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thể</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không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đổi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hoặc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sẽ</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giảm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xuống</a:t>
            </a:r>
            <a:r>
              <a:rPr lang="en-US" sz="2200" dirty="0">
                <a:solidFill>
                  <a:srgbClr val="0000FF"/>
                </a:solidFill>
                <a:latin typeface="Times New Roman" pitchFamily="18" charset="0"/>
                <a:cs typeface="Times New Roman" pitchFamily="18" charset="0"/>
              </a:rPr>
              <a:t> (ổ bánh </a:t>
            </a:r>
            <a:r>
              <a:rPr lang="en-US" sz="2200" dirty="0" err="1">
                <a:solidFill>
                  <a:srgbClr val="0000FF"/>
                </a:solidFill>
                <a:latin typeface="Times New Roman" pitchFamily="18" charset="0"/>
                <a:cs typeface="Times New Roman" pitchFamily="18" charset="0"/>
              </a:rPr>
              <a:t>mì</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thứ</a:t>
            </a:r>
            <a:r>
              <a:rPr lang="en-US" sz="2200" dirty="0">
                <a:solidFill>
                  <a:srgbClr val="0000FF"/>
                </a:solidFill>
                <a:latin typeface="Times New Roman" pitchFamily="18" charset="0"/>
                <a:cs typeface="Times New Roman" pitchFamily="18" charset="0"/>
              </a:rPr>
              <a:t> 5 </a:t>
            </a:r>
            <a:r>
              <a:rPr lang="en-US" sz="2200" dirty="0" err="1">
                <a:solidFill>
                  <a:srgbClr val="0000FF"/>
                </a:solidFill>
                <a:latin typeface="Times New Roman" pitchFamily="18" charset="0"/>
                <a:cs typeface="Times New Roman" pitchFamily="18" charset="0"/>
              </a:rPr>
              <a:t>và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thứ</a:t>
            </a:r>
            <a:r>
              <a:rPr lang="en-US" sz="2200" dirty="0">
                <a:solidFill>
                  <a:srgbClr val="0000FF"/>
                </a:solidFill>
                <a:latin typeface="Times New Roman" pitchFamily="18" charset="0"/>
                <a:cs typeface="Times New Roman" pitchFamily="18" charset="0"/>
              </a:rPr>
              <a:t> 6) do </a:t>
            </a:r>
            <a:r>
              <a:rPr lang="en-US" sz="2200" dirty="0" err="1">
                <a:solidFill>
                  <a:srgbClr val="0000FF"/>
                </a:solidFill>
                <a:latin typeface="Times New Roman" pitchFamily="18" charset="0"/>
                <a:cs typeface="Times New Roman" pitchFamily="18" charset="0"/>
              </a:rPr>
              <a:t>quy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luật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lợi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ích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cận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biên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giảm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dần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lợi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ích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cận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biên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thể</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âm</a:t>
            </a:r>
            <a:r>
              <a:rPr lang="en-US" sz="2200" dirty="0">
                <a:solidFill>
                  <a:srgbClr val="0000FF"/>
                </a:solidFill>
                <a:latin typeface="Times New Roman" pitchFamily="18" charset="0"/>
                <a:cs typeface="Times New Roman" pitchFamily="18" charset="0"/>
              </a:rPr>
              <a:t>.</a:t>
            </a:r>
          </a:p>
        </p:txBody>
      </p:sp>
      <p:pic>
        <p:nvPicPr>
          <p:cNvPr id="3379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2400" y="1066800"/>
            <a:ext cx="8763000" cy="320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529408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52401"/>
            <a:ext cx="8153400" cy="6553200"/>
          </a:xfrm>
        </p:spPr>
        <p:txBody>
          <a:bodyPr>
            <a:noAutofit/>
          </a:bodyPr>
          <a:lstStyle/>
          <a:p>
            <a:pPr algn="just"/>
            <a:r>
              <a:rPr lang="en-US" sz="2300" b="1" dirty="0">
                <a:solidFill>
                  <a:srgbClr val="0000FF"/>
                </a:solidFill>
                <a:latin typeface="Times New Roman" pitchFamily="18" charset="0"/>
                <a:cs typeface="Times New Roman" pitchFamily="18" charset="0"/>
              </a:rPr>
              <a:t>3.1. </a:t>
            </a:r>
            <a:r>
              <a:rPr lang="en-US" sz="2300" b="1" dirty="0" err="1">
                <a:solidFill>
                  <a:srgbClr val="0000FF"/>
                </a:solidFill>
                <a:latin typeface="Times New Roman" pitchFamily="18" charset="0"/>
                <a:cs typeface="Times New Roman" pitchFamily="18" charset="0"/>
              </a:rPr>
              <a:t>Lý</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lợi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ích</a:t>
            </a:r>
            <a:endParaRPr lang="en-US" sz="23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3.1.2. </a:t>
            </a:r>
            <a:r>
              <a:rPr lang="fr-FR" sz="2400" b="1" i="1" dirty="0" err="1">
                <a:solidFill>
                  <a:srgbClr val="0000FF"/>
                </a:solidFill>
                <a:latin typeface="Times New Roman" pitchFamily="18" charset="0"/>
                <a:cs typeface="Times New Roman" pitchFamily="18" charset="0"/>
              </a:rPr>
              <a:t>Quy</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luật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lợi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ích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cận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biên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giảm</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dần</a:t>
            </a:r>
            <a:endParaRPr lang="fr-FR" sz="2400" b="1" i="1" dirty="0">
              <a:solidFill>
                <a:srgbClr val="0000FF"/>
              </a:solidFill>
              <a:latin typeface="Times New Roman" pitchFamily="18" charset="0"/>
              <a:cs typeface="Times New Roman" pitchFamily="18" charset="0"/>
            </a:endParaRPr>
          </a:p>
          <a:p>
            <a:pPr algn="just"/>
            <a:r>
              <a:rPr lang="vi-VN"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Lợi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ích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cận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biên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của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một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có</a:t>
            </a:r>
            <a:r>
              <a:rPr lang="en-US" sz="2400" i="1" dirty="0">
                <a:solidFill>
                  <a:srgbClr val="0000FF"/>
                </a:solidFill>
                <a:latin typeface="Times New Roman" pitchFamily="18" charset="0"/>
                <a:cs typeface="Times New Roman" pitchFamily="18" charset="0"/>
              </a:rPr>
              <a:t> xu </a:t>
            </a:r>
            <a:r>
              <a:rPr lang="en-US" sz="2400" i="1" dirty="0" err="1">
                <a:solidFill>
                  <a:srgbClr val="0000FF"/>
                </a:solidFill>
                <a:latin typeface="Times New Roman" pitchFamily="18" charset="0"/>
                <a:cs typeface="Times New Roman" pitchFamily="18" charset="0"/>
              </a:rPr>
              <a:t>hướng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giảm</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số</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lượng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mặt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được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nhiều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trong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một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gian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định</a:t>
            </a:r>
            <a:r>
              <a:rPr lang="en-US" sz="2400" i="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Khi ta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chậm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dần</a:t>
            </a:r>
            <a:r>
              <a:rPr lang="en-US" sz="2400" dirty="0">
                <a:solidFill>
                  <a:srgbClr val="0000FF"/>
                </a:solidFill>
                <a:latin typeface="Times New Roman" pitchFamily="18" charset="0"/>
                <a:cs typeface="Times New Roman" pitchFamily="18" charset="0"/>
              </a:rPr>
              <a:t> do chi </a:t>
            </a:r>
            <a:r>
              <a:rPr lang="en-US" sz="2400" dirty="0" err="1">
                <a:solidFill>
                  <a:srgbClr val="0000FF"/>
                </a:solidFill>
                <a:latin typeface="Times New Roman" pitchFamily="18" charset="0"/>
                <a:cs typeface="Times New Roman" pitchFamily="18" charset="0"/>
              </a:rPr>
              <a:t>phối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bởi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dần</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tiếp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0,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thêm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xuống</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44866339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0CFCC5A7-9C7F-3543-577E-7B3E4CD98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3895725"/>
            <a:ext cx="8534400" cy="2962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a:spLocks noGrp="1" noChangeArrowheads="1"/>
          </p:cNvSpPr>
          <p:nvPr>
            <p:ph type="subTitle" idx="1"/>
          </p:nvPr>
        </p:nvSpPr>
        <p:spPr>
          <a:xfrm>
            <a:off x="457200" y="152401"/>
            <a:ext cx="8153400" cy="6553200"/>
          </a:xfrm>
        </p:spPr>
        <p:txBody>
          <a:bodyPr>
            <a:noAutofit/>
          </a:bodyPr>
          <a:lstStyle/>
          <a:p>
            <a:pPr algn="just"/>
            <a:r>
              <a:rPr lang="en-US" sz="2300" b="1" dirty="0">
                <a:solidFill>
                  <a:srgbClr val="0000FF"/>
                </a:solidFill>
                <a:latin typeface="Times New Roman" pitchFamily="18" charset="0"/>
                <a:cs typeface="Times New Roman" pitchFamily="18" charset="0"/>
              </a:rPr>
              <a:t>3.1. </a:t>
            </a:r>
            <a:r>
              <a:rPr lang="en-US" sz="2300" b="1" dirty="0" err="1">
                <a:solidFill>
                  <a:srgbClr val="0000FF"/>
                </a:solidFill>
                <a:latin typeface="Times New Roman" pitchFamily="18" charset="0"/>
                <a:cs typeface="Times New Roman" pitchFamily="18" charset="0"/>
              </a:rPr>
              <a:t>Lý</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lợi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ích</a:t>
            </a:r>
            <a:endParaRPr lang="en-US" sz="23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3.1.4. </a:t>
            </a:r>
            <a:r>
              <a:rPr lang="fr-FR" sz="2400" b="1" i="1" dirty="0" err="1">
                <a:solidFill>
                  <a:srgbClr val="0000FF"/>
                </a:solidFill>
                <a:latin typeface="Times New Roman" pitchFamily="18" charset="0"/>
                <a:cs typeface="Times New Roman" pitchFamily="18" charset="0"/>
              </a:rPr>
              <a:t>Thặng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dư</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tiêu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dùng</a:t>
            </a:r>
            <a:r>
              <a:rPr lang="fr-FR" sz="2400" b="1" i="1" dirty="0">
                <a:solidFill>
                  <a:srgbClr val="0000FF"/>
                </a:solidFill>
                <a:latin typeface="Times New Roman" pitchFamily="18" charset="0"/>
                <a:cs typeface="Times New Roman" pitchFamily="18" charset="0"/>
              </a:rPr>
              <a:t> (CS – Consumer Surplus)</a:t>
            </a:r>
            <a:endParaRPr lang="en-US" sz="2400" b="1"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Thặng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khái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niệm</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ánh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sự</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chênh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lệch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giữa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lợi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ích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của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một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nào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đó</a:t>
            </a:r>
            <a:r>
              <a:rPr lang="en-US" sz="2400" i="1" dirty="0">
                <a:solidFill>
                  <a:srgbClr val="0000FF"/>
                </a:solidFill>
                <a:latin typeface="Times New Roman" pitchFamily="18" charset="0"/>
                <a:cs typeface="Times New Roman" pitchFamily="18" charset="0"/>
              </a:rPr>
              <a:t> (MU) </a:t>
            </a:r>
            <a:r>
              <a:rPr lang="en-US" sz="2400" i="1" dirty="0" err="1">
                <a:solidFill>
                  <a:srgbClr val="0000FF"/>
                </a:solidFill>
                <a:latin typeface="Times New Roman" pitchFamily="18" charset="0"/>
                <a:cs typeface="Times New Roman" pitchFamily="18" charset="0"/>
              </a:rPr>
              <a:t>với</a:t>
            </a:r>
            <a:r>
              <a:rPr lang="en-US" sz="2400" i="1" dirty="0">
                <a:solidFill>
                  <a:srgbClr val="0000FF"/>
                </a:solidFill>
                <a:latin typeface="Times New Roman" pitchFamily="18" charset="0"/>
                <a:cs typeface="Times New Roman" pitchFamily="18" charset="0"/>
              </a:rPr>
              <a:t> chi </a:t>
            </a:r>
            <a:r>
              <a:rPr lang="en-US" sz="2400" i="1" dirty="0" err="1">
                <a:solidFill>
                  <a:srgbClr val="0000FF"/>
                </a:solidFill>
                <a:latin typeface="Times New Roman" pitchFamily="18" charset="0"/>
                <a:cs typeface="Times New Roman" pitchFamily="18" charset="0"/>
              </a:rPr>
              <a:t>phí</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thực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tế</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để</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được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lợi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ích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đó</a:t>
            </a:r>
            <a:r>
              <a:rPr lang="en-US" sz="2400" i="1" dirty="0">
                <a:solidFill>
                  <a:srgbClr val="0000FF"/>
                </a:solidFill>
                <a:latin typeface="Times New Roman" pitchFamily="18" charset="0"/>
                <a:cs typeface="Times New Roman" pitchFamily="18" charset="0"/>
              </a:rPr>
              <a:t> (MC).</a:t>
            </a:r>
            <a:endParaRPr lang="vi-VN" sz="2400" i="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Thặng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nhân</a:t>
            </a:r>
            <a:r>
              <a:rPr lang="en-US" sz="2400" i="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dưới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MU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a:t>
            </a: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Thặng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các </a:t>
            </a:r>
            <a:r>
              <a:rPr lang="en-US" sz="2400" dirty="0">
                <a:solidFill>
                  <a:srgbClr val="0000FF"/>
                </a:solidFill>
                <a:latin typeface="Times New Roman" pitchFamily="18" charset="0"/>
                <a:cs typeface="Times New Roman" pitchFamily="18" charset="0"/>
              </a:rPr>
              <a:t>TDTD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nhân,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dưới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9802433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52401"/>
            <a:ext cx="8305800" cy="6553200"/>
          </a:xfrm>
        </p:spPr>
        <p:txBody>
          <a:bodyPr>
            <a:noAutofit/>
          </a:bodyPr>
          <a:lstStyle/>
          <a:p>
            <a:pPr algn="just"/>
            <a:r>
              <a:rPr lang="en-US" sz="2400" b="1" dirty="0">
                <a:solidFill>
                  <a:srgbClr val="0000FF"/>
                </a:solidFill>
                <a:latin typeface="Times New Roman" pitchFamily="18" charset="0"/>
                <a:cs typeface="Times New Roman" pitchFamily="18" charset="0"/>
              </a:rPr>
              <a:t>3.2. </a:t>
            </a:r>
            <a:r>
              <a:rPr lang="en-US" sz="2400" b="1" dirty="0" err="1">
                <a:solidFill>
                  <a:srgbClr val="0000FF"/>
                </a:solidFill>
                <a:latin typeface="Times New Roman" pitchFamily="18" charset="0"/>
                <a:cs typeface="Times New Roman" pitchFamily="18" charset="0"/>
              </a:rPr>
              <a:t>Lựa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chọn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tiêu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dùng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ưu</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=&gt;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ưu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căn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cứ</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thông</a:t>
            </a:r>
            <a:r>
              <a:rPr lang="en-US" sz="2400" dirty="0">
                <a:solidFill>
                  <a:srgbClr val="0000FF"/>
                </a:solidFill>
                <a:latin typeface="Times New Roman" pitchFamily="18" charset="0"/>
                <a:cs typeface="Times New Roman" pitchFamily="18" charset="0"/>
              </a:rPr>
              <a:t> qua </a:t>
            </a:r>
            <a:r>
              <a:rPr lang="en-US" sz="2400" dirty="0" err="1">
                <a:solidFill>
                  <a:srgbClr val="0000FF"/>
                </a:solidFill>
                <a:latin typeface="Times New Roman" pitchFamily="18" charset="0"/>
                <a:cs typeface="Times New Roman" pitchFamily="18" charset="0"/>
              </a:rPr>
              <a:t>hai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tố</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chủ</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quan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quan</a:t>
            </a:r>
            <a:r>
              <a:rPr lang="en-US" sz="2400" dirty="0">
                <a:solidFill>
                  <a:srgbClr val="0000FF"/>
                </a:solidFill>
                <a:latin typeface="Times New Roman" pitchFamily="18" charset="0"/>
                <a:cs typeface="Times New Roman" pitchFamily="18" charset="0"/>
              </a:rPr>
              <a:t>/</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đẳng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a:t>
            </a: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tố</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khách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quan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sách</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9806234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229600" cy="6553200"/>
          </a:xfrm>
        </p:spPr>
        <p:txBody>
          <a:bodyPr>
            <a:noAutofit/>
          </a:bodyPr>
          <a:lstStyle/>
          <a:p>
            <a:pPr algn="just"/>
            <a:r>
              <a:rPr lang="fr-FR" sz="2400" b="1" i="1" dirty="0">
                <a:solidFill>
                  <a:srgbClr val="0000FF"/>
                </a:solidFill>
                <a:latin typeface="Times New Roman" pitchFamily="18" charset="0"/>
                <a:cs typeface="Times New Roman" pitchFamily="18" charset="0"/>
              </a:rPr>
              <a:t>3.2.2. </a:t>
            </a:r>
            <a:r>
              <a:rPr lang="fr-FR" sz="2400" b="1" i="1" dirty="0" err="1">
                <a:solidFill>
                  <a:srgbClr val="0000FF"/>
                </a:solidFill>
                <a:latin typeface="Times New Roman" pitchFamily="18" charset="0"/>
                <a:cs typeface="Times New Roman" pitchFamily="18" charset="0"/>
              </a:rPr>
              <a:t>Phân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tích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tiêu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dùng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hình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học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bài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toán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liên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tục</a:t>
            </a:r>
            <a:r>
              <a:rPr lang="fr-FR" sz="2400" b="1" i="1" dirty="0">
                <a:solidFill>
                  <a:srgbClr val="0000FF"/>
                </a:solidFill>
                <a:latin typeface="Times New Roman" pitchFamily="18" charset="0"/>
                <a:cs typeface="Times New Roman" pitchFamily="18" charset="0"/>
              </a:rPr>
              <a:t>)</a:t>
            </a:r>
            <a:endParaRPr lang="en-US" sz="2400" b="1" i="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3.2.2.1. </a:t>
            </a:r>
            <a:r>
              <a:rPr lang="en-US" sz="2400" b="1" i="1" dirty="0" err="1">
                <a:solidFill>
                  <a:srgbClr val="0000FF"/>
                </a:solidFill>
                <a:latin typeface="Times New Roman" pitchFamily="18" charset="0"/>
                <a:cs typeface="Times New Roman" pitchFamily="18" charset="0"/>
              </a:rPr>
              <a:t>Sở</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endParaRPr lang="en-US" sz="2400" b="1" i="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TD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a:t>
            </a: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giống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tâm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quen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sống</a:t>
            </a:r>
            <a:r>
              <a:rPr lang="en-US" sz="2400" dirty="0">
                <a:solidFill>
                  <a:srgbClr val="0000FF"/>
                </a:solidFill>
                <a:latin typeface="Times New Roman" pitchFamily="18" charset="0"/>
                <a:cs typeface="Times New Roman" pitchFamily="18" charset="0"/>
              </a:rPr>
              <a:t>, …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Những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giả</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định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cơ</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bản</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về</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hành</a:t>
            </a:r>
            <a:r>
              <a:rPr lang="en-US" sz="2400" b="1" i="1" dirty="0">
                <a:solidFill>
                  <a:srgbClr val="0000FF"/>
                </a:solidFill>
                <a:latin typeface="Times New Roman" pitchFamily="18" charset="0"/>
                <a:cs typeface="Times New Roman" pitchFamily="18" charset="0"/>
              </a:rPr>
              <a:t> vi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endParaRPr lang="en-US" sz="2400"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Tính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có</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thể</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sắp</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xếp</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theo</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trật</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tự</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sở</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trước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chúng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28595009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52401"/>
            <a:ext cx="8382000" cy="6553200"/>
          </a:xfrm>
        </p:spPr>
        <p:txBody>
          <a:bodyPr>
            <a:noAutofit/>
          </a:bodyPr>
          <a:lstStyle/>
          <a:p>
            <a:pPr algn="just"/>
            <a:r>
              <a:rPr lang="fr-FR" sz="2400" b="1" i="1" dirty="0">
                <a:solidFill>
                  <a:srgbClr val="0000FF"/>
                </a:solidFill>
                <a:latin typeface="Times New Roman" pitchFamily="18" charset="0"/>
                <a:cs typeface="Times New Roman" pitchFamily="18" charset="0"/>
              </a:rPr>
              <a:t>3.2.2. </a:t>
            </a:r>
            <a:r>
              <a:rPr lang="fr-FR" sz="2400" b="1" i="1" dirty="0" err="1">
                <a:solidFill>
                  <a:srgbClr val="0000FF"/>
                </a:solidFill>
                <a:latin typeface="Times New Roman" pitchFamily="18" charset="0"/>
                <a:cs typeface="Times New Roman" pitchFamily="18" charset="0"/>
              </a:rPr>
              <a:t>Phân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tích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tiêu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dùng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hình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học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bài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toán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liên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tục</a:t>
            </a:r>
            <a:r>
              <a:rPr lang="fr-FR" sz="2400" b="1" i="1" dirty="0">
                <a:solidFill>
                  <a:srgbClr val="0000FF"/>
                </a:solidFill>
                <a:latin typeface="Times New Roman" pitchFamily="18" charset="0"/>
                <a:cs typeface="Times New Roman" pitchFamily="18" charset="0"/>
              </a:rPr>
              <a:t>)</a:t>
            </a:r>
            <a:endParaRPr lang="en-US" sz="2400" b="1" i="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3.2.2.1. </a:t>
            </a:r>
            <a:r>
              <a:rPr lang="en-US" sz="2400" b="1" i="1" dirty="0" err="1">
                <a:solidFill>
                  <a:srgbClr val="0000FF"/>
                </a:solidFill>
                <a:latin typeface="Times New Roman" pitchFamily="18" charset="0"/>
                <a:cs typeface="Times New Roman" pitchFamily="18" charset="0"/>
              </a:rPr>
              <a:t>Sở</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endParaRPr lang="en-US" sz="2400" b="1" i="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Tính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bắc</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cầu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sở</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B,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B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C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C.</a:t>
            </a:r>
          </a:p>
          <a:p>
            <a:pPr algn="just"/>
            <a:r>
              <a:rPr lang="vi-VN"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bị</a:t>
            </a:r>
            <a:r>
              <a:rPr lang="en-US" sz="2400" dirty="0">
                <a:solidFill>
                  <a:srgbClr val="0000FF"/>
                </a:solidFill>
                <a:latin typeface="Times New Roman" pitchFamily="18" charset="0"/>
                <a:cs typeface="Times New Roman" pitchFamily="18" charset="0"/>
              </a:rPr>
              <a:t> vi </a:t>
            </a:r>
            <a:r>
              <a:rPr lang="en-US" sz="2400" dirty="0" err="1">
                <a:solidFill>
                  <a:srgbClr val="0000FF"/>
                </a:solidFill>
                <a:latin typeface="Times New Roman" pitchFamily="18" charset="0"/>
                <a:cs typeface="Times New Roman" pitchFamily="18" charset="0"/>
              </a:rPr>
              <a:t>phạm</a:t>
            </a:r>
            <a:r>
              <a:rPr lang="en-US" sz="2400"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7192219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152401"/>
            <a:ext cx="8305800" cy="6553200"/>
          </a:xfrm>
        </p:spPr>
        <p:txBody>
          <a:bodyPr>
            <a:noAutofit/>
          </a:bodyPr>
          <a:lstStyle/>
          <a:p>
            <a:pPr algn="just"/>
            <a:r>
              <a:rPr lang="fr-FR" sz="2400" b="1" i="1" dirty="0">
                <a:solidFill>
                  <a:srgbClr val="0000FF"/>
                </a:solidFill>
                <a:latin typeface="Times New Roman" pitchFamily="18" charset="0"/>
                <a:cs typeface="Times New Roman" pitchFamily="18" charset="0"/>
              </a:rPr>
              <a:t>3.2.2. </a:t>
            </a:r>
            <a:r>
              <a:rPr lang="fr-FR" sz="2400" b="1" i="1" dirty="0" err="1">
                <a:solidFill>
                  <a:srgbClr val="0000FF"/>
                </a:solidFill>
                <a:latin typeface="Times New Roman" pitchFamily="18" charset="0"/>
                <a:cs typeface="Times New Roman" pitchFamily="18" charset="0"/>
              </a:rPr>
              <a:t>Phân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tích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tiêu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dùng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hình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học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bài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toán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liên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tục</a:t>
            </a:r>
            <a:r>
              <a:rPr lang="fr-FR" sz="2400" b="1" i="1" dirty="0">
                <a:solidFill>
                  <a:srgbClr val="0000FF"/>
                </a:solidFill>
                <a:latin typeface="Times New Roman" pitchFamily="18" charset="0"/>
                <a:cs typeface="Times New Roman" pitchFamily="18" charset="0"/>
              </a:rPr>
              <a:t>)</a:t>
            </a:r>
            <a:endParaRPr lang="en-US" sz="2400" b="1" i="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3.2.2.1. </a:t>
            </a:r>
            <a:r>
              <a:rPr lang="en-US" sz="2400" b="1" i="1" dirty="0" err="1">
                <a:solidFill>
                  <a:srgbClr val="0000FF"/>
                </a:solidFill>
                <a:latin typeface="Times New Roman" pitchFamily="18" charset="0"/>
                <a:cs typeface="Times New Roman" pitchFamily="18" charset="0"/>
              </a:rPr>
              <a:t>Sở</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endParaRPr lang="en-US" sz="24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nhiều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hơn</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ít</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Giả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hàm</a:t>
            </a:r>
            <a:r>
              <a:rPr lang="en-US" sz="2400" dirty="0">
                <a:solidFill>
                  <a:srgbClr val="0000FF"/>
                </a:solidFill>
                <a:latin typeface="Times New Roman" pitchFamily="18" charset="0"/>
                <a:cs typeface="Times New Roman" pitchFamily="18" charset="0"/>
              </a:rPr>
              <a:t> ý </a:t>
            </a:r>
            <a:r>
              <a:rPr lang="en-US" sz="2400" dirty="0" err="1">
                <a:solidFill>
                  <a:srgbClr val="0000FF"/>
                </a:solidFill>
                <a:latin typeface="Times New Roman" pitchFamily="18" charset="0"/>
                <a:cs typeface="Times New Roman" pitchFamily="18" charset="0"/>
              </a:rPr>
              <a:t>rằng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B,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x</a:t>
            </a:r>
            <a:r>
              <a:rPr lang="en-US" sz="2400" dirty="0">
                <a:solidFill>
                  <a:srgbClr val="0000FF"/>
                </a:solidFill>
                <a:latin typeface="Times New Roman" pitchFamily="18" charset="0"/>
                <a:cs typeface="Times New Roman" pitchFamily="18" charset="0"/>
              </a:rPr>
              <a:t>1;</a:t>
            </a:r>
            <a:r>
              <a:rPr lang="en-US" sz="2400" i="1" dirty="0">
                <a:solidFill>
                  <a:srgbClr val="0000FF"/>
                </a:solidFill>
                <a:latin typeface="Times New Roman" pitchFamily="18" charset="0"/>
                <a:cs typeface="Times New Roman" pitchFamily="18" charset="0"/>
              </a:rPr>
              <a:t>y</a:t>
            </a:r>
            <a:r>
              <a:rPr lang="en-US" sz="2400" dirty="0">
                <a:solidFill>
                  <a:srgbClr val="0000FF"/>
                </a:solidFill>
                <a:latin typeface="Times New Roman" pitchFamily="18" charset="0"/>
                <a:cs typeface="Times New Roman" pitchFamily="18" charset="0"/>
              </a:rPr>
              <a:t>1)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B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x</a:t>
            </a:r>
            <a:r>
              <a:rPr lang="en-US" sz="2400" dirty="0">
                <a:solidFill>
                  <a:srgbClr val="0000FF"/>
                </a:solidFill>
                <a:latin typeface="Times New Roman" pitchFamily="18" charset="0"/>
                <a:cs typeface="Times New Roman" pitchFamily="18" charset="0"/>
              </a:rPr>
              <a:t>2;</a:t>
            </a:r>
            <a:r>
              <a:rPr lang="en-US" sz="2400" i="1" dirty="0">
                <a:solidFill>
                  <a:srgbClr val="0000FF"/>
                </a:solidFill>
                <a:latin typeface="Times New Roman" pitchFamily="18" charset="0"/>
                <a:cs typeface="Times New Roman" pitchFamily="18" charset="0"/>
              </a:rPr>
              <a:t>y</a:t>
            </a:r>
            <a:r>
              <a:rPr lang="en-US" sz="2400" dirty="0">
                <a:solidFill>
                  <a:srgbClr val="0000FF"/>
                </a:solidFill>
                <a:latin typeface="Times New Roman" pitchFamily="18" charset="0"/>
                <a:cs typeface="Times New Roman" pitchFamily="18" charset="0"/>
              </a:rPr>
              <a:t>1)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x</a:t>
            </a:r>
            <a:r>
              <a:rPr lang="en-US" sz="2400" dirty="0">
                <a:solidFill>
                  <a:srgbClr val="0000FF"/>
                </a:solidFill>
                <a:latin typeface="Times New Roman" pitchFamily="18" charset="0"/>
                <a:cs typeface="Times New Roman" pitchFamily="18" charset="0"/>
              </a:rPr>
              <a:t>1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i="1" dirty="0">
                <a:solidFill>
                  <a:srgbClr val="0000FF"/>
                </a:solidFill>
                <a:latin typeface="Times New Roman" pitchFamily="18" charset="0"/>
                <a:cs typeface="Times New Roman" pitchFamily="18" charset="0"/>
              </a:rPr>
              <a:t>x</a:t>
            </a:r>
            <a:r>
              <a:rPr lang="en-US" sz="2400" dirty="0">
                <a:solidFill>
                  <a:srgbClr val="0000FF"/>
                </a:solidFill>
                <a:latin typeface="Times New Roman" pitchFamily="18" charset="0"/>
                <a:cs typeface="Times New Roman" pitchFamily="18" charset="0"/>
              </a:rPr>
              <a:t>2,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B.</a:t>
            </a:r>
            <a:endParaRPr lang="vi-VN"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Giả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xem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X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hàng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hóa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hữu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ích</a:t>
            </a:r>
            <a:r>
              <a:rPr lang="en-US" sz="2400" b="1" i="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Tuy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ngay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chúng</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đề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hữu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lúc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tốt</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Trong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khổ</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Ở </a:t>
            </a:r>
            <a:r>
              <a:rPr lang="en-US" sz="2400" dirty="0" err="1">
                <a:solidFill>
                  <a:srgbClr val="0000FF"/>
                </a:solidFill>
                <a:latin typeface="Times New Roman" pitchFamily="18" charset="0"/>
                <a:cs typeface="Times New Roman" pitchFamily="18" charset="0"/>
              </a:rPr>
              <a:t>đây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mặt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b="1" i="1" dirty="0">
                <a:solidFill>
                  <a:srgbClr val="0000FF"/>
                </a:solidFill>
                <a:latin typeface="Times New Roman" pitchFamily="18" charset="0"/>
                <a:cs typeface="Times New Roman" pitchFamily="18" charset="0"/>
              </a:rPr>
              <a:t>khan </a:t>
            </a:r>
            <a:r>
              <a:rPr lang="en-US" sz="2400" b="1" i="1"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hữu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coi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845481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533400" y="152401"/>
            <a:ext cx="8153400" cy="6553200"/>
          </a:xfrm>
        </p:spPr>
        <p:txBody>
          <a:bodyPr>
            <a:noAutofit/>
          </a:bodyPr>
          <a:lstStyle/>
          <a:p>
            <a:pPr algn="just"/>
            <a:r>
              <a:rPr lang="fr-FR" sz="2400" b="1" i="1" dirty="0">
                <a:solidFill>
                  <a:srgbClr val="0000FF"/>
                </a:solidFill>
                <a:latin typeface="Times New Roman" pitchFamily="18" charset="0"/>
                <a:cs typeface="Times New Roman" pitchFamily="18" charset="0"/>
              </a:rPr>
              <a:t>3.2.2. </a:t>
            </a:r>
            <a:r>
              <a:rPr lang="fr-FR" sz="2400" b="1" i="1" dirty="0" err="1">
                <a:solidFill>
                  <a:srgbClr val="0000FF"/>
                </a:solidFill>
                <a:latin typeface="Times New Roman" pitchFamily="18" charset="0"/>
                <a:cs typeface="Times New Roman" pitchFamily="18" charset="0"/>
              </a:rPr>
              <a:t>Phân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tích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tiêu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dùng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hình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học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bài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toán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liên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tục</a:t>
            </a:r>
            <a:r>
              <a:rPr lang="fr-FR" sz="2400" b="1" i="1" dirty="0">
                <a:solidFill>
                  <a:srgbClr val="0000FF"/>
                </a:solidFill>
                <a:latin typeface="Times New Roman" pitchFamily="18" charset="0"/>
                <a:cs typeface="Times New Roman" pitchFamily="18" charset="0"/>
              </a:rPr>
              <a:t>)</a:t>
            </a:r>
            <a:endParaRPr lang="en-US" sz="2400" b="1" i="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3.2.2.1. </a:t>
            </a:r>
            <a:r>
              <a:rPr lang="en-US" sz="2400" b="1" i="1" dirty="0" err="1">
                <a:solidFill>
                  <a:srgbClr val="0000FF"/>
                </a:solidFill>
                <a:latin typeface="Times New Roman" pitchFamily="18" charset="0"/>
                <a:cs typeface="Times New Roman" pitchFamily="18" charset="0"/>
              </a:rPr>
              <a:t>Sở</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của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endParaRPr lang="en-US" sz="2400" b="1" i="1" dirty="0">
              <a:solidFill>
                <a:srgbClr val="0000FF"/>
              </a:solidFill>
              <a:latin typeface="Times New Roman" pitchFamily="18" charset="0"/>
              <a:cs typeface="Times New Roman" pitchFamily="18" charset="0"/>
            </a:endParaRPr>
          </a:p>
          <a:p>
            <a:pPr algn="just"/>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Người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dùng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muốn</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tối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hóa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lợi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ích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độ</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thỏa</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dụng</a:t>
            </a:r>
            <a:r>
              <a:rPr lang="en-US" sz="2400" b="1" i="1" dirty="0">
                <a:solidFill>
                  <a:srgbClr val="0000FF"/>
                </a:solidFill>
                <a:latin typeface="Times New Roman" pitchFamily="18" charset="0"/>
                <a:cs typeface="Times New Roman" pitchFamily="18" charset="0"/>
              </a:rPr>
              <a:t>)</a:t>
            </a:r>
            <a:endParaRPr lang="en-US" sz="2400" b="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Khi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so </a:t>
            </a:r>
            <a:r>
              <a:rPr lang="en-US" sz="2400" dirty="0" err="1">
                <a:solidFill>
                  <a:srgbClr val="0000FF"/>
                </a:solidFill>
                <a:latin typeface="Times New Roman" pitchFamily="18" charset="0"/>
                <a:cs typeface="Times New Roman" pitchFamily="18" charset="0"/>
              </a:rPr>
              <a:t>sánh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so </a:t>
            </a:r>
            <a:r>
              <a:rPr lang="en-US" sz="2400" dirty="0" err="1">
                <a:solidFill>
                  <a:srgbClr val="0000FF"/>
                </a:solidFill>
                <a:latin typeface="Times New Roman" pitchFamily="18" charset="0"/>
                <a:cs typeface="Times New Roman" pitchFamily="18" charset="0"/>
              </a:rPr>
              <a:t>sánh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thước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thứ</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sắp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theo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thứ</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ngược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p>
          <a:p>
            <a:pPr algn="just"/>
            <a:r>
              <a:rPr lang="vi-VN" sz="2400" dirty="0">
                <a:solidFill>
                  <a:srgbClr val="0000FF"/>
                </a:solidFill>
                <a:latin typeface="Times New Roman" pitchFamily="18" charset="0"/>
                <a:cs typeface="Times New Roman" pitchFamily="18" charset="0"/>
              </a:rPr>
              <a:t>	</a:t>
            </a:r>
            <a:r>
              <a:rPr lang="en-US" sz="2400" dirty="0">
                <a:solidFill>
                  <a:srgbClr val="0000FF"/>
                </a:solidFill>
                <a:latin typeface="Times New Roman" pitchFamily="18" charset="0"/>
                <a:cs typeface="Times New Roman" pitchFamily="18" charset="0"/>
              </a:rPr>
              <a:t>Thông </a:t>
            </a:r>
            <a:r>
              <a:rPr lang="en-US" sz="2400" dirty="0" err="1">
                <a:solidFill>
                  <a:srgbClr val="0000FF"/>
                </a:solidFill>
                <a:latin typeface="Times New Roman" pitchFamily="18" charset="0"/>
                <a:cs typeface="Times New Roman" pitchFamily="18" charset="0"/>
              </a:rPr>
              <a:t>thường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tìm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ràng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buộc</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nhất</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lòng</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8560532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52401"/>
            <a:ext cx="8305800" cy="6553200"/>
          </a:xfrm>
        </p:spPr>
        <p:txBody>
          <a:bodyPr>
            <a:noAutofit/>
          </a:bodyPr>
          <a:lstStyle/>
          <a:p>
            <a:pPr algn="just"/>
            <a:r>
              <a:rPr lang="fr-FR" sz="2300" b="1" i="1" dirty="0">
                <a:solidFill>
                  <a:srgbClr val="0000FF"/>
                </a:solidFill>
                <a:latin typeface="Times New Roman" pitchFamily="18" charset="0"/>
                <a:cs typeface="Times New Roman" pitchFamily="18" charset="0"/>
              </a:rPr>
              <a:t>3.2.2. </a:t>
            </a:r>
            <a:r>
              <a:rPr lang="fr-FR" sz="2300" b="1" i="1" dirty="0" err="1">
                <a:solidFill>
                  <a:srgbClr val="0000FF"/>
                </a:solidFill>
                <a:latin typeface="Times New Roman" pitchFamily="18" charset="0"/>
                <a:cs typeface="Times New Roman" pitchFamily="18" charset="0"/>
              </a:rPr>
              <a:t>Phân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tích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cân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bằng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tiêu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dùng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bằng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hình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học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bài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toán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liên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tục</a:t>
            </a:r>
            <a:r>
              <a:rPr lang="fr-FR" sz="2300" b="1" i="1" dirty="0">
                <a:solidFill>
                  <a:srgbClr val="0000FF"/>
                </a:solidFill>
                <a:latin typeface="Times New Roman" pitchFamily="18" charset="0"/>
                <a:cs typeface="Times New Roman" pitchFamily="18" charset="0"/>
              </a:rPr>
              <a:t>)</a:t>
            </a:r>
            <a:endParaRPr lang="en-US" sz="2300" b="1" i="1" dirty="0">
              <a:solidFill>
                <a:srgbClr val="0000FF"/>
              </a:solidFill>
              <a:latin typeface="Times New Roman" pitchFamily="18" charset="0"/>
              <a:cs typeface="Times New Roman" pitchFamily="18" charset="0"/>
            </a:endParaRPr>
          </a:p>
          <a:p>
            <a:pPr algn="just"/>
            <a:r>
              <a:rPr lang="en-US" sz="2300" b="1" i="1" dirty="0">
                <a:solidFill>
                  <a:srgbClr val="0000FF"/>
                </a:solidFill>
                <a:latin typeface="Times New Roman" pitchFamily="18" charset="0"/>
                <a:cs typeface="Times New Roman" pitchFamily="18" charset="0"/>
              </a:rPr>
              <a:t>3.2.2.2. </a:t>
            </a:r>
            <a:r>
              <a:rPr lang="en-US" sz="2300" b="1" i="1" dirty="0" err="1">
                <a:solidFill>
                  <a:srgbClr val="0000FF"/>
                </a:solidFill>
                <a:latin typeface="Times New Roman" pitchFamily="18" charset="0"/>
                <a:cs typeface="Times New Roman" pitchFamily="18" charset="0"/>
              </a:rPr>
              <a:t>Sự</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ràng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buộc</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ngân</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sách</a:t>
            </a:r>
            <a:endParaRPr lang="en-US" sz="2300" b="1" i="1" dirty="0">
              <a:solidFill>
                <a:srgbClr val="0000FF"/>
              </a:solidFill>
              <a:latin typeface="Times New Roman" pitchFamily="18" charset="0"/>
              <a:cs typeface="Times New Roman" pitchFamily="18" charset="0"/>
            </a:endParaRPr>
          </a:p>
          <a:p>
            <a:pPr algn="just"/>
            <a:r>
              <a:rPr lang="vi-VN"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chọn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họ</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còn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a:t>
            </a:r>
          </a:p>
          <a:p>
            <a:pPr lvl="0" algn="just"/>
            <a:r>
              <a:rPr lang="vi-VN"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Đường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ngân</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sách</a:t>
            </a:r>
            <a:r>
              <a:rPr lang="en-US" sz="2300" b="1" i="1" dirty="0">
                <a:solidFill>
                  <a:srgbClr val="0000FF"/>
                </a:solidFill>
                <a:latin typeface="Times New Roman" pitchFamily="18" charset="0"/>
                <a:cs typeface="Times New Roman" pitchFamily="18" charset="0"/>
              </a:rPr>
              <a:t> </a:t>
            </a:r>
            <a:r>
              <a:rPr lang="en-US" sz="2300" i="1" dirty="0">
                <a:solidFill>
                  <a:srgbClr val="0000FF"/>
                </a:solidFill>
                <a:latin typeface="Times New Roman" pitchFamily="18" charset="0"/>
                <a:cs typeface="Times New Roman" pitchFamily="18" charset="0"/>
              </a:rPr>
              <a:t>(Budget Line)</a:t>
            </a:r>
            <a:endParaRPr lang="en-US" sz="2300"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Đường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sách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mô</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tả</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tập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hợp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kết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hợp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dịch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vụ</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giỏ</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hóa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x</a:t>
            </a:r>
            <a:r>
              <a:rPr lang="en-US" sz="2400" i="1" baseline="-25000" dirty="0" err="1">
                <a:solidFill>
                  <a:srgbClr val="0000FF"/>
                </a:solidFill>
                <a:latin typeface="Times New Roman" pitchFamily="18" charset="0"/>
                <a:cs typeface="Times New Roman" pitchFamily="18" charset="0"/>
              </a:rPr>
              <a:t>i</a:t>
            </a:r>
            <a:r>
              <a:rPr lang="en-US" sz="2400" i="1" dirty="0" err="1">
                <a:solidFill>
                  <a:srgbClr val="0000FF"/>
                </a:solidFill>
                <a:latin typeface="Times New Roman" pitchFamily="18" charset="0"/>
                <a:cs typeface="Times New Roman" pitchFamily="18" charset="0"/>
              </a:rPr>
              <a:t>;y</a:t>
            </a:r>
            <a:r>
              <a:rPr lang="en-US" sz="2400" i="1" baseline="-25000" dirty="0" err="1">
                <a:solidFill>
                  <a:srgbClr val="0000FF"/>
                </a:solidFill>
                <a:latin typeface="Times New Roman" pitchFamily="18" charset="0"/>
                <a:cs typeface="Times New Roman" pitchFamily="18" charset="0"/>
              </a:rPr>
              <a:t>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thể</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mua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được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với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một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mức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ngân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sách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đã</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bằng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i="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chúng</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biết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Y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X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X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Y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6720216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457200" y="62950"/>
            <a:ext cx="8382000" cy="6553200"/>
          </a:xfrm>
        </p:spPr>
        <p:txBody>
          <a:bodyPr>
            <a:noAutofit/>
          </a:bodyPr>
          <a:lstStyle/>
          <a:p>
            <a:pPr eaLnBrk="1" hangingPunct="1"/>
            <a:r>
              <a:rPr lang="en-US" sz="2300" b="1" dirty="0">
                <a:solidFill>
                  <a:srgbClr val="0000FF"/>
                </a:solidFill>
                <a:latin typeface="Times New Roman" pitchFamily="18" charset="0"/>
              </a:rPr>
              <a:t>CHƯƠNG 4</a:t>
            </a:r>
          </a:p>
          <a:p>
            <a:pPr eaLnBrk="1" hangingPunct="1"/>
            <a:r>
              <a:rPr lang="en-US" sz="2300" b="1" dirty="0">
                <a:solidFill>
                  <a:srgbClr val="0000FF"/>
                </a:solidFill>
                <a:latin typeface="Times New Roman" pitchFamily="18" charset="0"/>
              </a:rPr>
              <a:t>LÝ THUYẾT HÀNH VI NGƯỜI SẢN XUẤT</a:t>
            </a:r>
          </a:p>
          <a:p>
            <a:pPr algn="just"/>
            <a:r>
              <a:rPr lang="en-US" sz="2300" b="1" dirty="0">
                <a:solidFill>
                  <a:srgbClr val="0000FF"/>
                </a:solidFill>
                <a:latin typeface="Times New Roman" pitchFamily="18" charset="0"/>
                <a:cs typeface="Times New Roman" pitchFamily="18" charset="0"/>
              </a:rPr>
              <a:t>4.1. Lý </a:t>
            </a:r>
            <a:r>
              <a:rPr lang="en-US" sz="2300" b="1" dirty="0" err="1">
                <a:solidFill>
                  <a:srgbClr val="0000FF"/>
                </a:solidFill>
                <a:latin typeface="Times New Roman" pitchFamily="18" charset="0"/>
                <a:cs typeface="Times New Roman" pitchFamily="18" charset="0"/>
              </a:rPr>
              <a:t>thuyết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sản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xuất</a:t>
            </a:r>
            <a:endParaRPr lang="vi-VN" sz="2300" b="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4.2. Lý thuyết về chi phí sản xuất</a:t>
            </a:r>
            <a:endParaRPr lang="vi-VN" sz="2300" b="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4.3. Lý </a:t>
            </a:r>
            <a:r>
              <a:rPr lang="en-US" sz="2300" b="1" dirty="0" err="1">
                <a:solidFill>
                  <a:srgbClr val="0000FF"/>
                </a:solidFill>
                <a:latin typeface="Times New Roman" pitchFamily="18" charset="0"/>
                <a:cs typeface="Times New Roman" pitchFamily="18" charset="0"/>
              </a:rPr>
              <a:t>thuyết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lợi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nhuận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và</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quyết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định</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cung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cấp</a:t>
            </a:r>
            <a:endParaRPr lang="vi-VN" sz="2300" b="1" dirty="0">
              <a:solidFill>
                <a:srgbClr val="0000FF"/>
              </a:solidFill>
              <a:latin typeface="Times New Roman" pitchFamily="18" charset="0"/>
              <a:cs typeface="Times New Roman" pitchFamily="18" charset="0"/>
            </a:endParaRPr>
          </a:p>
          <a:p>
            <a:pPr algn="just"/>
            <a:endParaRPr lang="vi-VN" sz="2300" b="1" dirty="0">
              <a:solidFill>
                <a:srgbClr val="0000FF"/>
              </a:solidFill>
              <a:latin typeface="Times New Roman" pitchFamily="18" charset="0"/>
              <a:cs typeface="Times New Roman" pitchFamily="18" charset="0"/>
            </a:endParaRPr>
          </a:p>
          <a:p>
            <a:pPr algn="just"/>
            <a:r>
              <a:rPr lang="vi-VN" sz="2300" dirty="0">
                <a:solidFill>
                  <a:srgbClr val="0000FF"/>
                </a:solidFill>
                <a:latin typeface="Times New Roman" pitchFamily="18" charset="0"/>
                <a:cs typeface="Times New Roman" pitchFamily="18" charset="0"/>
              </a:rPr>
              <a:t>(HV tự nghiên cứu)</a:t>
            </a:r>
            <a:endParaRPr lang="en-US" sz="2300" dirty="0">
              <a:solidFill>
                <a:srgbClr val="0000FF"/>
              </a:solidFill>
              <a:latin typeface="Times New Roman" pitchFamily="18" charset="0"/>
              <a:cs typeface="Times New Roman" pitchFamily="18" charset="0"/>
            </a:endParaRPr>
          </a:p>
          <a:p>
            <a:pPr algn="just"/>
            <a:endParaRPr lang="en-US" sz="2300" b="1" dirty="0">
              <a:solidFill>
                <a:srgbClr val="0000FF"/>
              </a:solidFill>
              <a:latin typeface="Times New Roman" pitchFamily="18" charset="0"/>
              <a:cs typeface="Times New Roman" pitchFamily="18" charset="0"/>
            </a:endParaRPr>
          </a:p>
          <a:p>
            <a:pPr algn="just"/>
            <a:endParaRPr lang="en-US" sz="2300" b="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72943421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72279"/>
            <a:ext cx="8305800" cy="6553200"/>
          </a:xfrm>
          <a:ln>
            <a:solidFill>
              <a:schemeClr val="tx1"/>
            </a:solidFill>
          </a:ln>
        </p:spPr>
        <p:txBody>
          <a:bodyPr>
            <a:noAutofit/>
          </a:bodyPr>
          <a:lstStyle/>
          <a:p>
            <a:r>
              <a:rPr lang="en-US" sz="2400" b="1" dirty="0">
                <a:solidFill>
                  <a:srgbClr val="0000FF"/>
                </a:solidFill>
                <a:latin typeface="Times New Roman" pitchFamily="18" charset="0"/>
              </a:rPr>
              <a:t>CHƯƠNG 5</a:t>
            </a:r>
          </a:p>
          <a:p>
            <a:r>
              <a:rPr lang="en-US" sz="2400" b="1" dirty="0">
                <a:solidFill>
                  <a:srgbClr val="0000FF"/>
                </a:solidFill>
                <a:latin typeface="Times New Roman" pitchFamily="18" charset="0"/>
              </a:rPr>
              <a:t>CẠNH TRANH VÀ ĐỘC QUYỀN</a:t>
            </a:r>
          </a:p>
          <a:p>
            <a:pPr algn="just"/>
            <a:r>
              <a:rPr lang="en-US" sz="2400" b="1" dirty="0">
                <a:solidFill>
                  <a:srgbClr val="0000FF"/>
                </a:solidFill>
                <a:latin typeface="Times New Roman" pitchFamily="18" charset="0"/>
                <a:cs typeface="Times New Roman" pitchFamily="18" charset="0"/>
              </a:rPr>
              <a:t>5.1. </a:t>
            </a:r>
            <a:r>
              <a:rPr lang="en-US" sz="2400" b="1" dirty="0" err="1">
                <a:solidFill>
                  <a:srgbClr val="0000FF"/>
                </a:solidFill>
                <a:latin typeface="Times New Roman" pitchFamily="18" charset="0"/>
                <a:cs typeface="Times New Roman" pitchFamily="18" charset="0"/>
              </a:rPr>
              <a:t>Cấu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trúc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b="1" i="1" dirty="0" err="1">
                <a:solidFill>
                  <a:srgbClr val="0000FF"/>
                </a:solidFill>
                <a:latin typeface="Times New Roman" pitchFamily="18" charset="0"/>
                <a:cs typeface="Times New Roman" pitchFamily="18" charset="0"/>
              </a:rPr>
              <a:t>Thị</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trường</a:t>
            </a:r>
            <a:r>
              <a:rPr lang="en-US" sz="2400" b="1" i="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khổ</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vô</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xúc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kia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tìm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thoả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a:t>
            </a:r>
          </a:p>
          <a:p>
            <a:pPr algn="just"/>
            <a:endParaRPr lang="vi-VN"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6602757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304799"/>
            <a:ext cx="8382000" cy="6420679"/>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5.1. </a:t>
            </a:r>
            <a:r>
              <a:rPr lang="en-US" sz="2400" b="1" dirty="0" err="1">
                <a:solidFill>
                  <a:srgbClr val="0000FF"/>
                </a:solidFill>
                <a:latin typeface="Times New Roman" pitchFamily="18" charset="0"/>
                <a:cs typeface="Times New Roman" pitchFamily="18" charset="0"/>
              </a:rPr>
              <a:t>Cấu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trúc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Trong </a:t>
            </a:r>
            <a:r>
              <a:rPr lang="en-US" sz="2400" dirty="0" err="1">
                <a:solidFill>
                  <a:srgbClr val="0000FF"/>
                </a:solidFill>
                <a:latin typeface="Times New Roman" pitchFamily="18" charset="0"/>
                <a:cs typeface="Times New Roman" pitchFamily="18" charset="0"/>
              </a:rPr>
              <a:t>cấu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trúc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túy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sau</a:t>
            </a:r>
            <a:r>
              <a:rPr lang="en-US" sz="2400" dirty="0">
                <a:solidFill>
                  <a:srgbClr val="0000FF"/>
                </a:solidFill>
                <a:latin typeface="Times New Roman" pitchFamily="18" charset="0"/>
                <a:cs typeface="Times New Roman" pitchFamily="18" charset="0"/>
              </a:rPr>
              <a:t>: </a:t>
            </a:r>
          </a:p>
          <a:p>
            <a:pPr lvl="0"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a:t>
            </a:r>
          </a:p>
          <a:p>
            <a:pPr lvl="0"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p>
          <a:p>
            <a:pPr lvl="0"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a:t>
            </a:r>
          </a:p>
          <a:p>
            <a:pPr lvl="0"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xâm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p>
          <a:p>
            <a:pPr lvl="0"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phi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409419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72279"/>
            <a:ext cx="8382000"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5.2. </a:t>
            </a:r>
            <a:r>
              <a:rPr lang="en-US" sz="2400" b="1" dirty="0" err="1">
                <a:solidFill>
                  <a:srgbClr val="0000FF"/>
                </a:solidFill>
                <a:latin typeface="Times New Roman" pitchFamily="18" charset="0"/>
                <a:cs typeface="Times New Roman" pitchFamily="18" charset="0"/>
              </a:rPr>
              <a:t>Cạnh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tranh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hoàn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hảo</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5.2.1. </a:t>
            </a:r>
            <a:r>
              <a:rPr lang="fr-FR" sz="2400" b="1" i="1" dirty="0" err="1">
                <a:solidFill>
                  <a:srgbClr val="0000FF"/>
                </a:solidFill>
                <a:latin typeface="Times New Roman" pitchFamily="18" charset="0"/>
                <a:cs typeface="Times New Roman" pitchFamily="18" charset="0"/>
              </a:rPr>
              <a:t>Đặc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cạnh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tranh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hoàn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hảo</a:t>
            </a:r>
            <a:r>
              <a:rPr lang="fr-FR" sz="2400" b="1" i="1" dirty="0">
                <a:solidFill>
                  <a:srgbClr val="0000FF"/>
                </a:solidFill>
                <a:latin typeface="Times New Roman" pitchFamily="18" charset="0"/>
                <a:cs typeface="Times New Roman" pitchFamily="18" charset="0"/>
              </a:rPr>
              <a:t> </a:t>
            </a:r>
            <a:endParaRPr lang="en-US" sz="2400" b="1" i="1"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Thứ</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trong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cạnh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tranh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hoàn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hảo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những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mua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độc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lập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i="1" dirty="0">
                <a:solidFill>
                  <a:srgbClr val="0000FF"/>
                </a:solidFill>
                <a:latin typeface="Times New Roman" pitchFamily="18" charset="0"/>
                <a:cs typeface="Times New Roman" pitchFamily="18" charset="0"/>
              </a:rPr>
              <a:t>. </a:t>
            </a:r>
            <a:r>
              <a:rPr lang="vi-VN" sz="2400" dirty="0" err="1">
                <a:solidFill>
                  <a:srgbClr val="0000FF"/>
                </a:solidFill>
                <a:latin typeface="Times New Roman" pitchFamily="18" charset="0"/>
                <a:cs typeface="Times New Roman" pitchFamily="18" charset="0"/>
              </a:rPr>
              <a:t>Th</a:t>
            </a:r>
            <a:r>
              <a:rPr lang="en-US" sz="2400" dirty="0">
                <a:solidFill>
                  <a:srgbClr val="0000FF"/>
                </a:solidFill>
                <a:latin typeface="Times New Roman" pitchFamily="18" charset="0"/>
                <a:cs typeface="Times New Roman" pitchFamily="18" charset="0"/>
              </a:rPr>
              <a:t>ị </a:t>
            </a:r>
            <a:r>
              <a:rPr lang="en-US" sz="2400" dirty="0" err="1">
                <a:solidFill>
                  <a:srgbClr val="0000FF"/>
                </a:solidFill>
                <a:latin typeface="Times New Roman" pitchFamily="18" charset="0"/>
                <a:cs typeface="Times New Roman" pitchFamily="18" charset="0"/>
              </a:rPr>
              <a:t>phần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mỗi</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a:t>
            </a:r>
          </a:p>
          <a:p>
            <a:pPr algn="just"/>
            <a:r>
              <a:rPr lang="en-US" sz="2400" i="1" dirty="0" err="1">
                <a:solidFill>
                  <a:srgbClr val="0000FF"/>
                </a:solidFill>
                <a:latin typeface="Times New Roman" pitchFamily="18" charset="0"/>
                <a:cs typeface="Times New Roman" pitchFamily="18" charset="0"/>
              </a:rPr>
              <a:t>Thứ</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hai</a:t>
            </a:r>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cả</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phẩm</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đổi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trong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được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coi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giống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Thứ</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vì</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phẩm</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của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ngành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tương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đối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đồng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nên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giá</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của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doanh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nghiệp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a:t>
            </a:r>
            <a:endParaRPr lang="vi-VN" sz="2400"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Thứ</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thông</a:t>
            </a:r>
            <a:r>
              <a:rPr lang="en-US" sz="2400" i="1" dirty="0">
                <a:solidFill>
                  <a:srgbClr val="0000FF"/>
                </a:solidFill>
                <a:latin typeface="Times New Roman" pitchFamily="18" charset="0"/>
                <a:cs typeface="Times New Roman" pitchFamily="18" charset="0"/>
              </a:rPr>
              <a:t> tin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hoàn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hảo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người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tiêu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dùng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về</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lượng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phẩm</a:t>
            </a:r>
            <a:r>
              <a:rPr lang="en-US" sz="2400" i="1" dirty="0">
                <a:solidFill>
                  <a:srgbClr val="0000FF"/>
                </a:solidFill>
                <a:latin typeface="Times New Roman" pitchFamily="18" charset="0"/>
                <a:cs typeface="Times New Roman" pitchFamily="18" charset="0"/>
              </a:rPr>
              <a:t>.</a:t>
            </a:r>
            <a:endParaRPr lang="vi-VN"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Thứ</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năm</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không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gì</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trở</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việc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nhập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rút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lui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khỏi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thị</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46898696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172279"/>
            <a:ext cx="8382000"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5.2. </a:t>
            </a:r>
            <a:r>
              <a:rPr lang="en-US" sz="2400" b="1" dirty="0" err="1">
                <a:solidFill>
                  <a:srgbClr val="0000FF"/>
                </a:solidFill>
                <a:latin typeface="Times New Roman" pitchFamily="18" charset="0"/>
                <a:cs typeface="Times New Roman" pitchFamily="18" charset="0"/>
              </a:rPr>
              <a:t>Cạnh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tranh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hoàn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hảo</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5.2.2. </a:t>
            </a:r>
            <a:r>
              <a:rPr lang="fr-FR" sz="2400" b="1" i="1" dirty="0" err="1">
                <a:solidFill>
                  <a:srgbClr val="0000FF"/>
                </a:solidFill>
                <a:latin typeface="Times New Roman" pitchFamily="18" charset="0"/>
                <a:cs typeface="Times New Roman" pitchFamily="18" charset="0"/>
              </a:rPr>
              <a:t>Doanh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nghiệp</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trong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cạnh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tranh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hoàn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hảo</a:t>
            </a:r>
            <a:endParaRPr lang="vi-VN" sz="2400" b="1" i="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(HV tự nghiên cứu)</a:t>
            </a:r>
            <a:endParaRPr lang="en-US" sz="2400" b="1" i="1"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20538145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5.3.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quyền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bán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thuần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túy</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5.3.1. </a:t>
            </a:r>
            <a:r>
              <a:rPr lang="fr-FR" sz="2300" b="1" i="1" dirty="0" err="1">
                <a:solidFill>
                  <a:srgbClr val="0000FF"/>
                </a:solidFill>
                <a:latin typeface="Times New Roman" pitchFamily="18" charset="0"/>
                <a:cs typeface="Times New Roman" pitchFamily="18" charset="0"/>
              </a:rPr>
              <a:t>Đặc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điểm</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độc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quyền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bán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và</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nguyên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nhân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dẫn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đến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độc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quyền</a:t>
            </a:r>
            <a:r>
              <a:rPr lang="fr-FR" sz="2300" b="1" i="1" dirty="0">
                <a:solidFill>
                  <a:srgbClr val="0000FF"/>
                </a:solidFill>
                <a:latin typeface="Times New Roman" pitchFamily="18" charset="0"/>
                <a:cs typeface="Times New Roman" pitchFamily="18" charset="0"/>
              </a:rPr>
              <a:t> </a:t>
            </a:r>
            <a:endParaRPr lang="en-US" sz="2300" b="1" i="1"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rút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khỏi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khó</a:t>
            </a:r>
            <a:r>
              <a:rPr lang="en-US" sz="2300" dirty="0">
                <a:solidFill>
                  <a:srgbClr val="0000FF"/>
                </a:solidFill>
                <a:latin typeface="Times New Roman" pitchFamily="18" charset="0"/>
                <a:cs typeface="Times New Roman" pitchFamily="18" charset="0"/>
              </a:rPr>
              <a:t>.</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quyền</a:t>
            </a:r>
            <a:r>
              <a:rPr lang="en-US" sz="2300" dirty="0">
                <a:solidFill>
                  <a:srgbClr val="0000FF"/>
                </a:solidFill>
                <a:latin typeface="Times New Roman" pitchFamily="18" charset="0"/>
                <a:cs typeface="Times New Roman" pitchFamily="18" charset="0"/>
              </a:rPr>
              <a:t>:</a:t>
            </a:r>
          </a:p>
        </p:txBody>
      </p:sp>
      <p:sp>
        <p:nvSpPr>
          <p:cNvPr id="2" name="Rectangle 1"/>
          <p:cNvSpPr/>
          <p:nvPr/>
        </p:nvSpPr>
        <p:spPr>
          <a:xfrm>
            <a:off x="142464" y="2567610"/>
            <a:ext cx="4648200" cy="2385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solidFill>
                  <a:srgbClr val="0000FF"/>
                </a:solidFill>
                <a:latin typeface="Times New Roman" pitchFamily="18" charset="0"/>
                <a:cs typeface="Times New Roman" pitchFamily="18" charset="0"/>
              </a:rPr>
              <a:t>+ </a:t>
            </a:r>
            <a:r>
              <a:rPr lang="en-US" sz="2200" i="1" dirty="0">
                <a:solidFill>
                  <a:srgbClr val="0000FF"/>
                </a:solidFill>
                <a:latin typeface="Times New Roman" pitchFamily="18" charset="0"/>
                <a:cs typeface="Times New Roman" pitchFamily="18" charset="0"/>
              </a:rPr>
              <a:t>Do </a:t>
            </a:r>
            <a:r>
              <a:rPr lang="en-US" sz="2200" i="1" dirty="0" err="1">
                <a:solidFill>
                  <a:srgbClr val="0000FF"/>
                </a:solidFill>
                <a:latin typeface="Times New Roman" pitchFamily="18" charset="0"/>
                <a:cs typeface="Times New Roman" pitchFamily="18" charset="0"/>
              </a:rPr>
              <a:t>tính</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kinh</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tế</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của</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quy</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mô</a:t>
            </a:r>
            <a:r>
              <a:rPr lang="en-US" sz="2200" i="1" dirty="0">
                <a:solidFill>
                  <a:srgbClr val="0000FF"/>
                </a:solidFill>
                <a:latin typeface="Times New Roman" pitchFamily="18" charset="0"/>
                <a:cs typeface="Times New Roman" pitchFamily="18" charset="0"/>
              </a:rPr>
              <a: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Nếu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hãng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đạt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được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tính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kinh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tế</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của</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quy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mô</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thì</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việc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mở</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rộng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lượng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sẽ</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làm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giảm</a:t>
            </a:r>
            <a:r>
              <a:rPr lang="en-US" sz="2200" dirty="0">
                <a:solidFill>
                  <a:srgbClr val="0000FF"/>
                </a:solidFill>
                <a:latin typeface="Times New Roman" pitchFamily="18" charset="0"/>
                <a:cs typeface="Times New Roman" pitchFamily="18" charset="0"/>
              </a:rPr>
              <a:t> chi </a:t>
            </a:r>
            <a:r>
              <a:rPr lang="en-US" sz="2200" dirty="0" err="1">
                <a:solidFill>
                  <a:srgbClr val="0000FF"/>
                </a:solidFill>
                <a:latin typeface="Times New Roman" pitchFamily="18" charset="0"/>
                <a:cs typeface="Times New Roman" pitchFamily="18" charset="0"/>
              </a:rPr>
              <a:t>phí</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bình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quân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loại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bỏ</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được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các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đối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thủ</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cạnh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tranh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cuối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cùng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sẽ</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người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bán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duy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nhất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trên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thị</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trường</a:t>
            </a:r>
            <a:r>
              <a:rPr lang="en-US" sz="2200" dirty="0">
                <a:solidFill>
                  <a:srgbClr val="0000FF"/>
                </a:solidFill>
                <a:latin typeface="Times New Roman" pitchFamily="18" charset="0"/>
                <a:cs typeface="Times New Roman" pitchFamily="18" charset="0"/>
              </a:rPr>
              <a:t>. </a:t>
            </a:r>
          </a:p>
        </p:txBody>
      </p:sp>
      <p:sp>
        <p:nvSpPr>
          <p:cNvPr id="5" name="Rectangle 4"/>
          <p:cNvSpPr/>
          <p:nvPr/>
        </p:nvSpPr>
        <p:spPr>
          <a:xfrm>
            <a:off x="4790664" y="2262803"/>
            <a:ext cx="4124736" cy="23655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solidFill>
                  <a:srgbClr val="0000FF"/>
                </a:solidFill>
                <a:latin typeface="Times New Roman" pitchFamily="18" charset="0"/>
                <a:cs typeface="Times New Roman" pitchFamily="18" charset="0"/>
              </a:rPr>
              <a:t>+ </a:t>
            </a:r>
            <a:r>
              <a:rPr lang="en-US" sz="2200" i="1" dirty="0">
                <a:solidFill>
                  <a:srgbClr val="0000FF"/>
                </a:solidFill>
                <a:latin typeface="Times New Roman" pitchFamily="18" charset="0"/>
                <a:cs typeface="Times New Roman" pitchFamily="18" charset="0"/>
              </a:rPr>
              <a:t>Do </a:t>
            </a:r>
            <a:r>
              <a:rPr lang="en-US" sz="2200" i="1" dirty="0" err="1">
                <a:solidFill>
                  <a:srgbClr val="0000FF"/>
                </a:solidFill>
                <a:latin typeface="Times New Roman" pitchFamily="18" charset="0"/>
                <a:cs typeface="Times New Roman" pitchFamily="18" charset="0"/>
              </a:rPr>
              <a:t>bản</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quyền</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bằng</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phát</a:t>
            </a:r>
            <a:r>
              <a:rPr lang="en-US" sz="2200" i="1" dirty="0">
                <a:solidFill>
                  <a:srgbClr val="0000FF"/>
                </a:solidFill>
                <a:latin typeface="Times New Roman" pitchFamily="18" charset="0"/>
                <a:cs typeface="Times New Roman" pitchFamily="18" charset="0"/>
              </a:rPr>
              <a:t> minh </a:t>
            </a:r>
            <a:r>
              <a:rPr lang="en-US" sz="2200" i="1" dirty="0" err="1">
                <a:solidFill>
                  <a:srgbClr val="0000FF"/>
                </a:solidFill>
                <a:latin typeface="Times New Roman" pitchFamily="18" charset="0"/>
                <a:cs typeface="Times New Roman" pitchFamily="18" charset="0"/>
              </a:rPr>
              <a:t>sáng</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chế</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phẩm</a:t>
            </a:r>
            <a:r>
              <a:rPr lang="en-US" sz="2200" dirty="0">
                <a:solidFill>
                  <a:srgbClr val="0000FF"/>
                </a:solidFill>
                <a:latin typeface="Times New Roman" pitchFamily="18" charset="0"/>
                <a:cs typeface="Times New Roman" pitchFamily="18" charset="0"/>
              </a:rPr>
              <a:t> hay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quy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trình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công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nghệ</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mới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nhà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xuất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sẽ</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vị</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trí</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độc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quyền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trong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việc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cung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cấp</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phẩm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trên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thị</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trường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trong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khoảng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thời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gian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nhất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định</a:t>
            </a:r>
            <a:r>
              <a:rPr lang="en-US" sz="2200" dirty="0">
                <a:solidFill>
                  <a:srgbClr val="0000FF"/>
                </a:solidFill>
                <a:latin typeface="Times New Roman" pitchFamily="18" charset="0"/>
                <a:cs typeface="Times New Roman" pitchFamily="18" charset="0"/>
              </a:rPr>
              <a:t>.</a:t>
            </a:r>
          </a:p>
        </p:txBody>
      </p:sp>
      <p:sp>
        <p:nvSpPr>
          <p:cNvPr id="6" name="Rectangle 5"/>
          <p:cNvSpPr/>
          <p:nvPr/>
        </p:nvSpPr>
        <p:spPr>
          <a:xfrm>
            <a:off x="4797290" y="4638255"/>
            <a:ext cx="4118110" cy="21336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solidFill>
                  <a:srgbClr val="0000FF"/>
                </a:solidFill>
                <a:latin typeface="Times New Roman" pitchFamily="18" charset="0"/>
                <a:cs typeface="Times New Roman" pitchFamily="18" charset="0"/>
              </a:rPr>
              <a:t>+ </a:t>
            </a:r>
            <a:r>
              <a:rPr lang="en-US" sz="2200" i="1" dirty="0">
                <a:solidFill>
                  <a:srgbClr val="0000FF"/>
                </a:solidFill>
                <a:latin typeface="Times New Roman" pitchFamily="18" charset="0"/>
                <a:cs typeface="Times New Roman" pitchFamily="18" charset="0"/>
              </a:rPr>
              <a:t>Do </a:t>
            </a:r>
            <a:r>
              <a:rPr lang="en-US" sz="2200" i="1" dirty="0" err="1">
                <a:solidFill>
                  <a:srgbClr val="0000FF"/>
                </a:solidFill>
                <a:latin typeface="Times New Roman" pitchFamily="18" charset="0"/>
                <a:cs typeface="Times New Roman" pitchFamily="18" charset="0"/>
              </a:rPr>
              <a:t>quy</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định</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của</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chính</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phủ</a:t>
            </a:r>
            <a:r>
              <a:rPr lang="en-US" sz="2200" i="1" dirty="0">
                <a:solidFill>
                  <a:srgbClr val="0000FF"/>
                </a:solidFill>
                <a:latin typeface="Times New Roman" pitchFamily="18" charset="0"/>
                <a:cs typeface="Times New Roman" pitchFamily="18" charset="0"/>
              </a:rPr>
              <a:t>:</a:t>
            </a:r>
            <a:r>
              <a:rPr lang="en-US" sz="2200" dirty="0">
                <a:solidFill>
                  <a:srgbClr val="0000FF"/>
                </a:solidFill>
                <a:latin typeface="Times New Roman" pitchFamily="18" charset="0"/>
                <a:cs typeface="Times New Roman" pitchFamily="18" charset="0"/>
              </a:rPr>
              <a:t> CP </a:t>
            </a:r>
            <a:r>
              <a:rPr lang="en-US" sz="2200" dirty="0" err="1">
                <a:solidFill>
                  <a:srgbClr val="0000FF"/>
                </a:solidFill>
                <a:latin typeface="Times New Roman" pitchFamily="18" charset="0"/>
                <a:cs typeface="Times New Roman" pitchFamily="18" charset="0"/>
              </a:rPr>
              <a:t>có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thể</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cấp</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giấy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phép</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cho</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hãng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người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duy</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nhất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được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xuất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kinh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doanh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cho</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loại</a:t>
            </a:r>
            <a:r>
              <a:rPr lang="en-US" sz="2200" dirty="0">
                <a:solidFill>
                  <a:srgbClr val="0000FF"/>
                </a:solidFill>
                <a:latin typeface="Times New Roman" pitchFamily="18" charset="0"/>
                <a:cs typeface="Times New Roman" pitchFamily="18" charset="0"/>
              </a:rPr>
              <a:t> SP </a:t>
            </a:r>
            <a:r>
              <a:rPr lang="en-US" sz="2200" dirty="0" err="1">
                <a:solidFill>
                  <a:srgbClr val="0000FF"/>
                </a:solidFill>
                <a:latin typeface="Times New Roman" pitchFamily="18" charset="0"/>
                <a:cs typeface="Times New Roman" pitchFamily="18" charset="0"/>
              </a:rPr>
              <a:t>dịch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vụ</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nào</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hãng</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sẽ</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trở</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thành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độc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quyền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nhà</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nước</a:t>
            </a:r>
            <a:r>
              <a:rPr lang="en-US" sz="2200" dirty="0">
                <a:solidFill>
                  <a:srgbClr val="0000FF"/>
                </a:solidFill>
                <a:latin typeface="Times New Roman" pitchFamily="18" charset="0"/>
                <a:cs typeface="Times New Roman" pitchFamily="18" charset="0"/>
              </a:rPr>
              <a:t>.</a:t>
            </a:r>
          </a:p>
        </p:txBody>
      </p:sp>
      <p:sp>
        <p:nvSpPr>
          <p:cNvPr id="7" name="Rectangle 6"/>
          <p:cNvSpPr/>
          <p:nvPr/>
        </p:nvSpPr>
        <p:spPr>
          <a:xfrm>
            <a:off x="142464" y="4953000"/>
            <a:ext cx="4654826" cy="1828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a:solidFill>
                  <a:srgbClr val="0000FF"/>
                </a:solidFill>
                <a:latin typeface="Times New Roman" pitchFamily="18" charset="0"/>
                <a:cs typeface="Times New Roman" pitchFamily="18" charset="0"/>
              </a:rPr>
              <a:t>+ </a:t>
            </a:r>
            <a:r>
              <a:rPr lang="en-US" sz="2200" i="1" dirty="0">
                <a:solidFill>
                  <a:srgbClr val="0000FF"/>
                </a:solidFill>
                <a:latin typeface="Times New Roman" pitchFamily="18" charset="0"/>
                <a:cs typeface="Times New Roman" pitchFamily="18" charset="0"/>
              </a:rPr>
              <a:t>Do </a:t>
            </a:r>
            <a:r>
              <a:rPr lang="en-US" sz="2200" i="1" dirty="0" err="1">
                <a:solidFill>
                  <a:srgbClr val="0000FF"/>
                </a:solidFill>
                <a:latin typeface="Times New Roman" pitchFamily="18" charset="0"/>
                <a:cs typeface="Times New Roman" pitchFamily="18" charset="0"/>
              </a:rPr>
              <a:t>kiểm</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soát</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các</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yếu</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tố</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đầu</a:t>
            </a:r>
            <a:r>
              <a:rPr lang="en-US" sz="2200" i="1" dirty="0">
                <a:solidFill>
                  <a:srgbClr val="0000FF"/>
                </a:solidFill>
                <a:latin typeface="Times New Roman" pitchFamily="18" charset="0"/>
                <a:cs typeface="Times New Roman" pitchFamily="18" charset="0"/>
              </a:rPr>
              <a:t> </a:t>
            </a:r>
            <a:r>
              <a:rPr lang="en-US" sz="2200" i="1" dirty="0" err="1">
                <a:solidFill>
                  <a:srgbClr val="0000FF"/>
                </a:solidFill>
                <a:latin typeface="Times New Roman" pitchFamily="18" charset="0"/>
                <a:cs typeface="Times New Roman" pitchFamily="18" charset="0"/>
              </a:rPr>
              <a:t>vào</a:t>
            </a:r>
            <a:r>
              <a:rPr lang="en-US" sz="2200" dirty="0">
                <a:solidFill>
                  <a:srgbClr val="0000FF"/>
                </a:solidFill>
                <a:latin typeface="Times New Roman" pitchFamily="18" charset="0"/>
                <a:cs typeface="Times New Roman" pitchFamily="18" charset="0"/>
              </a:rPr>
              <a:t>: DN </a:t>
            </a:r>
            <a:r>
              <a:rPr lang="en-US" sz="2200" dirty="0" err="1">
                <a:solidFill>
                  <a:srgbClr val="0000FF"/>
                </a:solidFill>
                <a:latin typeface="Times New Roman" pitchFamily="18" charset="0"/>
                <a:cs typeface="Times New Roman" pitchFamily="18" charset="0"/>
              </a:rPr>
              <a:t>có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thể</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giành</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được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địa</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vị</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độc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quyền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khi</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nó</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kiểm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soát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được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toàn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bộ</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các</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yếu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tố</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đầu</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vào</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cơ</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bản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để</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xuất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ra</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một</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sản</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phẩm</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nào</a:t>
            </a:r>
            <a:r>
              <a:rPr lang="en-US" sz="2200" dirty="0">
                <a:solidFill>
                  <a:srgbClr val="0000FF"/>
                </a:solidFill>
                <a:latin typeface="Times New Roman" pitchFamily="18" charset="0"/>
                <a:cs typeface="Times New Roman" pitchFamily="18" charset="0"/>
              </a:rPr>
              <a:t> </a:t>
            </a:r>
            <a:r>
              <a:rPr lang="en-US" sz="2200" dirty="0" err="1">
                <a:solidFill>
                  <a:srgbClr val="0000FF"/>
                </a:solidFill>
                <a:latin typeface="Times New Roman" pitchFamily="18" charset="0"/>
                <a:cs typeface="Times New Roman" pitchFamily="18" charset="0"/>
              </a:rPr>
              <a:t>đó</a:t>
            </a:r>
            <a:r>
              <a:rPr lang="en-US" sz="22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78162518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04800" y="172279"/>
            <a:ext cx="8382000"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5.3.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quyền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bán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thuần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túy</a:t>
            </a:r>
            <a:endParaRPr lang="en-US" sz="23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5.3.2. </a:t>
            </a:r>
            <a:r>
              <a:rPr lang="fr-FR" sz="2400" b="1" i="1" dirty="0" err="1">
                <a:solidFill>
                  <a:srgbClr val="0000FF"/>
                </a:solidFill>
                <a:latin typeface="Times New Roman" pitchFamily="18" charset="0"/>
                <a:cs typeface="Times New Roman" pitchFamily="18" charset="0"/>
              </a:rPr>
              <a:t>Đường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cầu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và</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doanh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cận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biên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trong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endParaRPr lang="vi-VN" sz="2400" b="1" i="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5.3.</a:t>
            </a:r>
            <a:r>
              <a:rPr lang="vi-VN" sz="2400" b="1" i="1" dirty="0">
                <a:solidFill>
                  <a:srgbClr val="0000FF"/>
                </a:solidFill>
                <a:latin typeface="Times New Roman" pitchFamily="18" charset="0"/>
                <a:cs typeface="Times New Roman" pitchFamily="18" charset="0"/>
              </a:rPr>
              <a:t>3</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Mất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không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từ</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sức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mạnh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bán</a:t>
            </a:r>
            <a:endParaRPr lang="vi-VN" sz="2400" b="1" i="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5.3.</a:t>
            </a:r>
            <a:r>
              <a:rPr lang="vi-VN" sz="2400" b="1" i="1" dirty="0">
                <a:solidFill>
                  <a:srgbClr val="0000FF"/>
                </a:solidFill>
                <a:latin typeface="Times New Roman" pitchFamily="18" charset="0"/>
                <a:cs typeface="Times New Roman" pitchFamily="18" charset="0"/>
              </a:rPr>
              <a:t>4</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Trong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bán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không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có</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cung</a:t>
            </a:r>
            <a:endParaRPr lang="en-US" sz="2400" b="1" i="1" dirty="0">
              <a:solidFill>
                <a:srgbClr val="0000FF"/>
              </a:solidFill>
              <a:latin typeface="Times New Roman" pitchFamily="18" charset="0"/>
              <a:cs typeface="Times New Roman" pitchFamily="18" charset="0"/>
            </a:endParaRPr>
          </a:p>
          <a:p>
            <a:pPr algn="just"/>
            <a:endParaRPr lang="en-US" sz="2400" b="1" i="1"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(HV tự nghiên cứu)</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7612371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04800" y="172279"/>
            <a:ext cx="8534400"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5.3.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quyền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bán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thuần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túy</a:t>
            </a:r>
            <a:endParaRPr lang="en-US" sz="23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5.3.</a:t>
            </a:r>
            <a:r>
              <a:rPr lang="vi-VN" sz="2400" b="1" i="1" dirty="0">
                <a:solidFill>
                  <a:srgbClr val="0000FF"/>
                </a:solidFill>
                <a:latin typeface="Times New Roman" pitchFamily="18" charset="0"/>
                <a:cs typeface="Times New Roman" pitchFamily="18" charset="0"/>
              </a:rPr>
              <a:t>5</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Phân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biệt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giá</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trong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bán</a:t>
            </a:r>
            <a:endParaRPr lang="en-US" sz="2400" b="1" i="1" dirty="0">
              <a:solidFill>
                <a:srgbClr val="0000FF"/>
              </a:solidFill>
              <a:latin typeface="Times New Roman" pitchFamily="18" charset="0"/>
              <a:cs typeface="Times New Roman" pitchFamily="18" charset="0"/>
            </a:endParaRPr>
          </a:p>
          <a:p>
            <a:pPr algn="just"/>
            <a:r>
              <a:rPr lang="fr-FR" sz="2400" dirty="0" err="1">
                <a:solidFill>
                  <a:srgbClr val="0000FF"/>
                </a:solidFill>
                <a:latin typeface="Times New Roman" pitchFamily="18" charset="0"/>
                <a:cs typeface="Times New Roman" pitchFamily="18" charset="0"/>
              </a:rPr>
              <a:t>Phân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biệt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là </a:t>
            </a:r>
            <a:r>
              <a:rPr lang="fr-FR" sz="2400" dirty="0" err="1">
                <a:solidFill>
                  <a:srgbClr val="0000FF"/>
                </a:solidFill>
                <a:latin typeface="Times New Roman" pitchFamily="18" charset="0"/>
                <a:cs typeface="Times New Roman" pitchFamily="18" charset="0"/>
              </a:rPr>
              <a:t>việc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phẩm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của</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mình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với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mức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nhau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những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người</a:t>
            </a:r>
            <a:r>
              <a:rPr lang="fr-FR" sz="2400" dirty="0">
                <a:solidFill>
                  <a:srgbClr val="0000FF"/>
                </a:solidFill>
                <a:latin typeface="Times New Roman" pitchFamily="18" charset="0"/>
                <a:cs typeface="Times New Roman" pitchFamily="18" charset="0"/>
              </a:rPr>
              <a:t> mua </a:t>
            </a:r>
            <a:r>
              <a:rPr lang="fr-FR" sz="2400" dirty="0" err="1">
                <a:solidFill>
                  <a:srgbClr val="0000FF"/>
                </a:solidFill>
                <a:latin typeface="Times New Roman" pitchFamily="18" charset="0"/>
                <a:cs typeface="Times New Roman" pitchFamily="18" charset="0"/>
              </a:rPr>
              <a:t>khác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nhau</a:t>
            </a:r>
            <a:r>
              <a:rPr lang="fr-FR" sz="2400" dirty="0">
                <a:solidFill>
                  <a:srgbClr val="0000FF"/>
                </a:solidFill>
                <a:latin typeface="Times New Roman" pitchFamily="18" charset="0"/>
                <a:cs typeface="Times New Roman" pitchFamily="18" charset="0"/>
              </a:rPr>
              <a:t> ở </a:t>
            </a:r>
            <a:r>
              <a:rPr lang="fr-FR" sz="2400" dirty="0" err="1">
                <a:solidFill>
                  <a:srgbClr val="0000FF"/>
                </a:solidFill>
                <a:latin typeface="Times New Roman" pitchFamily="18" charset="0"/>
                <a:cs typeface="Times New Roman" pitchFamily="18" charset="0"/>
              </a:rPr>
              <a:t>các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thị</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trường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nhau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Đây</a:t>
            </a:r>
            <a:r>
              <a:rPr lang="fr-FR" sz="2400" dirty="0">
                <a:solidFill>
                  <a:srgbClr val="0000FF"/>
                </a:solidFill>
                <a:latin typeface="Times New Roman" pitchFamily="18" charset="0"/>
                <a:cs typeface="Times New Roman" pitchFamily="18" charset="0"/>
              </a:rPr>
              <a:t> là </a:t>
            </a:r>
            <a:r>
              <a:rPr lang="fr-FR" sz="2400" dirty="0" err="1">
                <a:solidFill>
                  <a:srgbClr val="0000FF"/>
                </a:solidFill>
                <a:latin typeface="Times New Roman" pitchFamily="18" charset="0"/>
                <a:cs typeface="Times New Roman" pitchFamily="18" charset="0"/>
              </a:rPr>
              <a:t>một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biện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pháp</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làm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tăng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lợi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nhuận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của</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bằng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cách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chiếm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đoạt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thặng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dư</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của</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người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tiêu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dùng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chuyển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một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phần</a:t>
            </a:r>
            <a:r>
              <a:rPr lang="fr-FR" sz="2400" dirty="0">
                <a:solidFill>
                  <a:srgbClr val="0000FF"/>
                </a:solidFill>
                <a:latin typeface="Times New Roman" pitchFamily="18" charset="0"/>
                <a:cs typeface="Times New Roman" pitchFamily="18" charset="0"/>
              </a:rPr>
              <a:t> sang </a:t>
            </a:r>
            <a:r>
              <a:rPr lang="fr-FR" sz="2400" dirty="0" err="1">
                <a:solidFill>
                  <a:srgbClr val="0000FF"/>
                </a:solidFill>
                <a:latin typeface="Times New Roman" pitchFamily="18" charset="0"/>
                <a:cs typeface="Times New Roman" pitchFamily="18" charset="0"/>
              </a:rPr>
              <a:t>thặng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dư</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người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xuất</a:t>
            </a:r>
            <a:r>
              <a:rPr lang="fr-FR" sz="2400"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Phân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biệt</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giá</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cấp</a:t>
            </a:r>
            <a:r>
              <a:rPr lang="fr-FR" sz="2400" i="1" dirty="0">
                <a:solidFill>
                  <a:srgbClr val="0000FF"/>
                </a:solidFill>
                <a:latin typeface="Times New Roman" pitchFamily="18" charset="0"/>
                <a:cs typeface="Times New Roman" pitchFamily="18" charset="0"/>
              </a:rPr>
              <a:t> 1 - </a:t>
            </a:r>
            <a:r>
              <a:rPr lang="fr-FR" sz="2400" i="1" dirty="0" err="1">
                <a:solidFill>
                  <a:srgbClr val="0000FF"/>
                </a:solidFill>
                <a:latin typeface="Times New Roman" pitchFamily="18" charset="0"/>
                <a:cs typeface="Times New Roman" pitchFamily="18" charset="0"/>
              </a:rPr>
              <a:t>phân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biệt</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giá</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hoàn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hảo</a:t>
            </a:r>
            <a:r>
              <a:rPr lang="fr-FR" sz="2400" i="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áp</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đặt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mỗi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khách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hàng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một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tối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đa</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khách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hàng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đó</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sẵn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sàng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trả</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mỗi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vị</a:t>
            </a:r>
            <a:r>
              <a:rPr lang="fr-FR" sz="2400" dirty="0">
                <a:solidFill>
                  <a:srgbClr val="0000FF"/>
                </a:solidFill>
                <a:latin typeface="Times New Roman" pitchFamily="18" charset="0"/>
                <a:cs typeface="Times New Roman" pitchFamily="18" charset="0"/>
              </a:rPr>
              <a:t> mua.</a:t>
            </a:r>
          </a:p>
          <a:p>
            <a:pPr algn="just"/>
            <a:r>
              <a:rPr lang="fr-FR" sz="2400" dirty="0">
                <a:solidFill>
                  <a:srgbClr val="0000FF"/>
                </a:solidFill>
                <a:latin typeface="Times New Roman" pitchFamily="18" charset="0"/>
                <a:cs typeface="Times New Roman" pitchFamily="18" charset="0"/>
              </a:rPr>
              <a:t>Khi </a:t>
            </a:r>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phân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biệt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đối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xử</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một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cách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hoàn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hảo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theo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thì</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sẽ</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tính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mức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nhau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từng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vị</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phẩm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được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phẩm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đầu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tiên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sẽ</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được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với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cao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nhất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tại</a:t>
            </a:r>
            <a:r>
              <a:rPr lang="fr-FR" sz="2400" dirty="0">
                <a:solidFill>
                  <a:srgbClr val="0000FF"/>
                </a:solidFill>
                <a:latin typeface="Times New Roman" pitchFamily="18" charset="0"/>
                <a:cs typeface="Times New Roman" pitchFamily="18" charset="0"/>
              </a:rPr>
              <a:t> A,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phẩm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tiếp</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theo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được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người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trả</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cao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thứ</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hai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Giảm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trong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trường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hợp</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này</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không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làm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giảm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doanh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từ</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các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phẩm</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được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ra </a:t>
            </a:r>
            <a:r>
              <a:rPr lang="fr-FR" sz="2400" dirty="0" err="1">
                <a:solidFill>
                  <a:srgbClr val="0000FF"/>
                </a:solidFill>
                <a:latin typeface="Times New Roman" pitchFamily="18" charset="0"/>
                <a:cs typeface="Times New Roman" pitchFamily="18" charset="0"/>
              </a:rPr>
              <a:t>trước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đó</a:t>
            </a:r>
            <a:r>
              <a:rPr lang="fr-FR" sz="2400" dirty="0">
                <a:solidFill>
                  <a:srgbClr val="0000FF"/>
                </a:solidFill>
                <a:latin typeface="Times New Roman" pitchFamily="18" charset="0"/>
                <a:cs typeface="Times New Roman" pitchFamily="18" charset="0"/>
              </a:rPr>
              <a:t>. </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1050430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247650" y="172279"/>
            <a:ext cx="8648700"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5.3.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quyền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bán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thuần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túy</a:t>
            </a:r>
            <a:endParaRPr lang="en-US" sz="23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5.3.</a:t>
            </a:r>
            <a:r>
              <a:rPr lang="vi-VN" sz="2400" b="1" i="1" dirty="0">
                <a:solidFill>
                  <a:srgbClr val="0000FF"/>
                </a:solidFill>
                <a:latin typeface="Times New Roman" pitchFamily="18" charset="0"/>
                <a:cs typeface="Times New Roman" pitchFamily="18" charset="0"/>
              </a:rPr>
              <a:t>5</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Phân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biệt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giá</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trong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bán</a:t>
            </a:r>
            <a:endParaRPr lang="en-US" sz="2400" b="1" i="1" dirty="0">
              <a:solidFill>
                <a:srgbClr val="0000FF"/>
              </a:solidFill>
              <a:latin typeface="Times New Roman" pitchFamily="18" charset="0"/>
              <a:cs typeface="Times New Roman" pitchFamily="18" charset="0"/>
            </a:endParaRPr>
          </a:p>
          <a:p>
            <a:pPr algn="just"/>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Phân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biệt</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giá</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cấp</a:t>
            </a:r>
            <a:r>
              <a:rPr lang="fr-FR" sz="2400" i="1" dirty="0">
                <a:solidFill>
                  <a:srgbClr val="0000FF"/>
                </a:solidFill>
                <a:latin typeface="Times New Roman" pitchFamily="18" charset="0"/>
                <a:cs typeface="Times New Roman" pitchFamily="18" charset="0"/>
              </a:rPr>
              <a:t> 1 - </a:t>
            </a:r>
            <a:r>
              <a:rPr lang="fr-FR" sz="2400" i="1" dirty="0" err="1">
                <a:solidFill>
                  <a:srgbClr val="0000FF"/>
                </a:solidFill>
                <a:latin typeface="Times New Roman" pitchFamily="18" charset="0"/>
                <a:cs typeface="Times New Roman" pitchFamily="18" charset="0"/>
              </a:rPr>
              <a:t>phân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biệt</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giá</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hoàn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hảo</a:t>
            </a:r>
            <a:r>
              <a:rPr lang="fr-FR" sz="2400" i="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fr-FR" sz="2400" dirty="0">
                <a:solidFill>
                  <a:srgbClr val="0000FF"/>
                </a:solidFill>
                <a:latin typeface="Times New Roman" pitchFamily="18" charset="0"/>
                <a:cs typeface="Times New Roman" pitchFamily="18" charset="0"/>
              </a:rPr>
              <a:t>Khi </a:t>
            </a:r>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cùng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một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mức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mọi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khách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hàng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thì</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mức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của</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là P</a:t>
            </a:r>
            <a:r>
              <a:rPr lang="fr-FR" sz="2400" baseline="30000" dirty="0">
                <a:solidFill>
                  <a:srgbClr val="0000FF"/>
                </a:solidFill>
                <a:latin typeface="Times New Roman" pitchFamily="18" charset="0"/>
                <a:cs typeface="Times New Roman" pitchFamily="18" charset="0"/>
              </a:rPr>
              <a: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lượng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bán</a:t>
            </a:r>
            <a:r>
              <a:rPr lang="fr-FR" sz="2400" dirty="0">
                <a:solidFill>
                  <a:srgbClr val="0000FF"/>
                </a:solidFill>
                <a:latin typeface="Times New Roman" pitchFamily="18" charset="0"/>
                <a:cs typeface="Times New Roman" pitchFamily="18" charset="0"/>
              </a:rPr>
              <a:t> ở </a:t>
            </a:r>
            <a:r>
              <a:rPr lang="fr-FR" sz="2400" dirty="0" err="1">
                <a:solidFill>
                  <a:srgbClr val="0000FF"/>
                </a:solidFill>
                <a:latin typeface="Times New Roman" pitchFamily="18" charset="0"/>
                <a:cs typeface="Times New Roman" pitchFamily="18" charset="0"/>
              </a:rPr>
              <a:t>mức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đó</a:t>
            </a:r>
            <a:r>
              <a:rPr lang="fr-FR" sz="2400" dirty="0">
                <a:solidFill>
                  <a:srgbClr val="0000FF"/>
                </a:solidFill>
                <a:latin typeface="Times New Roman" pitchFamily="18" charset="0"/>
                <a:cs typeface="Times New Roman" pitchFamily="18" charset="0"/>
              </a:rPr>
              <a:t> là Q</a:t>
            </a:r>
            <a:r>
              <a:rPr lang="fr-FR" sz="2400" baseline="30000" dirty="0">
                <a:solidFill>
                  <a:srgbClr val="0000FF"/>
                </a:solidFill>
                <a:latin typeface="Times New Roman" pitchFamily="18" charset="0"/>
                <a:cs typeface="Times New Roman" pitchFamily="18" charset="0"/>
              </a:rPr>
              <a:t>*</a:t>
            </a:r>
            <a:r>
              <a:rPr lang="fr-FR" sz="2400" dirty="0">
                <a:solidFill>
                  <a:srgbClr val="0000FF"/>
                </a:solidFill>
                <a:latin typeface="Times New Roman" pitchFamily="18" charset="0"/>
                <a:cs typeface="Times New Roman" pitchFamily="18" charset="0"/>
              </a:rPr>
              <a:t>. </a:t>
            </a:r>
            <a:endParaRPr lang="en-US" sz="2400" dirty="0">
              <a:solidFill>
                <a:srgbClr val="0000FF"/>
              </a:solidFill>
              <a:latin typeface="Times New Roman" pitchFamily="18" charset="0"/>
              <a:cs typeface="Times New Roman" pitchFamily="18" charset="0"/>
            </a:endParaRPr>
          </a:p>
          <a:p>
            <a:pPr algn="just"/>
            <a:r>
              <a:rPr lang="fr-FR" sz="2400" dirty="0" err="1">
                <a:solidFill>
                  <a:srgbClr val="0000FF"/>
                </a:solidFill>
                <a:latin typeface="Times New Roman" pitchFamily="18" charset="0"/>
                <a:cs typeface="Times New Roman" pitchFamily="18" charset="0"/>
              </a:rPr>
              <a:t>Đường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cầu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chính</a:t>
            </a:r>
            <a:r>
              <a:rPr lang="fr-FR" sz="2400" dirty="0">
                <a:solidFill>
                  <a:srgbClr val="0000FF"/>
                </a:solidFill>
                <a:latin typeface="Times New Roman" pitchFamily="18" charset="0"/>
                <a:cs typeface="Times New Roman" pitchFamily="18" charset="0"/>
              </a:rPr>
              <a:t> là </a:t>
            </a:r>
            <a:r>
              <a:rPr lang="fr-FR" sz="2400" dirty="0" err="1">
                <a:solidFill>
                  <a:srgbClr val="0000FF"/>
                </a:solidFill>
                <a:latin typeface="Times New Roman" pitchFamily="18" charset="0"/>
                <a:cs typeface="Times New Roman" pitchFamily="18" charset="0"/>
              </a:rPr>
              <a:t>đường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doanh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cận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biên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trong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phân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biệt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giá</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hoàn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hảo</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Nhà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độc</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quyền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sẽ</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sản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xuất</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tại</a:t>
            </a:r>
            <a:r>
              <a:rPr lang="fr-FR" sz="2400" dirty="0">
                <a:solidFill>
                  <a:srgbClr val="0000FF"/>
                </a:solidFill>
                <a:latin typeface="Times New Roman" pitchFamily="18" charset="0"/>
                <a:cs typeface="Times New Roman" pitchFamily="18" charset="0"/>
              </a:rPr>
              <a:t> E.</a:t>
            </a:r>
          </a:p>
          <a:p>
            <a:pPr algn="just"/>
            <a:r>
              <a:rPr lang="fr-FR" sz="2400" dirty="0" err="1">
                <a:solidFill>
                  <a:srgbClr val="0000FF"/>
                </a:solidFill>
                <a:latin typeface="Times New Roman" pitchFamily="18" charset="0"/>
                <a:cs typeface="Times New Roman" pitchFamily="18" charset="0"/>
              </a:rPr>
              <a:t>Tại</a:t>
            </a:r>
            <a:r>
              <a:rPr lang="fr-FR" sz="2400" dirty="0">
                <a:solidFill>
                  <a:srgbClr val="0000FF"/>
                </a:solidFill>
                <a:latin typeface="Times New Roman" pitchFamily="18" charset="0"/>
                <a:cs typeface="Times New Roman" pitchFamily="18" charset="0"/>
              </a:rPr>
              <a:t> E, </a:t>
            </a:r>
            <a:r>
              <a:rPr lang="fr-FR" sz="2400" dirty="0" err="1">
                <a:solidFill>
                  <a:srgbClr val="0000FF"/>
                </a:solidFill>
                <a:latin typeface="Times New Roman" pitchFamily="18" charset="0"/>
                <a:cs typeface="Times New Roman" pitchFamily="18" charset="0"/>
              </a:rPr>
              <a:t>doanh</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thu</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cận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biên</a:t>
            </a:r>
            <a:endParaRPr lang="fr-FR" sz="2400" dirty="0">
              <a:solidFill>
                <a:srgbClr val="0000FF"/>
              </a:solidFill>
              <a:latin typeface="Times New Roman" pitchFamily="18" charset="0"/>
              <a:cs typeface="Times New Roman" pitchFamily="18" charset="0"/>
            </a:endParaRPr>
          </a:p>
          <a:p>
            <a:pPr algn="just"/>
            <a:r>
              <a:rPr lang="fr-FR" sz="2400" dirty="0" err="1">
                <a:solidFill>
                  <a:srgbClr val="0000FF"/>
                </a:solidFill>
                <a:latin typeface="Times New Roman" pitchFamily="18" charset="0"/>
                <a:cs typeface="Times New Roman" pitchFamily="18" charset="0"/>
              </a:rPr>
              <a:t>trùng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với</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đường</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cầu</a:t>
            </a:r>
            <a:endParaRPr lang="fr-FR" sz="2400" dirty="0">
              <a:solidFill>
                <a:srgbClr val="0000FF"/>
              </a:solidFill>
              <a:latin typeface="Times New Roman" pitchFamily="18" charset="0"/>
              <a:cs typeface="Times New Roman" pitchFamily="18" charset="0"/>
            </a:endParaRPr>
          </a:p>
          <a:p>
            <a:pPr algn="just"/>
            <a:r>
              <a:rPr lang="fr-FR" sz="2400" dirty="0" err="1">
                <a:solidFill>
                  <a:srgbClr val="0000FF"/>
                </a:solidFill>
                <a:latin typeface="Times New Roman" pitchFamily="18" charset="0"/>
                <a:cs typeface="Times New Roman" pitchFamily="18" charset="0"/>
              </a:rPr>
              <a:t>và</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bằng</a:t>
            </a:r>
            <a:r>
              <a:rPr lang="fr-FR" sz="2400" dirty="0">
                <a:solidFill>
                  <a:srgbClr val="0000FF"/>
                </a:solidFill>
                <a:latin typeface="Times New Roman" pitchFamily="18" charset="0"/>
                <a:cs typeface="Times New Roman" pitchFamily="18" charset="0"/>
              </a:rPr>
              <a:t> chi </a:t>
            </a:r>
            <a:r>
              <a:rPr lang="fr-FR" sz="2400" dirty="0" err="1">
                <a:solidFill>
                  <a:srgbClr val="0000FF"/>
                </a:solidFill>
                <a:latin typeface="Times New Roman" pitchFamily="18" charset="0"/>
                <a:cs typeface="Times New Roman" pitchFamily="18" charset="0"/>
              </a:rPr>
              <a:t>phí</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cận</a:t>
            </a:r>
            <a:r>
              <a:rPr lang="fr-FR" sz="2400" dirty="0">
                <a:solidFill>
                  <a:srgbClr val="0000FF"/>
                </a:solidFill>
                <a:latin typeface="Times New Roman" pitchFamily="18" charset="0"/>
                <a:cs typeface="Times New Roman" pitchFamily="18" charset="0"/>
              </a:rPr>
              <a:t> </a:t>
            </a:r>
            <a:r>
              <a:rPr lang="fr-FR" sz="2400" dirty="0" err="1">
                <a:solidFill>
                  <a:srgbClr val="0000FF"/>
                </a:solidFill>
                <a:latin typeface="Times New Roman" pitchFamily="18" charset="0"/>
                <a:cs typeface="Times New Roman" pitchFamily="18" charset="0"/>
              </a:rPr>
              <a:t>biên</a:t>
            </a:r>
            <a:r>
              <a:rPr lang="fr-FR" sz="2400" dirty="0">
                <a:solidFill>
                  <a:srgbClr val="0000FF"/>
                </a:solidFill>
                <a:latin typeface="Times New Roman" pitchFamily="18" charset="0"/>
                <a:cs typeface="Times New Roman" pitchFamily="18" charset="0"/>
              </a:rPr>
              <a:t>.</a:t>
            </a:r>
            <a:r>
              <a:rPr lang="en-US" sz="2400" dirty="0">
                <a:solidFill>
                  <a:srgbClr val="0000FF"/>
                </a:solidFill>
                <a:latin typeface="Times New Roman" pitchFamily="18" charset="0"/>
                <a:cs typeface="Times New Roman" pitchFamily="18" charset="0"/>
              </a:rPr>
              <a:t> </a:t>
            </a:r>
          </a:p>
        </p:txBody>
      </p:sp>
      <p:pic>
        <p:nvPicPr>
          <p:cNvPr id="225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62400" y="3579161"/>
            <a:ext cx="4724400" cy="3106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7904682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5.3.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quyền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bán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thuần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túy</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5.3.</a:t>
            </a:r>
            <a:r>
              <a:rPr lang="vi-VN" sz="2300" b="1" i="1" dirty="0">
                <a:solidFill>
                  <a:srgbClr val="0000FF"/>
                </a:solidFill>
                <a:latin typeface="Times New Roman" pitchFamily="18" charset="0"/>
                <a:cs typeface="Times New Roman" pitchFamily="18" charset="0"/>
              </a:rPr>
              <a:t>5</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Phân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biệt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giá</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trong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độc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quyền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bán</a:t>
            </a:r>
            <a:endParaRPr lang="en-US" sz="2300" b="1" i="1" dirty="0">
              <a:solidFill>
                <a:srgbClr val="0000FF"/>
              </a:solidFill>
              <a:latin typeface="Times New Roman" pitchFamily="18" charset="0"/>
              <a:cs typeface="Times New Roman" pitchFamily="18" charset="0"/>
            </a:endParaRPr>
          </a:p>
          <a:p>
            <a:pPr algn="just"/>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Phân</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biệt</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giá</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cấp</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hai</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phân</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biệt</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giá</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theo</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khối</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lượng</a:t>
            </a:r>
            <a:endParaRPr lang="en-US" sz="2300" dirty="0">
              <a:solidFill>
                <a:srgbClr val="0000FF"/>
              </a:solidFill>
              <a:latin typeface="Times New Roman" pitchFamily="18" charset="0"/>
              <a:cs typeface="Times New Roman" pitchFamily="18" charset="0"/>
            </a:endParaRPr>
          </a:p>
          <a:p>
            <a:pPr algn="just"/>
            <a:r>
              <a:rPr lang="fr-FR" sz="2300" dirty="0">
                <a:solidFill>
                  <a:srgbClr val="0000FF"/>
                </a:solidFill>
                <a:latin typeface="Times New Roman" pitchFamily="18" charset="0"/>
                <a:cs typeface="Times New Roman" pitchFamily="18" charset="0"/>
              </a:rPr>
              <a:t>DN </a:t>
            </a:r>
            <a:r>
              <a:rPr lang="fr-FR" sz="2300" dirty="0" err="1">
                <a:solidFill>
                  <a:srgbClr val="0000FF"/>
                </a:solidFill>
                <a:latin typeface="Times New Roman" pitchFamily="18" charset="0"/>
                <a:cs typeface="Times New Roman" pitchFamily="18" charset="0"/>
              </a:rPr>
              <a:t>độc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quyền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đặt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nhau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số</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lượng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hoặc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khối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lượng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nhau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cùng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một</a:t>
            </a:r>
            <a:r>
              <a:rPr lang="fr-FR" sz="2300" dirty="0">
                <a:solidFill>
                  <a:srgbClr val="0000FF"/>
                </a:solidFill>
                <a:latin typeface="Times New Roman" pitchFamily="18" charset="0"/>
                <a:cs typeface="Times New Roman" pitchFamily="18" charset="0"/>
              </a:rPr>
              <a:t> HH. DN </a:t>
            </a:r>
            <a:r>
              <a:rPr lang="fr-FR" sz="2300" dirty="0" err="1">
                <a:solidFill>
                  <a:srgbClr val="0000FF"/>
                </a:solidFill>
                <a:latin typeface="Times New Roman" pitchFamily="18" charset="0"/>
                <a:cs typeface="Times New Roman" pitchFamily="18" charset="0"/>
              </a:rPr>
              <a:t>sẽ</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phân</a:t>
            </a:r>
            <a:r>
              <a:rPr lang="fr-FR" sz="2300" dirty="0">
                <a:solidFill>
                  <a:srgbClr val="0000FF"/>
                </a:solidFill>
                <a:latin typeface="Times New Roman" pitchFamily="18" charset="0"/>
                <a:cs typeface="Times New Roman" pitchFamily="18" charset="0"/>
              </a:rPr>
              <a:t> chia </a:t>
            </a:r>
            <a:r>
              <a:rPr lang="fr-FR" sz="2300" dirty="0" err="1">
                <a:solidFill>
                  <a:srgbClr val="0000FF"/>
                </a:solidFill>
                <a:latin typeface="Times New Roman" pitchFamily="18" charset="0"/>
                <a:cs typeface="Times New Roman" pitchFamily="18" charset="0"/>
              </a:rPr>
              <a:t>lượng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bán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thành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khối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lượng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nhau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và</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đặt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mỗi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khối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một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trên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cầu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Đây</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cũng</a:t>
            </a:r>
            <a:r>
              <a:rPr lang="fr-FR" sz="2300" dirty="0">
                <a:solidFill>
                  <a:srgbClr val="0000FF"/>
                </a:solidFill>
                <a:latin typeface="Times New Roman" pitchFamily="18" charset="0"/>
                <a:cs typeface="Times New Roman" pitchFamily="18" charset="0"/>
              </a:rPr>
              <a:t> là </a:t>
            </a:r>
            <a:r>
              <a:rPr lang="fr-FR" sz="2300" dirty="0" err="1">
                <a:solidFill>
                  <a:srgbClr val="0000FF"/>
                </a:solidFill>
                <a:latin typeface="Times New Roman" pitchFamily="18" charset="0"/>
                <a:cs typeface="Times New Roman" pitchFamily="18" charset="0"/>
              </a:rPr>
              <a:t>một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hợp</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đạt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được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tính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kinh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tế</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quy</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mô</a:t>
            </a:r>
            <a:r>
              <a:rPr lang="fr-FR" sz="2300" dirty="0">
                <a:solidFill>
                  <a:srgbClr val="0000FF"/>
                </a:solidFill>
                <a:latin typeface="Times New Roman" pitchFamily="18" charset="0"/>
                <a:cs typeface="Times New Roman" pitchFamily="18" charset="0"/>
              </a:rPr>
              <a:t>. </a:t>
            </a:r>
            <a:endParaRPr lang="en-US" sz="2300" dirty="0">
              <a:solidFill>
                <a:srgbClr val="0000FF"/>
              </a:solidFill>
              <a:latin typeface="Times New Roman" pitchFamily="18" charset="0"/>
              <a:cs typeface="Times New Roman" pitchFamily="18" charset="0"/>
            </a:endParaRPr>
          </a:p>
        </p:txBody>
      </p:sp>
      <p:pic>
        <p:nvPicPr>
          <p:cNvPr id="235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3691" y="3289857"/>
            <a:ext cx="4560309"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52399" y="2971800"/>
            <a:ext cx="4431291" cy="3886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2200" dirty="0" err="1">
                <a:solidFill>
                  <a:srgbClr val="0000FF"/>
                </a:solidFill>
                <a:latin typeface="Times New Roman" pitchFamily="18" charset="0"/>
                <a:cs typeface="Times New Roman" pitchFamily="18" charset="0"/>
              </a:rPr>
              <a:t>Tổng</a:t>
            </a:r>
            <a:r>
              <a:rPr lang="fr-FR" sz="2200" dirty="0">
                <a:solidFill>
                  <a:srgbClr val="0000FF"/>
                </a:solidFill>
                <a:latin typeface="Times New Roman" pitchFamily="18" charset="0"/>
                <a:cs typeface="Times New Roman" pitchFamily="18" charset="0"/>
              </a:rPr>
              <a:t> chi </a:t>
            </a:r>
            <a:r>
              <a:rPr lang="fr-FR" sz="2200" dirty="0" err="1">
                <a:solidFill>
                  <a:srgbClr val="0000FF"/>
                </a:solidFill>
                <a:latin typeface="Times New Roman" pitchFamily="18" charset="0"/>
                <a:cs typeface="Times New Roman" pitchFamily="18" charset="0"/>
              </a:rPr>
              <a:t>phí</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bình</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quân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và</a:t>
            </a:r>
            <a:r>
              <a:rPr lang="fr-FR" sz="2200" dirty="0">
                <a:solidFill>
                  <a:srgbClr val="0000FF"/>
                </a:solidFill>
                <a:latin typeface="Times New Roman" pitchFamily="18" charset="0"/>
                <a:cs typeface="Times New Roman" pitchFamily="18" charset="0"/>
              </a:rPr>
              <a:t> chi </a:t>
            </a:r>
            <a:r>
              <a:rPr lang="fr-FR" sz="2200" dirty="0" err="1">
                <a:solidFill>
                  <a:srgbClr val="0000FF"/>
                </a:solidFill>
                <a:latin typeface="Times New Roman" pitchFamily="18" charset="0"/>
                <a:cs typeface="Times New Roman" pitchFamily="18" charset="0"/>
              </a:rPr>
              <a:t>phí</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cận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biên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giảm</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dần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Phân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biệt</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giá</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cấp</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hai</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có</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thể</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làm</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cho</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người</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tiêu</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dùng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lợi</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bằng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việc</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mở</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rộng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sản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lượng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và</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hạ</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thấp</a:t>
            </a:r>
            <a:r>
              <a:rPr lang="fr-FR" sz="2200" dirty="0">
                <a:solidFill>
                  <a:srgbClr val="0000FF"/>
                </a:solidFill>
                <a:latin typeface="Times New Roman" pitchFamily="18" charset="0"/>
                <a:cs typeface="Times New Roman" pitchFamily="18" charset="0"/>
              </a:rPr>
              <a:t> chi </a:t>
            </a:r>
            <a:r>
              <a:rPr lang="fr-FR" sz="2200" dirty="0" err="1">
                <a:solidFill>
                  <a:srgbClr val="0000FF"/>
                </a:solidFill>
                <a:latin typeface="Times New Roman" pitchFamily="18" charset="0"/>
                <a:cs typeface="Times New Roman" pitchFamily="18" charset="0"/>
              </a:rPr>
              <a:t>phí</a:t>
            </a:r>
            <a:r>
              <a:rPr lang="fr-FR" sz="2200" dirty="0">
                <a:solidFill>
                  <a:srgbClr val="0000FF"/>
                </a:solidFill>
                <a:latin typeface="Times New Roman" pitchFamily="18" charset="0"/>
                <a:cs typeface="Times New Roman" pitchFamily="18" charset="0"/>
              </a:rPr>
              <a:t>.</a:t>
            </a:r>
            <a:endParaRPr lang="fr-FR" sz="2200" dirty="0"/>
          </a:p>
          <a:p>
            <a:pPr algn="just"/>
            <a:r>
              <a:rPr lang="fr-FR" sz="2200" dirty="0" err="1">
                <a:solidFill>
                  <a:srgbClr val="0000FF"/>
                </a:solidFill>
                <a:latin typeface="Times New Roman" pitchFamily="18" charset="0"/>
                <a:cs typeface="Times New Roman" pitchFamily="18" charset="0"/>
              </a:rPr>
              <a:t>Nếu</a:t>
            </a:r>
            <a:r>
              <a:rPr lang="fr-FR" sz="2200" dirty="0">
                <a:solidFill>
                  <a:srgbClr val="0000FF"/>
                </a:solidFill>
                <a:latin typeface="Times New Roman" pitchFamily="18" charset="0"/>
                <a:cs typeface="Times New Roman" pitchFamily="18" charset="0"/>
              </a:rPr>
              <a:t> DN </a:t>
            </a:r>
            <a:r>
              <a:rPr lang="fr-FR" sz="2200" dirty="0" err="1">
                <a:solidFill>
                  <a:srgbClr val="0000FF"/>
                </a:solidFill>
                <a:latin typeface="Times New Roman" pitchFamily="18" charset="0"/>
                <a:cs typeface="Times New Roman" pitchFamily="18" charset="0"/>
              </a:rPr>
              <a:t>quy</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định</a:t>
            </a:r>
            <a:r>
              <a:rPr lang="fr-FR" sz="2200" dirty="0">
                <a:solidFill>
                  <a:srgbClr val="0000FF"/>
                </a:solidFill>
                <a:latin typeface="Times New Roman" pitchFamily="18" charset="0"/>
                <a:cs typeface="Times New Roman" pitchFamily="18" charset="0"/>
              </a:rPr>
              <a:t> 1 </a:t>
            </a:r>
            <a:r>
              <a:rPr lang="fr-FR" sz="2200" dirty="0" err="1">
                <a:solidFill>
                  <a:srgbClr val="0000FF"/>
                </a:solidFill>
                <a:latin typeface="Times New Roman" pitchFamily="18" charset="0"/>
                <a:cs typeface="Times New Roman" pitchFamily="18" charset="0"/>
              </a:rPr>
              <a:t>mức</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giá</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duy</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nhất</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cho</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mọi</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người</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tiêu</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dùng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thì</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giá</a:t>
            </a:r>
            <a:r>
              <a:rPr lang="fr-FR" sz="2200" dirty="0">
                <a:solidFill>
                  <a:srgbClr val="0000FF"/>
                </a:solidFill>
                <a:latin typeface="Times New Roman" pitchFamily="18" charset="0"/>
                <a:cs typeface="Times New Roman" pitchFamily="18" charset="0"/>
              </a:rPr>
              <a:t> là P</a:t>
            </a:r>
            <a:r>
              <a:rPr lang="fr-FR" sz="2200" baseline="30000" dirty="0">
                <a:solidFill>
                  <a:srgbClr val="0000FF"/>
                </a:solidFill>
                <a:latin typeface="Times New Roman" pitchFamily="18" charset="0"/>
                <a:cs typeface="Times New Roman" pitchFamily="18" charset="0"/>
              </a:rPr>
              <a:t>*</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Nhưng</a:t>
            </a:r>
            <a:r>
              <a:rPr lang="fr-FR" sz="2200" dirty="0">
                <a:solidFill>
                  <a:srgbClr val="0000FF"/>
                </a:solidFill>
                <a:latin typeface="Times New Roman" pitchFamily="18" charset="0"/>
                <a:cs typeface="Times New Roman" pitchFamily="18" charset="0"/>
              </a:rPr>
              <a:t> do </a:t>
            </a:r>
            <a:r>
              <a:rPr lang="fr-FR" sz="2200" dirty="0" err="1">
                <a:solidFill>
                  <a:srgbClr val="0000FF"/>
                </a:solidFill>
                <a:latin typeface="Times New Roman" pitchFamily="18" charset="0"/>
                <a:cs typeface="Times New Roman" pitchFamily="18" charset="0"/>
              </a:rPr>
              <a:t>giá</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cả</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được</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ấn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định</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căn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cứ</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vào</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các</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số</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lượng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được</a:t>
            </a:r>
            <a:r>
              <a:rPr lang="fr-FR" sz="2200" dirty="0">
                <a:solidFill>
                  <a:srgbClr val="0000FF"/>
                </a:solidFill>
                <a:latin typeface="Times New Roman" pitchFamily="18" charset="0"/>
                <a:cs typeface="Times New Roman" pitchFamily="18" charset="0"/>
              </a:rPr>
              <a:t> mua </a:t>
            </a:r>
            <a:r>
              <a:rPr lang="fr-FR" sz="2200" dirty="0" err="1">
                <a:solidFill>
                  <a:srgbClr val="0000FF"/>
                </a:solidFill>
                <a:latin typeface="Times New Roman" pitchFamily="18" charset="0"/>
                <a:cs typeface="Times New Roman" pitchFamily="18" charset="0"/>
              </a:rPr>
              <a:t>nên</a:t>
            </a:r>
            <a:r>
              <a:rPr lang="fr-FR" sz="2200" dirty="0">
                <a:solidFill>
                  <a:srgbClr val="0000FF"/>
                </a:solidFill>
                <a:latin typeface="Times New Roman" pitchFamily="18" charset="0"/>
                <a:cs typeface="Times New Roman" pitchFamily="18" charset="0"/>
              </a:rPr>
              <a:t> ở </a:t>
            </a:r>
            <a:r>
              <a:rPr lang="fr-FR" sz="2200" dirty="0" err="1">
                <a:solidFill>
                  <a:srgbClr val="0000FF"/>
                </a:solidFill>
                <a:latin typeface="Times New Roman" pitchFamily="18" charset="0"/>
                <a:cs typeface="Times New Roman" pitchFamily="18" charset="0"/>
              </a:rPr>
              <a:t>đây</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sản</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lượng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được</a:t>
            </a:r>
            <a:r>
              <a:rPr lang="fr-FR" sz="2200" dirty="0">
                <a:solidFill>
                  <a:srgbClr val="0000FF"/>
                </a:solidFill>
                <a:latin typeface="Times New Roman" pitchFamily="18" charset="0"/>
                <a:cs typeface="Times New Roman" pitchFamily="18" charset="0"/>
              </a:rPr>
              <a:t> chia </a:t>
            </a:r>
            <a:r>
              <a:rPr lang="fr-FR" sz="2200" dirty="0" err="1">
                <a:solidFill>
                  <a:srgbClr val="0000FF"/>
                </a:solidFill>
                <a:latin typeface="Times New Roman" pitchFamily="18" charset="0"/>
                <a:cs typeface="Times New Roman" pitchFamily="18" charset="0"/>
              </a:rPr>
              <a:t>làm</a:t>
            </a:r>
            <a:r>
              <a:rPr lang="fr-FR" sz="2200" dirty="0">
                <a:solidFill>
                  <a:srgbClr val="0000FF"/>
                </a:solidFill>
                <a:latin typeface="Times New Roman" pitchFamily="18" charset="0"/>
                <a:cs typeface="Times New Roman" pitchFamily="18" charset="0"/>
              </a:rPr>
              <a:t> 3 </a:t>
            </a:r>
            <a:r>
              <a:rPr lang="fr-FR" sz="2200" dirty="0" err="1">
                <a:solidFill>
                  <a:srgbClr val="0000FF"/>
                </a:solidFill>
                <a:latin typeface="Times New Roman" pitchFamily="18" charset="0"/>
                <a:cs typeface="Times New Roman" pitchFamily="18" charset="0"/>
              </a:rPr>
              <a:t>khối</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ứng</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với</a:t>
            </a:r>
            <a:r>
              <a:rPr lang="fr-FR" sz="2200" dirty="0">
                <a:solidFill>
                  <a:srgbClr val="0000FF"/>
                </a:solidFill>
                <a:latin typeface="Times New Roman" pitchFamily="18" charset="0"/>
                <a:cs typeface="Times New Roman" pitchFamily="18" charset="0"/>
              </a:rPr>
              <a:t> 3 </a:t>
            </a:r>
            <a:r>
              <a:rPr lang="fr-FR" sz="2200" dirty="0" err="1">
                <a:solidFill>
                  <a:srgbClr val="0000FF"/>
                </a:solidFill>
                <a:latin typeface="Times New Roman" pitchFamily="18" charset="0"/>
                <a:cs typeface="Times New Roman" pitchFamily="18" charset="0"/>
              </a:rPr>
              <a:t>mức</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giá</a:t>
            </a:r>
            <a:r>
              <a:rPr lang="fr-FR" sz="2200" dirty="0">
                <a:solidFill>
                  <a:srgbClr val="0000FF"/>
                </a:solidFill>
                <a:latin typeface="Times New Roman" pitchFamily="18" charset="0"/>
                <a:cs typeface="Times New Roman" pitchFamily="18" charset="0"/>
              </a:rPr>
              <a:t> là P</a:t>
            </a:r>
            <a:r>
              <a:rPr lang="fr-FR" sz="2200" baseline="-25000" dirty="0">
                <a:solidFill>
                  <a:srgbClr val="0000FF"/>
                </a:solidFill>
                <a:latin typeface="Times New Roman" pitchFamily="18" charset="0"/>
                <a:cs typeface="Times New Roman" pitchFamily="18" charset="0"/>
              </a:rPr>
              <a:t>1, </a:t>
            </a:r>
            <a:r>
              <a:rPr lang="fr-FR" sz="2200" dirty="0">
                <a:solidFill>
                  <a:srgbClr val="0000FF"/>
                </a:solidFill>
                <a:latin typeface="Times New Roman" pitchFamily="18" charset="0"/>
                <a:cs typeface="Times New Roman" pitchFamily="18" charset="0"/>
              </a:rPr>
              <a:t>P</a:t>
            </a:r>
            <a:r>
              <a:rPr lang="fr-FR" sz="2200" baseline="-25000" dirty="0">
                <a:solidFill>
                  <a:srgbClr val="0000FF"/>
                </a:solidFill>
                <a:latin typeface="Times New Roman" pitchFamily="18" charset="0"/>
                <a:cs typeface="Times New Roman" pitchFamily="18" charset="0"/>
              </a:rPr>
              <a:t>2</a:t>
            </a:r>
            <a:r>
              <a:rPr lang="fr-FR" sz="2200" dirty="0">
                <a:solidFill>
                  <a:srgbClr val="0000FF"/>
                </a:solidFill>
                <a:latin typeface="Times New Roman" pitchFamily="18" charset="0"/>
                <a:cs typeface="Times New Roman" pitchFamily="18" charset="0"/>
              </a:rPr>
              <a:t> </a:t>
            </a:r>
            <a:r>
              <a:rPr lang="fr-FR" sz="2200" dirty="0" err="1">
                <a:solidFill>
                  <a:srgbClr val="0000FF"/>
                </a:solidFill>
                <a:latin typeface="Times New Roman" pitchFamily="18" charset="0"/>
                <a:cs typeface="Times New Roman" pitchFamily="18" charset="0"/>
              </a:rPr>
              <a:t>và</a:t>
            </a:r>
            <a:r>
              <a:rPr lang="fr-FR" sz="2200" dirty="0">
                <a:solidFill>
                  <a:srgbClr val="0000FF"/>
                </a:solidFill>
                <a:latin typeface="Times New Roman" pitchFamily="18" charset="0"/>
                <a:cs typeface="Times New Roman" pitchFamily="18" charset="0"/>
              </a:rPr>
              <a:t> P</a:t>
            </a:r>
            <a:r>
              <a:rPr lang="fr-FR" sz="2200" baseline="-25000" dirty="0">
                <a:solidFill>
                  <a:srgbClr val="0000FF"/>
                </a:solidFill>
                <a:latin typeface="Times New Roman" pitchFamily="18" charset="0"/>
                <a:cs typeface="Times New Roman" pitchFamily="18" charset="0"/>
              </a:rPr>
              <a:t>3</a:t>
            </a:r>
            <a:r>
              <a:rPr lang="fr-FR" sz="2200" dirty="0">
                <a:solidFill>
                  <a:srgbClr val="0000FF"/>
                </a:solidFill>
                <a:latin typeface="Times New Roman" pitchFamily="18" charset="0"/>
                <a:cs typeface="Times New Roman" pitchFamily="18" charset="0"/>
              </a:rPr>
              <a:t>.</a:t>
            </a:r>
            <a:endParaRPr lang="en-US" sz="22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3505995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5.3.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quyền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bán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thuần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túy</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5.3.</a:t>
            </a:r>
            <a:r>
              <a:rPr lang="vi-VN" sz="2300" b="1" i="1" dirty="0">
                <a:solidFill>
                  <a:srgbClr val="0000FF"/>
                </a:solidFill>
                <a:latin typeface="Times New Roman" pitchFamily="18" charset="0"/>
                <a:cs typeface="Times New Roman" pitchFamily="18" charset="0"/>
              </a:rPr>
              <a:t>5</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Phân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biệt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giá</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trong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độc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quyền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bán</a:t>
            </a:r>
            <a:endParaRPr lang="en-US" sz="2300" b="1" i="1" dirty="0">
              <a:solidFill>
                <a:srgbClr val="0000FF"/>
              </a:solidFill>
              <a:latin typeface="Times New Roman" pitchFamily="18" charset="0"/>
              <a:cs typeface="Times New Roman" pitchFamily="18" charset="0"/>
            </a:endParaRPr>
          </a:p>
          <a:p>
            <a:pPr algn="just"/>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Phân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biệt</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giá</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cấp</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ba</a:t>
            </a:r>
            <a:r>
              <a:rPr lang="fr-FR" sz="2400" i="1" dirty="0">
                <a:solidFill>
                  <a:srgbClr val="0000FF"/>
                </a:solidFill>
                <a:latin typeface="Times New Roman" pitchFamily="18" charset="0"/>
                <a:cs typeface="Times New Roman" pitchFamily="18" charset="0"/>
              </a:rPr>
              <a:t> - </a:t>
            </a:r>
            <a:r>
              <a:rPr lang="fr-FR" sz="2400" i="1" dirty="0" err="1">
                <a:solidFill>
                  <a:srgbClr val="0000FF"/>
                </a:solidFill>
                <a:latin typeface="Times New Roman" pitchFamily="18" charset="0"/>
                <a:cs typeface="Times New Roman" pitchFamily="18" charset="0"/>
              </a:rPr>
              <a:t>phân</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biệt</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giá</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theo</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đối</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tượng</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nhóm</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khách</a:t>
            </a:r>
            <a:r>
              <a:rPr lang="fr-FR" sz="2400" i="1" dirty="0">
                <a:solidFill>
                  <a:srgbClr val="0000FF"/>
                </a:solidFill>
                <a:latin typeface="Times New Roman" pitchFamily="18" charset="0"/>
                <a:cs typeface="Times New Roman" pitchFamily="18" charset="0"/>
              </a:rPr>
              <a:t> </a:t>
            </a:r>
            <a:r>
              <a:rPr lang="fr-FR" sz="2400" i="1" dirty="0" err="1">
                <a:solidFill>
                  <a:srgbClr val="0000FF"/>
                </a:solidFill>
                <a:latin typeface="Times New Roman" pitchFamily="18" charset="0"/>
                <a:cs typeface="Times New Roman" pitchFamily="18" charset="0"/>
              </a:rPr>
              <a:t>hàng</a:t>
            </a:r>
            <a:r>
              <a:rPr lang="fr-FR" sz="2400" i="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p:txBody>
      </p:sp>
      <p:sp>
        <p:nvSpPr>
          <p:cNvPr id="5" name="Rectangle 4"/>
          <p:cNvSpPr/>
          <p:nvPr/>
        </p:nvSpPr>
        <p:spPr>
          <a:xfrm>
            <a:off x="152399" y="2057400"/>
            <a:ext cx="3124201" cy="4648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fr-FR" sz="2300" dirty="0" err="1">
                <a:solidFill>
                  <a:srgbClr val="0000FF"/>
                </a:solidFill>
                <a:latin typeface="Times New Roman" pitchFamily="18" charset="0"/>
                <a:cs typeface="Times New Roman" pitchFamily="18" charset="0"/>
              </a:rPr>
              <a:t>Hình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này</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nhà</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độc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quyền</a:t>
            </a:r>
            <a:r>
              <a:rPr lang="fr-FR" sz="2300" dirty="0">
                <a:solidFill>
                  <a:srgbClr val="0000FF"/>
                </a:solidFill>
                <a:latin typeface="Times New Roman" pitchFamily="18" charset="0"/>
                <a:cs typeface="Times New Roman" pitchFamily="18" charset="0"/>
              </a:rPr>
              <a:t> chia </a:t>
            </a:r>
            <a:r>
              <a:rPr lang="fr-FR" sz="2300" dirty="0" err="1">
                <a:solidFill>
                  <a:srgbClr val="0000FF"/>
                </a:solidFill>
                <a:latin typeface="Times New Roman" pitchFamily="18" charset="0"/>
                <a:cs typeface="Times New Roman" pitchFamily="18" charset="0"/>
              </a:rPr>
              <a:t>khách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hàng</a:t>
            </a:r>
            <a:r>
              <a:rPr lang="fr-FR" sz="2300" dirty="0">
                <a:solidFill>
                  <a:srgbClr val="0000FF"/>
                </a:solidFill>
                <a:latin typeface="Times New Roman" pitchFamily="18" charset="0"/>
                <a:cs typeface="Times New Roman" pitchFamily="18" charset="0"/>
              </a:rPr>
              <a:t> ra </a:t>
            </a:r>
            <a:r>
              <a:rPr lang="fr-FR" sz="2300" dirty="0" err="1">
                <a:solidFill>
                  <a:srgbClr val="0000FF"/>
                </a:solidFill>
                <a:latin typeface="Times New Roman" pitchFamily="18" charset="0"/>
                <a:cs typeface="Times New Roman" pitchFamily="18" charset="0"/>
              </a:rPr>
              <a:t>thành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nhóm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khách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hàng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nhau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mỗi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nhóm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một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cầu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và</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đặt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một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riêng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biệt</a:t>
            </a:r>
            <a:r>
              <a:rPr lang="fr-FR" sz="2300" dirty="0">
                <a:solidFill>
                  <a:srgbClr val="0000FF"/>
                </a:solidFill>
                <a:latin typeface="Times New Roman" pitchFamily="18" charset="0"/>
                <a:cs typeface="Times New Roman" pitchFamily="18" charset="0"/>
              </a:rPr>
              <a:t>. Chi </a:t>
            </a:r>
            <a:r>
              <a:rPr lang="fr-FR" sz="2300" dirty="0" err="1">
                <a:solidFill>
                  <a:srgbClr val="0000FF"/>
                </a:solidFill>
                <a:latin typeface="Times New Roman" pitchFamily="18" charset="0"/>
                <a:cs typeface="Times New Roman" pitchFamily="18" charset="0"/>
              </a:rPr>
              <a:t>phí</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cận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biên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phụ</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thuộc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vào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tổng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lượng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xuất</a:t>
            </a:r>
            <a:r>
              <a:rPr lang="fr-FR" sz="2300" dirty="0">
                <a:solidFill>
                  <a:srgbClr val="0000FF"/>
                </a:solidFill>
                <a:latin typeface="Times New Roman" pitchFamily="18" charset="0"/>
                <a:cs typeface="Times New Roman" pitchFamily="18" charset="0"/>
              </a:rPr>
              <a:t> ra </a:t>
            </a:r>
            <a:r>
              <a:rPr lang="fr-FR" sz="2300" dirty="0" err="1">
                <a:solidFill>
                  <a:srgbClr val="0000FF"/>
                </a:solidFill>
                <a:latin typeface="Times New Roman" pitchFamily="18" charset="0"/>
                <a:cs typeface="Times New Roman" pitchFamily="18" charset="0"/>
              </a:rPr>
              <a:t>còn</a:t>
            </a:r>
            <a:r>
              <a:rPr lang="fr-FR" sz="2300" dirty="0">
                <a:solidFill>
                  <a:srgbClr val="0000FF"/>
                </a:solidFill>
                <a:latin typeface="Times New Roman" pitchFamily="18" charset="0"/>
                <a:cs typeface="Times New Roman" pitchFamily="18" charset="0"/>
              </a:rPr>
              <a:t> Q</a:t>
            </a:r>
            <a:r>
              <a:rPr lang="fr-FR" sz="2300" baseline="-25000" dirty="0">
                <a:solidFill>
                  <a:srgbClr val="0000FF"/>
                </a:solidFill>
                <a:latin typeface="Times New Roman" pitchFamily="18" charset="0"/>
                <a:cs typeface="Times New Roman" pitchFamily="18" charset="0"/>
              </a:rPr>
              <a:t>1</a:t>
            </a:r>
            <a:r>
              <a:rPr lang="fr-FR" sz="2300" dirty="0">
                <a:solidFill>
                  <a:srgbClr val="0000FF"/>
                </a:solidFill>
                <a:latin typeface="Times New Roman" pitchFamily="18" charset="0"/>
                <a:cs typeface="Times New Roman" pitchFamily="18" charset="0"/>
              </a:rPr>
              <a:t>, Q</a:t>
            </a:r>
            <a:r>
              <a:rPr lang="fr-FR" sz="2300" baseline="-25000" dirty="0">
                <a:solidFill>
                  <a:srgbClr val="0000FF"/>
                </a:solidFill>
                <a:latin typeface="Times New Roman" pitchFamily="18" charset="0"/>
                <a:cs typeface="Times New Roman" pitchFamily="18" charset="0"/>
              </a:rPr>
              <a:t>2</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được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chọn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sao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cho</a:t>
            </a:r>
            <a:r>
              <a:rPr lang="fr-FR" sz="2300" dirty="0">
                <a:solidFill>
                  <a:srgbClr val="0000FF"/>
                </a:solidFill>
                <a:latin typeface="Times New Roman" pitchFamily="18" charset="0"/>
                <a:cs typeface="Times New Roman" pitchFamily="18" charset="0"/>
              </a:rPr>
              <a:t> MR</a:t>
            </a:r>
            <a:r>
              <a:rPr lang="fr-FR" sz="2300" baseline="-25000" dirty="0">
                <a:solidFill>
                  <a:srgbClr val="0000FF"/>
                </a:solidFill>
                <a:latin typeface="Times New Roman" pitchFamily="18" charset="0"/>
                <a:cs typeface="Times New Roman" pitchFamily="18" charset="0"/>
              </a:rPr>
              <a:t>1 </a:t>
            </a:r>
            <a:r>
              <a:rPr lang="fr-FR" sz="2300" dirty="0">
                <a:solidFill>
                  <a:srgbClr val="0000FF"/>
                </a:solidFill>
                <a:latin typeface="Times New Roman" pitchFamily="18" charset="0"/>
                <a:cs typeface="Times New Roman" pitchFamily="18" charset="0"/>
              </a:rPr>
              <a:t>= MR</a:t>
            </a:r>
            <a:r>
              <a:rPr lang="fr-FR" sz="2300" baseline="-25000" dirty="0">
                <a:solidFill>
                  <a:srgbClr val="0000FF"/>
                </a:solidFill>
                <a:latin typeface="Times New Roman" pitchFamily="18" charset="0"/>
                <a:cs typeface="Times New Roman" pitchFamily="18" charset="0"/>
              </a:rPr>
              <a:t>2 </a:t>
            </a:r>
            <a:r>
              <a:rPr lang="fr-FR" sz="2300" dirty="0">
                <a:solidFill>
                  <a:srgbClr val="0000FF"/>
                </a:solidFill>
                <a:latin typeface="Times New Roman" pitchFamily="18" charset="0"/>
                <a:cs typeface="Times New Roman" pitchFamily="18" charset="0"/>
              </a:rPr>
              <a:t>=... =MC.</a:t>
            </a:r>
            <a:r>
              <a:rPr lang="en-US" sz="2300" dirty="0">
                <a:solidFill>
                  <a:srgbClr val="0000FF"/>
                </a:solidFill>
                <a:latin typeface="Times New Roman" pitchFamily="18" charset="0"/>
                <a:cs typeface="Times New Roman" pitchFamily="18" charset="0"/>
              </a:rPr>
              <a:t> </a:t>
            </a:r>
          </a:p>
        </p:txBody>
      </p:sp>
      <p:pic>
        <p:nvPicPr>
          <p:cNvPr id="245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057401"/>
            <a:ext cx="5475178" cy="381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085094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04800" y="172279"/>
            <a:ext cx="8534400" cy="6553200"/>
          </a:xfrm>
          <a:ln>
            <a:solidFill>
              <a:schemeClr val="tx1"/>
            </a:solidFill>
          </a:ln>
        </p:spPr>
        <p:txBody>
          <a:bodyPr>
            <a:noAutofit/>
          </a:bodyPr>
          <a:lstStyle/>
          <a:p>
            <a:pPr algn="just"/>
            <a:r>
              <a:rPr lang="fr-FR" sz="2400" b="1" dirty="0">
                <a:solidFill>
                  <a:srgbClr val="0000FF"/>
                </a:solidFill>
                <a:latin typeface="Times New Roman" pitchFamily="18" charset="0"/>
                <a:cs typeface="Times New Roman" pitchFamily="18" charset="0"/>
              </a:rPr>
              <a:t>5.4. </a:t>
            </a:r>
            <a:r>
              <a:rPr lang="fr-FR" sz="2400" b="1" dirty="0" err="1">
                <a:solidFill>
                  <a:srgbClr val="0000FF"/>
                </a:solidFill>
                <a:latin typeface="Times New Roman" pitchFamily="18" charset="0"/>
                <a:cs typeface="Times New Roman" pitchFamily="18" charset="0"/>
              </a:rPr>
              <a:t>Cạnh</a:t>
            </a:r>
            <a:r>
              <a:rPr lang="fr-FR" sz="2400" b="1" dirty="0">
                <a:solidFill>
                  <a:srgbClr val="0000FF"/>
                </a:solidFill>
                <a:latin typeface="Times New Roman" pitchFamily="18" charset="0"/>
                <a:cs typeface="Times New Roman" pitchFamily="18" charset="0"/>
              </a:rPr>
              <a:t> </a:t>
            </a:r>
            <a:r>
              <a:rPr lang="fr-FR" sz="2400" b="1" dirty="0" err="1">
                <a:solidFill>
                  <a:srgbClr val="0000FF"/>
                </a:solidFill>
                <a:latin typeface="Times New Roman" pitchFamily="18" charset="0"/>
                <a:cs typeface="Times New Roman" pitchFamily="18" charset="0"/>
              </a:rPr>
              <a:t>tranh</a:t>
            </a:r>
            <a:r>
              <a:rPr lang="fr-FR" sz="2400" b="1" dirty="0">
                <a:solidFill>
                  <a:srgbClr val="0000FF"/>
                </a:solidFill>
                <a:latin typeface="Times New Roman" pitchFamily="18" charset="0"/>
                <a:cs typeface="Times New Roman" pitchFamily="18" charset="0"/>
              </a:rPr>
              <a:t> </a:t>
            </a:r>
            <a:r>
              <a:rPr lang="fr-FR" sz="2400" b="1" dirty="0" err="1">
                <a:solidFill>
                  <a:srgbClr val="0000FF"/>
                </a:solidFill>
                <a:latin typeface="Times New Roman" pitchFamily="18" charset="0"/>
                <a:cs typeface="Times New Roman" pitchFamily="18" charset="0"/>
              </a:rPr>
              <a:t>độc</a:t>
            </a:r>
            <a:r>
              <a:rPr lang="fr-FR" sz="2400" b="1" dirty="0">
                <a:solidFill>
                  <a:srgbClr val="0000FF"/>
                </a:solidFill>
                <a:latin typeface="Times New Roman" pitchFamily="18" charset="0"/>
                <a:cs typeface="Times New Roman" pitchFamily="18" charset="0"/>
              </a:rPr>
              <a:t> </a:t>
            </a:r>
            <a:r>
              <a:rPr lang="fr-FR" sz="2400" b="1" dirty="0" err="1">
                <a:solidFill>
                  <a:srgbClr val="0000FF"/>
                </a:solidFill>
                <a:latin typeface="Times New Roman" pitchFamily="18" charset="0"/>
                <a:cs typeface="Times New Roman" pitchFamily="18" charset="0"/>
              </a:rPr>
              <a:t>quyền</a:t>
            </a:r>
            <a:r>
              <a:rPr lang="fr-FR" sz="2400" b="1" dirty="0">
                <a:solidFill>
                  <a:srgbClr val="0000FF"/>
                </a:solidFill>
                <a:latin typeface="Times New Roman" pitchFamily="18" charset="0"/>
                <a:cs typeface="Times New Roman" pitchFamily="18" charset="0"/>
              </a:rPr>
              <a:t> </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5.4.1. </a:t>
            </a:r>
            <a:r>
              <a:rPr lang="fr-FR" sz="2400" b="1" i="1" dirty="0" err="1">
                <a:solidFill>
                  <a:srgbClr val="0000FF"/>
                </a:solidFill>
                <a:latin typeface="Times New Roman" pitchFamily="18" charset="0"/>
                <a:cs typeface="Times New Roman" pitchFamily="18" charset="0"/>
              </a:rPr>
              <a:t>Đặc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điểm</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của</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cạnh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tranh</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(CTĐQ)</a:t>
            </a:r>
            <a:endParaRPr lang="en-US" sz="2400" b="1" i="1" dirty="0">
              <a:solidFill>
                <a:srgbClr val="0000FF"/>
              </a:solidFill>
              <a:latin typeface="Times New Roman" pitchFamily="18" charset="0"/>
              <a:cs typeface="Times New Roman" pitchFamily="18" charset="0"/>
            </a:endParaRPr>
          </a:p>
          <a:p>
            <a:pPr algn="just"/>
            <a:r>
              <a:rPr lang="fr-FR" sz="2300" i="1" dirty="0" err="1">
                <a:solidFill>
                  <a:srgbClr val="0000FF"/>
                </a:solidFill>
                <a:latin typeface="Times New Roman" pitchFamily="18" charset="0"/>
                <a:cs typeface="Times New Roman" pitchFamily="18" charset="0"/>
              </a:rPr>
              <a:t>Thị</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trường</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cạnh</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tranh</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độc</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quyền</a:t>
            </a:r>
            <a:r>
              <a:rPr lang="fr-FR" sz="2300" dirty="0">
                <a:solidFill>
                  <a:srgbClr val="0000FF"/>
                </a:solidFill>
                <a:latin typeface="Times New Roman" pitchFamily="18" charset="0"/>
                <a:cs typeface="Times New Roman" pitchFamily="18" charset="0"/>
              </a:rPr>
              <a:t> là </a:t>
            </a:r>
            <a:r>
              <a:rPr lang="fr-FR" sz="2300" dirty="0" err="1">
                <a:solidFill>
                  <a:srgbClr val="0000FF"/>
                </a:solidFill>
                <a:latin typeface="Times New Roman" pitchFamily="18" charset="0"/>
                <a:cs typeface="Times New Roman" pitchFamily="18" charset="0"/>
              </a:rPr>
              <a:t>thị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trong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nhiều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người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xuất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bán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một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loại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phẩm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nhất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định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và</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nhiều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người</a:t>
            </a:r>
            <a:r>
              <a:rPr lang="fr-FR" sz="2300" dirty="0">
                <a:solidFill>
                  <a:srgbClr val="0000FF"/>
                </a:solidFill>
                <a:latin typeface="Times New Roman" pitchFamily="18" charset="0"/>
                <a:cs typeface="Times New Roman" pitchFamily="18" charset="0"/>
              </a:rPr>
              <a:t> mua.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phẩm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tương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tự</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nhưng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không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phải</a:t>
            </a:r>
            <a:r>
              <a:rPr lang="fr-FR" sz="2300" dirty="0">
                <a:solidFill>
                  <a:srgbClr val="0000FF"/>
                </a:solidFill>
                <a:latin typeface="Times New Roman" pitchFamily="18" charset="0"/>
                <a:cs typeface="Times New Roman" pitchFamily="18" charset="0"/>
              </a:rPr>
              <a:t> là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phẩm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thay</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thế</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hoàn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hảo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Số</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lượng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người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bán</a:t>
            </a:r>
            <a:r>
              <a:rPr lang="fr-FR" sz="2300" dirty="0">
                <a:solidFill>
                  <a:srgbClr val="0000FF"/>
                </a:solidFill>
                <a:latin typeface="Times New Roman" pitchFamily="18" charset="0"/>
                <a:cs typeface="Times New Roman" pitchFamily="18" charset="0"/>
              </a:rPr>
              <a:t> là </a:t>
            </a:r>
            <a:r>
              <a:rPr lang="fr-FR" sz="2300" dirty="0" err="1">
                <a:solidFill>
                  <a:srgbClr val="0000FF"/>
                </a:solidFill>
                <a:latin typeface="Times New Roman" pitchFamily="18" charset="0"/>
                <a:cs typeface="Times New Roman" pitchFamily="18" charset="0"/>
              </a:rPr>
              <a:t>tương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đối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lớn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vì</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vậy</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quyết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định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mỗi</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không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gây</a:t>
            </a:r>
            <a:r>
              <a:rPr lang="fr-FR" sz="2300" dirty="0">
                <a:solidFill>
                  <a:srgbClr val="0000FF"/>
                </a:solidFill>
                <a:latin typeface="Times New Roman" pitchFamily="18" charset="0"/>
                <a:cs typeface="Times New Roman" pitchFamily="18" charset="0"/>
              </a:rPr>
              <a:t> ra </a:t>
            </a:r>
            <a:r>
              <a:rPr lang="fr-FR" sz="2300" dirty="0" err="1">
                <a:solidFill>
                  <a:srgbClr val="0000FF"/>
                </a:solidFill>
                <a:latin typeface="Times New Roman" pitchFamily="18" charset="0"/>
                <a:cs typeface="Times New Roman" pitchFamily="18" charset="0"/>
              </a:rPr>
              <a:t>sự</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điều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chỉnh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hành</a:t>
            </a:r>
            <a:r>
              <a:rPr lang="fr-FR" sz="2300" dirty="0">
                <a:solidFill>
                  <a:srgbClr val="0000FF"/>
                </a:solidFill>
                <a:latin typeface="Times New Roman" pitchFamily="18" charset="0"/>
                <a:cs typeface="Times New Roman" pitchFamily="18" charset="0"/>
              </a:rPr>
              <a:t> vi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khác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Ngoài</a:t>
            </a:r>
            <a:r>
              <a:rPr lang="fr-FR" sz="2300" dirty="0">
                <a:solidFill>
                  <a:srgbClr val="0000FF"/>
                </a:solidFill>
                <a:latin typeface="Times New Roman" pitchFamily="18" charset="0"/>
                <a:cs typeface="Times New Roman" pitchFamily="18" charset="0"/>
              </a:rPr>
              <a:t>  ra,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cũng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dễ</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dàng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vào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với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hiệu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họ</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trong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ngành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cũng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tự</a:t>
            </a:r>
            <a:r>
              <a:rPr lang="fr-FR" sz="2300" dirty="0">
                <a:solidFill>
                  <a:srgbClr val="0000FF"/>
                </a:solidFill>
                <a:latin typeface="Times New Roman" pitchFamily="18" charset="0"/>
                <a:cs typeface="Times New Roman" pitchFamily="18" charset="0"/>
              </a:rPr>
              <a:t> do </a:t>
            </a:r>
            <a:r>
              <a:rPr lang="fr-FR" sz="2300" dirty="0" err="1">
                <a:solidFill>
                  <a:srgbClr val="0000FF"/>
                </a:solidFill>
                <a:latin typeface="Times New Roman" pitchFamily="18" charset="0"/>
                <a:cs typeface="Times New Roman" pitchFamily="18" charset="0"/>
              </a:rPr>
              <a:t>rút</a:t>
            </a:r>
            <a:r>
              <a:rPr lang="fr-FR" sz="2300" dirty="0">
                <a:solidFill>
                  <a:srgbClr val="0000FF"/>
                </a:solidFill>
                <a:latin typeface="Times New Roman" pitchFamily="18" charset="0"/>
                <a:cs typeface="Times New Roman" pitchFamily="18" charset="0"/>
              </a:rPr>
              <a:t> lui </a:t>
            </a:r>
            <a:r>
              <a:rPr lang="fr-FR" sz="2300" dirty="0" err="1">
                <a:solidFill>
                  <a:srgbClr val="0000FF"/>
                </a:solidFill>
                <a:latin typeface="Times New Roman" pitchFamily="18" charset="0"/>
                <a:cs typeface="Times New Roman" pitchFamily="18" charset="0"/>
              </a:rPr>
              <a:t>khỏi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ngành</a:t>
            </a:r>
            <a:r>
              <a:rPr lang="fr-FR" sz="2300" dirty="0">
                <a:solidFill>
                  <a:srgbClr val="0000FF"/>
                </a:solidFill>
                <a:latin typeface="Times New Roman" pitchFamily="18" charset="0"/>
                <a:cs typeface="Times New Roman" pitchFamily="18" charset="0"/>
              </a:rPr>
              <a:t> khi </a:t>
            </a:r>
            <a:r>
              <a:rPr lang="fr-FR" sz="2300" dirty="0" err="1">
                <a:solidFill>
                  <a:srgbClr val="0000FF"/>
                </a:solidFill>
                <a:latin typeface="Times New Roman" pitchFamily="18" charset="0"/>
                <a:cs typeface="Times New Roman" pitchFamily="18" charset="0"/>
              </a:rPr>
              <a:t>không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có</a:t>
            </a:r>
            <a:r>
              <a:rPr lang="fr-FR" sz="2300" dirty="0">
                <a:solidFill>
                  <a:srgbClr val="0000FF"/>
                </a:solidFill>
                <a:latin typeface="Times New Roman" pitchFamily="18" charset="0"/>
                <a:cs typeface="Times New Roman" pitchFamily="18" charset="0"/>
              </a:rPr>
              <a:t> LN.</a:t>
            </a:r>
            <a:endParaRPr lang="en-US" sz="2300" dirty="0">
              <a:solidFill>
                <a:srgbClr val="0000FF"/>
              </a:solidFill>
              <a:latin typeface="Times New Roman" pitchFamily="18" charset="0"/>
              <a:cs typeface="Times New Roman" pitchFamily="18" charset="0"/>
            </a:endParaRPr>
          </a:p>
          <a:p>
            <a:pPr algn="just"/>
            <a:r>
              <a:rPr lang="fr-FR" sz="2300" i="1" dirty="0" err="1">
                <a:solidFill>
                  <a:srgbClr val="0000FF"/>
                </a:solidFill>
                <a:latin typeface="Times New Roman" pitchFamily="18" charset="0"/>
                <a:cs typeface="Times New Roman" pitchFamily="18" charset="0"/>
              </a:rPr>
              <a:t>Doanh</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nghiệp</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trong</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thị</a:t>
            </a:r>
            <a:r>
              <a:rPr lang="fr-FR" sz="2300" i="1" dirty="0">
                <a:solidFill>
                  <a:srgbClr val="0000FF"/>
                </a:solidFill>
                <a:latin typeface="Times New Roman" pitchFamily="18" charset="0"/>
                <a:cs typeface="Times New Roman" pitchFamily="18" charset="0"/>
              </a:rPr>
              <a:t> </a:t>
            </a:r>
            <a:r>
              <a:rPr lang="fr-FR" sz="2300" i="1" dirty="0" err="1">
                <a:solidFill>
                  <a:srgbClr val="0000FF"/>
                </a:solidFill>
                <a:latin typeface="Times New Roman" pitchFamily="18" charset="0"/>
                <a:cs typeface="Times New Roman" pitchFamily="18" charset="0"/>
              </a:rPr>
              <a:t>trường</a:t>
            </a:r>
            <a:r>
              <a:rPr lang="fr-FR" sz="2300" i="1" dirty="0">
                <a:solidFill>
                  <a:srgbClr val="0000FF"/>
                </a:solidFill>
                <a:latin typeface="Times New Roman" pitchFamily="18" charset="0"/>
                <a:cs typeface="Times New Roman" pitchFamily="18" charset="0"/>
              </a:rPr>
              <a:t> CTĐQ </a:t>
            </a:r>
            <a:r>
              <a:rPr lang="fr-FR" sz="2300" dirty="0" err="1">
                <a:solidFill>
                  <a:srgbClr val="0000FF"/>
                </a:solidFill>
                <a:latin typeface="Times New Roman" pitchFamily="18" charset="0"/>
                <a:cs typeface="Times New Roman" pitchFamily="18" charset="0"/>
              </a:rPr>
              <a:t>có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mạnh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nhưng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luôn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đe</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dọa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bởi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ép</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cạnh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tranh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tiềm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tàng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các</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khác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cung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ứng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những</a:t>
            </a:r>
            <a:r>
              <a:rPr lang="fr-FR" sz="2300" dirty="0">
                <a:solidFill>
                  <a:srgbClr val="0000FF"/>
                </a:solidFill>
                <a:latin typeface="Times New Roman" pitchFamily="18" charset="0"/>
                <a:cs typeface="Times New Roman" pitchFamily="18" charset="0"/>
              </a:rPr>
              <a:t> SP </a:t>
            </a:r>
            <a:r>
              <a:rPr lang="fr-FR" sz="2300" dirty="0" err="1">
                <a:solidFill>
                  <a:srgbClr val="0000FF"/>
                </a:solidFill>
                <a:latin typeface="Times New Roman" pitchFamily="18" charset="0"/>
                <a:cs typeface="Times New Roman" pitchFamily="18" charset="0"/>
              </a:rPr>
              <a:t>tương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đồng</a:t>
            </a:r>
            <a:r>
              <a:rPr lang="fr-FR" sz="2300" dirty="0">
                <a:solidFill>
                  <a:srgbClr val="0000FF"/>
                </a:solidFill>
                <a:latin typeface="Times New Roman" pitchFamily="18" charset="0"/>
                <a:cs typeface="Times New Roman" pitchFamily="18" charset="0"/>
              </a:rPr>
              <a:t>. Do </a:t>
            </a:r>
            <a:r>
              <a:rPr lang="fr-FR" sz="2300" dirty="0" err="1">
                <a:solidFill>
                  <a:srgbClr val="0000FF"/>
                </a:solidFill>
                <a:latin typeface="Times New Roman" pitchFamily="18" charset="0"/>
                <a:cs typeface="Times New Roman" pitchFamily="18" charset="0"/>
              </a:rPr>
              <a:t>đó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cầu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về</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phẩm</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luôn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biến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động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theo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sức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ép</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cạnh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tranh</a:t>
            </a:r>
            <a:r>
              <a:rPr lang="fr-FR" sz="2300" dirty="0">
                <a:solidFill>
                  <a:srgbClr val="0000FF"/>
                </a:solidFill>
                <a:latin typeface="Times New Roman" pitchFamily="18" charset="0"/>
                <a:cs typeface="Times New Roman" pitchFamily="18" charset="0"/>
              </a:rPr>
              <a:t>.</a:t>
            </a:r>
            <a:r>
              <a:rPr lang="vi-VN" sz="2300" dirty="0">
                <a:solidFill>
                  <a:srgbClr val="0000FF"/>
                </a:solidFill>
                <a:latin typeface="Times New Roman" pitchFamily="18" charset="0"/>
                <a:cs typeface="Times New Roman" pitchFamily="18" charset="0"/>
              </a:rPr>
              <a:t> </a:t>
            </a:r>
            <a:r>
              <a:rPr lang="fr-FR" sz="2300" dirty="0">
                <a:solidFill>
                  <a:srgbClr val="0000FF"/>
                </a:solidFill>
                <a:latin typeface="Times New Roman" pitchFamily="18" charset="0"/>
                <a:cs typeface="Times New Roman" pitchFamily="18" charset="0"/>
              </a:rPr>
              <a:t>Co </a:t>
            </a:r>
            <a:r>
              <a:rPr lang="fr-FR" sz="2300" dirty="0" err="1">
                <a:solidFill>
                  <a:srgbClr val="0000FF"/>
                </a:solidFill>
                <a:latin typeface="Times New Roman" pitchFamily="18" charset="0"/>
                <a:cs typeface="Times New Roman" pitchFamily="18" charset="0"/>
              </a:rPr>
              <a:t>giãn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cầu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theo</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lớn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nhưng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không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phải</a:t>
            </a:r>
            <a:r>
              <a:rPr lang="fr-FR" sz="2300" dirty="0">
                <a:solidFill>
                  <a:srgbClr val="0000FF"/>
                </a:solidFill>
                <a:latin typeface="Times New Roman" pitchFamily="18" charset="0"/>
                <a:cs typeface="Times New Roman" pitchFamily="18" charset="0"/>
              </a:rPr>
              <a:t> là </a:t>
            </a:r>
            <a:r>
              <a:rPr lang="fr-FR" sz="2300" dirty="0" err="1">
                <a:solidFill>
                  <a:srgbClr val="0000FF"/>
                </a:solidFill>
                <a:latin typeface="Times New Roman" pitchFamily="18" charset="0"/>
                <a:cs typeface="Times New Roman" pitchFamily="18" charset="0"/>
              </a:rPr>
              <a:t>vô</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hạn</a:t>
            </a:r>
            <a:r>
              <a:rPr lang="fr-FR" sz="2300" dirty="0">
                <a:solidFill>
                  <a:srgbClr val="0000FF"/>
                </a:solidFill>
                <a:latin typeface="Times New Roman" pitchFamily="18" charset="0"/>
                <a:cs typeface="Times New Roman" pitchFamily="18" charset="0"/>
              </a:rPr>
              <a:t>. DN là </a:t>
            </a:r>
            <a:r>
              <a:rPr lang="fr-FR" sz="2300" dirty="0" err="1">
                <a:solidFill>
                  <a:srgbClr val="0000FF"/>
                </a:solidFill>
                <a:latin typeface="Times New Roman" pitchFamily="18" charset="0"/>
                <a:cs typeface="Times New Roman" pitchFamily="18" charset="0"/>
              </a:rPr>
              <a:t>người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chấp</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nhận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mặt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bằng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chung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nhưng</a:t>
            </a:r>
            <a:r>
              <a:rPr lang="fr-FR" sz="2300" dirty="0">
                <a:solidFill>
                  <a:srgbClr val="0000FF"/>
                </a:solidFill>
                <a:latin typeface="Times New Roman" pitchFamily="18" charset="0"/>
                <a:cs typeface="Times New Roman" pitchFamily="18" charset="0"/>
              </a:rPr>
              <a:t> DN </a:t>
            </a:r>
            <a:r>
              <a:rPr lang="fr-FR" sz="2300" dirty="0" err="1">
                <a:solidFill>
                  <a:srgbClr val="0000FF"/>
                </a:solidFill>
                <a:latin typeface="Times New Roman" pitchFamily="18" charset="0"/>
                <a:cs typeface="Times New Roman" pitchFamily="18" charset="0"/>
              </a:rPr>
              <a:t>cũng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có</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quyền</a:t>
            </a:r>
            <a:r>
              <a:rPr lang="fr-FR" sz="2300" dirty="0">
                <a:solidFill>
                  <a:srgbClr val="0000FF"/>
                </a:solidFill>
                <a:latin typeface="Times New Roman" pitchFamily="18" charset="0"/>
                <a:cs typeface="Times New Roman" pitchFamily="18" charset="0"/>
              </a:rPr>
              <a:t> chi </a:t>
            </a:r>
            <a:r>
              <a:rPr lang="fr-FR" sz="2300" dirty="0" err="1">
                <a:solidFill>
                  <a:srgbClr val="0000FF"/>
                </a:solidFill>
                <a:latin typeface="Times New Roman" pitchFamily="18" charset="0"/>
                <a:cs typeface="Times New Roman" pitchFamily="18" charset="0"/>
              </a:rPr>
              <a:t>phối</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đến</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cả</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của</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riêng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mình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Kết</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quả</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thị</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trường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hình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thành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nhiều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mức</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giá</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nhưng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chênh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lệch</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nhau</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không</a:t>
            </a:r>
            <a:r>
              <a:rPr lang="fr-FR" sz="2300" dirty="0">
                <a:solidFill>
                  <a:srgbClr val="0000FF"/>
                </a:solidFill>
                <a:latin typeface="Times New Roman" pitchFamily="18" charset="0"/>
                <a:cs typeface="Times New Roman" pitchFamily="18" charset="0"/>
              </a:rPr>
              <a:t> </a:t>
            </a:r>
            <a:r>
              <a:rPr lang="fr-FR" sz="2300" dirty="0" err="1">
                <a:solidFill>
                  <a:srgbClr val="0000FF"/>
                </a:solidFill>
                <a:latin typeface="Times New Roman" pitchFamily="18" charset="0"/>
                <a:cs typeface="Times New Roman" pitchFamily="18" charset="0"/>
              </a:rPr>
              <a:t>lớn</a:t>
            </a:r>
            <a:r>
              <a:rPr lang="fr-FR" sz="2300" dirty="0">
                <a:solidFill>
                  <a:srgbClr val="0000FF"/>
                </a:solidFill>
                <a:latin typeface="Times New Roman" pitchFamily="18" charset="0"/>
                <a:cs typeface="Times New Roman" pitchFamily="18" charset="0"/>
              </a:rPr>
              <a:t>.</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89076226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04800" y="172279"/>
            <a:ext cx="8382000"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5.5. </a:t>
            </a:r>
            <a:r>
              <a:rPr lang="en-US" sz="2400" b="1" dirty="0" err="1">
                <a:solidFill>
                  <a:srgbClr val="0000FF"/>
                </a:solidFill>
                <a:latin typeface="Times New Roman" pitchFamily="18" charset="0"/>
                <a:cs typeface="Times New Roman" pitchFamily="18" charset="0"/>
              </a:rPr>
              <a:t>Độc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quyền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tập</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đoàn</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5.5.1. </a:t>
            </a:r>
            <a:r>
              <a:rPr lang="fr-FR" sz="2400" b="1" i="1" dirty="0" err="1">
                <a:solidFill>
                  <a:srgbClr val="0000FF"/>
                </a:solidFill>
                <a:latin typeface="Times New Roman" pitchFamily="18" charset="0"/>
                <a:cs typeface="Times New Roman" pitchFamily="18" charset="0"/>
              </a:rPr>
              <a:t>Đặc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điểm</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tập</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đoàn</a:t>
            </a:r>
            <a:endParaRPr lang="en-US" sz="2400" b="1" i="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vậy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biệt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biệt</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thủ</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Ngoài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xâm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rút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khỏi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khó</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bị</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nhằm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vọng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trước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thiệt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thủ</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19095480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04800" y="172279"/>
            <a:ext cx="8427012"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5.5. </a:t>
            </a:r>
            <a:r>
              <a:rPr lang="en-US" sz="2400" b="1" dirty="0" err="1">
                <a:solidFill>
                  <a:srgbClr val="0000FF"/>
                </a:solidFill>
                <a:latin typeface="Times New Roman" pitchFamily="18" charset="0"/>
                <a:cs typeface="Times New Roman" pitchFamily="18" charset="0"/>
              </a:rPr>
              <a:t>Độc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quyền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tập</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đoàn</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5.5.2.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trong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độc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quyền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tập</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đoàn</a:t>
            </a:r>
            <a:endParaRPr lang="en-US" sz="2400" b="1" i="1"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thủ</a:t>
            </a:r>
            <a:r>
              <a:rPr lang="en-US" sz="2400" dirty="0">
                <a:solidFill>
                  <a:srgbClr val="0000FF"/>
                </a:solidFill>
                <a:latin typeface="Times New Roman" pitchFamily="18" charset="0"/>
                <a:cs typeface="Times New Roman" pitchFamily="18" charset="0"/>
              </a:rPr>
              <a:t>. Khi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a:t>
            </a:r>
            <a:endParaRPr lang="vi-VN" sz="2400" b="1" dirty="0">
              <a:solidFill>
                <a:srgbClr val="0000FF"/>
              </a:solidFill>
              <a:latin typeface="Times New Roman" pitchFamily="18" charset="0"/>
              <a:cs typeface="Times New Roman" pitchFamily="18" charset="0"/>
            </a:endParaRPr>
          </a:p>
          <a:p>
            <a:pPr algn="just"/>
            <a:endParaRPr lang="vi-VN" sz="2400" dirty="0">
              <a:solidFill>
                <a:srgbClr val="0000FF"/>
              </a:solidFill>
              <a:latin typeface="Times New Roman" pitchFamily="18" charset="0"/>
              <a:cs typeface="Times New Roman" pitchFamily="18" charset="0"/>
            </a:endParaRPr>
          </a:p>
          <a:p>
            <a:pPr algn="just"/>
            <a:r>
              <a:rPr lang="vi-VN" sz="2400" dirty="0">
                <a:solidFill>
                  <a:srgbClr val="0000FF"/>
                </a:solidFill>
                <a:latin typeface="Times New Roman" pitchFamily="18" charset="0"/>
                <a:cs typeface="Times New Roman" pitchFamily="18" charset="0"/>
              </a:rPr>
              <a:t>(HV tự nghiên cứu)</a:t>
            </a:r>
            <a:endParaRPr lang="en-US" sz="2400" dirty="0">
              <a:solidFill>
                <a:srgbClr val="0000FF"/>
              </a:solidFill>
              <a:latin typeface="Times New Roman" pitchFamily="18" charset="0"/>
              <a:cs typeface="Times New Roman" pitchFamily="18" charset="0"/>
            </a:endParaRPr>
          </a:p>
          <a:p>
            <a:pPr algn="just"/>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5310243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r>
              <a:rPr lang="en-US" sz="2300" b="1" dirty="0">
                <a:solidFill>
                  <a:srgbClr val="0000FF"/>
                </a:solidFill>
                <a:latin typeface="Times New Roman" pitchFamily="18" charset="0"/>
              </a:rPr>
              <a:t>CHƯƠNG 6</a:t>
            </a:r>
          </a:p>
          <a:p>
            <a:r>
              <a:rPr lang="en-US" sz="2300" b="1" dirty="0">
                <a:solidFill>
                  <a:srgbClr val="0000FF"/>
                </a:solidFill>
                <a:latin typeface="Times New Roman" pitchFamily="18" charset="0"/>
              </a:rPr>
              <a:t>THỊ TRƯỜNG YẾU TỐ SẢN XUẤT</a:t>
            </a:r>
          </a:p>
          <a:p>
            <a:pPr algn="just"/>
            <a:r>
              <a:rPr lang="en-US" sz="2400" b="1" dirty="0">
                <a:solidFill>
                  <a:srgbClr val="0000FF"/>
                </a:solidFill>
                <a:latin typeface="Times New Roman" pitchFamily="18" charset="0"/>
                <a:cs typeface="Times New Roman" pitchFamily="18" charset="0"/>
              </a:rPr>
              <a:t>6.1.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chia </a:t>
            </a:r>
            <a:r>
              <a:rPr lang="en-US" sz="2400" dirty="0" err="1">
                <a:solidFill>
                  <a:srgbClr val="0000FF"/>
                </a:solidFill>
                <a:latin typeface="Times New Roman" pitchFamily="18" charset="0"/>
                <a:cs typeface="Times New Roman" pitchFamily="18" charset="0"/>
              </a:rPr>
              <a:t>thành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nhóm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p>
          <a:p>
            <a:pPr algn="just"/>
            <a:r>
              <a:rPr lang="en-US" sz="2400" dirty="0">
                <a:solidFill>
                  <a:srgbClr val="0000FF"/>
                </a:solidFill>
                <a:latin typeface="Times New Roman" pitchFamily="18" charset="0"/>
                <a:cs typeface="Times New Roman" pitchFamily="18" charset="0"/>
              </a:rPr>
              <a:t>+ Lao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con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vốn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do con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máy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móc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thiết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xưởng</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gọi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suất</a:t>
            </a:r>
            <a:r>
              <a:rPr lang="en-US" sz="2400"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nguyên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gốc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chẳng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tô</a:t>
            </a:r>
            <a:r>
              <a:rPr lang="en-US" sz="2400" dirty="0">
                <a:solidFill>
                  <a:srgbClr val="0000FF"/>
                </a:solidFill>
                <a:latin typeface="Times New Roman" pitchFamily="18" charset="0"/>
                <a:cs typeface="Times New Roman" pitchFamily="18" charset="0"/>
              </a:rPr>
              <a:t>.</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23254056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6.1.1. </a:t>
            </a:r>
            <a:r>
              <a:rPr lang="fr-FR" sz="2400" b="1" i="1" dirty="0" err="1">
                <a:solidFill>
                  <a:srgbClr val="0000FF"/>
                </a:solidFill>
                <a:latin typeface="Times New Roman" pitchFamily="18" charset="0"/>
                <a:cs typeface="Times New Roman" pitchFamily="18" charset="0"/>
              </a:rPr>
              <a:t>Cầu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đối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với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yếu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tố</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sản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xuất</a:t>
            </a:r>
            <a:endParaRPr lang="en-US" sz="2400" b="1" i="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luôn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luôn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tùy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theo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Tuy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kép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hiện</a:t>
            </a:r>
            <a:r>
              <a:rPr lang="en-US" sz="2400" dirty="0">
                <a:solidFill>
                  <a:srgbClr val="0000FF"/>
                </a:solidFill>
                <a:latin typeface="Times New Roman" pitchFamily="18" charset="0"/>
                <a:cs typeface="Times New Roman" pitchFamily="18" charset="0"/>
              </a:rPr>
              <a:t>. </a:t>
            </a:r>
          </a:p>
          <a:p>
            <a:pPr algn="just"/>
            <a:r>
              <a:rPr lang="en-US" sz="2400" dirty="0" err="1">
                <a:solidFill>
                  <a:srgbClr val="0000FF"/>
                </a:solidFill>
                <a:latin typeface="Times New Roman" pitchFamily="18" charset="0"/>
                <a:cs typeface="Times New Roman" pitchFamily="18" charset="0"/>
              </a:rPr>
              <a:t>Mặc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song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biệt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lưu</a:t>
            </a:r>
            <a:r>
              <a:rPr lang="en-US" sz="2400" dirty="0">
                <a:solidFill>
                  <a:srgbClr val="0000FF"/>
                </a:solidFill>
                <a:latin typeface="Times New Roman" pitchFamily="18" charset="0"/>
                <a:cs typeface="Times New Roman" pitchFamily="18" charset="0"/>
              </a:rPr>
              <a:t> ý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sinh</a:t>
            </a:r>
            <a:r>
              <a:rPr lang="en-US" sz="2400" dirty="0">
                <a:solidFill>
                  <a:srgbClr val="0000FF"/>
                </a:solidFill>
                <a:latin typeface="Times New Roman" pitchFamily="18" charset="0"/>
                <a:cs typeface="Times New Roman" pitchFamily="18" charset="0"/>
              </a:rPr>
              <a:t> (derived demand).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thỏa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đòi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hỏi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con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gốc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chúng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vậy</a:t>
            </a:r>
            <a:r>
              <a:rPr lang="en-US" sz="2400"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các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là</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cầu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thứ</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phát</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32055581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6.1.1. </a:t>
            </a:r>
            <a:r>
              <a:rPr lang="fr-FR" sz="2400" b="1" i="1" dirty="0" err="1">
                <a:solidFill>
                  <a:srgbClr val="0000FF"/>
                </a:solidFill>
                <a:latin typeface="Times New Roman" pitchFamily="18" charset="0"/>
                <a:cs typeface="Times New Roman" pitchFamily="18" charset="0"/>
              </a:rPr>
              <a:t>Cầu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đối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với</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các</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yếu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tố</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sản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xuất</a:t>
            </a:r>
            <a:endParaRPr lang="en-US" sz="2400" b="1" i="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chúng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thợ</a:t>
            </a:r>
            <a:r>
              <a:rPr lang="en-US" sz="2400" dirty="0">
                <a:solidFill>
                  <a:srgbClr val="0000FF"/>
                </a:solidFill>
                <a:latin typeface="Times New Roman" pitchFamily="18" charset="0"/>
                <a:cs typeface="Times New Roman" pitchFamily="18" charset="0"/>
              </a:rPr>
              <a:t> may, hay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chiếc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máy</a:t>
            </a:r>
            <a:r>
              <a:rPr lang="en-US" sz="2400" dirty="0">
                <a:solidFill>
                  <a:srgbClr val="0000FF"/>
                </a:solidFill>
                <a:latin typeface="Times New Roman" pitchFamily="18" charset="0"/>
                <a:cs typeface="Times New Roman" pitchFamily="18" charset="0"/>
              </a:rPr>
              <a:t> may. </a:t>
            </a:r>
            <a:r>
              <a:rPr lang="en-US" sz="2400" dirty="0" err="1">
                <a:solidFill>
                  <a:srgbClr val="0000FF"/>
                </a:solidFill>
                <a:latin typeface="Times New Roman" pitchFamily="18" charset="0"/>
                <a:cs typeface="Times New Roman" pitchFamily="18" charset="0"/>
              </a:rPr>
              <a:t>Căn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cứ</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nghệ</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thuộc</a:t>
            </a:r>
            <a:r>
              <a:rPr lang="en-US" sz="2400" dirty="0">
                <a:solidFill>
                  <a:srgbClr val="0000FF"/>
                </a:solidFill>
                <a:latin typeface="Times New Roman" pitchFamily="18" charset="0"/>
                <a:cs typeface="Times New Roman" pitchFamily="18" charset="0"/>
              </a:rPr>
              <a:t> v</a:t>
            </a:r>
            <a:r>
              <a:rPr lang="vi-VN" sz="2400" dirty="0">
                <a:solidFill>
                  <a:srgbClr val="0000FF"/>
                </a:solidFill>
                <a:latin typeface="Times New Roman" pitchFamily="18" charset="0"/>
                <a:cs typeface="Times New Roman" pitchFamily="18" charset="0"/>
              </a:rPr>
              <a:t>à</a:t>
            </a:r>
            <a:r>
              <a:rPr lang="en-US" sz="2400" dirty="0">
                <a:solidFill>
                  <a:srgbClr val="0000FF"/>
                </a:solidFill>
                <a:latin typeface="Times New Roman" pitchFamily="18" charset="0"/>
                <a:cs typeface="Times New Roman" pitchFamily="18" charset="0"/>
              </a:rPr>
              <a:t>o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còn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Ví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a:t>
            </a:r>
            <a:r>
              <a:rPr lang="vi-VN" sz="2400" dirty="0">
                <a:solidFill>
                  <a:srgbClr val="0000FF"/>
                </a:solidFill>
                <a:latin typeface="Times New Roman" pitchFamily="18" charset="0"/>
                <a:cs typeface="Times New Roman" pitchFamily="18" charset="0"/>
              </a:rPr>
              <a:t>, c</a:t>
            </a:r>
            <a:r>
              <a:rPr lang="en-US" sz="2400" dirty="0" err="1">
                <a:solidFill>
                  <a:srgbClr val="0000FF"/>
                </a:solidFill>
                <a:latin typeface="Times New Roman" pitchFamily="18" charset="0"/>
                <a:cs typeface="Times New Roman" pitchFamily="18" charset="0"/>
              </a:rPr>
              <a:t>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ty</a:t>
            </a:r>
            <a:r>
              <a:rPr lang="en-US" sz="2400" dirty="0">
                <a:solidFill>
                  <a:srgbClr val="0000FF"/>
                </a:solidFill>
                <a:latin typeface="Times New Roman" pitchFamily="18" charset="0"/>
                <a:cs typeface="Times New Roman" pitchFamily="18" charset="0"/>
              </a:rPr>
              <a:t> may </a:t>
            </a:r>
            <a:r>
              <a:rPr lang="en-US" sz="2400" dirty="0" err="1">
                <a:solidFill>
                  <a:srgbClr val="0000FF"/>
                </a:solidFill>
                <a:latin typeface="Times New Roman" pitchFamily="18" charset="0"/>
                <a:cs typeface="Times New Roman" pitchFamily="18" charset="0"/>
              </a:rPr>
              <a:t>mặc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Dựa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sẽ </a:t>
            </a:r>
            <a:r>
              <a:rPr lang="en-US" sz="2400" dirty="0" err="1">
                <a:solidFill>
                  <a:srgbClr val="0000FF"/>
                </a:solidFill>
                <a:latin typeface="Times New Roman" pitchFamily="18" charset="0"/>
                <a:cs typeface="Times New Roman" pitchFamily="18" charset="0"/>
              </a:rPr>
              <a:t>tính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riêng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429085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6.1.1. </a:t>
            </a:r>
            <a:r>
              <a:rPr lang="fr-FR" sz="2300" b="1" i="1" dirty="0" err="1">
                <a:solidFill>
                  <a:srgbClr val="0000FF"/>
                </a:solidFill>
                <a:latin typeface="Times New Roman" pitchFamily="18" charset="0"/>
                <a:cs typeface="Times New Roman" pitchFamily="18" charset="0"/>
              </a:rPr>
              <a:t>Cầu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6.1.1.3. </a:t>
            </a:r>
            <a:r>
              <a:rPr lang="en-US" sz="2300" b="1" dirty="0" err="1">
                <a:solidFill>
                  <a:srgbClr val="0000FF"/>
                </a:solidFill>
                <a:latin typeface="Times New Roman" pitchFamily="18" charset="0"/>
                <a:cs typeface="Times New Roman" pitchFamily="18" charset="0"/>
              </a:rPr>
              <a:t>Cầu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một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yếu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tố</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trong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dài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hạn</a:t>
            </a:r>
            <a:endParaRPr lang="en-US" sz="2300" b="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luôn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hướng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kém</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mỗi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chọn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nhuận</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Chẳng hạn,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sẵn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rẻ</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so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sang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đắt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mỗi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tất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bất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lấy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lấy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dễ</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lớn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912497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6.1.1. </a:t>
            </a:r>
            <a:r>
              <a:rPr lang="fr-FR" sz="2300" b="1" i="1" dirty="0" err="1">
                <a:solidFill>
                  <a:srgbClr val="0000FF"/>
                </a:solidFill>
                <a:latin typeface="Times New Roman" pitchFamily="18" charset="0"/>
                <a:cs typeface="Times New Roman" pitchFamily="18" charset="0"/>
              </a:rPr>
              <a:t>Cầu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6.1.1.3. </a:t>
            </a:r>
            <a:r>
              <a:rPr lang="en-US" sz="2300" b="1" dirty="0" err="1">
                <a:solidFill>
                  <a:srgbClr val="0000FF"/>
                </a:solidFill>
                <a:latin typeface="Times New Roman" pitchFamily="18" charset="0"/>
                <a:cs typeface="Times New Roman" pitchFamily="18" charset="0"/>
              </a:rPr>
              <a:t>Cầu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một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yếu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tố</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trong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dài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hạn</a:t>
            </a:r>
            <a:endParaRPr lang="en-US" sz="2300" b="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lấy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tổng</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bây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giờ</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trả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trước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đây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chọn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còn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nhuận</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túy</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trước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so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lấy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còn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thuyết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864309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endParaRPr lang="en-US" sz="24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6.1.2. </a:t>
            </a:r>
            <a:r>
              <a:rPr lang="fr-FR" sz="2300" b="1" i="1" dirty="0" err="1">
                <a:solidFill>
                  <a:srgbClr val="0000FF"/>
                </a:solidFill>
                <a:latin typeface="Times New Roman" pitchFamily="18" charset="0"/>
                <a:cs typeface="Times New Roman" pitchFamily="18" charset="0"/>
              </a:rPr>
              <a:t>Đặc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điểm</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cung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mỗi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i="1"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xem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hữu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hữu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sẵn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sắt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thép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chẳng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gì</a:t>
            </a:r>
            <a:r>
              <a:rPr lang="en-US" sz="2300" dirty="0">
                <a:solidFill>
                  <a:srgbClr val="0000FF"/>
                </a:solidFill>
                <a:latin typeface="Times New Roman" pitchFamily="18" charset="0"/>
                <a:cs typeface="Times New Roman" pitchFamily="18" charset="0"/>
              </a:rPr>
              <a:t> so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đây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ta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đai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phục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88616334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endParaRPr lang="en-US" sz="24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6.1.2. </a:t>
            </a:r>
            <a:r>
              <a:rPr lang="fr-FR" sz="2300" b="1" i="1" dirty="0" err="1">
                <a:solidFill>
                  <a:srgbClr val="0000FF"/>
                </a:solidFill>
                <a:latin typeface="Times New Roman" pitchFamily="18" charset="0"/>
                <a:cs typeface="Times New Roman" pitchFamily="18" charset="0"/>
              </a:rPr>
              <a:t>Đặc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điểm</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cung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hữu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nhắc</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bán</a:t>
            </a:r>
            <a:r>
              <a:rPr lang="en-US" sz="2300" dirty="0">
                <a:solidFill>
                  <a:srgbClr val="0000FF"/>
                </a:solidFill>
                <a:latin typeface="Times New Roman" pitchFamily="18" charset="0"/>
                <a:cs typeface="Times New Roman" pitchFamily="18" charset="0"/>
              </a:rPr>
              <a:t>/</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Họ</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chọn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đem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giữ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mình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mục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đích</a:t>
            </a:r>
            <a:r>
              <a:rPr lang="en-US" sz="2300" dirty="0">
                <a:solidFill>
                  <a:srgbClr val="0000FF"/>
                </a:solidFill>
                <a:latin typeface="Times New Roman" pitchFamily="18" charset="0"/>
                <a:cs typeface="Times New Roman" pitchFamily="18" charset="0"/>
              </a:rPr>
              <a:t> phi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hữu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ròng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tắc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CTHH,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Theo </a:t>
            </a:r>
            <a:r>
              <a:rPr lang="en-US" sz="2300" dirty="0" err="1">
                <a:solidFill>
                  <a:srgbClr val="0000FF"/>
                </a:solidFill>
                <a:latin typeface="Times New Roman" pitchFamily="18" charset="0"/>
                <a:cs typeface="Times New Roman" pitchFamily="18" charset="0"/>
              </a:rPr>
              <a:t>quy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luật</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hội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còn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giống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giờ</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lớn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nghĩa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hướng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vậy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hình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51097138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6.1.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vấn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chung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về</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yếu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tố</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sản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xuất</a:t>
            </a:r>
            <a:endParaRPr lang="en-US" sz="24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6.1.2. </a:t>
            </a:r>
            <a:r>
              <a:rPr lang="fr-FR" sz="2300" b="1" i="1" dirty="0" err="1">
                <a:solidFill>
                  <a:srgbClr val="0000FF"/>
                </a:solidFill>
                <a:latin typeface="Times New Roman" pitchFamily="18" charset="0"/>
                <a:cs typeface="Times New Roman" pitchFamily="18" charset="0"/>
              </a:rPr>
              <a:t>Đặc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điểm</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cung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bị</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bởi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hữu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khoảng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co </a:t>
            </a:r>
            <a:r>
              <a:rPr lang="en-US" sz="2300" dirty="0" err="1">
                <a:solidFill>
                  <a:srgbClr val="0000FF"/>
                </a:solidFill>
                <a:latin typeface="Times New Roman" pitchFamily="18" charset="0"/>
                <a:cs typeface="Times New Roman" pitchFamily="18" charset="0"/>
              </a:rPr>
              <a:t>giãn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so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hình</a:t>
            </a:r>
            <a:r>
              <a:rPr lang="en-US" sz="2300" dirty="0">
                <a:solidFill>
                  <a:srgbClr val="0000FF"/>
                </a:solidFill>
                <a:latin typeface="Times New Roman" pitchFamily="18" charset="0"/>
                <a:cs typeface="Times New Roman" pitchFamily="18" charset="0"/>
              </a:rPr>
              <a:t> dung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thoải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so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72205251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6.1.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vấn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chung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yếu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tố</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sản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xuất</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6.1.3. </a:t>
            </a:r>
            <a:r>
              <a:rPr lang="fr-FR" sz="2300" b="1" i="1" dirty="0" err="1">
                <a:solidFill>
                  <a:srgbClr val="0000FF"/>
                </a:solidFill>
                <a:latin typeface="Times New Roman" pitchFamily="18" charset="0"/>
                <a:cs typeface="Times New Roman" pitchFamily="18" charset="0"/>
              </a:rPr>
              <a:t>Quan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hệ</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cung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cầu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trên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cạnh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tranh</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Giả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D</a:t>
            </a:r>
            <a:r>
              <a:rPr lang="en-US" sz="2300" baseline="-25000" dirty="0">
                <a:solidFill>
                  <a:srgbClr val="0000FF"/>
                </a:solidFill>
                <a:latin typeface="Times New Roman" pitchFamily="18" charset="0"/>
                <a:cs typeface="Times New Roman" pitchFamily="18" charset="0"/>
              </a:rPr>
              <a:t>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S</a:t>
            </a:r>
            <a:r>
              <a:rPr lang="en-US" sz="2300" baseline="-25000" dirty="0">
                <a:solidFill>
                  <a:srgbClr val="0000FF"/>
                </a:solidFill>
                <a:latin typeface="Times New Roman" pitchFamily="18" charset="0"/>
                <a:cs typeface="Times New Roman" pitchFamily="18" charset="0"/>
              </a:rPr>
              <a:t>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E, </a:t>
            </a:r>
            <a:r>
              <a:rPr lang="en-US" sz="2300" dirty="0" err="1">
                <a:solidFill>
                  <a:srgbClr val="0000FF"/>
                </a:solidFill>
                <a:latin typeface="Times New Roman" pitchFamily="18" charset="0"/>
                <a:cs typeface="Times New Roman" pitchFamily="18" charset="0"/>
              </a:rPr>
              <a:t>giao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D</a:t>
            </a:r>
            <a:r>
              <a:rPr lang="en-US" sz="2300" baseline="-25000" dirty="0">
                <a:solidFill>
                  <a:srgbClr val="0000FF"/>
                </a:solidFill>
                <a:latin typeface="Times New Roman" pitchFamily="18" charset="0"/>
                <a:cs typeface="Times New Roman" pitchFamily="18" charset="0"/>
              </a:rPr>
              <a:t>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S</a:t>
            </a:r>
            <a:r>
              <a:rPr lang="en-US" sz="2300" baseline="-25000" dirty="0">
                <a:solidFill>
                  <a:srgbClr val="0000FF"/>
                </a:solidFill>
                <a:latin typeface="Times New Roman" pitchFamily="18" charset="0"/>
                <a:cs typeface="Times New Roman" pitchFamily="18" charset="0"/>
              </a:rPr>
              <a:t>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kiện</a:t>
            </a:r>
            <a:r>
              <a:rPr lang="en-US" sz="2300" dirty="0">
                <a:solidFill>
                  <a:srgbClr val="0000FF"/>
                </a:solidFill>
                <a:latin typeface="Times New Roman" pitchFamily="18" charset="0"/>
                <a:cs typeface="Times New Roman" pitchFamily="18" charset="0"/>
              </a:rPr>
              <a:t> CTHH,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chưa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luôn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luôn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áp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hướng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sớm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hội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11421394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6.1.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vấn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chung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về</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yếu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tố</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sản</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xuất</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6.1.3. </a:t>
            </a:r>
            <a:r>
              <a:rPr lang="fr-FR" sz="2300" b="1" i="1" dirty="0" err="1">
                <a:solidFill>
                  <a:srgbClr val="0000FF"/>
                </a:solidFill>
                <a:latin typeface="Times New Roman" pitchFamily="18" charset="0"/>
                <a:cs typeface="Times New Roman" pitchFamily="18" charset="0"/>
              </a:rPr>
              <a:t>Quan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hệ</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cung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cầu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yếu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tố</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sản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xuất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trên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cạnh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tranh</a:t>
            </a:r>
            <a:endParaRPr lang="en-US" sz="2300" b="1" i="1"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rất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biến</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dễ</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bổ</a:t>
            </a:r>
            <a:r>
              <a:rPr lang="en-US" sz="2300" dirty="0">
                <a:solidFill>
                  <a:srgbClr val="0000FF"/>
                </a:solidFill>
                <a:latin typeface="Times New Roman" pitchFamily="18" charset="0"/>
                <a:cs typeface="Times New Roman" pitchFamily="18" charset="0"/>
              </a:rPr>
              <a:t> sung B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B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 </a:t>
            </a:r>
            <a:r>
              <a:rPr lang="en-US" sz="2300" dirty="0" err="1">
                <a:solidFill>
                  <a:srgbClr val="0000FF"/>
                </a:solidFill>
                <a:latin typeface="Times New Roman" pitchFamily="18" charset="0"/>
                <a:cs typeface="Times New Roman" pitchFamily="18" charset="0"/>
              </a:rPr>
              <a:t>nói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kéo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theo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so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thông</a:t>
            </a:r>
            <a:r>
              <a:rPr lang="en-US" sz="2300" dirty="0">
                <a:solidFill>
                  <a:srgbClr val="0000FF"/>
                </a:solidFill>
                <a:latin typeface="Times New Roman" pitchFamily="18" charset="0"/>
                <a:cs typeface="Times New Roman" pitchFamily="18" charset="0"/>
              </a:rPr>
              <a:t> qua </a:t>
            </a:r>
            <a:r>
              <a:rPr lang="en-US" sz="2300" dirty="0" err="1">
                <a:solidFill>
                  <a:srgbClr val="0000FF"/>
                </a:solidFill>
                <a:latin typeface="Times New Roman" pitchFamily="18" charset="0"/>
                <a:cs typeface="Times New Roman" pitchFamily="18" charset="0"/>
              </a:rPr>
              <a:t>quan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hệ</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Thu </a:t>
            </a:r>
            <a:r>
              <a:rPr lang="en-US" sz="2300" dirty="0" err="1">
                <a:solidFill>
                  <a:srgbClr val="0000FF"/>
                </a:solidFill>
                <a:latin typeface="Times New Roman" pitchFamily="18" charset="0"/>
                <a:cs typeface="Times New Roman" pitchFamily="18" charset="0"/>
              </a:rPr>
              <a:t>nhập</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a:t>
            </a:r>
          </a:p>
          <a:p>
            <a:pPr algn="just"/>
            <a:endParaRPr lang="en-US" sz="2300" dirty="0">
              <a:solidFill>
                <a:srgbClr val="0000FF"/>
              </a:solidFill>
              <a:latin typeface="Times New Roman" pitchFamily="18" charset="0"/>
              <a:cs typeface="Times New Roman" pitchFamily="18" charset="0"/>
            </a:endParaRPr>
          </a:p>
        </p:txBody>
      </p:sp>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07495" y="3939207"/>
            <a:ext cx="3467100" cy="2857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3327065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pt-BR" sz="2400" b="1" dirty="0">
                <a:solidFill>
                  <a:srgbClr val="0000FF"/>
                </a:solidFill>
                <a:latin typeface="Times New Roman" pitchFamily="18" charset="0"/>
                <a:cs typeface="Times New Roman" pitchFamily="18" charset="0"/>
              </a:rPr>
              <a:t>6.2. Thị trường lao động</a:t>
            </a:r>
            <a:endParaRPr lang="en-US" sz="2400" b="1" dirty="0">
              <a:solidFill>
                <a:srgbClr val="0000FF"/>
              </a:solidFill>
              <a:latin typeface="Times New Roman" pitchFamily="18" charset="0"/>
              <a:cs typeface="Times New Roman" pitchFamily="18" charset="0"/>
            </a:endParaRPr>
          </a:p>
          <a:p>
            <a:pPr algn="just"/>
            <a:r>
              <a:rPr lang="pt-BR" sz="2400" b="1" i="1" dirty="0">
                <a:solidFill>
                  <a:srgbClr val="0000FF"/>
                </a:solidFill>
                <a:latin typeface="Times New Roman" pitchFamily="18" charset="0"/>
                <a:cs typeface="Times New Roman" pitchFamily="18" charset="0"/>
              </a:rPr>
              <a:t>6.2.1. Cầu lao động</a:t>
            </a:r>
            <a:endParaRPr lang="en-US" sz="2400" b="1" i="1" dirty="0">
              <a:solidFill>
                <a:srgbClr val="0000FF"/>
              </a:solidFill>
              <a:latin typeface="Times New Roman" pitchFamily="18" charset="0"/>
              <a:cs typeface="Times New Roman" pitchFamily="18" charset="0"/>
            </a:endParaRPr>
          </a:p>
          <a:p>
            <a:pPr algn="just"/>
            <a:r>
              <a:rPr lang="pt-BR" sz="2400" b="1" dirty="0">
                <a:solidFill>
                  <a:srgbClr val="0000FF"/>
                </a:solidFill>
                <a:latin typeface="Times New Roman" pitchFamily="18" charset="0"/>
                <a:cs typeface="Times New Roman" pitchFamily="18" charset="0"/>
              </a:rPr>
              <a:t>6.2.1.1. Khái niệm</a:t>
            </a:r>
            <a:endParaRPr lang="en-US" sz="2400" b="1" dirty="0">
              <a:solidFill>
                <a:srgbClr val="0000FF"/>
              </a:solidFill>
              <a:latin typeface="Times New Roman" pitchFamily="18" charset="0"/>
              <a:cs typeface="Times New Roman" pitchFamily="18" charset="0"/>
            </a:endParaRPr>
          </a:p>
          <a:p>
            <a:pPr algn="just"/>
            <a:r>
              <a:rPr lang="pt-BR" sz="2400" i="1" dirty="0">
                <a:solidFill>
                  <a:srgbClr val="0000FF"/>
                </a:solidFill>
                <a:latin typeface="Times New Roman" pitchFamily="18" charset="0"/>
                <a:cs typeface="Times New Roman" pitchFamily="18" charset="0"/>
              </a:rPr>
              <a:t>Cầu lao động là số lượng lao động, thời gian lao động mà doanh nghiệp mong muốn và có khả năng thuê tại các mức tiền công khác nhau trong khoảng thời gian nhất định.</a:t>
            </a:r>
            <a:endParaRPr lang="en-US" sz="2400" dirty="0">
              <a:solidFill>
                <a:srgbClr val="0000FF"/>
              </a:solidFill>
              <a:latin typeface="Times New Roman" pitchFamily="18" charset="0"/>
              <a:cs typeface="Times New Roman" pitchFamily="18" charset="0"/>
            </a:endParaRPr>
          </a:p>
          <a:p>
            <a:pPr algn="just"/>
            <a:r>
              <a:rPr lang="pt-BR" sz="2400" b="1" dirty="0">
                <a:solidFill>
                  <a:srgbClr val="0000FF"/>
                </a:solidFill>
                <a:latin typeface="Times New Roman" pitchFamily="18" charset="0"/>
                <a:cs typeface="Times New Roman" pitchFamily="18" charset="0"/>
              </a:rPr>
              <a:t>6.2.1.2. Cầu về lao động của một doanh nghiệp </a:t>
            </a:r>
            <a:endParaRPr lang="en-US" sz="2400" b="1"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Cầu về lao động của một DN cho biết lượng lao động mà DN sẵn lòng và mong muốn thuê mướn tương ứng với mỗi mức lương nhất định.</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Doanh nghiệp cần lao động như một yếu tố đầu vào. Nó được sử dụng cùng với các yếu tố sản xuất khác để tạo ra các hàng hóa hay dịch vụ đầu ra mà DN mong muốn. Khi mua sắm các đầu vào lao động, DN không “mua” hẳn những người công nhân mà </a:t>
            </a:r>
            <a:r>
              <a:rPr lang="pt-BR" sz="2400" i="1" dirty="0">
                <a:solidFill>
                  <a:srgbClr val="0000FF"/>
                </a:solidFill>
                <a:latin typeface="Times New Roman" pitchFamily="18" charset="0"/>
                <a:cs typeface="Times New Roman" pitchFamily="18" charset="0"/>
              </a:rPr>
              <a:t>chỉ mua khả năng làm việc</a:t>
            </a:r>
            <a:r>
              <a:rPr lang="pt-BR" sz="2400" dirty="0">
                <a:solidFill>
                  <a:srgbClr val="0000FF"/>
                </a:solidFill>
                <a:latin typeface="Times New Roman" pitchFamily="18" charset="0"/>
                <a:cs typeface="Times New Roman" pitchFamily="18" charset="0"/>
              </a:rPr>
              <a:t> của họ trong những khoảng thời gian nhất định. Nói cách khác, DN </a:t>
            </a:r>
            <a:r>
              <a:rPr lang="pt-BR" sz="2400" i="1" dirty="0">
                <a:solidFill>
                  <a:srgbClr val="0000FF"/>
                </a:solidFill>
                <a:latin typeface="Times New Roman" pitchFamily="18" charset="0"/>
                <a:cs typeface="Times New Roman" pitchFamily="18" charset="0"/>
              </a:rPr>
              <a:t>chỉ mua dịch vụ lao động </a:t>
            </a:r>
            <a:r>
              <a:rPr lang="pt-BR" sz="2400" dirty="0">
                <a:solidFill>
                  <a:srgbClr val="0000FF"/>
                </a:solidFill>
                <a:latin typeface="Times New Roman" pitchFamily="18" charset="0"/>
                <a:cs typeface="Times New Roman" pitchFamily="18" charset="0"/>
              </a:rPr>
              <a:t>chứ không phải bản thân người lao động.</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44914289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pt-BR" sz="2400" b="1" dirty="0">
                <a:solidFill>
                  <a:srgbClr val="0000FF"/>
                </a:solidFill>
                <a:latin typeface="Times New Roman" pitchFamily="18" charset="0"/>
                <a:cs typeface="Times New Roman" pitchFamily="18" charset="0"/>
              </a:rPr>
              <a:t>6.2. Thị trường lao động</a:t>
            </a:r>
            <a:endParaRPr lang="en-US" sz="2400" b="1" dirty="0">
              <a:solidFill>
                <a:srgbClr val="0000FF"/>
              </a:solidFill>
              <a:latin typeface="Times New Roman" pitchFamily="18" charset="0"/>
              <a:cs typeface="Times New Roman" pitchFamily="18" charset="0"/>
            </a:endParaRPr>
          </a:p>
          <a:p>
            <a:pPr algn="just"/>
            <a:r>
              <a:rPr lang="pt-BR" sz="2400" b="1" i="1" dirty="0">
                <a:solidFill>
                  <a:srgbClr val="0000FF"/>
                </a:solidFill>
                <a:latin typeface="Times New Roman" pitchFamily="18" charset="0"/>
                <a:cs typeface="Times New Roman" pitchFamily="18" charset="0"/>
              </a:rPr>
              <a:t>6.2.1. Cầu lao động</a:t>
            </a:r>
            <a:endParaRPr lang="en-US" sz="2400" b="1" i="1" dirty="0">
              <a:solidFill>
                <a:srgbClr val="0000FF"/>
              </a:solidFill>
              <a:latin typeface="Times New Roman" pitchFamily="18" charset="0"/>
              <a:cs typeface="Times New Roman" pitchFamily="18" charset="0"/>
            </a:endParaRPr>
          </a:p>
          <a:p>
            <a:pPr algn="just"/>
            <a:r>
              <a:rPr lang="pt-BR" sz="2400" b="1" dirty="0">
                <a:solidFill>
                  <a:srgbClr val="0000FF"/>
                </a:solidFill>
                <a:latin typeface="Times New Roman" pitchFamily="18" charset="0"/>
                <a:cs typeface="Times New Roman" pitchFamily="18" charset="0"/>
              </a:rPr>
              <a:t>6.2.1.2. Cầu về lao động của một doanh nghiệp </a:t>
            </a:r>
            <a:endParaRPr lang="en-US" sz="2400" b="1"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Đối với thị trường lao động, hoạt động mua bán ở đây thực chất là hoạt động thuê mướn (doanh nghiệp là người đi thuê, còn người lao động là người cho thuê). Đối tượng mua bán là dịch vụ lao động – sự phục vụ của người công nhân trong một khoảng thời gian nào đó, thường được đo bằng số giờ lao động chẳng hạn.</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Đường sản phẩm doanh thu biên của lao động (MRP</a:t>
            </a:r>
            <a:r>
              <a:rPr lang="pt-BR" sz="2400" baseline="-25000" dirty="0">
                <a:solidFill>
                  <a:srgbClr val="0000FF"/>
                </a:solidFill>
                <a:latin typeface="Times New Roman" pitchFamily="18" charset="0"/>
                <a:cs typeface="Times New Roman" pitchFamily="18" charset="0"/>
              </a:rPr>
              <a:t>L</a:t>
            </a:r>
            <a:r>
              <a:rPr lang="pt-BR" sz="2400" dirty="0">
                <a:solidFill>
                  <a:srgbClr val="0000FF"/>
                </a:solidFill>
                <a:latin typeface="Times New Roman" pitchFamily="18" charset="0"/>
                <a:cs typeface="Times New Roman" pitchFamily="18" charset="0"/>
              </a:rPr>
              <a:t>) cho thấy số lượng lao động mà doanh nghiệp sẽ thuê tương ứng với các mức tiền lương trên thị trường nên nó chính là đường cầu về yếu tố lao động D</a:t>
            </a:r>
            <a:r>
              <a:rPr lang="pt-BR" sz="2400" baseline="-25000" dirty="0">
                <a:solidFill>
                  <a:srgbClr val="0000FF"/>
                </a:solidFill>
                <a:latin typeface="Times New Roman" pitchFamily="18" charset="0"/>
                <a:cs typeface="Times New Roman" pitchFamily="18" charset="0"/>
              </a:rPr>
              <a:t>L</a:t>
            </a:r>
            <a:r>
              <a:rPr lang="pt-BR" sz="2400" dirty="0">
                <a:solidFill>
                  <a:srgbClr val="0000FF"/>
                </a:solidFill>
                <a:latin typeface="Times New Roman" pitchFamily="18" charset="0"/>
                <a:cs typeface="Times New Roman" pitchFamily="18" charset="0"/>
              </a:rPr>
              <a:t>. Đó là một đường dốc xuống do quy luật năng suất cận biên giảm dần, phản ánh tình trạng: khi tiền lương hạ xuống, để tối đa hóa lợi nhuận, doanh nghiệp có xu hướng sẵn sàng thuê mướn số lượng lao động nhiều hơn và ngược lại.</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89980018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spcBef>
                <a:spcPts val="0"/>
              </a:spcBef>
            </a:pPr>
            <a:r>
              <a:rPr lang="pt-BR" sz="2300" b="1" i="1" dirty="0">
                <a:solidFill>
                  <a:srgbClr val="0000FF"/>
                </a:solidFill>
                <a:latin typeface="Times New Roman" pitchFamily="18" charset="0"/>
                <a:cs typeface="Times New Roman" pitchFamily="18" charset="0"/>
              </a:rPr>
              <a:t>6.2.1. Cầu lao động</a:t>
            </a:r>
            <a:endParaRPr lang="en-US" sz="2300" b="1" i="1" dirty="0">
              <a:solidFill>
                <a:srgbClr val="0000FF"/>
              </a:solidFill>
              <a:latin typeface="Times New Roman" pitchFamily="18" charset="0"/>
              <a:cs typeface="Times New Roman" pitchFamily="18" charset="0"/>
            </a:endParaRPr>
          </a:p>
          <a:p>
            <a:pPr algn="just">
              <a:spcBef>
                <a:spcPts val="0"/>
              </a:spcBef>
            </a:pPr>
            <a:r>
              <a:rPr lang="pt-BR" sz="2300" b="1" dirty="0">
                <a:solidFill>
                  <a:srgbClr val="0000FF"/>
                </a:solidFill>
                <a:latin typeface="Times New Roman" pitchFamily="18" charset="0"/>
                <a:cs typeface="Times New Roman" pitchFamily="18" charset="0"/>
              </a:rPr>
              <a:t>6.2.1.2. Cầu về lao động của một doanh nghiệp </a:t>
            </a:r>
            <a:endParaRPr lang="en-US" sz="2300" b="1"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Các yếu tố chi phối cầu lao động của một DN bao gồm:</a:t>
            </a:r>
          </a:p>
          <a:p>
            <a:pPr algn="just"/>
            <a:r>
              <a:rPr lang="pt-BR" sz="2300" i="1" dirty="0">
                <a:solidFill>
                  <a:srgbClr val="0000FF"/>
                </a:solidFill>
                <a:latin typeface="Times New Roman" pitchFamily="18" charset="0"/>
                <a:cs typeface="Times New Roman" pitchFamily="18" charset="0"/>
              </a:rPr>
              <a:t>Thứ nhất,</a:t>
            </a:r>
            <a:r>
              <a:rPr lang="pt-BR" sz="2300" dirty="0">
                <a:solidFill>
                  <a:srgbClr val="0000FF"/>
                </a:solidFill>
                <a:latin typeface="Times New Roman" pitchFamily="18" charset="0"/>
                <a:cs typeface="Times New Roman" pitchFamily="18" charset="0"/>
              </a:rPr>
              <a:t> quỹ máy móc, thiết bị và các yếu tố sản xuất khác mà lao động (LĐ) được sử dụng trong quá trình sản xuất. Nếu quỹ này tăng lên, mỗi LĐ trung bình được sử dụng nhiều vốn hiện vật hơn trước, sản phẩm biên (năng suất biên) của mỗi đơn vị LĐ sẽ tăng lên. Cầu về LĐ vì thế sẽ tăng lên và đường cầu LĐ sẽ dịch chuyển sang phải. Ngược lại, cầu về LĐ sẽ giảm, đường cầu về LĐ sẽ dịch chuyển sang trái. </a:t>
            </a:r>
            <a:endParaRPr lang="en-US" sz="2300" dirty="0">
              <a:solidFill>
                <a:srgbClr val="0000FF"/>
              </a:solidFill>
              <a:latin typeface="Times New Roman" pitchFamily="18" charset="0"/>
              <a:cs typeface="Times New Roman" pitchFamily="18" charset="0"/>
            </a:endParaRPr>
          </a:p>
          <a:p>
            <a:pPr algn="just"/>
            <a:r>
              <a:rPr lang="pt-BR" sz="2300" i="1" dirty="0">
                <a:solidFill>
                  <a:srgbClr val="0000FF"/>
                </a:solidFill>
                <a:latin typeface="Times New Roman" pitchFamily="18" charset="0"/>
                <a:cs typeface="Times New Roman" pitchFamily="18" charset="0"/>
              </a:rPr>
              <a:t>Thứ hai,</a:t>
            </a:r>
            <a:r>
              <a:rPr lang="pt-BR" sz="2300" dirty="0">
                <a:solidFill>
                  <a:srgbClr val="0000FF"/>
                </a:solidFill>
                <a:latin typeface="Times New Roman" pitchFamily="18" charset="0"/>
                <a:cs typeface="Times New Roman" pitchFamily="18" charset="0"/>
              </a:rPr>
              <a:t> trình độ công nghệ. Cách thức sản xuất được cải tiến hay trình độ công nghệ tăng cũng làm cầu về lao động tăng lên ngay cả khi quỹ vốn hiện vật vẫn giữ nguyên như cũ. Tác động của công nghệ đến cầu về lao động cũng thông qua sự gia tăng sản phẩm biên của lao động. </a:t>
            </a:r>
            <a:endParaRPr lang="en-US" sz="2300" dirty="0">
              <a:solidFill>
                <a:srgbClr val="0000FF"/>
              </a:solidFill>
              <a:latin typeface="Times New Roman" pitchFamily="18" charset="0"/>
              <a:cs typeface="Times New Roman" pitchFamily="18" charset="0"/>
            </a:endParaRPr>
          </a:p>
          <a:p>
            <a:pPr algn="just"/>
            <a:r>
              <a:rPr lang="pt-BR" sz="2300" i="1" dirty="0">
                <a:solidFill>
                  <a:srgbClr val="0000FF"/>
                </a:solidFill>
                <a:latin typeface="Times New Roman" pitchFamily="18" charset="0"/>
                <a:cs typeface="Times New Roman" pitchFamily="18" charset="0"/>
              </a:rPr>
              <a:t>Thứ ba,</a:t>
            </a:r>
            <a:r>
              <a:rPr lang="pt-BR" sz="2300" dirty="0">
                <a:solidFill>
                  <a:srgbClr val="0000FF"/>
                </a:solidFill>
                <a:latin typeface="Times New Roman" pitchFamily="18" charset="0"/>
                <a:cs typeface="Times New Roman" pitchFamily="18" charset="0"/>
              </a:rPr>
              <a:t> biến động trên thị trường đầu ra. Giá sản phẩm đầu ra của LĐ tăng lên, nếu các điều kiện khác giữ nguyên sẽ làm tăng cầu về LĐ. Khi đó, doanh thu sản phẩm biên của LĐ tăng lên. Đường cầu về LĐ sẽ dịch chuyển sang phải. Ngược lại, khi thị trường đầu ra ảm đạm, cầu về LĐ cũng sẽ giảm theo, đường cầu về LĐ dịch chuyển sang trái.</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6063011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pt-BR" sz="2400" b="1" dirty="0">
                <a:solidFill>
                  <a:srgbClr val="0000FF"/>
                </a:solidFill>
                <a:latin typeface="Times New Roman" pitchFamily="18" charset="0"/>
                <a:cs typeface="Times New Roman" pitchFamily="18" charset="0"/>
              </a:rPr>
              <a:t>6.2. Thị trường lao động</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6.2.2. Cung lao </a:t>
            </a:r>
            <a:r>
              <a:rPr lang="fr-FR" sz="2400" b="1" i="1" dirty="0" err="1">
                <a:solidFill>
                  <a:srgbClr val="0000FF"/>
                </a:solidFill>
                <a:latin typeface="Times New Roman" pitchFamily="18" charset="0"/>
                <a:cs typeface="Times New Roman" pitchFamily="18" charset="0"/>
              </a:rPr>
              <a:t>động</a:t>
            </a:r>
            <a:endParaRPr lang="en-US" sz="24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6.2.2.1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Cung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động</a:t>
            </a:r>
            <a:r>
              <a:rPr lang="en-US" sz="2400" i="1" dirty="0">
                <a:solidFill>
                  <a:srgbClr val="0000FF"/>
                </a:solidFill>
                <a:latin typeface="Times New Roman" pitchFamily="18" charset="0"/>
                <a:cs typeface="Times New Roman" pitchFamily="18" charset="0"/>
              </a:rPr>
              <a: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sẵn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ở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a:t>
            </a:r>
          </a:p>
          <a:p>
            <a:pPr algn="just"/>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Lượng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cung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động</a:t>
            </a:r>
            <a:r>
              <a:rPr lang="en-US" sz="2400" i="1" dirty="0">
                <a:solidFill>
                  <a:srgbClr val="0000FF"/>
                </a:solidFill>
                <a:latin typeface="Times New Roman" pitchFamily="18" charset="0"/>
                <a:cs typeface="Times New Roman" pitchFamily="18" charset="0"/>
              </a:rPr>
              <a: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sẵn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ở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S</a:t>
            </a:r>
            <a:r>
              <a:rPr lang="en-US" sz="2400" baseline="-25000" dirty="0">
                <a:solidFill>
                  <a:srgbClr val="0000FF"/>
                </a:solidFill>
                <a:latin typeface="Times New Roman" pitchFamily="18" charset="0"/>
                <a:cs typeface="Times New Roman" pitchFamily="18" charset="0"/>
              </a:rPr>
              <a:t>L</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nghiêng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phía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phản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luật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3962400"/>
            <a:ext cx="3114675"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0273306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pt-BR" sz="2400" b="1" dirty="0">
                <a:solidFill>
                  <a:srgbClr val="0000FF"/>
                </a:solidFill>
                <a:latin typeface="Times New Roman" pitchFamily="18" charset="0"/>
                <a:cs typeface="Times New Roman" pitchFamily="18" charset="0"/>
              </a:rPr>
              <a:t>6.2. Thị trường lao động</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6.2.2. Cung lao </a:t>
            </a:r>
            <a:r>
              <a:rPr lang="fr-FR" sz="2400" b="1" i="1" dirty="0" err="1">
                <a:solidFill>
                  <a:srgbClr val="0000FF"/>
                </a:solidFill>
                <a:latin typeface="Times New Roman" pitchFamily="18" charset="0"/>
                <a:cs typeface="Times New Roman" pitchFamily="18" charset="0"/>
              </a:rPr>
              <a:t>động</a:t>
            </a:r>
            <a:endParaRPr lang="en-US" sz="24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6.2.2.1 </a:t>
            </a:r>
            <a:r>
              <a:rPr lang="en-US" sz="2400" b="1" dirty="0" err="1">
                <a:solidFill>
                  <a:srgbClr val="0000FF"/>
                </a:solidFill>
                <a:latin typeface="Times New Roman" pitchFamily="18" charset="0"/>
                <a:cs typeface="Times New Roman" pitchFamily="18" charset="0"/>
              </a:rPr>
              <a:t>Khái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niệm</a:t>
            </a:r>
            <a:endParaRPr lang="en-US" sz="2400" b="1" dirty="0">
              <a:solidFill>
                <a:srgbClr val="0000FF"/>
              </a:solidFill>
              <a:latin typeface="Times New Roman" pitchFamily="18" charset="0"/>
              <a:cs typeface="Times New Roman" pitchFamily="18" charset="0"/>
            </a:endParaRPr>
          </a:p>
          <a:p>
            <a:pPr algn="just"/>
            <a:r>
              <a:rPr lang="en-US" sz="2400" b="1" i="1" dirty="0" err="1">
                <a:solidFill>
                  <a:srgbClr val="0000FF"/>
                </a:solidFill>
                <a:latin typeface="Times New Roman" pitchFamily="18" charset="0"/>
                <a:cs typeface="Times New Roman" pitchFamily="18" charset="0"/>
              </a:rPr>
              <a:t>Các</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yếu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tố</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quyết</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định</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cung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lao</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động</a:t>
            </a:r>
            <a:r>
              <a:rPr lang="en-US" sz="2400" b="1" i="1" dirty="0">
                <a:solidFill>
                  <a:srgbClr val="0000FF"/>
                </a:solidFill>
                <a:latin typeface="Times New Roman" pitchFamily="18" charset="0"/>
                <a:cs typeface="Times New Roman" pitchFamily="18" charset="0"/>
              </a:rPr>
              <a:t>:</a:t>
            </a:r>
            <a:endParaRPr lang="en-US" sz="2400" b="1"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buộ</a:t>
            </a:r>
            <a:r>
              <a:rPr lang="vi-VN" sz="2400" dirty="0">
                <a:solidFill>
                  <a:srgbClr val="0000FF"/>
                </a:solidFill>
                <a:latin typeface="Times New Roman" pitchFamily="18" charset="0"/>
                <a:cs typeface="Times New Roman" pitchFamily="18" charset="0"/>
              </a:rPr>
              <a:t>c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tâm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ưu</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Phạm</a:t>
            </a:r>
            <a:r>
              <a:rPr lang="en-US" sz="2400" dirty="0">
                <a:solidFill>
                  <a:srgbClr val="0000FF"/>
                </a:solidFill>
                <a:latin typeface="Times New Roman" pitchFamily="18" charset="0"/>
                <a:cs typeface="Times New Roman" pitchFamily="18" charset="0"/>
              </a:rPr>
              <a:t> vi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khan </a:t>
            </a:r>
            <a:r>
              <a:rPr lang="en-US" sz="2400" dirty="0" err="1">
                <a:solidFill>
                  <a:srgbClr val="0000FF"/>
                </a:solidFill>
                <a:latin typeface="Times New Roman" pitchFamily="18" charset="0"/>
                <a:cs typeface="Times New Roman" pitchFamily="18" charset="0"/>
              </a:rPr>
              <a:t>hiếm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vậy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13347075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400" b="1" i="1" dirty="0">
                <a:solidFill>
                  <a:srgbClr val="0000FF"/>
                </a:solidFill>
                <a:latin typeface="Times New Roman" pitchFamily="18" charset="0"/>
                <a:cs typeface="Times New Roman" pitchFamily="18" charset="0"/>
              </a:rPr>
              <a:t>6.2.2. Cung lao </a:t>
            </a:r>
            <a:r>
              <a:rPr lang="fr-FR" sz="2400" b="1" i="1" dirty="0" err="1">
                <a:solidFill>
                  <a:srgbClr val="0000FF"/>
                </a:solidFill>
                <a:latin typeface="Times New Roman" pitchFamily="18" charset="0"/>
                <a:cs typeface="Times New Roman" pitchFamily="18" charset="0"/>
              </a:rPr>
              <a:t>động</a:t>
            </a:r>
            <a:endParaRPr lang="en-US" sz="24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6.2.2.2. </a:t>
            </a:r>
            <a:r>
              <a:rPr lang="en-US" sz="2400" b="1" dirty="0" err="1">
                <a:solidFill>
                  <a:srgbClr val="0000FF"/>
                </a:solidFill>
                <a:latin typeface="Times New Roman" pitchFamily="18" charset="0"/>
                <a:cs typeface="Times New Roman" pitchFamily="18" charset="0"/>
              </a:rPr>
              <a:t>Cung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lao</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động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cá</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nhân</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người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trong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lượng</a:t>
            </a:r>
            <a:r>
              <a:rPr lang="en-US" sz="2400" b="1" dirty="0">
                <a:solidFill>
                  <a:srgbClr val="0000FF"/>
                </a:solidFill>
                <a:latin typeface="Times New Roman" pitchFamily="18" charset="0"/>
                <a:cs typeface="Times New Roman" pitchFamily="18" charset="0"/>
              </a:rPr>
              <a:t> LĐ </a:t>
            </a:r>
            <a:r>
              <a:rPr lang="en-US" sz="2400" b="1" dirty="0" err="1">
                <a:solidFill>
                  <a:srgbClr val="0000FF"/>
                </a:solidFill>
                <a:latin typeface="Times New Roman" pitchFamily="18" charset="0"/>
                <a:cs typeface="Times New Roman" pitchFamily="18" charset="0"/>
              </a:rPr>
              <a:t>sẽ</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làm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việc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bao</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nhiêu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giờ</a:t>
            </a:r>
            <a:r>
              <a:rPr lang="en-US" sz="2400" b="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ảnh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hưởng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LĐ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biệt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chọn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kiếm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vui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trị</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gian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Mỗi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24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phân</a:t>
            </a:r>
            <a:r>
              <a:rPr lang="en-US" sz="2400" dirty="0">
                <a:solidFill>
                  <a:srgbClr val="0000FF"/>
                </a:solidFill>
                <a:latin typeface="Times New Roman" pitchFamily="18" charset="0"/>
                <a:cs typeface="Times New Roman" pitchFamily="18" charset="0"/>
              </a:rPr>
              <a:t> chia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LĐ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nghỉ</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33096942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6.2.2. Cung lao </a:t>
            </a:r>
            <a:r>
              <a:rPr lang="fr-FR" sz="2300" b="1" i="1" dirty="0" err="1">
                <a:solidFill>
                  <a:srgbClr val="0000FF"/>
                </a:solidFill>
                <a:latin typeface="Times New Roman" pitchFamily="18" charset="0"/>
                <a:cs typeface="Times New Roman" pitchFamily="18" charset="0"/>
              </a:rPr>
              <a:t>động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6.2.2.2. </a:t>
            </a:r>
            <a:r>
              <a:rPr lang="en-US" sz="2300" b="1" dirty="0" err="1">
                <a:solidFill>
                  <a:srgbClr val="0000FF"/>
                </a:solidFill>
                <a:latin typeface="Times New Roman" pitchFamily="18" charset="0"/>
                <a:cs typeface="Times New Roman" pitchFamily="18" charset="0"/>
              </a:rPr>
              <a:t>Cung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lao</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cá</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nhân</a:t>
            </a:r>
            <a:endParaRPr lang="en-US" sz="2300" b="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người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trong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lực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lượng</a:t>
            </a:r>
            <a:r>
              <a:rPr lang="en-US" sz="2300" b="1" dirty="0">
                <a:solidFill>
                  <a:srgbClr val="0000FF"/>
                </a:solidFill>
                <a:latin typeface="Times New Roman" pitchFamily="18" charset="0"/>
                <a:cs typeface="Times New Roman" pitchFamily="18" charset="0"/>
              </a:rPr>
              <a:t> LĐ </a:t>
            </a:r>
            <a:r>
              <a:rPr lang="en-US" sz="2300" b="1" dirty="0" err="1">
                <a:solidFill>
                  <a:srgbClr val="0000FF"/>
                </a:solidFill>
                <a:latin typeface="Times New Roman" pitchFamily="18" charset="0"/>
                <a:cs typeface="Times New Roman" pitchFamily="18" charset="0"/>
              </a:rPr>
              <a:t>sẽ</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làm</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việc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bao</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nhiêu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giờ</a:t>
            </a:r>
            <a:r>
              <a:rPr lang="en-US" sz="2300" b="1" dirty="0">
                <a:solidFill>
                  <a:srgbClr val="0000FF"/>
                </a:solidFill>
                <a:latin typeface="Times New Roman" pitchFamily="18" charset="0"/>
                <a:cs typeface="Times New Roman" pitchFamily="18" charset="0"/>
              </a:rPr>
              <a:t>?</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Mỗi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riêng</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thích</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quan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mình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hình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HH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giờ</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bổ</a:t>
            </a:r>
            <a:r>
              <a:rPr lang="en-US" sz="2300" dirty="0">
                <a:solidFill>
                  <a:srgbClr val="0000FF"/>
                </a:solidFill>
                <a:latin typeface="Times New Roman" pitchFamily="18" charset="0"/>
                <a:cs typeface="Times New Roman" pitchFamily="18" charset="0"/>
              </a:rPr>
              <a:t> sung </a:t>
            </a:r>
            <a:r>
              <a:rPr lang="en-US" sz="2300" dirty="0" err="1">
                <a:solidFill>
                  <a:srgbClr val="0000FF"/>
                </a:solidFill>
                <a:latin typeface="Times New Roman" pitchFamily="18" charset="0"/>
                <a:cs typeface="Times New Roman" pitchFamily="18" charset="0"/>
              </a:rPr>
              <a:t>mang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giờ</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Hai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tác động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=&gt;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=&gt;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túy</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cầu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hình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giờ</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phụ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lớn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4078994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6.2.2. Cung lao </a:t>
            </a:r>
            <a:r>
              <a:rPr lang="fr-FR" sz="2300" b="1" i="1" dirty="0" err="1">
                <a:solidFill>
                  <a:srgbClr val="0000FF"/>
                </a:solidFill>
                <a:latin typeface="Times New Roman" pitchFamily="18" charset="0"/>
                <a:cs typeface="Times New Roman" pitchFamily="18" charset="0"/>
              </a:rPr>
              <a:t>động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6.2.2.2. </a:t>
            </a:r>
            <a:r>
              <a:rPr lang="en-US" sz="2300" b="1" dirty="0" err="1">
                <a:solidFill>
                  <a:srgbClr val="0000FF"/>
                </a:solidFill>
                <a:latin typeface="Times New Roman" pitchFamily="18" charset="0"/>
                <a:cs typeface="Times New Roman" pitchFamily="18" charset="0"/>
              </a:rPr>
              <a:t>Cung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lao</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động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cá</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nhân</a:t>
            </a:r>
            <a:endParaRPr lang="en-US" sz="2300" b="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người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trong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lực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lượng</a:t>
            </a:r>
            <a:r>
              <a:rPr lang="en-US" sz="2300" b="1" dirty="0">
                <a:solidFill>
                  <a:srgbClr val="0000FF"/>
                </a:solidFill>
                <a:latin typeface="Times New Roman" pitchFamily="18" charset="0"/>
                <a:cs typeface="Times New Roman" pitchFamily="18" charset="0"/>
              </a:rPr>
              <a:t> LĐ </a:t>
            </a:r>
            <a:r>
              <a:rPr lang="en-US" sz="2300" b="1" dirty="0" err="1">
                <a:solidFill>
                  <a:srgbClr val="0000FF"/>
                </a:solidFill>
                <a:latin typeface="Times New Roman" pitchFamily="18" charset="0"/>
                <a:cs typeface="Times New Roman" pitchFamily="18" charset="0"/>
              </a:rPr>
              <a:t>sẽ</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làm</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việc</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bao</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nhiêu</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giờ</a:t>
            </a:r>
            <a:r>
              <a:rPr lang="en-US" sz="2300" b="1" dirty="0">
                <a:solidFill>
                  <a:srgbClr val="0000FF"/>
                </a:solidFill>
                <a:latin typeface="Times New Roman" pitchFamily="18" charset="0"/>
                <a:cs typeface="Times New Roman" pitchFamily="18" charset="0"/>
              </a:rPr>
              <a:t>?</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mặt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thuyết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hai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đồng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theo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ta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chắc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baseline="-250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xảy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tỏ</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ảnh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hưởng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hoàn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toàn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thẳng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đứng</a:t>
            </a:r>
            <a:r>
              <a:rPr lang="en-US" sz="2300" dirty="0">
                <a:solidFill>
                  <a:srgbClr val="0000FF"/>
                </a:solidFill>
                <a:latin typeface="Times New Roman" pitchFamily="18" charset="0"/>
                <a:cs typeface="Times New Roman" pitchFamily="18" charset="0"/>
              </a:rPr>
              <a:t>. </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trội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khuynh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hướng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cấp</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uốn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phía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âm</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90300885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400" b="1" i="1" dirty="0">
                <a:solidFill>
                  <a:srgbClr val="0000FF"/>
                </a:solidFill>
                <a:latin typeface="Times New Roman" pitchFamily="18" charset="0"/>
                <a:cs typeface="Times New Roman" pitchFamily="18" charset="0"/>
              </a:rPr>
              <a:t>6.2.2. Cung lao </a:t>
            </a:r>
            <a:r>
              <a:rPr lang="fr-FR" sz="2400" b="1" i="1" dirty="0" err="1">
                <a:solidFill>
                  <a:srgbClr val="0000FF"/>
                </a:solidFill>
                <a:latin typeface="Times New Roman" pitchFamily="18" charset="0"/>
                <a:cs typeface="Times New Roman" pitchFamily="18" charset="0"/>
              </a:rPr>
              <a:t>động</a:t>
            </a:r>
            <a:endParaRPr lang="en-US" sz="24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6.2.2.2. </a:t>
            </a:r>
            <a:r>
              <a:rPr lang="en-US" sz="2400" b="1" dirty="0" err="1">
                <a:solidFill>
                  <a:srgbClr val="0000FF"/>
                </a:solidFill>
                <a:latin typeface="Times New Roman" pitchFamily="18" charset="0"/>
                <a:cs typeface="Times New Roman" pitchFamily="18" charset="0"/>
              </a:rPr>
              <a:t>Cung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lao</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động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cá</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nhân</a:t>
            </a:r>
            <a:endParaRPr lang="en-US" sz="2400" b="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Những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người</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trong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lực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lượng</a:t>
            </a:r>
            <a:r>
              <a:rPr lang="en-US" sz="2400" b="1" dirty="0">
                <a:solidFill>
                  <a:srgbClr val="0000FF"/>
                </a:solidFill>
                <a:latin typeface="Times New Roman" pitchFamily="18" charset="0"/>
                <a:cs typeface="Times New Roman" pitchFamily="18" charset="0"/>
              </a:rPr>
              <a:t> LĐ </a:t>
            </a:r>
            <a:r>
              <a:rPr lang="en-US" sz="2400" b="1" dirty="0" err="1">
                <a:solidFill>
                  <a:srgbClr val="0000FF"/>
                </a:solidFill>
                <a:latin typeface="Times New Roman" pitchFamily="18" charset="0"/>
                <a:cs typeface="Times New Roman" pitchFamily="18" charset="0"/>
              </a:rPr>
              <a:t>sẽ</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làm</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việc</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bao</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nhiêu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giờ</a:t>
            </a:r>
            <a:r>
              <a:rPr lang="en-US" sz="2400" b="1"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ở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LĐ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thay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kéo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theo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LĐ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LĐ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hướng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dốc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Còn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LĐ </a:t>
            </a:r>
            <a:r>
              <a:rPr lang="en-US" sz="2400" dirty="0" err="1">
                <a:solidFill>
                  <a:srgbClr val="0000FF"/>
                </a:solidFill>
                <a:latin typeface="Times New Roman" pitchFamily="18" charset="0"/>
                <a:cs typeface="Times New Roman" pitchFamily="18" charset="0"/>
              </a:rPr>
              <a:t>đã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ảnh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hưởng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Nếu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tiếp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sẵn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lòng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phép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giờ</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trước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lúc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phía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Tóm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dốc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lên</a:t>
            </a:r>
            <a:r>
              <a:rPr lang="en-US" sz="2400" dirty="0">
                <a:solidFill>
                  <a:srgbClr val="0000FF"/>
                </a:solidFill>
                <a:latin typeface="Times New Roman" pitchFamily="18" charset="0"/>
                <a:cs typeface="Times New Roman" pitchFamily="18" charset="0"/>
              </a:rPr>
              <a:t> song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phía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15690235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6.2.2. Cung lao </a:t>
            </a:r>
            <a:r>
              <a:rPr lang="fr-FR" sz="2300" b="1" i="1" dirty="0" err="1">
                <a:solidFill>
                  <a:srgbClr val="0000FF"/>
                </a:solidFill>
                <a:latin typeface="Times New Roman" pitchFamily="18" charset="0"/>
                <a:cs typeface="Times New Roman" pitchFamily="18" charset="0"/>
              </a:rPr>
              <a:t>động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6.2.2.3. Cung lao động của ngành</a:t>
            </a:r>
            <a:endParaRPr lang="en-US" sz="2300" b="1"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Mỗi ngành phải trả một mức lương phổ biến cho người LĐ. Các công việc khác nhau những đặc điểm phi tiền tệ khác nhau (mức độ nặng nhọc, độc hại, rủi ro, thời gian). Mức lương phổ biến phải được điều chỉnh theo từng ngành để cho phép sự khác biệt tiền lương cân bằng bù trừ các đặc điểm phi tiền tệ đó. Việc điều chỉnh này sẽ xác định được mức lương tại đó một ngành có thể thuê được toàn bộ LĐ cần thiết mà ngành mong muốn. Tại mức lương này đường cung LĐ của ngành nằm ngang.</a:t>
            </a:r>
            <a:r>
              <a:rPr lang="vi-VN" sz="2300" dirty="0">
                <a:solidFill>
                  <a:srgbClr val="0000FF"/>
                </a:solidFill>
                <a:latin typeface="Times New Roman" pitchFamily="18" charset="0"/>
                <a:cs typeface="Times New Roman" pitchFamily="18" charset="0"/>
              </a:rPr>
              <a:t> Tuy nhiên, k</a:t>
            </a:r>
            <a:r>
              <a:rPr lang="pt-BR" sz="2300" dirty="0">
                <a:solidFill>
                  <a:srgbClr val="0000FF"/>
                </a:solidFill>
                <a:latin typeface="Times New Roman" pitchFamily="18" charset="0"/>
                <a:cs typeface="Times New Roman" pitchFamily="18" charset="0"/>
              </a:rPr>
              <a:t>hi một ngành sử dụng một loại kỹ năng riêng với khối lượng lớn thì sự tuyển dụng nhiều hơn của ngành đẩy tiền lương của LĐ kỹ năng đó lên. Trong ngắn hạn đường cung LĐ của ngành dốc lên.</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Trong dài hạn, đường cung LĐ của ngành có thể ít dốc hơn. Khi sự tăng LĐ được thuê đẩy tiền lương của những LĐ ở một ngành nào đó thì có nhiều người sẽ theo học ngành này. Trong dài hạn cung của toàn bộ nền kinh tế tăng và tiền lương của những LĐ này giảm xuống một chút. Như vậy, trong dài hạn, mỗi ngành không phải trả mức lương cao để tăng cung của loại LĐ đó nữa.</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07469822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pt-BR" sz="2300" b="1" dirty="0">
                <a:solidFill>
                  <a:srgbClr val="0000FF"/>
                </a:solidFill>
                <a:latin typeface="Times New Roman" pitchFamily="18" charset="0"/>
                <a:cs typeface="Times New Roman" pitchFamily="18" charset="0"/>
              </a:rPr>
              <a:t>6.2. Thị trường lao động</a:t>
            </a:r>
            <a:endParaRPr lang="en-US" sz="2300" b="1" dirty="0">
              <a:solidFill>
                <a:srgbClr val="0000FF"/>
              </a:solidFill>
              <a:latin typeface="Times New Roman" pitchFamily="18" charset="0"/>
              <a:cs typeface="Times New Roman" pitchFamily="18" charset="0"/>
            </a:endParaRPr>
          </a:p>
          <a:p>
            <a:pPr algn="just"/>
            <a:r>
              <a:rPr lang="pt-BR" sz="2300" b="1" i="1" dirty="0">
                <a:solidFill>
                  <a:srgbClr val="0000FF"/>
                </a:solidFill>
                <a:latin typeface="Times New Roman" pitchFamily="18" charset="0"/>
                <a:cs typeface="Times New Roman" pitchFamily="18" charset="0"/>
              </a:rPr>
              <a:t>6.2.3. Cân bằng cung cầu trên thị trường lao động </a:t>
            </a:r>
            <a:endParaRPr lang="en-US" sz="2300" b="1" i="1"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a:t>
            </a:r>
            <a:r>
              <a:rPr lang="pt-BR" sz="2300" i="1" dirty="0">
                <a:solidFill>
                  <a:srgbClr val="0000FF"/>
                </a:solidFill>
                <a:latin typeface="Times New Roman" pitchFamily="18" charset="0"/>
                <a:cs typeface="Times New Roman" pitchFamily="18" charset="0"/>
              </a:rPr>
              <a:t>Giá cân bằng </a:t>
            </a:r>
            <a:r>
              <a:rPr lang="pt-BR" sz="2300" dirty="0">
                <a:solidFill>
                  <a:srgbClr val="0000FF"/>
                </a:solidFill>
                <a:latin typeface="Times New Roman" pitchFamily="18" charset="0"/>
                <a:cs typeface="Times New Roman" pitchFamily="18" charset="0"/>
              </a:rPr>
              <a:t>là giá mà tại đó những người mua các yếu tố sản xuất muốn mua cùng số lượng mà người bán muốn bán.</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Trong hình cho thấy sự cân bằng trên thị trường lao động. Đường cầu về lao động D</a:t>
            </a:r>
            <a:r>
              <a:rPr lang="pt-BR" sz="2300" baseline="-25000" dirty="0">
                <a:solidFill>
                  <a:srgbClr val="0000FF"/>
                </a:solidFill>
                <a:latin typeface="Times New Roman" pitchFamily="18" charset="0"/>
                <a:cs typeface="Times New Roman" pitchFamily="18" charset="0"/>
              </a:rPr>
              <a:t>L</a:t>
            </a:r>
            <a:r>
              <a:rPr lang="pt-BR" sz="2300" dirty="0">
                <a:solidFill>
                  <a:srgbClr val="0000FF"/>
                </a:solidFill>
                <a:latin typeface="Times New Roman" pitchFamily="18" charset="0"/>
                <a:cs typeface="Times New Roman" pitchFamily="18" charset="0"/>
              </a:rPr>
              <a:t> dốc xuống cắt đường cung về lao động S</a:t>
            </a:r>
            <a:r>
              <a:rPr lang="pt-BR" sz="2300" baseline="-25000" dirty="0">
                <a:solidFill>
                  <a:srgbClr val="0000FF"/>
                </a:solidFill>
                <a:latin typeface="Times New Roman" pitchFamily="18" charset="0"/>
                <a:cs typeface="Times New Roman" pitchFamily="18" charset="0"/>
              </a:rPr>
              <a:t>L</a:t>
            </a:r>
            <a:r>
              <a:rPr lang="pt-BR" sz="2300" dirty="0">
                <a:solidFill>
                  <a:srgbClr val="0000FF"/>
                </a:solidFill>
                <a:latin typeface="Times New Roman" pitchFamily="18" charset="0"/>
                <a:cs typeface="Times New Roman" pitchFamily="18" charset="0"/>
              </a:rPr>
              <a:t> dốc lên tại nơi mức lương w</a:t>
            </a:r>
            <a:r>
              <a:rPr lang="pt-BR" sz="2300" baseline="-25000" dirty="0">
                <a:solidFill>
                  <a:srgbClr val="0000FF"/>
                </a:solidFill>
                <a:latin typeface="Times New Roman" pitchFamily="18" charset="0"/>
                <a:cs typeface="Times New Roman" pitchFamily="18" charset="0"/>
              </a:rPr>
              <a:t>E </a:t>
            </a:r>
            <a:r>
              <a:rPr lang="pt-BR" sz="2300" dirty="0">
                <a:solidFill>
                  <a:srgbClr val="0000FF"/>
                </a:solidFill>
                <a:latin typeface="Times New Roman" pitchFamily="18" charset="0"/>
                <a:cs typeface="Times New Roman" pitchFamily="18" charset="0"/>
              </a:rPr>
              <a:t>và mức thuê lao động là L</a:t>
            </a:r>
            <a:r>
              <a:rPr lang="pt-BR" sz="2300" baseline="-25000" dirty="0">
                <a:solidFill>
                  <a:srgbClr val="0000FF"/>
                </a:solidFill>
                <a:latin typeface="Times New Roman" pitchFamily="18" charset="0"/>
                <a:cs typeface="Times New Roman" pitchFamily="18" charset="0"/>
              </a:rPr>
              <a:t>E</a:t>
            </a:r>
            <a:r>
              <a:rPr lang="pt-BR" sz="2300" dirty="0">
                <a:solidFill>
                  <a:srgbClr val="0000FF"/>
                </a:solidFill>
                <a:latin typeface="Times New Roman" pitchFamily="18" charset="0"/>
                <a:cs typeface="Times New Roman" pitchFamily="18" charset="0"/>
              </a:rPr>
              <a:t>.</a:t>
            </a:r>
          </a:p>
        </p:txBody>
      </p:sp>
      <p:sp>
        <p:nvSpPr>
          <p:cNvPr id="5" name="Rectangle 4"/>
          <p:cNvSpPr/>
          <p:nvPr/>
        </p:nvSpPr>
        <p:spPr>
          <a:xfrm>
            <a:off x="155714" y="2971801"/>
            <a:ext cx="4606786" cy="37337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pt-BR" sz="2200" dirty="0">
                <a:solidFill>
                  <a:srgbClr val="0000FF"/>
                </a:solidFill>
                <a:latin typeface="Times New Roman" pitchFamily="18" charset="0"/>
                <a:cs typeface="Times New Roman" pitchFamily="18" charset="0"/>
              </a:rPr>
              <a:t>+ Ở mức lương L</a:t>
            </a:r>
            <a:r>
              <a:rPr lang="pt-BR" sz="2200" baseline="-25000" dirty="0">
                <a:solidFill>
                  <a:srgbClr val="0000FF"/>
                </a:solidFill>
                <a:latin typeface="Times New Roman" pitchFamily="18" charset="0"/>
                <a:cs typeface="Times New Roman" pitchFamily="18" charset="0"/>
              </a:rPr>
              <a:t>E</a:t>
            </a:r>
            <a:r>
              <a:rPr lang="pt-BR" sz="2200" dirty="0">
                <a:solidFill>
                  <a:srgbClr val="0000FF"/>
                </a:solidFill>
                <a:latin typeface="Times New Roman" pitchFamily="18" charset="0"/>
                <a:cs typeface="Times New Roman" pitchFamily="18" charset="0"/>
              </a:rPr>
              <a:t> &lt; mức cân bằng w</a:t>
            </a:r>
            <a:r>
              <a:rPr lang="pt-BR" sz="2200" baseline="-25000" dirty="0">
                <a:solidFill>
                  <a:srgbClr val="0000FF"/>
                </a:solidFill>
                <a:latin typeface="Times New Roman" pitchFamily="18" charset="0"/>
                <a:cs typeface="Times New Roman" pitchFamily="18" charset="0"/>
              </a:rPr>
              <a:t>E</a:t>
            </a:r>
            <a:r>
              <a:rPr lang="pt-BR" sz="2200" dirty="0">
                <a:solidFill>
                  <a:srgbClr val="0000FF"/>
                </a:solidFill>
                <a:latin typeface="Times New Roman" pitchFamily="18" charset="0"/>
                <a:cs typeface="Times New Roman" pitchFamily="18" charset="0"/>
              </a:rPr>
              <a:t>, số lượng LĐ muốn cung ứng lại ít hơn lượng LĐ muốn thuê. Sự thiếu hụt xảy ra và các DN sẽ tăng mức tiền lương để thu hút lao động.</a:t>
            </a:r>
            <a:endParaRPr lang="en-US" sz="2200" dirty="0">
              <a:solidFill>
                <a:srgbClr val="0000FF"/>
              </a:solidFill>
              <a:latin typeface="Times New Roman" pitchFamily="18" charset="0"/>
              <a:cs typeface="Times New Roman" pitchFamily="18" charset="0"/>
            </a:endParaRPr>
          </a:p>
          <a:p>
            <a:pPr algn="just"/>
            <a:r>
              <a:rPr lang="pt-BR" sz="2200" dirty="0">
                <a:solidFill>
                  <a:srgbClr val="0000FF"/>
                </a:solidFill>
                <a:latin typeface="Times New Roman" pitchFamily="18" charset="0"/>
                <a:cs typeface="Times New Roman" pitchFamily="18" charset="0"/>
              </a:rPr>
              <a:t>+ Ở mức lương w</a:t>
            </a:r>
            <a:r>
              <a:rPr lang="pt-BR" sz="2200" baseline="-25000" dirty="0">
                <a:solidFill>
                  <a:srgbClr val="0000FF"/>
                </a:solidFill>
                <a:latin typeface="Times New Roman" pitchFamily="18" charset="0"/>
                <a:cs typeface="Times New Roman" pitchFamily="18" charset="0"/>
              </a:rPr>
              <a:t>2</a:t>
            </a:r>
            <a:r>
              <a:rPr lang="pt-BR" sz="2200" dirty="0">
                <a:solidFill>
                  <a:srgbClr val="0000FF"/>
                </a:solidFill>
                <a:latin typeface="Times New Roman" pitchFamily="18" charset="0"/>
                <a:cs typeface="Times New Roman" pitchFamily="18" charset="0"/>
              </a:rPr>
              <a:t> &gt; w</a:t>
            </a:r>
            <a:r>
              <a:rPr lang="pt-BR" sz="2200" baseline="-25000" dirty="0">
                <a:solidFill>
                  <a:srgbClr val="0000FF"/>
                </a:solidFill>
                <a:latin typeface="Times New Roman" pitchFamily="18" charset="0"/>
                <a:cs typeface="Times New Roman" pitchFamily="18" charset="0"/>
              </a:rPr>
              <a:t>E</a:t>
            </a:r>
            <a:r>
              <a:rPr lang="pt-BR" sz="2200" dirty="0">
                <a:solidFill>
                  <a:srgbClr val="0000FF"/>
                </a:solidFill>
                <a:latin typeface="Times New Roman" pitchFamily="18" charset="0"/>
                <a:cs typeface="Times New Roman" pitchFamily="18" charset="0"/>
              </a:rPr>
              <a:t>, số LĐ muốn cung ứng sẽ nhiều hơn lượng LĐ muốn thuê. Sự chiếm dụng xảy ra vì người LĐ mong muốn có việc làm sẽ sẵn sàng nhận một mức lương thấp hơn. Như vậy mức tiền lương sẽ hạ xuống.</a:t>
            </a:r>
            <a:endParaRPr lang="en-US" sz="2200" dirty="0">
              <a:solidFill>
                <a:srgbClr val="0000FF"/>
              </a:solidFill>
              <a:latin typeface="Times New Roman" pitchFamily="18" charset="0"/>
              <a:cs typeface="Times New Roman" pitchFamily="18" charset="0"/>
            </a:endParaRP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500" y="3124200"/>
            <a:ext cx="4305300" cy="2809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569391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pt-BR" sz="2300" b="1" dirty="0">
                <a:solidFill>
                  <a:srgbClr val="0000FF"/>
                </a:solidFill>
                <a:latin typeface="Times New Roman" pitchFamily="18" charset="0"/>
                <a:cs typeface="Times New Roman" pitchFamily="18" charset="0"/>
              </a:rPr>
              <a:t>6.2. Thị trường lao động</a:t>
            </a:r>
            <a:endParaRPr lang="en-US" sz="2300" b="1" dirty="0">
              <a:solidFill>
                <a:srgbClr val="0000FF"/>
              </a:solidFill>
              <a:latin typeface="Times New Roman" pitchFamily="18" charset="0"/>
              <a:cs typeface="Times New Roman" pitchFamily="18" charset="0"/>
            </a:endParaRPr>
          </a:p>
          <a:p>
            <a:pPr algn="just"/>
            <a:r>
              <a:rPr lang="pt-BR" sz="2300" b="1" i="1" dirty="0">
                <a:solidFill>
                  <a:srgbClr val="0000FF"/>
                </a:solidFill>
                <a:latin typeface="Times New Roman" pitchFamily="18" charset="0"/>
                <a:cs typeface="Times New Roman" pitchFamily="18" charset="0"/>
              </a:rPr>
              <a:t>6.2.3. Cân bằng cung cầu trên thị trường lao động </a:t>
            </a:r>
            <a:endParaRPr lang="en-US" sz="2300" b="1" i="1"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Sự tăng lên hay hạ xuống của tiền lương sẽ dừng lại ở một mức cân bằng. Tại điểm cân bằng:	w = w</a:t>
            </a:r>
            <a:r>
              <a:rPr lang="pt-BR" sz="2300" baseline="-25000" dirty="0">
                <a:solidFill>
                  <a:srgbClr val="0000FF"/>
                </a:solidFill>
                <a:latin typeface="Times New Roman" pitchFamily="18" charset="0"/>
                <a:cs typeface="Times New Roman" pitchFamily="18" charset="0"/>
              </a:rPr>
              <a:t>E</a:t>
            </a:r>
            <a:r>
              <a:rPr lang="pt-BR" sz="2300" dirty="0">
                <a:solidFill>
                  <a:srgbClr val="0000FF"/>
                </a:solidFill>
                <a:latin typeface="Times New Roman" pitchFamily="18" charset="0"/>
                <a:cs typeface="Times New Roman" pitchFamily="18" charset="0"/>
              </a:rPr>
              <a:t> ; L</a:t>
            </a:r>
            <a:r>
              <a:rPr lang="pt-BR" sz="2300" baseline="-25000" dirty="0">
                <a:solidFill>
                  <a:srgbClr val="0000FF"/>
                </a:solidFill>
                <a:latin typeface="Times New Roman" pitchFamily="18" charset="0"/>
                <a:cs typeface="Times New Roman" pitchFamily="18" charset="0"/>
              </a:rPr>
              <a:t>S</a:t>
            </a:r>
            <a:r>
              <a:rPr lang="pt-BR" sz="2300" dirty="0">
                <a:solidFill>
                  <a:srgbClr val="0000FF"/>
                </a:solidFill>
                <a:latin typeface="Times New Roman" pitchFamily="18" charset="0"/>
                <a:cs typeface="Times New Roman" pitchFamily="18" charset="0"/>
              </a:rPr>
              <a:t> = L</a:t>
            </a:r>
            <a:r>
              <a:rPr lang="pt-BR" sz="2300" baseline="-25000" dirty="0">
                <a:solidFill>
                  <a:srgbClr val="0000FF"/>
                </a:solidFill>
                <a:latin typeface="Times New Roman" pitchFamily="18" charset="0"/>
                <a:cs typeface="Times New Roman" pitchFamily="18" charset="0"/>
              </a:rPr>
              <a:t>D</a:t>
            </a:r>
            <a:r>
              <a:rPr lang="pt-BR" sz="2300" dirty="0">
                <a:solidFill>
                  <a:srgbClr val="0000FF"/>
                </a:solidFill>
                <a:latin typeface="Times New Roman" pitchFamily="18" charset="0"/>
                <a:cs typeface="Times New Roman" pitchFamily="18" charset="0"/>
              </a:rPr>
              <a:t>  = L</a:t>
            </a:r>
            <a:r>
              <a:rPr lang="pt-BR" sz="2300" baseline="-25000" dirty="0">
                <a:solidFill>
                  <a:srgbClr val="0000FF"/>
                </a:solidFill>
                <a:latin typeface="Times New Roman" pitchFamily="18" charset="0"/>
                <a:cs typeface="Times New Roman" pitchFamily="18" charset="0"/>
              </a:rPr>
              <a:t>E</a:t>
            </a:r>
            <a:r>
              <a:rPr lang="pt-BR" sz="2300" dirty="0">
                <a:solidFill>
                  <a:srgbClr val="0000FF"/>
                </a:solidFill>
                <a:latin typeface="Times New Roman" pitchFamily="18" charset="0"/>
                <a:cs typeface="Times New Roman" pitchFamily="18" charset="0"/>
              </a:rPr>
              <a:t>          </a:t>
            </a:r>
            <a:endParaRPr lang="en-US" sz="2300"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Lao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sang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đòi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hỏi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áp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hai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B </a:t>
            </a:r>
            <a:r>
              <a:rPr lang="en-US" sz="2300" dirty="0" err="1">
                <a:solidFill>
                  <a:srgbClr val="0000FF"/>
                </a:solidFill>
                <a:latin typeface="Times New Roman" pitchFamily="18" charset="0"/>
                <a:cs typeface="Times New Roman" pitchFamily="18" charset="0"/>
              </a:rPr>
              <a:t>đều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riêng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biệt</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w</a:t>
            </a:r>
            <a:r>
              <a:rPr lang="en-US" sz="2300" baseline="-25000" dirty="0">
                <a:solidFill>
                  <a:srgbClr val="0000FF"/>
                </a:solidFill>
                <a:latin typeface="Times New Roman" pitchFamily="18" charset="0"/>
                <a:cs typeface="Times New Roman" pitchFamily="18" charset="0"/>
              </a:rPr>
              <a:t>1A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B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lập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w</a:t>
            </a:r>
            <a:r>
              <a:rPr lang="en-US" sz="2300" baseline="-25000" dirty="0">
                <a:solidFill>
                  <a:srgbClr val="0000FF"/>
                </a:solidFill>
                <a:latin typeface="Times New Roman" pitchFamily="18" charset="0"/>
                <a:cs typeface="Times New Roman" pitchFamily="18" charset="0"/>
              </a:rPr>
              <a:t>1B</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hai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hai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tượng</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thấp</a:t>
            </a:r>
            <a:r>
              <a:rPr lang="en-US" sz="2300" dirty="0">
                <a:solidFill>
                  <a:srgbClr val="0000FF"/>
                </a:solidFill>
                <a:latin typeface="Times New Roman" pitchFamily="18" charset="0"/>
                <a:cs typeface="Times New Roman" pitchFamily="18" charset="0"/>
              </a:rPr>
              <a:t> sang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=&gt; san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p>
          <a:p>
            <a:pPr algn="just"/>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tắc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dễ</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dàng</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sang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LĐ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tục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chênh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lệch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34670233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spcBef>
                <a:spcPts val="0"/>
              </a:spcBef>
            </a:pPr>
            <a:r>
              <a:rPr lang="en-US" sz="2300" b="1" dirty="0">
                <a:solidFill>
                  <a:srgbClr val="0000FF"/>
                </a:solidFill>
                <a:latin typeface="Times New Roman" pitchFamily="18" charset="0"/>
                <a:cs typeface="Times New Roman" pitchFamily="18" charset="0"/>
              </a:rPr>
              <a:t>6.3.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vốn</a:t>
            </a:r>
            <a:endParaRPr lang="en-US" sz="2300" b="1" dirty="0">
              <a:solidFill>
                <a:srgbClr val="0000FF"/>
              </a:solidFill>
              <a:latin typeface="Times New Roman" pitchFamily="18" charset="0"/>
              <a:cs typeface="Times New Roman" pitchFamily="18" charset="0"/>
            </a:endParaRPr>
          </a:p>
          <a:p>
            <a:pPr algn="just">
              <a:spcBef>
                <a:spcPts val="0"/>
              </a:spcBef>
            </a:pPr>
            <a:r>
              <a:rPr lang="fr-FR" sz="2300" b="1" i="1" dirty="0">
                <a:solidFill>
                  <a:srgbClr val="0000FF"/>
                </a:solidFill>
                <a:latin typeface="Times New Roman" pitchFamily="18" charset="0"/>
                <a:cs typeface="Times New Roman" pitchFamily="18" charset="0"/>
              </a:rPr>
              <a:t>6.3.1. </a:t>
            </a:r>
            <a:r>
              <a:rPr lang="fr-FR" sz="2300" b="1" i="1" dirty="0" err="1">
                <a:solidFill>
                  <a:srgbClr val="0000FF"/>
                </a:solidFill>
                <a:latin typeface="Times New Roman" pitchFamily="18" charset="0"/>
                <a:cs typeface="Times New Roman" pitchFamily="18" charset="0"/>
              </a:rPr>
              <a:t>Cầu</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vốn</a:t>
            </a:r>
            <a:endParaRPr lang="en-US" sz="2300" b="1" i="1" dirty="0">
              <a:solidFill>
                <a:srgbClr val="0000FF"/>
              </a:solidFill>
              <a:latin typeface="Times New Roman" pitchFamily="18" charset="0"/>
              <a:cs typeface="Times New Roman" pitchFamily="18" charset="0"/>
            </a:endParaRPr>
          </a:p>
          <a:p>
            <a:pPr algn="just">
              <a:spcBef>
                <a:spcPts val="0"/>
              </a:spcBef>
            </a:pP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xuống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a:t>
            </a:r>
          </a:p>
          <a:p>
            <a:pPr algn="just">
              <a:spcBef>
                <a:spcPts val="0"/>
              </a:spcBef>
            </a:pP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a:t>
            </a:r>
          </a:p>
          <a:p>
            <a:pPr algn="just">
              <a:spcBef>
                <a:spcPts val="0"/>
              </a:spcBef>
            </a:pP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endParaRPr lang="en-US" sz="2300" dirty="0">
              <a:solidFill>
                <a:srgbClr val="0000FF"/>
              </a:solidFill>
              <a:latin typeface="Times New Roman" pitchFamily="18" charset="0"/>
              <a:cs typeface="Times New Roman" pitchFamily="18" charset="0"/>
            </a:endParaRPr>
          </a:p>
          <a:p>
            <a:pPr algn="just">
              <a:spcBef>
                <a:spcPts val="0"/>
              </a:spcBef>
            </a:pP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yếu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endParaRPr lang="en-US" sz="2300" dirty="0">
              <a:solidFill>
                <a:srgbClr val="0000FF"/>
              </a:solidFill>
              <a:latin typeface="Times New Roman" pitchFamily="18" charset="0"/>
              <a:cs typeface="Times New Roman" pitchFamily="18" charset="0"/>
            </a:endParaRPr>
          </a:p>
          <a:p>
            <a:pPr algn="just">
              <a:spcBef>
                <a:spcPts val="0"/>
              </a:spcBef>
            </a:pP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bộ</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thuật</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hệ</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vị</a:t>
            </a:r>
            <a:r>
              <a:rPr lang="en-US" sz="2300" dirty="0">
                <a:solidFill>
                  <a:srgbClr val="0000FF"/>
                </a:solidFill>
                <a:latin typeface="Times New Roman" pitchFamily="18" charset="0"/>
                <a:cs typeface="Times New Roman" pitchFamily="18" charset="0"/>
              </a:rPr>
              <a:t> DV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tham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sẵn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DV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theo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riêng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DV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theo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DN.</a:t>
            </a:r>
          </a:p>
        </p:txBody>
      </p:sp>
    </p:spTree>
    <p:extLst>
      <p:ext uri="{BB962C8B-B14F-4D97-AF65-F5344CB8AC3E}">
        <p14:creationId xmlns:p14="http://schemas.microsoft.com/office/powerpoint/2010/main" val="23613542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spcBef>
                <a:spcPts val="0"/>
              </a:spcBef>
            </a:pPr>
            <a:r>
              <a:rPr lang="en-US" sz="2300" b="1" dirty="0">
                <a:solidFill>
                  <a:srgbClr val="0000FF"/>
                </a:solidFill>
                <a:latin typeface="Times New Roman" pitchFamily="18" charset="0"/>
                <a:cs typeface="Times New Roman" pitchFamily="18" charset="0"/>
              </a:rPr>
              <a:t>6.3.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vốn</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6.3.2. Cung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vốn</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DV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gắn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riêng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khó</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đổi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mục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hợp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hút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thêm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sang. Do </a:t>
            </a:r>
            <a:r>
              <a:rPr lang="en-US" sz="2300" dirty="0" err="1">
                <a:solidFill>
                  <a:srgbClr val="0000FF"/>
                </a:solidFill>
                <a:latin typeface="Times New Roman" pitchFamily="18" charset="0"/>
                <a:cs typeface="Times New Roman" pitchFamily="18" charset="0"/>
              </a:rPr>
              <a:t>vậy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thẳng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bởi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hiếm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(S</a:t>
            </a:r>
            <a:r>
              <a:rPr lang="en-US" sz="2300" baseline="-25000" dirty="0">
                <a:solidFill>
                  <a:srgbClr val="0000FF"/>
                </a:solidFill>
                <a:latin typeface="Times New Roman" pitchFamily="18" charset="0"/>
                <a:cs typeface="Times New Roman" pitchFamily="18" charset="0"/>
              </a:rPr>
              <a:t>KS</a:t>
            </a:r>
            <a:r>
              <a:rPr lang="en-US" sz="2300" dirty="0">
                <a:solidFill>
                  <a:srgbClr val="0000FF"/>
                </a:solidFill>
                <a:latin typeface="Times New Roman" pitchFamily="18" charset="0"/>
                <a:cs typeface="Times New Roman" pitchFamily="18" charset="0"/>
              </a:rPr>
              <a:t>). </a:t>
            </a:r>
          </a:p>
          <a:p>
            <a:pPr algn="just"/>
            <a:r>
              <a:rPr lang="en-US" sz="2300" dirty="0" err="1">
                <a:solidFill>
                  <a:srgbClr val="0000FF"/>
                </a:solidFill>
                <a:latin typeface="Times New Roman" pitchFamily="18" charset="0"/>
                <a:cs typeface="Times New Roman" pitchFamily="18" charset="0"/>
              </a:rPr>
              <a:t>Tuy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sắm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hữu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xuyên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phía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(S</a:t>
            </a:r>
            <a:r>
              <a:rPr lang="en-US" sz="2300" baseline="-25000" dirty="0">
                <a:solidFill>
                  <a:srgbClr val="0000FF"/>
                </a:solidFill>
                <a:latin typeface="Times New Roman" pitchFamily="18" charset="0"/>
                <a:cs typeface="Times New Roman" pitchFamily="18" charset="0"/>
              </a:rPr>
              <a:t>KL1</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nhiều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đồng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khả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năng</a:t>
            </a:r>
            <a:r>
              <a:rPr lang="en-US" sz="2300" dirty="0">
                <a:solidFill>
                  <a:srgbClr val="0000FF"/>
                </a:solidFill>
                <a:latin typeface="Times New Roman" pitchFamily="18" charset="0"/>
                <a:cs typeface="Times New Roman" pitchFamily="18" charset="0"/>
              </a:rPr>
              <a:t> di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nọ</a:t>
            </a:r>
            <a:r>
              <a:rPr lang="en-US" sz="2300" dirty="0">
                <a:solidFill>
                  <a:srgbClr val="0000FF"/>
                </a:solidFill>
                <a:latin typeface="Times New Roman" pitchFamily="18" charset="0"/>
                <a:cs typeface="Times New Roman" pitchFamily="18" charset="0"/>
              </a:rPr>
              <a:t> sang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nên</a:t>
            </a:r>
            <a:r>
              <a:rPr lang="en-US" sz="2300" dirty="0">
                <a:solidFill>
                  <a:srgbClr val="0000FF"/>
                </a:solidFill>
                <a:latin typeface="Times New Roman" pitchFamily="18" charset="0"/>
                <a:cs typeface="Times New Roman" pitchFamily="18" charset="0"/>
              </a:rPr>
              <a:t> co </a:t>
            </a:r>
            <a:r>
              <a:rPr lang="en-US" sz="2300" dirty="0" err="1">
                <a:solidFill>
                  <a:srgbClr val="0000FF"/>
                </a:solidFill>
                <a:latin typeface="Times New Roman" pitchFamily="18" charset="0"/>
                <a:cs typeface="Times New Roman" pitchFamily="18" charset="0"/>
              </a:rPr>
              <a:t>giãn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4635921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spcBef>
                <a:spcPts val="0"/>
              </a:spcBef>
            </a:pPr>
            <a:r>
              <a:rPr lang="en-US" sz="2300" b="1" dirty="0">
                <a:solidFill>
                  <a:srgbClr val="0000FF"/>
                </a:solidFill>
                <a:latin typeface="Times New Roman" pitchFamily="18" charset="0"/>
                <a:cs typeface="Times New Roman" pitchFamily="18" charset="0"/>
              </a:rPr>
              <a:t>6.3.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vốn</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6.3.2. Cung </a:t>
            </a:r>
            <a:r>
              <a:rPr lang="fr-FR" sz="2300" b="1" i="1" dirty="0" err="1">
                <a:solidFill>
                  <a:srgbClr val="0000FF"/>
                </a:solidFill>
                <a:latin typeface="Times New Roman" pitchFamily="18" charset="0"/>
                <a:cs typeface="Times New Roman" pitchFamily="18" charset="0"/>
              </a:rPr>
              <a:t>về</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vốn</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nhờ</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hút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tài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sang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chuyển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từ</a:t>
            </a:r>
            <a:r>
              <a:rPr lang="en-US" sz="2300" dirty="0">
                <a:solidFill>
                  <a:srgbClr val="0000FF"/>
                </a:solidFill>
                <a:latin typeface="Times New Roman" pitchFamily="18" charset="0"/>
                <a:cs typeface="Times New Roman" pitchFamily="18" charset="0"/>
              </a:rPr>
              <a:t> S</a:t>
            </a:r>
            <a:r>
              <a:rPr lang="en-US" sz="2300" baseline="-25000" dirty="0">
                <a:solidFill>
                  <a:srgbClr val="0000FF"/>
                </a:solidFill>
                <a:latin typeface="Times New Roman" pitchFamily="18" charset="0"/>
                <a:cs typeface="Times New Roman" pitchFamily="18" charset="0"/>
              </a:rPr>
              <a:t>KL1</a:t>
            </a:r>
            <a:r>
              <a:rPr lang="en-US" sz="2300" dirty="0">
                <a:solidFill>
                  <a:srgbClr val="0000FF"/>
                </a:solidFill>
                <a:latin typeface="Times New Roman" pitchFamily="18" charset="0"/>
                <a:cs typeface="Times New Roman" pitchFamily="18" charset="0"/>
              </a:rPr>
              <a:t> sang S</a:t>
            </a:r>
            <a:r>
              <a:rPr lang="en-US" sz="2300" baseline="-25000" dirty="0">
                <a:solidFill>
                  <a:srgbClr val="0000FF"/>
                </a:solidFill>
                <a:latin typeface="Times New Roman" pitchFamily="18" charset="0"/>
                <a:cs typeface="Times New Roman" pitchFamily="18" charset="0"/>
              </a:rPr>
              <a:t>KL2</a:t>
            </a:r>
            <a:r>
              <a:rPr lang="en-US" sz="2300" dirty="0">
                <a:solidFill>
                  <a:srgbClr val="0000FF"/>
                </a:solidFill>
                <a:latin typeface="Times New Roman" pitchFamily="18" charset="0"/>
                <a:cs typeface="Times New Roman" pitchFamily="18" charset="0"/>
              </a:rPr>
              <a:t>).</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0" y="2600325"/>
            <a:ext cx="5143500" cy="326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9435784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6.3.3. </a:t>
            </a:r>
            <a:r>
              <a:rPr lang="fr-FR" sz="2300" b="1" i="1" dirty="0" err="1">
                <a:solidFill>
                  <a:srgbClr val="0000FF"/>
                </a:solidFill>
                <a:latin typeface="Times New Roman" pitchFamily="18" charset="0"/>
                <a:cs typeface="Times New Roman" pitchFamily="18" charset="0"/>
              </a:rPr>
              <a:t>Cân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bằng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trên</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dịch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vụ</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vốn</a:t>
            </a:r>
            <a:endParaRPr lang="en-US" sz="2300" b="1" i="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DV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E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S</a:t>
            </a:r>
            <a:r>
              <a:rPr lang="en-US" sz="2300" baseline="-25000" dirty="0">
                <a:solidFill>
                  <a:srgbClr val="0000FF"/>
                </a:solidFill>
                <a:latin typeface="Times New Roman" pitchFamily="18" charset="0"/>
                <a:cs typeface="Times New Roman" pitchFamily="18" charset="0"/>
              </a:rPr>
              <a:t>K</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cầu</a:t>
            </a:r>
            <a:r>
              <a:rPr lang="en-US" sz="2300" dirty="0">
                <a:solidFill>
                  <a:srgbClr val="0000FF"/>
                </a:solidFill>
                <a:latin typeface="Times New Roman" pitchFamily="18" charset="0"/>
                <a:cs typeface="Times New Roman" pitchFamily="18" charset="0"/>
              </a:rPr>
              <a:t> D</a:t>
            </a:r>
            <a:r>
              <a:rPr lang="en-US" sz="2300" baseline="-25000" dirty="0">
                <a:solidFill>
                  <a:srgbClr val="0000FF"/>
                </a:solidFill>
                <a:latin typeface="Times New Roman" pitchFamily="18" charset="0"/>
                <a:cs typeface="Times New Roman" pitchFamily="18" charset="0"/>
              </a:rPr>
              <a:t>K</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DV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K</a:t>
            </a:r>
            <a:r>
              <a:rPr lang="en-US" sz="2300" baseline="-25000" dirty="0">
                <a:solidFill>
                  <a:srgbClr val="0000FF"/>
                </a:solidFill>
                <a:latin typeface="Times New Roman" pitchFamily="18" charset="0"/>
                <a:cs typeface="Times New Roman" pitchFamily="18" charset="0"/>
              </a:rPr>
              <a:t>E</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thuê</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t>
            </a:r>
            <a:r>
              <a:rPr lang="en-US" sz="2300" baseline="-25000" dirty="0" err="1">
                <a:solidFill>
                  <a:srgbClr val="0000FF"/>
                </a:solidFill>
                <a:latin typeface="Times New Roman" pitchFamily="18" charset="0"/>
                <a:cs typeface="Times New Roman" pitchFamily="18" charset="0"/>
              </a:rPr>
              <a:t>E</a:t>
            </a:r>
            <a:r>
              <a:rPr lang="en-US" sz="2300" dirty="0" err="1">
                <a:solidFill>
                  <a:srgbClr val="0000FF"/>
                </a:solidFill>
                <a:latin typeface="Times New Roman" pitchFamily="18" charset="0"/>
                <a:cs typeface="Times New Roman" pitchFamily="18" charset="0"/>
              </a:rPr>
              <a:t>.</a:t>
            </a:r>
            <a:endParaRPr lang="en-US" sz="2300" dirty="0">
              <a:solidFill>
                <a:srgbClr val="0000FF"/>
              </a:solidFill>
              <a:latin typeface="Times New Roman" pitchFamily="18" charset="0"/>
              <a:cs typeface="Times New Roman" pitchFamily="18" charset="0"/>
            </a:endParaRPr>
          </a:p>
          <a:p>
            <a:pPr algn="just"/>
            <a:endParaRPr lang="en-US" sz="2300" dirty="0">
              <a:solidFill>
                <a:srgbClr val="0000FF"/>
              </a:solidFill>
              <a:latin typeface="Times New Roman" pitchFamily="18" charset="0"/>
              <a:cs typeface="Times New Roman" pitchFamily="18" charset="0"/>
            </a:endParaRPr>
          </a:p>
          <a:p>
            <a:pPr algn="just"/>
            <a:endParaRPr lang="en-US" sz="2300" dirty="0">
              <a:solidFill>
                <a:srgbClr val="0000FF"/>
              </a:solidFill>
              <a:latin typeface="Times New Roman" pitchFamily="18" charset="0"/>
              <a:cs typeface="Times New Roman" pitchFamily="18" charset="0"/>
            </a:endParaRPr>
          </a:p>
          <a:p>
            <a:pPr algn="just"/>
            <a:endParaRPr lang="en-US" sz="2300" dirty="0">
              <a:solidFill>
                <a:srgbClr val="0000FF"/>
              </a:solidFill>
              <a:latin typeface="Times New Roman" pitchFamily="18" charset="0"/>
              <a:cs typeface="Times New Roman" pitchFamily="18" charset="0"/>
            </a:endParaRPr>
          </a:p>
          <a:p>
            <a:pPr algn="just"/>
            <a:endParaRPr lang="en-US" sz="2300" dirty="0">
              <a:solidFill>
                <a:srgbClr val="0000FF"/>
              </a:solidFill>
              <a:latin typeface="Times New Roman" pitchFamily="18" charset="0"/>
              <a:cs typeface="Times New Roman" pitchFamily="18" charset="0"/>
            </a:endParaRPr>
          </a:p>
          <a:p>
            <a:pPr algn="just"/>
            <a:endParaRPr lang="en-US" sz="2300" dirty="0">
              <a:solidFill>
                <a:srgbClr val="0000FF"/>
              </a:solidFill>
              <a:latin typeface="Times New Roman" pitchFamily="18" charset="0"/>
              <a:cs typeface="Times New Roman" pitchFamily="18" charset="0"/>
            </a:endParaRP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20971" y="3657600"/>
            <a:ext cx="4146415"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52400" y="1371600"/>
            <a:ext cx="8839200" cy="1905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100" dirty="0" err="1">
                <a:solidFill>
                  <a:srgbClr val="0000FF"/>
                </a:solidFill>
                <a:latin typeface="Times New Roman" pitchFamily="18" charset="0"/>
                <a:cs typeface="Times New Roman" pitchFamily="18" charset="0"/>
              </a:rPr>
              <a:t>Giá</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là</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mức</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tiền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đảm</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bảo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sở</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hữu</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bù</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đắp</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được</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tất</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cả</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các</a:t>
            </a:r>
            <a:r>
              <a:rPr lang="en-US" sz="2100" dirty="0">
                <a:solidFill>
                  <a:srgbClr val="0000FF"/>
                </a:solidFill>
                <a:latin typeface="Times New Roman" pitchFamily="18" charset="0"/>
                <a:cs typeface="Times New Roman" pitchFamily="18" charset="0"/>
              </a:rPr>
              <a:t> chi </a:t>
            </a:r>
            <a:r>
              <a:rPr lang="en-US" sz="2100" dirty="0" err="1">
                <a:solidFill>
                  <a:srgbClr val="0000FF"/>
                </a:solidFill>
                <a:latin typeface="Times New Roman" pitchFamily="18" charset="0"/>
                <a:cs typeface="Times New Roman" pitchFamily="18" charset="0"/>
              </a:rPr>
              <a:t>phí</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cơ</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hội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cần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thiết</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phát</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sinh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từ</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việc</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ứng</a:t>
            </a:r>
            <a:r>
              <a:rPr lang="en-US" sz="2100" dirty="0">
                <a:solidFill>
                  <a:srgbClr val="0000FF"/>
                </a:solidFill>
                <a:latin typeface="Times New Roman" pitchFamily="18" charset="0"/>
                <a:cs typeface="Times New Roman" pitchFamily="18" charset="0"/>
              </a:rPr>
              <a:t> DV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và</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có</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mức</a:t>
            </a:r>
            <a:r>
              <a:rPr lang="en-US" sz="2100" dirty="0">
                <a:solidFill>
                  <a:srgbClr val="0000FF"/>
                </a:solidFill>
                <a:latin typeface="Times New Roman" pitchFamily="18" charset="0"/>
                <a:cs typeface="Times New Roman" pitchFamily="18" charset="0"/>
              </a:rPr>
              <a:t> LN </a:t>
            </a:r>
            <a:r>
              <a:rPr lang="en-US" sz="2100" dirty="0" err="1">
                <a:solidFill>
                  <a:srgbClr val="0000FF"/>
                </a:solidFill>
                <a:latin typeface="Times New Roman" pitchFamily="18" charset="0"/>
                <a:cs typeface="Times New Roman" pitchFamily="18" charset="0"/>
              </a:rPr>
              <a:t>kinh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tế</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bằng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không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Nếu</a:t>
            </a:r>
            <a:r>
              <a:rPr lang="en-US" sz="2100" dirty="0">
                <a:solidFill>
                  <a:srgbClr val="0000FF"/>
                </a:solidFill>
                <a:latin typeface="Times New Roman" pitchFamily="18" charset="0"/>
                <a:cs typeface="Times New Roman" pitchFamily="18" charset="0"/>
              </a:rPr>
              <a:t> LN </a:t>
            </a:r>
            <a:r>
              <a:rPr lang="en-US" sz="2100" dirty="0" err="1">
                <a:solidFill>
                  <a:srgbClr val="0000FF"/>
                </a:solidFill>
                <a:latin typeface="Times New Roman" pitchFamily="18" charset="0"/>
                <a:cs typeface="Times New Roman" pitchFamily="18" charset="0"/>
              </a:rPr>
              <a:t>của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những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ứng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còn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cao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hơn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mức</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này</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sự</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gia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nhập</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ngành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của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những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ứng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mới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sẽ</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làm</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nguồn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DV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tăng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lên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giá</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hạ</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xuống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và</a:t>
            </a:r>
            <a:r>
              <a:rPr lang="en-US" sz="2100" dirty="0">
                <a:solidFill>
                  <a:srgbClr val="0000FF"/>
                </a:solidFill>
                <a:latin typeface="Times New Roman" pitchFamily="18" charset="0"/>
                <a:cs typeface="Times New Roman" pitchFamily="18" charset="0"/>
              </a:rPr>
              <a:t> LN </a:t>
            </a:r>
            <a:r>
              <a:rPr lang="en-US" sz="2100" dirty="0" err="1">
                <a:solidFill>
                  <a:srgbClr val="0000FF"/>
                </a:solidFill>
                <a:latin typeface="Times New Roman" pitchFamily="18" charset="0"/>
                <a:cs typeface="Times New Roman" pitchFamily="18" charset="0"/>
              </a:rPr>
              <a:t>của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những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giảm</a:t>
            </a:r>
            <a:r>
              <a:rPr lang="en-US" sz="2100" dirty="0">
                <a:solidFill>
                  <a:srgbClr val="0000FF"/>
                </a:solidFill>
                <a:latin typeface="Times New Roman" pitchFamily="18" charset="0"/>
                <a:cs typeface="Times New Roman" pitchFamily="18" charset="0"/>
              </a:rPr>
              <a:t>.</a:t>
            </a:r>
          </a:p>
        </p:txBody>
      </p:sp>
      <p:sp>
        <p:nvSpPr>
          <p:cNvPr id="6" name="Rectangle 5"/>
          <p:cNvSpPr/>
          <p:nvPr/>
        </p:nvSpPr>
        <p:spPr>
          <a:xfrm>
            <a:off x="152400" y="3276600"/>
            <a:ext cx="4876800" cy="35052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100" dirty="0" err="1">
                <a:solidFill>
                  <a:srgbClr val="0000FF"/>
                </a:solidFill>
                <a:latin typeface="Times New Roman" pitchFamily="18" charset="0"/>
                <a:cs typeface="Times New Roman" pitchFamily="18" charset="0"/>
              </a:rPr>
              <a:t>Ngược</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lại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trong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trường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hợp</a:t>
            </a:r>
            <a:r>
              <a:rPr lang="en-US" sz="2100" dirty="0">
                <a:solidFill>
                  <a:srgbClr val="0000FF"/>
                </a:solidFill>
                <a:latin typeface="Times New Roman" pitchFamily="18" charset="0"/>
                <a:cs typeface="Times New Roman" pitchFamily="18" charset="0"/>
              </a:rPr>
              <a:t> LN </a:t>
            </a:r>
            <a:r>
              <a:rPr lang="en-US" sz="2100" dirty="0" err="1">
                <a:solidFill>
                  <a:srgbClr val="0000FF"/>
                </a:solidFill>
                <a:latin typeface="Times New Roman" pitchFamily="18" charset="0"/>
                <a:cs typeface="Times New Roman" pitchFamily="18" charset="0"/>
              </a:rPr>
              <a:t>kinh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tế</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của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những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hiện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hành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là</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âm</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thì</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sự</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rút</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lui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khỏi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ngành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của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một</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số</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ứng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sẽ</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là</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cơ</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chế</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để</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đẩy</a:t>
            </a:r>
            <a:r>
              <a:rPr lang="en-US" sz="2100" dirty="0">
                <a:solidFill>
                  <a:srgbClr val="0000FF"/>
                </a:solidFill>
                <a:latin typeface="Times New Roman" pitchFamily="18" charset="0"/>
                <a:cs typeface="Times New Roman" pitchFamily="18" charset="0"/>
              </a:rPr>
              <a:t> LN </a:t>
            </a:r>
            <a:r>
              <a:rPr lang="en-US" sz="2100" dirty="0" err="1">
                <a:solidFill>
                  <a:srgbClr val="0000FF"/>
                </a:solidFill>
                <a:latin typeface="Times New Roman" pitchFamily="18" charset="0"/>
                <a:cs typeface="Times New Roman" pitchFamily="18" charset="0"/>
              </a:rPr>
              <a:t>của</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những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ứng</a:t>
            </a:r>
            <a:r>
              <a:rPr lang="en-US" sz="2100" dirty="0">
                <a:solidFill>
                  <a:srgbClr val="0000FF"/>
                </a:solidFill>
                <a:latin typeface="Times New Roman" pitchFamily="18" charset="0"/>
                <a:cs typeface="Times New Roman" pitchFamily="18" charset="0"/>
              </a:rPr>
              <a:t> DV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còn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lại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lên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Vì</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vậy</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giá</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cần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có</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trong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dài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hạn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chính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là</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mức</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tiền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thuê</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cân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bằng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dài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hạn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Trong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điều</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kiện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thị</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trường</a:t>
            </a:r>
            <a:r>
              <a:rPr lang="en-US" sz="2100" dirty="0">
                <a:solidFill>
                  <a:srgbClr val="0000FF"/>
                </a:solidFill>
                <a:latin typeface="Times New Roman" pitchFamily="18" charset="0"/>
                <a:cs typeface="Times New Roman" pitchFamily="18" charset="0"/>
              </a:rPr>
              <a:t> DV </a:t>
            </a:r>
            <a:r>
              <a:rPr lang="en-US" sz="2100" dirty="0" err="1">
                <a:solidFill>
                  <a:srgbClr val="0000FF"/>
                </a:solidFill>
                <a:latin typeface="Times New Roman" pitchFamily="18" charset="0"/>
                <a:cs typeface="Times New Roman" pitchFamily="18" charset="0"/>
              </a:rPr>
              <a:t>vốn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mang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tính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cạnh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tranh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về</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dài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hạn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điểm</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cân</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bằng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thị</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trường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sẽ</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bảo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đảm</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cho</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những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người</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cung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ứng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có</a:t>
            </a:r>
            <a:r>
              <a:rPr lang="en-US" sz="2100" dirty="0">
                <a:solidFill>
                  <a:srgbClr val="0000FF"/>
                </a:solidFill>
                <a:latin typeface="Times New Roman" pitchFamily="18" charset="0"/>
                <a:cs typeface="Times New Roman" pitchFamily="18" charset="0"/>
              </a:rPr>
              <a:t> LN </a:t>
            </a:r>
            <a:r>
              <a:rPr lang="en-US" sz="2100" dirty="0" err="1">
                <a:solidFill>
                  <a:srgbClr val="0000FF"/>
                </a:solidFill>
                <a:latin typeface="Times New Roman" pitchFamily="18" charset="0"/>
                <a:cs typeface="Times New Roman" pitchFamily="18" charset="0"/>
              </a:rPr>
              <a:t>kinh</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tế</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bằng</a:t>
            </a:r>
            <a:r>
              <a:rPr lang="en-US" sz="2100" dirty="0">
                <a:solidFill>
                  <a:srgbClr val="0000FF"/>
                </a:solidFill>
                <a:latin typeface="Times New Roman" pitchFamily="18" charset="0"/>
                <a:cs typeface="Times New Roman" pitchFamily="18" charset="0"/>
              </a:rPr>
              <a:t> </a:t>
            </a:r>
            <a:r>
              <a:rPr lang="en-US" sz="2100" dirty="0" err="1">
                <a:solidFill>
                  <a:srgbClr val="0000FF"/>
                </a:solidFill>
                <a:latin typeface="Times New Roman" pitchFamily="18" charset="0"/>
                <a:cs typeface="Times New Roman" pitchFamily="18" charset="0"/>
              </a:rPr>
              <a:t>không</a:t>
            </a:r>
            <a:r>
              <a:rPr lang="en-US" sz="21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9253106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6.4.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đai</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Đặc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a:t>
            </a:r>
          </a:p>
          <a:p>
            <a:pPr algn="just"/>
            <a:r>
              <a:rPr lang="fr-FR" sz="2400" b="1" i="1" dirty="0">
                <a:solidFill>
                  <a:srgbClr val="0000FF"/>
                </a:solidFill>
                <a:latin typeface="Times New Roman" pitchFamily="18" charset="0"/>
                <a:cs typeface="Times New Roman" pitchFamily="18" charset="0"/>
              </a:rPr>
              <a:t>6.4.1. </a:t>
            </a:r>
            <a:r>
              <a:rPr lang="fr-FR" sz="2400" b="1" i="1" dirty="0" err="1">
                <a:solidFill>
                  <a:srgbClr val="0000FF"/>
                </a:solidFill>
                <a:latin typeface="Times New Roman" pitchFamily="18" charset="0"/>
                <a:cs typeface="Times New Roman" pitchFamily="18" charset="0"/>
              </a:rPr>
              <a:t>Cầu</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về</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đất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đai</a:t>
            </a:r>
            <a:r>
              <a:rPr lang="fr-FR" sz="2400" b="1" i="1" dirty="0">
                <a:solidFill>
                  <a:srgbClr val="0000FF"/>
                </a:solidFill>
                <a:latin typeface="Times New Roman" pitchFamily="18" charset="0"/>
                <a:cs typeface="Times New Roman" pitchFamily="18" charset="0"/>
              </a:rPr>
              <a:t> </a:t>
            </a:r>
            <a:endParaRPr lang="en-US" sz="2400" b="1" i="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doanh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phẩm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suy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MRP</a:t>
            </a:r>
            <a:r>
              <a:rPr lang="en-US" sz="2400" baseline="-25000" dirty="0">
                <a:solidFill>
                  <a:srgbClr val="0000FF"/>
                </a:solidFill>
                <a:latin typeface="Times New Roman" pitchFamily="18" charset="0"/>
                <a:cs typeface="Times New Roman" pitchFamily="18" charset="0"/>
              </a:rPr>
              <a:t>L</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MRP</a:t>
            </a:r>
            <a:r>
              <a:rPr lang="en-US" sz="2400" baseline="-25000" dirty="0">
                <a:solidFill>
                  <a:srgbClr val="0000FF"/>
                </a:solidFill>
                <a:latin typeface="Times New Roman" pitchFamily="18" charset="0"/>
                <a:cs typeface="Times New Roman" pitchFamily="18" charset="0"/>
              </a:rPr>
              <a:t>K</a:t>
            </a:r>
            <a:r>
              <a:rPr lang="en-US" sz="2400" dirty="0">
                <a:solidFill>
                  <a:srgbClr val="0000FF"/>
                </a:solidFill>
                <a:latin typeface="Times New Roman" pitchFamily="18" charset="0"/>
                <a:cs typeface="Times New Roman" pitchFamily="18" charset="0"/>
              </a:rPr>
              <a:t>: MRP</a:t>
            </a:r>
            <a:r>
              <a:rPr lang="en-US" sz="2400" baseline="-25000" dirty="0">
                <a:solidFill>
                  <a:srgbClr val="0000FF"/>
                </a:solidFill>
                <a:latin typeface="Times New Roman" pitchFamily="18" charset="0"/>
                <a:cs typeface="Times New Roman" pitchFamily="18" charset="0"/>
              </a:rPr>
              <a:t>R</a:t>
            </a:r>
            <a:r>
              <a:rPr lang="en-US" sz="2400" dirty="0">
                <a:solidFill>
                  <a:srgbClr val="0000FF"/>
                </a:solidFill>
                <a:latin typeface="Times New Roman" pitchFamily="18" charset="0"/>
                <a:cs typeface="Times New Roman" pitchFamily="18" charset="0"/>
              </a:rPr>
              <a:t> = D</a:t>
            </a:r>
            <a:r>
              <a:rPr lang="en-US" sz="2400" baseline="-25000" dirty="0">
                <a:solidFill>
                  <a:srgbClr val="0000FF"/>
                </a:solidFill>
                <a:latin typeface="Times New Roman" pitchFamily="18" charset="0"/>
                <a:cs typeface="Times New Roman" pitchFamily="18" charset="0"/>
              </a:rPr>
              <a:t>R</a:t>
            </a:r>
            <a:r>
              <a:rPr lang="en-US" sz="2400" dirty="0">
                <a:solidFill>
                  <a:srgbClr val="0000FF"/>
                </a:solidFill>
                <a:latin typeface="Times New Roman" pitchFamily="18" charset="0"/>
                <a:cs typeface="Times New Roman" pitchFamily="18" charset="0"/>
              </a:rPr>
              <a:t> </a:t>
            </a:r>
            <a:endParaRPr lang="en-US" sz="2300" dirty="0">
              <a:solidFill>
                <a:srgbClr val="0000FF"/>
              </a:solidFill>
              <a:latin typeface="Times New Roman" pitchFamily="18" charset="0"/>
              <a:cs typeface="Times New Roman" pitchFamily="18"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3124200"/>
            <a:ext cx="5372100" cy="300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792411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6.4.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đai</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6.4.2. Cung </a:t>
            </a:r>
            <a:r>
              <a:rPr lang="fr-FR" sz="2400" b="1" i="1" dirty="0" err="1">
                <a:solidFill>
                  <a:srgbClr val="0000FF"/>
                </a:solidFill>
                <a:latin typeface="Times New Roman" pitchFamily="18" charset="0"/>
                <a:cs typeface="Times New Roman" pitchFamily="18" charset="0"/>
              </a:rPr>
              <a:t>về</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đất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đai</a:t>
            </a:r>
            <a:r>
              <a:rPr lang="fr-FR" sz="2400" b="1" i="1" dirty="0">
                <a:solidFill>
                  <a:srgbClr val="0000FF"/>
                </a:solidFill>
                <a:latin typeface="Times New Roman" pitchFamily="18" charset="0"/>
                <a:cs typeface="Times New Roman" pitchFamily="18" charset="0"/>
              </a:rPr>
              <a:t> </a:t>
            </a:r>
            <a:endParaRPr lang="en-US" sz="2400" b="1" i="1"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Con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ta </a:t>
            </a:r>
            <a:r>
              <a:rPr lang="en-US" sz="2400" dirty="0" err="1">
                <a:solidFill>
                  <a:srgbClr val="0000FF"/>
                </a:solidFill>
                <a:latin typeface="Times New Roman" pitchFamily="18" charset="0"/>
                <a:cs typeface="Times New Roman" pitchFamily="18" charset="0"/>
              </a:rPr>
              <a:t>vẫn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lấn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biển</a:t>
            </a:r>
            <a:r>
              <a:rPr lang="en-US" sz="2400" dirty="0">
                <a:solidFill>
                  <a:srgbClr val="0000FF"/>
                </a:solidFill>
                <a:latin typeface="Times New Roman" pitchFamily="18" charset="0"/>
                <a:cs typeface="Times New Roman" pitchFamily="18" charset="0"/>
              </a:rPr>
              <a:t>, san </a:t>
            </a:r>
            <a:r>
              <a:rPr lang="en-US" sz="2400" dirty="0" err="1">
                <a:solidFill>
                  <a:srgbClr val="0000FF"/>
                </a:solidFill>
                <a:latin typeface="Times New Roman" pitchFamily="18" charset="0"/>
                <a:cs typeface="Times New Roman" pitchFamily="18" charset="0"/>
              </a:rPr>
              <a:t>núi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hoang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nâng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vậy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Xét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phạm</a:t>
            </a:r>
            <a:r>
              <a:rPr lang="en-US" sz="2400" dirty="0">
                <a:solidFill>
                  <a:srgbClr val="0000FF"/>
                </a:solidFill>
                <a:latin typeface="Times New Roman" pitchFamily="18" charset="0"/>
                <a:cs typeface="Times New Roman" pitchFamily="18" charset="0"/>
              </a:rPr>
              <a:t> vi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quỹ</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đặc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điểm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thẳng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ngắn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hạn</a:t>
            </a:r>
            <a:r>
              <a:rPr lang="en-US" sz="2400" dirty="0">
                <a:solidFill>
                  <a:srgbClr val="0000FF"/>
                </a:solidFill>
                <a:latin typeface="Times New Roman" pitchFamily="18" charset="0"/>
                <a:cs typeface="Times New Roman" pitchFamily="18" charset="0"/>
              </a:rPr>
              <a:t>.</a:t>
            </a:r>
          </a:p>
          <a:p>
            <a:pPr algn="just"/>
            <a:endParaRPr lang="en-US" sz="2400" dirty="0">
              <a:solidFill>
                <a:srgbClr val="0000FF"/>
              </a:solidFill>
              <a:latin typeface="Times New Roman" pitchFamily="18" charset="0"/>
              <a:cs typeface="Times New Roman" pitchFamily="18" charset="0"/>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4267200"/>
            <a:ext cx="5029200" cy="223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499645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400" b="1" dirty="0">
                <a:solidFill>
                  <a:srgbClr val="0000FF"/>
                </a:solidFill>
                <a:latin typeface="Times New Roman" pitchFamily="18" charset="0"/>
                <a:cs typeface="Times New Roman" pitchFamily="18" charset="0"/>
              </a:rPr>
              <a:t>6.4.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đất</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đai</a:t>
            </a:r>
            <a:endParaRPr lang="en-US" sz="2400" b="1" dirty="0">
              <a:solidFill>
                <a:srgbClr val="0000FF"/>
              </a:solidFill>
              <a:latin typeface="Times New Roman" pitchFamily="18" charset="0"/>
              <a:cs typeface="Times New Roman" pitchFamily="18" charset="0"/>
            </a:endParaRPr>
          </a:p>
          <a:p>
            <a:pPr algn="just"/>
            <a:r>
              <a:rPr lang="fr-FR" sz="2400" b="1" i="1" dirty="0">
                <a:solidFill>
                  <a:srgbClr val="0000FF"/>
                </a:solidFill>
                <a:latin typeface="Times New Roman" pitchFamily="18" charset="0"/>
                <a:cs typeface="Times New Roman" pitchFamily="18" charset="0"/>
              </a:rPr>
              <a:t>6.4.3. </a:t>
            </a:r>
            <a:r>
              <a:rPr lang="fr-FR" sz="2400" b="1" i="1" dirty="0" err="1">
                <a:solidFill>
                  <a:srgbClr val="0000FF"/>
                </a:solidFill>
                <a:latin typeface="Times New Roman" pitchFamily="18" charset="0"/>
                <a:cs typeface="Times New Roman" pitchFamily="18" charset="0"/>
              </a:rPr>
              <a:t>Cân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bằng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trên</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thị</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trường</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đất</a:t>
            </a:r>
            <a:r>
              <a:rPr lang="fr-FR" sz="2400" b="1" i="1" dirty="0">
                <a:solidFill>
                  <a:srgbClr val="0000FF"/>
                </a:solidFill>
                <a:latin typeface="Times New Roman" pitchFamily="18" charset="0"/>
                <a:cs typeface="Times New Roman" pitchFamily="18" charset="0"/>
              </a:rPr>
              <a:t> </a:t>
            </a:r>
            <a:r>
              <a:rPr lang="fr-FR" sz="2400" b="1" i="1" dirty="0" err="1">
                <a:solidFill>
                  <a:srgbClr val="0000FF"/>
                </a:solidFill>
                <a:latin typeface="Times New Roman" pitchFamily="18" charset="0"/>
                <a:cs typeface="Times New Roman" pitchFamily="18" charset="0"/>
              </a:rPr>
              <a:t>đai</a:t>
            </a:r>
            <a:endParaRPr lang="en-US" sz="2400" b="1" i="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nguồn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cố</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chỉ</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thuê</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a:t>
            </a:r>
          </a:p>
          <a:p>
            <a:pPr algn="just"/>
            <a:r>
              <a:rPr lang="en-US" sz="2400" i="1" dirty="0" err="1">
                <a:solidFill>
                  <a:srgbClr val="0000FF"/>
                </a:solidFill>
                <a:latin typeface="Times New Roman" pitchFamily="18" charset="0"/>
                <a:cs typeface="Times New Roman" pitchFamily="18" charset="0"/>
              </a:rPr>
              <a:t>Như</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vậy</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sự</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khác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nhau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giữa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ba</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yếu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tố</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sản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xuất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động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vốn</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và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đai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tốc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độ</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điều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chỉnh</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việc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cung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cấp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chúng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Nếu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như</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mức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cung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của</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lao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động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thay</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đổi</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một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cách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dễ</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dàng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ngay</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cả</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trong</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ngắn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hạn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thì</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mức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cung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đối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với</a:t>
            </a:r>
            <a:endParaRPr lang="en-US" sz="2400" i="1" dirty="0">
              <a:solidFill>
                <a:srgbClr val="0000FF"/>
              </a:solidFill>
              <a:latin typeface="Times New Roman" pitchFamily="18" charset="0"/>
              <a:cs typeface="Times New Roman" pitchFamily="18" charset="0"/>
            </a:endParaRPr>
          </a:p>
          <a:p>
            <a:pPr algn="just"/>
            <a:r>
              <a:rPr lang="en-US" sz="2400" i="1" dirty="0" err="1">
                <a:solidFill>
                  <a:srgbClr val="0000FF"/>
                </a:solidFill>
                <a:latin typeface="Times New Roman" pitchFamily="18" charset="0"/>
                <a:cs typeface="Times New Roman" pitchFamily="18" charset="0"/>
              </a:rPr>
              <a:t>dịch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vụ</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về</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vốn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đòi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hỏi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thời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gian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dài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mới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có</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thể</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điều</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chỉnh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Còn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mức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cung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đối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với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doanh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nghiệp</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về</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đai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cho</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toàn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bộ</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nền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kinh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tế</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về</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cơ</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bản</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là</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cố</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định</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thậm</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chí</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cả</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trong</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dài</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hạn</a:t>
            </a:r>
            <a:r>
              <a:rPr lang="en-US" sz="2400" i="1" dirty="0">
                <a:solidFill>
                  <a:srgbClr val="0000FF"/>
                </a:solidFill>
                <a:latin typeface="Times New Roman" pitchFamily="18" charset="0"/>
                <a:cs typeface="Times New Roman" pitchFamily="18" charset="0"/>
              </a:rPr>
              <a:t>.</a:t>
            </a:r>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125" y="2667000"/>
            <a:ext cx="4486275"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8345821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r>
              <a:rPr lang="en-US" sz="2300" b="1" dirty="0">
                <a:solidFill>
                  <a:srgbClr val="0000FF"/>
                </a:solidFill>
                <a:latin typeface="Times New Roman" pitchFamily="18" charset="0"/>
              </a:rPr>
              <a:t>CHƯƠNG 7</a:t>
            </a:r>
          </a:p>
          <a:p>
            <a:r>
              <a:rPr lang="en-US" sz="2400" b="1" dirty="0">
                <a:solidFill>
                  <a:srgbClr val="0000FF"/>
                </a:solidFill>
                <a:latin typeface="Times New Roman" pitchFamily="18" charset="0"/>
                <a:cs typeface="Times New Roman" pitchFamily="18" charset="0"/>
              </a:rPr>
              <a:t>NHỮNG THẤT BẠI CỦA THỊ TRƯỜNG VÀ VAI TRÒ ĐIỀU TIẾT CỦA CHÍNH PHỦ TRONG NỀN KINH TẾ</a:t>
            </a:r>
          </a:p>
          <a:p>
            <a:pPr algn="just"/>
            <a:r>
              <a:rPr lang="en-US" sz="2400" b="1" dirty="0">
                <a:solidFill>
                  <a:srgbClr val="0000FF"/>
                </a:solidFill>
                <a:latin typeface="Times New Roman" pitchFamily="18" charset="0"/>
                <a:cs typeface="Times New Roman" pitchFamily="18" charset="0"/>
              </a:rPr>
              <a:t>7.1. </a:t>
            </a:r>
            <a:r>
              <a:rPr lang="en-US" sz="2400" b="1" dirty="0" err="1">
                <a:solidFill>
                  <a:srgbClr val="0000FF"/>
                </a:solidFill>
                <a:latin typeface="Times New Roman" pitchFamily="18" charset="0"/>
                <a:cs typeface="Times New Roman" pitchFamily="18" charset="0"/>
              </a:rPr>
              <a:t>Hiệu</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quả</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của</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thị</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trường</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sở</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theo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đuổi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theo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đuổi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nhuận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biểu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diễn</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biểu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diễn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dịch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bằng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nhau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403953879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7.2.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thất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và</a:t>
            </a:r>
            <a:r>
              <a:rPr lang="en-US" sz="2300" b="1" dirty="0">
                <a:solidFill>
                  <a:srgbClr val="0000FF"/>
                </a:solidFill>
                <a:latin typeface="Times New Roman" pitchFamily="18" charset="0"/>
                <a:cs typeface="Times New Roman" pitchFamily="18" charset="0"/>
              </a:rPr>
              <a:t> can </a:t>
            </a:r>
            <a:r>
              <a:rPr lang="en-US" sz="2300" b="1" dirty="0" err="1">
                <a:solidFill>
                  <a:srgbClr val="0000FF"/>
                </a:solidFill>
                <a:latin typeface="Times New Roman" pitchFamily="18" charset="0"/>
                <a:cs typeface="Times New Roman" pitchFamily="18" charset="0"/>
              </a:rPr>
              <a:t>thiệp</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Chính</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phủ</a:t>
            </a:r>
            <a:endParaRPr lang="en-US" sz="2300" b="1" dirty="0">
              <a:solidFill>
                <a:srgbClr val="0000FF"/>
              </a:solidFill>
              <a:latin typeface="Times New Roman" pitchFamily="18" charset="0"/>
              <a:cs typeface="Times New Roman" pitchFamily="18" charset="0"/>
            </a:endParaRPr>
          </a:p>
          <a:p>
            <a:pPr algn="just"/>
            <a:r>
              <a:rPr lang="fr-FR" sz="2300" b="1" i="1" dirty="0">
                <a:solidFill>
                  <a:srgbClr val="0000FF"/>
                </a:solidFill>
                <a:latin typeface="Times New Roman" pitchFamily="18" charset="0"/>
                <a:cs typeface="Times New Roman" pitchFamily="18" charset="0"/>
              </a:rPr>
              <a:t>7.2.1.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r>
              <a:rPr lang="fr-FR" sz="2300" b="1" i="1" dirty="0">
                <a:solidFill>
                  <a:srgbClr val="0000FF"/>
                </a:solidFill>
                <a:latin typeface="Times New Roman" pitchFamily="18" charset="0"/>
                <a:cs typeface="Times New Roman" pitchFamily="18" charset="0"/>
              </a:rPr>
              <a:t> </a:t>
            </a:r>
            <a:endParaRPr lang="en-US" sz="2300" b="1" i="1" dirty="0">
              <a:solidFill>
                <a:srgbClr val="0000FF"/>
              </a:solidFill>
              <a:latin typeface="Times New Roman" pitchFamily="18" charset="0"/>
              <a:cs typeface="Times New Roman" pitchFamily="18" charset="0"/>
            </a:endParaRPr>
          </a:p>
          <a:p>
            <a:pPr algn="just"/>
            <a:r>
              <a:rPr lang="en-US" sz="2300" i="1" dirty="0" err="1">
                <a:solidFill>
                  <a:srgbClr val="0000FF"/>
                </a:solidFill>
                <a:latin typeface="Times New Roman" pitchFamily="18" charset="0"/>
                <a:cs typeface="Times New Roman" pitchFamily="18" charset="0"/>
              </a:rPr>
              <a:t>Thất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bại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của</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thị</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trường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là</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những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trường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hợp</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mà</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thị</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trường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tự</a:t>
            </a:r>
            <a:r>
              <a:rPr lang="en-US" sz="2300" i="1" dirty="0">
                <a:solidFill>
                  <a:srgbClr val="0000FF"/>
                </a:solidFill>
                <a:latin typeface="Times New Roman" pitchFamily="18" charset="0"/>
                <a:cs typeface="Times New Roman" pitchFamily="18" charset="0"/>
              </a:rPr>
              <a:t> do </a:t>
            </a:r>
            <a:r>
              <a:rPr lang="en-US" sz="2300" i="1" dirty="0" err="1">
                <a:solidFill>
                  <a:srgbClr val="0000FF"/>
                </a:solidFill>
                <a:latin typeface="Times New Roman" pitchFamily="18" charset="0"/>
                <a:cs typeface="Times New Roman" pitchFamily="18" charset="0"/>
              </a:rPr>
              <a:t>cạnh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tranh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không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thể</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sản</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xuất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ra</a:t>
            </a:r>
            <a:r>
              <a:rPr lang="en-US" sz="2300" i="1" dirty="0">
                <a:solidFill>
                  <a:srgbClr val="0000FF"/>
                </a:solidFill>
                <a:latin typeface="Times New Roman" pitchFamily="18" charset="0"/>
                <a:cs typeface="Times New Roman" pitchFamily="18" charset="0"/>
              </a:rPr>
              <a:t> HH </a:t>
            </a:r>
            <a:r>
              <a:rPr lang="en-US" sz="2300" i="1" dirty="0" err="1">
                <a:solidFill>
                  <a:srgbClr val="0000FF"/>
                </a:solidFill>
                <a:latin typeface="Times New Roman" pitchFamily="18" charset="0"/>
                <a:cs typeface="Times New Roman" pitchFamily="18" charset="0"/>
              </a:rPr>
              <a:t>dịch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vụ</a:t>
            </a:r>
            <a:r>
              <a:rPr lang="en-US" sz="2300" i="1" dirty="0">
                <a:solidFill>
                  <a:srgbClr val="0000FF"/>
                </a:solidFill>
                <a:latin typeface="Times New Roman" pitchFamily="18" charset="0"/>
                <a:cs typeface="Times New Roman" pitchFamily="18" charset="0"/>
              </a:rPr>
              <a:t> ở </a:t>
            </a:r>
            <a:r>
              <a:rPr lang="en-US" sz="2300" i="1" dirty="0" err="1">
                <a:solidFill>
                  <a:srgbClr val="0000FF"/>
                </a:solidFill>
                <a:latin typeface="Times New Roman" pitchFamily="18" charset="0"/>
                <a:cs typeface="Times New Roman" pitchFamily="18" charset="0"/>
              </a:rPr>
              <a:t>mức</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như</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xã</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hội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mong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muốn</a:t>
            </a:r>
            <a:r>
              <a:rPr lang="en-US" sz="2300" i="1" dirty="0">
                <a:solidFill>
                  <a:srgbClr val="0000FF"/>
                </a:solidFill>
                <a:latin typeface="Times New Roman" pitchFamily="18" charset="0"/>
                <a:cs typeface="Times New Roman" pitchFamily="18" charset="0"/>
              </a:rPr>
              <a:t>.</a:t>
            </a:r>
            <a:endParaRPr lang="en-US" sz="2300"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CTHH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Pareto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bổ</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bỏ</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phẩm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(MB=MC). </a:t>
            </a:r>
            <a:r>
              <a:rPr lang="en-US" sz="2300" dirty="0" err="1">
                <a:solidFill>
                  <a:srgbClr val="0000FF"/>
                </a:solidFill>
                <a:latin typeface="Times New Roman" pitchFamily="18" charset="0"/>
                <a:cs typeface="Times New Roman" pitchFamily="18" charset="0"/>
              </a:rPr>
              <a:t>Nhưng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chưa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hoàn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hảo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ưu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luôn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con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ta </a:t>
            </a:r>
            <a:r>
              <a:rPr lang="en-US" sz="2300" dirty="0" err="1">
                <a:solidFill>
                  <a:srgbClr val="0000FF"/>
                </a:solidFill>
                <a:latin typeface="Times New Roman" pitchFamily="18" charset="0"/>
                <a:cs typeface="Times New Roman" pitchFamily="18" charset="0"/>
              </a:rPr>
              <a:t>gọi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ra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lớn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Q hay </a:t>
            </a:r>
            <a:r>
              <a:rPr lang="en-US" sz="2300" dirty="0" err="1">
                <a:solidFill>
                  <a:srgbClr val="0000FF"/>
                </a:solidFill>
                <a:latin typeface="Times New Roman" pitchFamily="18" charset="0"/>
                <a:cs typeface="Times New Roman" pitchFamily="18" charset="0"/>
              </a:rPr>
              <a:t>nhỏ</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Q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Đây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can </a:t>
            </a:r>
            <a:r>
              <a:rPr lang="en-US" sz="2300" dirty="0" err="1">
                <a:solidFill>
                  <a:srgbClr val="0000FF"/>
                </a:solidFill>
                <a:latin typeface="Times New Roman" pitchFamily="18" charset="0"/>
                <a:cs typeface="Times New Roman" pitchFamily="18" charset="0"/>
              </a:rPr>
              <a:t>thiệp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nhằm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ưu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mặt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Những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thất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bại</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của</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thị</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trường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là</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tình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huống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trong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đó</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điểm</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cân</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bằng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trong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các</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thị</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trường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tự</a:t>
            </a:r>
            <a:r>
              <a:rPr lang="en-US" sz="2300" i="1" dirty="0">
                <a:solidFill>
                  <a:srgbClr val="0000FF"/>
                </a:solidFill>
                <a:latin typeface="Times New Roman" pitchFamily="18" charset="0"/>
                <a:cs typeface="Times New Roman" pitchFamily="18" charset="0"/>
              </a:rPr>
              <a:t> do </a:t>
            </a:r>
            <a:r>
              <a:rPr lang="en-US" sz="2300" i="1" dirty="0" err="1">
                <a:solidFill>
                  <a:srgbClr val="0000FF"/>
                </a:solidFill>
                <a:latin typeface="Times New Roman" pitchFamily="18" charset="0"/>
                <a:cs typeface="Times New Roman" pitchFamily="18" charset="0"/>
              </a:rPr>
              <a:t>cạnh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tranh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không</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đạt</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được</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sự</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phân</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bố</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có</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hiệu</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ngăn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bàn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tay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vô</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hình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nguồn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03831781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7.2.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thất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và</a:t>
            </a:r>
            <a:r>
              <a:rPr lang="en-US" sz="2300" b="1" dirty="0">
                <a:solidFill>
                  <a:srgbClr val="0000FF"/>
                </a:solidFill>
                <a:latin typeface="Times New Roman" pitchFamily="18" charset="0"/>
                <a:cs typeface="Times New Roman" pitchFamily="18" charset="0"/>
              </a:rPr>
              <a:t> can </a:t>
            </a:r>
            <a:r>
              <a:rPr lang="en-US" sz="2300" b="1" dirty="0" err="1">
                <a:solidFill>
                  <a:srgbClr val="0000FF"/>
                </a:solidFill>
                <a:latin typeface="Times New Roman" pitchFamily="18" charset="0"/>
                <a:cs typeface="Times New Roman" pitchFamily="18" charset="0"/>
              </a:rPr>
              <a:t>thiệp</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Chính</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phủ</a:t>
            </a:r>
            <a:endParaRPr lang="en-US" sz="2300" b="1" dirty="0">
              <a:solidFill>
                <a:srgbClr val="0000FF"/>
              </a:solidFill>
              <a:latin typeface="Times New Roman" pitchFamily="18" charset="0"/>
              <a:cs typeface="Times New Roman" pitchFamily="18" charset="0"/>
            </a:endParaRPr>
          </a:p>
          <a:p>
            <a:pPr algn="just"/>
            <a:r>
              <a:rPr lang="pt-BR" sz="2300" b="1" i="1" dirty="0">
                <a:solidFill>
                  <a:srgbClr val="0000FF"/>
                </a:solidFill>
                <a:latin typeface="Times New Roman" pitchFamily="18" charset="0"/>
                <a:cs typeface="Times New Roman" pitchFamily="18" charset="0"/>
              </a:rPr>
              <a:t>7.2.2. Vai trò của Chính phủ trong nền kinh tế thị trường</a:t>
            </a:r>
            <a:endParaRPr lang="en-US" sz="2300" b="1" i="1"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Chính phủ cần phải can thiệp vào các hoạt động của thị trường dưới các hình thức khác nhau, ở những mức độ khác nhau để làm cho </a:t>
            </a:r>
            <a:r>
              <a:rPr lang="vi-VN" sz="2300" dirty="0">
                <a:solidFill>
                  <a:srgbClr val="0000FF"/>
                </a:solidFill>
                <a:latin typeface="Times New Roman" pitchFamily="18" charset="0"/>
                <a:cs typeface="Times New Roman" pitchFamily="18" charset="0"/>
              </a:rPr>
              <a:t>chúng</a:t>
            </a:r>
            <a:r>
              <a:rPr lang="pt-BR" sz="2300" dirty="0">
                <a:solidFill>
                  <a:srgbClr val="0000FF"/>
                </a:solidFill>
                <a:latin typeface="Times New Roman" pitchFamily="18" charset="0"/>
                <a:cs typeface="Times New Roman" pitchFamily="18" charset="0"/>
              </a:rPr>
              <a:t> vận hành tốt hơn, hiệu quả hơn</a:t>
            </a:r>
            <a:r>
              <a:rPr lang="vi-VN" sz="2300" dirty="0">
                <a:solidFill>
                  <a:srgbClr val="0000FF"/>
                </a:solidFill>
                <a:latin typeface="Times New Roman" pitchFamily="18" charset="0"/>
                <a:cs typeface="Times New Roman" pitchFamily="18" charset="0"/>
              </a:rPr>
              <a:t> với</a:t>
            </a:r>
            <a:r>
              <a:rPr lang="pt-BR" sz="2300" dirty="0">
                <a:solidFill>
                  <a:srgbClr val="0000FF"/>
                </a:solidFill>
                <a:latin typeface="Times New Roman" pitchFamily="18" charset="0"/>
                <a:cs typeface="Times New Roman" pitchFamily="18" charset="0"/>
              </a:rPr>
              <a:t> giả định rằng </a:t>
            </a:r>
            <a:r>
              <a:rPr lang="vi-VN" sz="2300" dirty="0">
                <a:solidFill>
                  <a:srgbClr val="0000FF"/>
                </a:solidFill>
                <a:latin typeface="Times New Roman" pitchFamily="18" charset="0"/>
                <a:cs typeface="Times New Roman" pitchFamily="18" charset="0"/>
              </a:rPr>
              <a:t>Chính phủ</a:t>
            </a:r>
            <a:r>
              <a:rPr lang="pt-BR" sz="2300" dirty="0">
                <a:solidFill>
                  <a:srgbClr val="0000FF"/>
                </a:solidFill>
                <a:latin typeface="Times New Roman" pitchFamily="18" charset="0"/>
                <a:cs typeface="Times New Roman" pitchFamily="18" charset="0"/>
              </a:rPr>
              <a:t> có năng lực hay biết cách can thiệp vào các hoạt động của nền kinh tế để sữa chữa các thất bại thị trường. Nói cách khác, các thất bại thị trường chính là các cơ sở khách quan lý giải sự cần thiết của hoạt động Chính phủ trong nền kinh tế thị trường.</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Để khắc phục những hạn chế của kinh tế thị trường, Chính phủ thực hiện các chức năng kinh tế chủ yếu sau:</a:t>
            </a:r>
            <a:endParaRPr lang="en-US" sz="2300" dirty="0">
              <a:solidFill>
                <a:srgbClr val="0000FF"/>
              </a:solidFill>
              <a:latin typeface="Times New Roman" pitchFamily="18" charset="0"/>
              <a:cs typeface="Times New Roman" pitchFamily="18" charset="0"/>
            </a:endParaRPr>
          </a:p>
          <a:p>
            <a:pPr algn="just">
              <a:spcBef>
                <a:spcPts val="0"/>
              </a:spcBef>
            </a:pPr>
            <a:r>
              <a:rPr lang="pt-BR" sz="2300" dirty="0">
                <a:solidFill>
                  <a:srgbClr val="0000FF"/>
                </a:solidFill>
                <a:latin typeface="Times New Roman" pitchFamily="18" charset="0"/>
                <a:cs typeface="Times New Roman" pitchFamily="18" charset="0"/>
              </a:rPr>
              <a:t>-  Xây dựng pháp luật, các quy định và quy chế điều tiết</a:t>
            </a:r>
            <a:r>
              <a:rPr lang="en-US" sz="2300" dirty="0">
                <a:solidFill>
                  <a:srgbClr val="0000FF"/>
                </a:solidFill>
                <a:latin typeface="Times New Roman" pitchFamily="18" charset="0"/>
                <a:cs typeface="Times New Roman" pitchFamily="18" charset="0"/>
              </a:rPr>
              <a:t> </a:t>
            </a:r>
            <a:r>
              <a:rPr lang="pt-BR" sz="2300" dirty="0">
                <a:solidFill>
                  <a:srgbClr val="0000FF"/>
                </a:solidFill>
                <a:latin typeface="Times New Roman" pitchFamily="18" charset="0"/>
                <a:cs typeface="Times New Roman" pitchFamily="18" charset="0"/>
              </a:rPr>
              <a:t>về quyền sở hữu tài sản và hoạt động của thị trường nhằm tạo một môi trường thuận lợi và hành lang an toàn cho sự phát triển hiệu quả của các hoạt động kinh tế.</a:t>
            </a:r>
            <a:endParaRPr lang="en-US" sz="2300" dirty="0">
              <a:solidFill>
                <a:srgbClr val="0000FF"/>
              </a:solidFill>
              <a:latin typeface="Times New Roman" pitchFamily="18" charset="0"/>
              <a:cs typeface="Times New Roman" pitchFamily="18" charset="0"/>
            </a:endParaRPr>
          </a:p>
          <a:p>
            <a:pPr algn="just">
              <a:spcBef>
                <a:spcPts val="0"/>
              </a:spcBef>
            </a:pPr>
            <a:r>
              <a:rPr lang="pt-BR" sz="2300" dirty="0">
                <a:solidFill>
                  <a:srgbClr val="0000FF"/>
                </a:solidFill>
                <a:latin typeface="Times New Roman" pitchFamily="18" charset="0"/>
                <a:cs typeface="Times New Roman" pitchFamily="18" charset="0"/>
              </a:rPr>
              <a:t>- Ổn định và cải thiện các hoạt động của nền kinh tế</a:t>
            </a:r>
            <a:r>
              <a:rPr lang="en-US" sz="2300" dirty="0">
                <a:solidFill>
                  <a:srgbClr val="0000FF"/>
                </a:solidFill>
                <a:latin typeface="Times New Roman" pitchFamily="18" charset="0"/>
                <a:cs typeface="Times New Roman" pitchFamily="18" charset="0"/>
              </a:rPr>
              <a:t> t</a:t>
            </a:r>
            <a:r>
              <a:rPr lang="pt-BR" sz="2300" dirty="0">
                <a:solidFill>
                  <a:srgbClr val="0000FF"/>
                </a:solidFill>
                <a:latin typeface="Times New Roman" pitchFamily="18" charset="0"/>
                <a:cs typeface="Times New Roman" pitchFamily="18" charset="0"/>
              </a:rPr>
              <a:t>hông qua các chính sách kinh tế vĩ mô như thuế, ngoại hối, xuất - nhập khẩu, lượng tiền hoạt động trên thị trường... Chính phủ cố gắng làm sự biến động lên xuống trong chu kỳ kinh doanh, hạn chế thất nghiệp, lạm phát, trì trệ...</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06049224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7.2.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thất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và</a:t>
            </a:r>
            <a:r>
              <a:rPr lang="en-US" sz="2300" b="1" dirty="0">
                <a:solidFill>
                  <a:srgbClr val="0000FF"/>
                </a:solidFill>
                <a:latin typeface="Times New Roman" pitchFamily="18" charset="0"/>
                <a:cs typeface="Times New Roman" pitchFamily="18" charset="0"/>
              </a:rPr>
              <a:t> can </a:t>
            </a:r>
            <a:r>
              <a:rPr lang="en-US" sz="2300" b="1" dirty="0" err="1">
                <a:solidFill>
                  <a:srgbClr val="0000FF"/>
                </a:solidFill>
                <a:latin typeface="Times New Roman" pitchFamily="18" charset="0"/>
                <a:cs typeface="Times New Roman" pitchFamily="18" charset="0"/>
              </a:rPr>
              <a:t>thiệp</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Chính</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phủ</a:t>
            </a:r>
            <a:endParaRPr lang="en-US" sz="2300" b="1" dirty="0">
              <a:solidFill>
                <a:srgbClr val="0000FF"/>
              </a:solidFill>
              <a:latin typeface="Times New Roman" pitchFamily="18" charset="0"/>
              <a:cs typeface="Times New Roman" pitchFamily="18" charset="0"/>
            </a:endParaRPr>
          </a:p>
          <a:p>
            <a:pPr algn="just"/>
            <a:r>
              <a:rPr lang="pt-BR" sz="2300" b="1" i="1" dirty="0">
                <a:solidFill>
                  <a:srgbClr val="0000FF"/>
                </a:solidFill>
                <a:latin typeface="Times New Roman" pitchFamily="18" charset="0"/>
                <a:cs typeface="Times New Roman" pitchFamily="18" charset="0"/>
              </a:rPr>
              <a:t>7.2.2. Vai trò của Chính phủ trong nền kinh tế thị trường</a:t>
            </a:r>
            <a:endParaRPr lang="en-US" sz="2300" b="1" i="1"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Để khắc phục những hạn chế của kinh tế thị trường, Chính phủ thực hiện các chức năng kinh tế chủ yếu sau:</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Tác động đến việc phân bổ các nguồn lực</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Chính phủ có thể tác động đến sự phân bổ nguồn lực bằng cách trực tiếp tác động đến sản xuất “cái gì” thông qua sự lựa chọn của Chính phủ trong việc cấp phép đầu tư, kiểm soát giá, quy định sản lượng.... Chính phủ cũng có thể tác động đến sự phân bổ nguồn lực một cách gián tiếp thông qua thuế, trợ cấp đối với cả người sản xuất và người tiêu dùng. Bên cạnh đó, Chính phủ xây dựng các chính sách, các chương trình tác động đến khâu phân phối lại thu nhập nhằm đảm bảo công bằng xã hội.</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Quy hoạch và tổ chức thu hút các nguồn đầu tư về kết cấu hạ tầng</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Yếu tố kết cấu hạ tầng kinh tế, xã hội là điều kiện quan trọng để phát triển kinh tế -  xã hội đất nước. Với tầm quan trọng như vậy, đòi hỏi Nhà nước phải là người chịu trách nhiệm thực hiện từ khâu quy hoạch, đến tổ chức phối hợp đầu tư xây dựng và quản lý sử dụng yếu tố này.</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6097526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en-US" sz="2300" b="1" dirty="0">
                <a:solidFill>
                  <a:srgbClr val="0000FF"/>
                </a:solidFill>
                <a:latin typeface="Times New Roman" pitchFamily="18" charset="0"/>
                <a:cs typeface="Times New Roman" pitchFamily="18" charset="0"/>
              </a:rPr>
              <a:t>7.2. </a:t>
            </a:r>
            <a:r>
              <a:rPr lang="en-US" sz="2300" b="1" dirty="0" err="1">
                <a:solidFill>
                  <a:srgbClr val="0000FF"/>
                </a:solidFill>
                <a:latin typeface="Times New Roman" pitchFamily="18" charset="0"/>
                <a:cs typeface="Times New Roman" pitchFamily="18" charset="0"/>
              </a:rPr>
              <a:t>Những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thất</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bại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thị</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trường</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và</a:t>
            </a:r>
            <a:r>
              <a:rPr lang="en-US" sz="2300" b="1" dirty="0">
                <a:solidFill>
                  <a:srgbClr val="0000FF"/>
                </a:solidFill>
                <a:latin typeface="Times New Roman" pitchFamily="18" charset="0"/>
                <a:cs typeface="Times New Roman" pitchFamily="18" charset="0"/>
              </a:rPr>
              <a:t> can </a:t>
            </a:r>
            <a:r>
              <a:rPr lang="en-US" sz="2300" b="1" dirty="0" err="1">
                <a:solidFill>
                  <a:srgbClr val="0000FF"/>
                </a:solidFill>
                <a:latin typeface="Times New Roman" pitchFamily="18" charset="0"/>
                <a:cs typeface="Times New Roman" pitchFamily="18" charset="0"/>
              </a:rPr>
              <a:t>thiệp</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của</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Chính</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phủ</a:t>
            </a:r>
            <a:endParaRPr lang="en-US" sz="2300" b="1" dirty="0">
              <a:solidFill>
                <a:srgbClr val="0000FF"/>
              </a:solidFill>
              <a:latin typeface="Times New Roman" pitchFamily="18" charset="0"/>
              <a:cs typeface="Times New Roman" pitchFamily="18" charset="0"/>
            </a:endParaRPr>
          </a:p>
          <a:p>
            <a:pPr algn="just"/>
            <a:r>
              <a:rPr lang="pt-BR" sz="2300" b="1" i="1" dirty="0">
                <a:solidFill>
                  <a:srgbClr val="0000FF"/>
                </a:solidFill>
                <a:latin typeface="Times New Roman" pitchFamily="18" charset="0"/>
                <a:cs typeface="Times New Roman" pitchFamily="18" charset="0"/>
              </a:rPr>
              <a:t>7.2.2. Vai trò của Chính phủ trong nền kinh tế thị trường</a:t>
            </a:r>
            <a:endParaRPr lang="en-US" sz="2300" b="1" i="1" dirty="0">
              <a:solidFill>
                <a:srgbClr val="0000FF"/>
              </a:solidFill>
              <a:latin typeface="Times New Roman" pitchFamily="18" charset="0"/>
              <a:cs typeface="Times New Roman" pitchFamily="18" charset="0"/>
            </a:endParaRPr>
          </a:p>
          <a:p>
            <a:pPr algn="just">
              <a:spcBef>
                <a:spcPts val="0"/>
              </a:spcBef>
            </a:pPr>
            <a:r>
              <a:rPr lang="pt-BR" sz="2300" i="1" dirty="0">
                <a:solidFill>
                  <a:srgbClr val="0000FF"/>
                </a:solidFill>
                <a:latin typeface="Times New Roman" pitchFamily="18" charset="0"/>
                <a:cs typeface="Times New Roman" pitchFamily="18" charset="0"/>
              </a:rPr>
              <a:t>Các công cụ chủ yếu của Chính phủ tác động vào kinh tế:</a:t>
            </a:r>
            <a:endParaRPr lang="en-US" sz="2300" dirty="0">
              <a:solidFill>
                <a:srgbClr val="0000FF"/>
              </a:solidFill>
              <a:latin typeface="Times New Roman" pitchFamily="18" charset="0"/>
              <a:cs typeface="Times New Roman" pitchFamily="18" charset="0"/>
            </a:endParaRPr>
          </a:p>
          <a:p>
            <a:pPr algn="just">
              <a:spcBef>
                <a:spcPts val="0"/>
              </a:spcBef>
            </a:pPr>
            <a:r>
              <a:rPr lang="pt-BR" sz="2300" dirty="0">
                <a:solidFill>
                  <a:srgbClr val="0000FF"/>
                </a:solidFill>
                <a:latin typeface="Times New Roman" pitchFamily="18" charset="0"/>
                <a:cs typeface="Times New Roman" pitchFamily="18" charset="0"/>
              </a:rPr>
              <a:t>- Hệ thống pháp luật và bộ máy thực thi pháp luật</a:t>
            </a:r>
            <a:endParaRPr lang="en-US" sz="2300" dirty="0">
              <a:solidFill>
                <a:srgbClr val="0000FF"/>
              </a:solidFill>
              <a:latin typeface="Times New Roman" pitchFamily="18" charset="0"/>
              <a:cs typeface="Times New Roman" pitchFamily="18" charset="0"/>
            </a:endParaRPr>
          </a:p>
          <a:p>
            <a:pPr algn="just">
              <a:spcBef>
                <a:spcPts val="0"/>
              </a:spcBef>
            </a:pPr>
            <a:r>
              <a:rPr lang="pt-BR" sz="2300" dirty="0">
                <a:solidFill>
                  <a:srgbClr val="0000FF"/>
                </a:solidFill>
                <a:latin typeface="Times New Roman" pitchFamily="18" charset="0"/>
                <a:cs typeface="Times New Roman" pitchFamily="18" charset="0"/>
              </a:rPr>
              <a:t>- Công cụ tài chính như thuế, trợ giá, bảo hiểm, đầu tư...</a:t>
            </a:r>
            <a:endParaRPr lang="en-US" sz="2300" dirty="0">
              <a:solidFill>
                <a:srgbClr val="0000FF"/>
              </a:solidFill>
              <a:latin typeface="Times New Roman" pitchFamily="18" charset="0"/>
              <a:cs typeface="Times New Roman" pitchFamily="18" charset="0"/>
            </a:endParaRPr>
          </a:p>
          <a:p>
            <a:pPr algn="just">
              <a:spcBef>
                <a:spcPts val="0"/>
              </a:spcBef>
            </a:pPr>
            <a:r>
              <a:rPr lang="pt-BR" sz="2300" dirty="0">
                <a:solidFill>
                  <a:srgbClr val="0000FF"/>
                </a:solidFill>
                <a:latin typeface="Times New Roman" pitchFamily="18" charset="0"/>
                <a:cs typeface="Times New Roman" pitchFamily="18" charset="0"/>
              </a:rPr>
              <a:t>- Công cụ tín dụng như lãi suất ngân hàng...</a:t>
            </a:r>
          </a:p>
          <a:p>
            <a:pPr algn="just">
              <a:spcBef>
                <a:spcPts val="0"/>
              </a:spcBef>
            </a:pPr>
            <a:r>
              <a:rPr lang="pt-BR" sz="2300" dirty="0">
                <a:solidFill>
                  <a:srgbClr val="0000FF"/>
                </a:solidFill>
                <a:latin typeface="Times New Roman" pitchFamily="18" charset="0"/>
                <a:cs typeface="Times New Roman" pitchFamily="18" charset="0"/>
              </a:rPr>
              <a:t>- Tổ chức, sử dụng và đổi mới hệ thống kinh tế Chính phủ.</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Chính phủ có vai trò rất quan trọng trong việc hình thành khuôn khổ pháp lý điều chỉnh các quan hệ kinh tế. Tuy vai trò của Chính phủ là khắc phục những thất bại của thị trường, nhưng không phải bao giờ cũng thành công (do đường lối, chính sách ban hành trái quy luật, không phù hợp với thực tế; quan liêu, thủ tục hành chính rườm rà, hoặc thất bại trong việc phối hợp giữa các cơ quan thuộc Chính phủ; chính sách được hoạch định không giải quyết tốt được vấn đề, không có đủ thông tin, hoặc đôi khi không đơn giản vì lợi ích kinh tế mà còn bị chi phối nhiều bởi các lý do ngoài kinh tế). </a:t>
            </a:r>
            <a:r>
              <a:rPr lang="vi-VN" sz="2300" dirty="0">
                <a:solidFill>
                  <a:srgbClr val="0000FF"/>
                </a:solidFill>
                <a:latin typeface="Times New Roman" pitchFamily="18" charset="0"/>
                <a:cs typeface="Times New Roman" pitchFamily="18" charset="0"/>
              </a:rPr>
              <a:t>Đặc biệt</a:t>
            </a:r>
            <a:r>
              <a:rPr lang="pt-BR" sz="2300" dirty="0">
                <a:solidFill>
                  <a:srgbClr val="0000FF"/>
                </a:solidFill>
                <a:latin typeface="Times New Roman" pitchFamily="18" charset="0"/>
                <a:cs typeface="Times New Roman" pitchFamily="18" charset="0"/>
              </a:rPr>
              <a:t>, các khiếm khuyết thị trường tại </a:t>
            </a:r>
            <a:r>
              <a:rPr lang="vi-VN" sz="2300" dirty="0">
                <a:solidFill>
                  <a:srgbClr val="0000FF"/>
                </a:solidFill>
                <a:latin typeface="Times New Roman" pitchFamily="18" charset="0"/>
                <a:cs typeface="Times New Roman" pitchFamily="18" charset="0"/>
              </a:rPr>
              <a:t>các </a:t>
            </a:r>
            <a:r>
              <a:rPr lang="pt-BR" sz="2300" dirty="0">
                <a:solidFill>
                  <a:srgbClr val="0000FF"/>
                </a:solidFill>
                <a:latin typeface="Times New Roman" pitchFamily="18" charset="0"/>
                <a:cs typeface="Times New Roman" pitchFamily="18" charset="0"/>
              </a:rPr>
              <a:t>nước đang phát triển phổ biến hơn so với các nước công nghiệp nên </a:t>
            </a:r>
            <a:r>
              <a:rPr lang="vi-VN" sz="2300" dirty="0">
                <a:solidFill>
                  <a:srgbClr val="0000FF"/>
                </a:solidFill>
                <a:latin typeface="Times New Roman" pitchFamily="18" charset="0"/>
                <a:cs typeface="Times New Roman" pitchFamily="18" charset="0"/>
              </a:rPr>
              <a:t>vai trò của </a:t>
            </a:r>
            <a:r>
              <a:rPr lang="pt-BR" sz="2300" dirty="0">
                <a:solidFill>
                  <a:srgbClr val="0000FF"/>
                </a:solidFill>
                <a:latin typeface="Times New Roman" pitchFamily="18" charset="0"/>
                <a:cs typeface="Times New Roman" pitchFamily="18" charset="0"/>
              </a:rPr>
              <a:t>Chính phủ </a:t>
            </a:r>
            <a:r>
              <a:rPr lang="vi-VN" sz="2300" dirty="0">
                <a:solidFill>
                  <a:srgbClr val="0000FF"/>
                </a:solidFill>
                <a:latin typeface="Times New Roman" pitchFamily="18" charset="0"/>
                <a:cs typeface="Times New Roman" pitchFamily="18" charset="0"/>
              </a:rPr>
              <a:t>ở các</a:t>
            </a:r>
            <a:r>
              <a:rPr lang="pt-BR" sz="2300" dirty="0">
                <a:solidFill>
                  <a:srgbClr val="0000FF"/>
                </a:solidFill>
                <a:latin typeface="Times New Roman" pitchFamily="18" charset="0"/>
                <a:cs typeface="Times New Roman" pitchFamily="18" charset="0"/>
              </a:rPr>
              <a:t> nước đang phát triển </a:t>
            </a:r>
            <a:r>
              <a:rPr lang="vi-VN" sz="2300" dirty="0">
                <a:solidFill>
                  <a:srgbClr val="0000FF"/>
                </a:solidFill>
                <a:latin typeface="Times New Roman" pitchFamily="18" charset="0"/>
                <a:cs typeface="Times New Roman" pitchFamily="18" charset="0"/>
              </a:rPr>
              <a:t>càng</a:t>
            </a:r>
            <a:r>
              <a:rPr lang="pt-BR" sz="2300" dirty="0">
                <a:solidFill>
                  <a:srgbClr val="0000FF"/>
                </a:solidFill>
                <a:latin typeface="Times New Roman" pitchFamily="18" charset="0"/>
                <a:cs typeface="Times New Roman" pitchFamily="18" charset="0"/>
              </a:rPr>
              <a:t> quan trọng</a:t>
            </a:r>
            <a:r>
              <a:rPr lang="vi-VN" sz="2300" dirty="0">
                <a:solidFill>
                  <a:srgbClr val="0000FF"/>
                </a:solidFill>
                <a:latin typeface="Times New Roman" pitchFamily="18" charset="0"/>
                <a:cs typeface="Times New Roman" pitchFamily="18" charset="0"/>
              </a:rPr>
              <a:t>. </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55452330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7.2.3.1. Vấn đề đảm bảo công bằng xã hội (</a:t>
            </a:r>
            <a:r>
              <a:rPr lang="en-US" sz="2300" b="1" dirty="0">
                <a:solidFill>
                  <a:srgbClr val="0000FF"/>
                </a:solidFill>
                <a:latin typeface="Times New Roman" pitchFamily="18" charset="0"/>
                <a:cs typeface="Times New Roman" pitchFamily="18" charset="0"/>
              </a:rPr>
              <a:t>Social equality)</a:t>
            </a:r>
          </a:p>
          <a:p>
            <a:pPr algn="just"/>
            <a:r>
              <a:rPr lang="pt-BR" sz="2300" dirty="0">
                <a:solidFill>
                  <a:srgbClr val="0000FF"/>
                </a:solidFill>
                <a:latin typeface="Times New Roman" pitchFamily="18" charset="0"/>
                <a:cs typeface="Times New Roman" pitchFamily="18" charset="0"/>
              </a:rPr>
              <a:t>Sự phân hóa giàu nghèo, hay sự chênh lệch về thu nhập là không tránh khỏi trong XH do mức độ sở hữu khác nhau về các nguồn lực.</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a:t>
            </a:r>
            <a:r>
              <a:rPr lang="pt-BR" sz="2300" i="1" dirty="0">
                <a:solidFill>
                  <a:srgbClr val="0000FF"/>
                </a:solidFill>
                <a:latin typeface="Times New Roman" pitchFamily="18" charset="0"/>
                <a:cs typeface="Times New Roman" pitchFamily="18" charset="0"/>
              </a:rPr>
              <a:t>Thất bại:</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Khi</a:t>
            </a:r>
            <a:r>
              <a:rPr lang="pt-BR" sz="2300" dirty="0">
                <a:solidFill>
                  <a:srgbClr val="0000FF"/>
                </a:solidFill>
                <a:latin typeface="Times New Roman" pitchFamily="18" charset="0"/>
                <a:cs typeface="Times New Roman" pitchFamily="18" charset="0"/>
              </a:rPr>
              <a:t> khoảng cách giàu nghèo trong XN trở nên sâu sắc</a:t>
            </a:r>
            <a:r>
              <a:rPr lang="en-US" sz="2300" dirty="0">
                <a:solidFill>
                  <a:srgbClr val="0000FF"/>
                </a:solidFill>
                <a:latin typeface="Times New Roman" pitchFamily="18" charset="0"/>
                <a:cs typeface="Times New Roman" pitchFamily="18" charset="0"/>
              </a:rPr>
              <a:t> =&gt; </a:t>
            </a:r>
            <a:r>
              <a:rPr lang="pt-BR" sz="2300" dirty="0">
                <a:solidFill>
                  <a:srgbClr val="0000FF"/>
                </a:solidFill>
                <a:latin typeface="Times New Roman" pitchFamily="18" charset="0"/>
                <a:cs typeface="Times New Roman" pitchFamily="18" charset="0"/>
              </a:rPr>
              <a:t>mầm mống của những xung đột, bất ổn XH. Vì thế, sự chênh lệch giàu nghèo hay sự bất công bằng về thu nhập được xem như là một khuyết tật của thị trường, đòi hỏi Chính phủ phải can thiệp.</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a:t>
            </a:r>
            <a:r>
              <a:rPr lang="pt-BR" sz="2300" i="1" dirty="0">
                <a:solidFill>
                  <a:srgbClr val="0000FF"/>
                </a:solidFill>
                <a:latin typeface="Times New Roman" pitchFamily="18" charset="0"/>
                <a:cs typeface="Times New Roman" pitchFamily="18" charset="0"/>
              </a:rPr>
              <a:t>Khắc phục: </a:t>
            </a:r>
            <a:r>
              <a:rPr lang="pt-BR" sz="2300" dirty="0">
                <a:solidFill>
                  <a:srgbClr val="0000FF"/>
                </a:solidFill>
                <a:latin typeface="Times New Roman" pitchFamily="18" charset="0"/>
                <a:cs typeface="Times New Roman" pitchFamily="18" charset="0"/>
              </a:rPr>
              <a:t>Chính phủ phải phân phối lại TN theo hướng lấy một phần TN của người giàu chuyển sang cho người nghèo. Thuế TN lũy tiến là một công cụ phân phối lại quan trọng, trong đó, những người có TN cao hơn một một ngưỡng nào đó sẽ bị đánh thuế với mức thuế suất biên tăng dần theo đà tăng c</a:t>
            </a:r>
            <a:r>
              <a:rPr lang="vi-VN" sz="2300" dirty="0">
                <a:solidFill>
                  <a:srgbClr val="0000FF"/>
                </a:solidFill>
                <a:latin typeface="Times New Roman" pitchFamily="18" charset="0"/>
                <a:cs typeface="Times New Roman" pitchFamily="18" charset="0"/>
              </a:rPr>
              <a:t>ủa</a:t>
            </a:r>
            <a:r>
              <a:rPr lang="pt-BR" sz="2300" dirty="0">
                <a:solidFill>
                  <a:srgbClr val="0000FF"/>
                </a:solidFill>
                <a:latin typeface="Times New Roman" pitchFamily="18" charset="0"/>
                <a:cs typeface="Times New Roman" pitchFamily="18" charset="0"/>
              </a:rPr>
              <a:t> TN. Với thuế lũy tiến, TN càng cao thì tỷ lệ thuế phải nộp so với TN càng cao.</a:t>
            </a:r>
            <a:r>
              <a:rPr lang="en-US" sz="2300" dirty="0">
                <a:solidFill>
                  <a:srgbClr val="0000FF"/>
                </a:solidFill>
                <a:latin typeface="Times New Roman" pitchFamily="18" charset="0"/>
                <a:cs typeface="Times New Roman" pitchFamily="18" charset="0"/>
              </a:rPr>
              <a:t> </a:t>
            </a:r>
            <a:r>
              <a:rPr lang="pt-BR" sz="2300" dirty="0">
                <a:solidFill>
                  <a:srgbClr val="0000FF"/>
                </a:solidFill>
                <a:latin typeface="Times New Roman" pitchFamily="18" charset="0"/>
                <a:cs typeface="Times New Roman" pitchFamily="18" charset="0"/>
              </a:rPr>
              <a:t>Ngược lại, Chính phủ áp dụng hệ thống trợ cấp để hỗ trợ cho những người TN thấp (người nghèo, ốm đau bệnh tật, người già neo đơn…). </a:t>
            </a:r>
            <a:r>
              <a:rPr lang="vi-VN" sz="2300" dirty="0">
                <a:solidFill>
                  <a:srgbClr val="0000FF"/>
                </a:solidFill>
                <a:latin typeface="Times New Roman" pitchFamily="18" charset="0"/>
                <a:cs typeface="Times New Roman" pitchFamily="18" charset="0"/>
              </a:rPr>
              <a:t>Bên cạnh đó, n</a:t>
            </a:r>
            <a:r>
              <a:rPr lang="pt-BR" sz="2300" dirty="0">
                <a:solidFill>
                  <a:srgbClr val="0000FF"/>
                </a:solidFill>
                <a:latin typeface="Times New Roman" pitchFamily="18" charset="0"/>
                <a:cs typeface="Times New Roman" pitchFamily="18" charset="0"/>
              </a:rPr>
              <a:t>hững chương trình chi tiêu công cộng như hệ thống trường học công, bệnh viện công… cũng tạo cơ hội cho người TN thấp có thể tiếp cận được những dịch vụ cơ bản đó.</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228047459"/>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7.2.3.2. </a:t>
            </a:r>
            <a:r>
              <a:rPr lang="en-US" sz="2400" b="1" dirty="0" err="1">
                <a:solidFill>
                  <a:srgbClr val="0000FF"/>
                </a:solidFill>
                <a:latin typeface="Times New Roman" pitchFamily="18" charset="0"/>
                <a:cs typeface="Times New Roman" pitchFamily="18" charset="0"/>
              </a:rPr>
              <a:t>Tình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trạng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cạnh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tranh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không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hoàn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hảo</a:t>
            </a:r>
            <a:r>
              <a:rPr lang="en-US" sz="2400" b="1" dirty="0">
                <a:solidFill>
                  <a:srgbClr val="0000FF"/>
                </a:solidFill>
                <a:latin typeface="Times New Roman" pitchFamily="18" charset="0"/>
                <a:cs typeface="Times New Roman" pitchFamily="18" charset="0"/>
              </a:rPr>
              <a:t> (Monopoly)</a:t>
            </a:r>
          </a:p>
          <a:p>
            <a:pPr algn="just"/>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bại</a:t>
            </a:r>
            <a:r>
              <a:rPr lang="en-US" sz="2400" i="1" dirty="0">
                <a:solidFill>
                  <a:srgbClr val="0000FF"/>
                </a:solidFill>
                <a:latin typeface="Times New Roman" pitchFamily="18" charset="0"/>
                <a:cs typeface="Times New Roman" pitchFamily="18" charset="0"/>
              </a:rPr>
              <a:t>:</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bán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lớn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hảo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DN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họ</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năng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vượt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Pareto </a:t>
            </a:r>
            <a:r>
              <a:rPr lang="en-US" sz="2400" dirty="0" err="1">
                <a:solidFill>
                  <a:srgbClr val="0000FF"/>
                </a:solidFill>
                <a:latin typeface="Times New Roman" pitchFamily="18" charset="0"/>
                <a:cs typeface="Times New Roman" pitchFamily="18" charset="0"/>
              </a:rPr>
              <a:t>bị</a:t>
            </a:r>
            <a:r>
              <a:rPr lang="en-US" sz="2400" dirty="0">
                <a:solidFill>
                  <a:srgbClr val="0000FF"/>
                </a:solidFill>
                <a:latin typeface="Times New Roman" pitchFamily="18" charset="0"/>
                <a:cs typeface="Times New Roman" pitchFamily="18" charset="0"/>
              </a:rPr>
              <a:t> vi </a:t>
            </a:r>
            <a:r>
              <a:rPr lang="en-US" sz="2400" dirty="0" err="1">
                <a:solidFill>
                  <a:srgbClr val="0000FF"/>
                </a:solidFill>
                <a:latin typeface="Times New Roman" pitchFamily="18" charset="0"/>
                <a:cs typeface="Times New Roman" pitchFamily="18" charset="0"/>
              </a:rPr>
              <a:t>phạm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229614431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400" b="1" dirty="0">
                <a:solidFill>
                  <a:srgbClr val="0000FF"/>
                </a:solidFill>
                <a:latin typeface="Times New Roman" pitchFamily="18" charset="0"/>
                <a:cs typeface="Times New Roman" pitchFamily="18" charset="0"/>
              </a:rPr>
              <a:t>7.2.3.2. </a:t>
            </a:r>
            <a:r>
              <a:rPr lang="en-US" sz="2400" b="1" dirty="0" err="1">
                <a:solidFill>
                  <a:srgbClr val="0000FF"/>
                </a:solidFill>
                <a:latin typeface="Times New Roman" pitchFamily="18" charset="0"/>
                <a:cs typeface="Times New Roman" pitchFamily="18" charset="0"/>
              </a:rPr>
              <a:t>Tình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trạng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cạnh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tranh</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không</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hoàn</a:t>
            </a:r>
            <a:r>
              <a:rPr lang="en-US" sz="2400" b="1" dirty="0">
                <a:solidFill>
                  <a:srgbClr val="0000FF"/>
                </a:solidFill>
                <a:latin typeface="Times New Roman" pitchFamily="18" charset="0"/>
                <a:cs typeface="Times New Roman" pitchFamily="18" charset="0"/>
              </a:rPr>
              <a:t> </a:t>
            </a:r>
            <a:r>
              <a:rPr lang="en-US" sz="2400" b="1" dirty="0" err="1">
                <a:solidFill>
                  <a:srgbClr val="0000FF"/>
                </a:solidFill>
                <a:latin typeface="Times New Roman" pitchFamily="18" charset="0"/>
                <a:cs typeface="Times New Roman" pitchFamily="18" charset="0"/>
              </a:rPr>
              <a:t>hảo</a:t>
            </a:r>
            <a:r>
              <a:rPr lang="en-US" sz="2400" b="1" dirty="0">
                <a:solidFill>
                  <a:srgbClr val="0000FF"/>
                </a:solidFill>
                <a:latin typeface="Times New Roman" pitchFamily="18" charset="0"/>
                <a:cs typeface="Times New Roman" pitchFamily="18" charset="0"/>
              </a:rPr>
              <a:t> (Monopoly)</a:t>
            </a:r>
          </a:p>
          <a:p>
            <a:pPr algn="just"/>
            <a:r>
              <a:rPr lang="en-US" sz="2300" dirty="0">
                <a:solidFill>
                  <a:srgbClr val="0000FF"/>
                </a:solidFill>
                <a:latin typeface="Times New Roman" pitchFamily="18" charset="0"/>
                <a:cs typeface="Times New Roman" pitchFamily="18" charset="0"/>
              </a:rPr>
              <a:t>- </a:t>
            </a:r>
            <a:r>
              <a:rPr lang="en-US" sz="2300" i="1" dirty="0">
                <a:solidFill>
                  <a:srgbClr val="0000FF"/>
                </a:solidFill>
                <a:latin typeface="Times New Roman" pitchFamily="18" charset="0"/>
                <a:cs typeface="Times New Roman" pitchFamily="18" charset="0"/>
              </a:rPr>
              <a:t>Can </a:t>
            </a:r>
            <a:r>
              <a:rPr lang="en-US" sz="2300" i="1" dirty="0" err="1">
                <a:solidFill>
                  <a:srgbClr val="0000FF"/>
                </a:solidFill>
                <a:latin typeface="Times New Roman" pitchFamily="18" charset="0"/>
                <a:cs typeface="Times New Roman" pitchFamily="18" charset="0"/>
              </a:rPr>
              <a:t>thiệp</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của</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Chính</a:t>
            </a:r>
            <a:r>
              <a:rPr lang="en-US" sz="2300" i="1" dirty="0">
                <a:solidFill>
                  <a:srgbClr val="0000FF"/>
                </a:solidFill>
                <a:latin typeface="Times New Roman" pitchFamily="18" charset="0"/>
                <a:cs typeface="Times New Roman" pitchFamily="18" charset="0"/>
              </a:rPr>
              <a:t> </a:t>
            </a:r>
            <a:r>
              <a:rPr lang="en-US" sz="2300" i="1" dirty="0" err="1">
                <a:solidFill>
                  <a:srgbClr val="0000FF"/>
                </a:solidFill>
                <a:latin typeface="Times New Roman" pitchFamily="18" charset="0"/>
                <a:cs typeface="Times New Roman" pitchFamily="18" charset="0"/>
              </a:rPr>
              <a:t>phủ</a:t>
            </a:r>
            <a:r>
              <a:rPr lang="en-US" sz="2300" i="1" dirty="0">
                <a:solidFill>
                  <a:srgbClr val="0000FF"/>
                </a:solidFill>
                <a:latin typeface="Times New Roman" pitchFamily="18" charset="0"/>
                <a:cs typeface="Times New Roman" pitchFamily="18" charset="0"/>
              </a:rPr>
              <a: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gộp</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tồn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lúc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ấn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thứ</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tìm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a:t>
            </a:r>
            <a:r>
              <a:rPr lang="en-US" sz="2300" dirty="0">
                <a:solidFill>
                  <a:srgbClr val="0000FF"/>
                </a:solidFill>
                <a:latin typeface="Times New Roman" pitchFamily="18" charset="0"/>
                <a:cs typeface="Times New Roman" pitchFamily="18" charset="0"/>
              </a:rPr>
              <a:t> XH </a:t>
            </a:r>
            <a:r>
              <a:rPr lang="en-US" sz="2300" dirty="0" err="1">
                <a:solidFill>
                  <a:srgbClr val="0000FF"/>
                </a:solidFill>
                <a:latin typeface="Times New Roman" pitchFamily="18" charset="0"/>
                <a:cs typeface="Times New Roman" pitchFamily="18" charset="0"/>
              </a:rPr>
              <a:t>cao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lỗ</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cấp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lỗ</a:t>
            </a:r>
            <a:r>
              <a:rPr lang="en-US" sz="2300" dirty="0">
                <a:solidFill>
                  <a:srgbClr val="0000FF"/>
                </a:solidFill>
                <a:latin typeface="Times New Roman" pitchFamily="18" charset="0"/>
                <a:cs typeface="Times New Roman" pitchFamily="18" charset="0"/>
              </a:rPr>
              <a:t>. </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2,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soát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tiết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hành</a:t>
            </a:r>
            <a:r>
              <a:rPr lang="en-US" sz="2300" dirty="0">
                <a:solidFill>
                  <a:srgbClr val="0000FF"/>
                </a:solidFill>
                <a:latin typeface="Times New Roman" pitchFamily="18" charset="0"/>
                <a:cs typeface="Times New Roman" pitchFamily="18" charset="0"/>
              </a:rPr>
              <a:t> vi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lựa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chọn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DN, </a:t>
            </a:r>
            <a:r>
              <a:rPr lang="en-US" sz="2300" dirty="0" err="1">
                <a:solidFill>
                  <a:srgbClr val="0000FF"/>
                </a:solidFill>
                <a:latin typeface="Times New Roman" pitchFamily="18" charset="0"/>
                <a:cs typeface="Times New Roman" pitchFamily="18" charset="0"/>
              </a:rPr>
              <a:t>buộc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XH. </a:t>
            </a:r>
            <a:r>
              <a:rPr lang="en-US" sz="2300" dirty="0" err="1">
                <a:solidFill>
                  <a:srgbClr val="0000FF"/>
                </a:solidFill>
                <a:latin typeface="Times New Roman" pitchFamily="18" charset="0"/>
                <a:cs typeface="Times New Roman" pitchFamily="18" charset="0"/>
              </a:rPr>
              <a:t>Lúc</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này, nhà độc quyền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còn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tự</a:t>
            </a:r>
            <a:r>
              <a:rPr lang="en-US" sz="2300" dirty="0">
                <a:solidFill>
                  <a:srgbClr val="0000FF"/>
                </a:solidFill>
                <a:latin typeface="Times New Roman" pitchFamily="18" charset="0"/>
                <a:cs typeface="Times New Roman" pitchFamily="18" charset="0"/>
              </a:rPr>
              <a:t> do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soát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khống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vi-VN" sz="2300" dirty="0">
                <a:solidFill>
                  <a:srgbClr val="0000FF"/>
                </a:solidFill>
                <a:latin typeface="Times New Roman" pitchFamily="18" charset="0"/>
                <a:cs typeface="Times New Roman" pitchFamily="18" charset="0"/>
              </a:rPr>
              <a: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nhiên</a:t>
            </a:r>
            <a:r>
              <a:rPr lang="en-US" sz="2300" dirty="0">
                <a:solidFill>
                  <a:srgbClr val="0000FF"/>
                </a:solidFill>
                <a:latin typeface="Times New Roman" pitchFamily="18" charset="0"/>
                <a:cs typeface="Times New Roman" pitchFamily="18" charset="0"/>
              </a:rPr>
              <a:t>,</a:t>
            </a:r>
            <a:r>
              <a:rPr lang="vi-VN" sz="2300" dirty="0">
                <a:solidFill>
                  <a:srgbClr val="0000FF"/>
                </a:solidFill>
                <a:latin typeface="Times New Roman" pitchFamily="18" charset="0"/>
                <a:cs typeface="Times New Roman" pitchFamily="18" charset="0"/>
              </a:rPr>
              <a:t> </a:t>
            </a:r>
            <a:r>
              <a:rPr lang="en-US" sz="2300" dirty="0">
                <a:solidFill>
                  <a:srgbClr val="0000FF"/>
                </a:solidFill>
                <a:latin typeface="Times New Roman" pitchFamily="18" charset="0"/>
                <a:cs typeface="Times New Roman" pitchFamily="18" charset="0"/>
              </a:rPr>
              <a:t>do </a:t>
            </a:r>
            <a:r>
              <a:rPr lang="en-US" sz="2300" dirty="0" err="1">
                <a:solidFill>
                  <a:srgbClr val="0000FF"/>
                </a:solidFill>
                <a:latin typeface="Times New Roman" pitchFamily="18" charset="0"/>
                <a:cs typeface="Times New Roman" pitchFamily="18" charset="0"/>
              </a:rPr>
              <a:t>thiếu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tranh</a:t>
            </a:r>
            <a:r>
              <a:rPr lang="en-US" sz="2300" dirty="0">
                <a:solidFill>
                  <a:srgbClr val="0000FF"/>
                </a:solidFill>
                <a:latin typeface="Times New Roman" pitchFamily="18" charset="0"/>
                <a:cs typeface="Times New Roman" pitchFamily="18" charset="0"/>
              </a:rPr>
              <a:t>, DN </a:t>
            </a:r>
            <a:r>
              <a:rPr lang="vi-VN" sz="2300" dirty="0">
                <a:solidFill>
                  <a:srgbClr val="0000FF"/>
                </a:solidFill>
                <a:latin typeface="Times New Roman" pitchFamily="18" charset="0"/>
                <a:cs typeface="Times New Roman" pitchFamily="18" charset="0"/>
              </a:rPr>
              <a:t>vẫn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SP.</a:t>
            </a:r>
          </a:p>
          <a:p>
            <a:pPr algn="just"/>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3,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gộp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khoản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phúc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XH</a:t>
            </a:r>
            <a:r>
              <a:rPr lang="vi-VN" sz="2300" dirty="0">
                <a:solidFill>
                  <a:srgbClr val="0000FF"/>
                </a:solidFill>
                <a:latin typeface="Times New Roman" pitchFamily="18" charset="0"/>
                <a:cs typeface="Times New Roman" pitchFamily="18" charset="0"/>
              </a:rPr>
              <a: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nhờ</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xuống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bù</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lỗ</a:t>
            </a:r>
            <a:r>
              <a:rPr lang="en-US" sz="2300" dirty="0">
                <a:solidFill>
                  <a:srgbClr val="0000FF"/>
                </a:solidFill>
                <a:latin typeface="Times New Roman" pitchFamily="18" charset="0"/>
                <a:cs typeface="Times New Roman" pitchFamily="18" charset="0"/>
              </a:rPr>
              <a:t> hay lo </a:t>
            </a:r>
            <a:r>
              <a:rPr lang="en-US" sz="2300" dirty="0" err="1">
                <a:solidFill>
                  <a:srgbClr val="0000FF"/>
                </a:solidFill>
                <a:latin typeface="Times New Roman" pitchFamily="18" charset="0"/>
                <a:cs typeface="Times New Roman" pitchFamily="18" charset="0"/>
              </a:rPr>
              <a:t>lắng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về</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vẫn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giữ</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doanh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nghiệp</a:t>
            </a:r>
            <a:r>
              <a:rPr lang="en-US" sz="2300" dirty="0">
                <a:solidFill>
                  <a:srgbClr val="0000FF"/>
                </a:solidFill>
                <a:latin typeface="Times New Roman" pitchFamily="18" charset="0"/>
                <a:cs typeface="Times New Roman" pitchFamily="18" charset="0"/>
              </a:rPr>
              <a:t> ở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lâu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dài</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3355623453"/>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7.2.3.3. </a:t>
            </a:r>
            <a:r>
              <a:rPr lang="en-US" sz="2300" b="1" dirty="0" err="1">
                <a:solidFill>
                  <a:srgbClr val="0000FF"/>
                </a:solidFill>
                <a:latin typeface="Times New Roman" pitchFamily="18" charset="0"/>
                <a:cs typeface="Times New Roman" pitchFamily="18" charset="0"/>
              </a:rPr>
              <a:t>Ngoại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ứng</a:t>
            </a:r>
            <a:r>
              <a:rPr lang="en-US" sz="2300" b="1" dirty="0">
                <a:solidFill>
                  <a:srgbClr val="0000FF"/>
                </a:solidFill>
                <a:latin typeface="Times New Roman" pitchFamily="18" charset="0"/>
                <a:cs typeface="Times New Roman" pitchFamily="18" charset="0"/>
              </a:rPr>
              <a:t> (Externalities)</a:t>
            </a:r>
          </a:p>
          <a:p>
            <a:pPr algn="just"/>
            <a:r>
              <a:rPr lang="en-US" sz="2300" dirty="0" err="1">
                <a:solidFill>
                  <a:srgbClr val="0000FF"/>
                </a:solidFill>
                <a:latin typeface="Times New Roman" pitchFamily="18" charset="0"/>
                <a:cs typeface="Times New Roman" pitchFamily="18" charset="0"/>
              </a:rPr>
              <a:t>Ngoại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mọi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ảnh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hưởng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thông</a:t>
            </a:r>
            <a:r>
              <a:rPr lang="en-US" sz="2300" dirty="0">
                <a:solidFill>
                  <a:srgbClr val="0000FF"/>
                </a:solidFill>
                <a:latin typeface="Times New Roman" pitchFamily="18" charset="0"/>
                <a:cs typeface="Times New Roman" pitchFamily="18" charset="0"/>
              </a:rPr>
              <a:t> qua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2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ảnh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hưởng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a:t>
            </a:r>
          </a:p>
          <a:p>
            <a:pPr algn="just"/>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Ngoại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ứng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tích</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cực</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ngoại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ứng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dương</a:t>
            </a:r>
            <a:r>
              <a:rPr lang="en-US" sz="2300" b="1" i="1" dirty="0">
                <a:solidFill>
                  <a:srgbClr val="0000FF"/>
                </a:solidFill>
                <a:latin typeface="Times New Roman" pitchFamily="18" charset="0"/>
                <a:cs typeface="Times New Roman" pitchFamily="18" charset="0"/>
              </a:rPr>
              <a:t>)</a:t>
            </a:r>
            <a:endParaRPr lang="en-US" sz="2300" b="1" dirty="0">
              <a:solidFill>
                <a:srgbClr val="0000FF"/>
              </a:solidFill>
              <a:latin typeface="Times New Roman" pitchFamily="18" charset="0"/>
              <a:cs typeface="Times New Roman" pitchFamily="18" charset="0"/>
            </a:endParaRPr>
          </a:p>
          <a:p>
            <a:pPr algn="just"/>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xuất</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đem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hoạt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động</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vào</a:t>
            </a:r>
            <a:r>
              <a:rPr lang="en-US" sz="2300" dirty="0">
                <a:solidFill>
                  <a:srgbClr val="0000FF"/>
                </a:solidFill>
                <a:latin typeface="Times New Roman" pitchFamily="18" charset="0"/>
                <a:cs typeface="Times New Roman" pitchFamily="18" charset="0"/>
              </a:rPr>
              <a:t> chi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Đây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dạng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ứng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tạo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ảnh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hưởng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mang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a:t>
            </a:r>
          </a:p>
          <a:p>
            <a:pPr algn="just"/>
            <a:r>
              <a:rPr lang="en-US" sz="2300" dirty="0" err="1">
                <a:solidFill>
                  <a:srgbClr val="0000FF"/>
                </a:solidFill>
                <a:latin typeface="Times New Roman" pitchFamily="18" charset="0"/>
                <a:cs typeface="Times New Roman" pitchFamily="18" charset="0"/>
              </a:rPr>
              <a:t>Gọi</a:t>
            </a:r>
            <a:r>
              <a:rPr lang="en-US" sz="2300" dirty="0">
                <a:solidFill>
                  <a:srgbClr val="0000FF"/>
                </a:solidFill>
                <a:latin typeface="Times New Roman" pitchFamily="18" charset="0"/>
                <a:cs typeface="Times New Roman" pitchFamily="18" charset="0"/>
              </a:rPr>
              <a:t>:  MBS: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hội</a:t>
            </a:r>
            <a:r>
              <a:rPr lang="en-US" sz="2300" dirty="0">
                <a:solidFill>
                  <a:srgbClr val="0000FF"/>
                </a:solidFill>
                <a:latin typeface="Times New Roman" pitchFamily="18" charset="0"/>
                <a:cs typeface="Times New Roman" pitchFamily="18" charset="0"/>
              </a:rPr>
              <a:t>; MB: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biên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endParaRPr lang="en-US" sz="2300"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          MEB: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sinh</a:t>
            </a:r>
            <a:endParaRPr lang="en-US" sz="2300"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Ta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a:solidFill>
                  <a:srgbClr val="0000FF"/>
                </a:solidFill>
                <a:latin typeface="Times New Roman" pitchFamily="18" charset="0"/>
                <a:cs typeface="Times New Roman" pitchFamily="18" charset="0"/>
              </a:rPr>
              <a:t>	MBS </a:t>
            </a:r>
            <a:r>
              <a:rPr lang="en-US" sz="2300" dirty="0">
                <a:solidFill>
                  <a:srgbClr val="0000FF"/>
                </a:solidFill>
                <a:latin typeface="Times New Roman" pitchFamily="18" charset="0"/>
                <a:cs typeface="Times New Roman" pitchFamily="18" charset="0"/>
              </a:rPr>
              <a:t>= MB + MEB</a:t>
            </a:r>
          </a:p>
          <a:p>
            <a:pPr algn="just"/>
            <a:r>
              <a:rPr lang="en-US" sz="2300" dirty="0">
                <a:solidFill>
                  <a:srgbClr val="0000FF"/>
                </a:solidFill>
                <a:latin typeface="Times New Roman" pitchFamily="18" charset="0"/>
                <a:cs typeface="Times New Roman" pitchFamily="18" charset="0"/>
              </a:rPr>
              <a:t>Q</a:t>
            </a:r>
            <a:r>
              <a:rPr lang="en-US" sz="2300" baseline="-25000" dirty="0">
                <a:solidFill>
                  <a:srgbClr val="0000FF"/>
                </a:solidFill>
                <a:latin typeface="Times New Roman" pitchFamily="18" charset="0"/>
                <a:cs typeface="Times New Roman" pitchFamily="18" charset="0"/>
              </a:rPr>
              <a:t>1</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cấp</a:t>
            </a:r>
            <a:endParaRPr lang="en-US" sz="2300"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Q</a:t>
            </a:r>
            <a:r>
              <a:rPr lang="en-US" sz="2300" baseline="-25000" dirty="0">
                <a:solidFill>
                  <a:srgbClr val="0000FF"/>
                </a:solidFill>
                <a:latin typeface="Times New Roman" pitchFamily="18" charset="0"/>
                <a:cs typeface="Times New Roman" pitchFamily="18" charset="0"/>
              </a:rPr>
              <a:t>0</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hội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muốn</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690399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7.2.3.3. </a:t>
            </a:r>
            <a:r>
              <a:rPr lang="en-US" sz="2300" b="1" dirty="0" err="1">
                <a:solidFill>
                  <a:srgbClr val="0000FF"/>
                </a:solidFill>
                <a:latin typeface="Times New Roman" pitchFamily="18" charset="0"/>
                <a:cs typeface="Times New Roman" pitchFamily="18" charset="0"/>
              </a:rPr>
              <a:t>Ngoại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ứng</a:t>
            </a:r>
            <a:r>
              <a:rPr lang="en-US" sz="2300" b="1" dirty="0">
                <a:solidFill>
                  <a:srgbClr val="0000FF"/>
                </a:solidFill>
                <a:latin typeface="Times New Roman" pitchFamily="18" charset="0"/>
                <a:cs typeface="Times New Roman" pitchFamily="18" charset="0"/>
              </a:rPr>
              <a:t> (Externalities)</a:t>
            </a:r>
          </a:p>
          <a:p>
            <a:pPr marL="342900" indent="-342900" algn="just">
              <a:buFontTx/>
              <a:buChar char="-"/>
            </a:pPr>
            <a:r>
              <a:rPr lang="en-US" sz="2300" b="1" i="1" dirty="0" err="1">
                <a:solidFill>
                  <a:srgbClr val="0000FF"/>
                </a:solidFill>
                <a:latin typeface="Times New Roman" pitchFamily="18" charset="0"/>
                <a:cs typeface="Times New Roman" pitchFamily="18" charset="0"/>
              </a:rPr>
              <a:t>Ngoại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ứng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tích</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cực</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ngoại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ứng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dương</a:t>
            </a:r>
            <a:r>
              <a:rPr lang="en-US" sz="2300" b="1" i="1"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Ví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ngoài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(MB)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còn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giúp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(MEB).</a:t>
            </a:r>
          </a:p>
          <a:p>
            <a:pPr algn="just"/>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vậy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rừng</a:t>
            </a:r>
            <a:r>
              <a:rPr lang="en-US" sz="2400" dirty="0">
                <a:solidFill>
                  <a:srgbClr val="0000FF"/>
                </a:solidFill>
                <a:latin typeface="Times New Roman" pitchFamily="18" charset="0"/>
                <a:cs typeface="Times New Roman" pitchFamily="18" charset="0"/>
              </a:rPr>
              <a:t> (MSB) </a:t>
            </a:r>
            <a:r>
              <a:rPr lang="en-US" sz="2400" dirty="0" err="1">
                <a:solidFill>
                  <a:srgbClr val="0000FF"/>
                </a:solidFill>
                <a:latin typeface="Times New Roman" pitchFamily="18" charset="0"/>
                <a:cs typeface="Times New Roman" pitchFamily="18" charset="0"/>
              </a:rPr>
              <a:t>bao</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gồm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trồng</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rừng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cộng</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14800" y="3048000"/>
            <a:ext cx="4800600" cy="3552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2315578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7.2.3.3. </a:t>
            </a:r>
            <a:r>
              <a:rPr lang="en-US" sz="2300" b="1" dirty="0" err="1">
                <a:solidFill>
                  <a:srgbClr val="0000FF"/>
                </a:solidFill>
                <a:latin typeface="Times New Roman" pitchFamily="18" charset="0"/>
                <a:cs typeface="Times New Roman" pitchFamily="18" charset="0"/>
              </a:rPr>
              <a:t>Ngoại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ứng</a:t>
            </a:r>
            <a:r>
              <a:rPr lang="en-US" sz="2300" b="1" dirty="0">
                <a:solidFill>
                  <a:srgbClr val="0000FF"/>
                </a:solidFill>
                <a:latin typeface="Times New Roman" pitchFamily="18" charset="0"/>
                <a:cs typeface="Times New Roman" pitchFamily="18" charset="0"/>
              </a:rPr>
              <a:t> (Externalities)</a:t>
            </a:r>
          </a:p>
          <a:p>
            <a:pPr marL="342900" indent="-342900" algn="just">
              <a:buFontTx/>
              <a:buChar char="-"/>
            </a:pPr>
            <a:r>
              <a:rPr lang="en-US" sz="2300" b="1" i="1" dirty="0" err="1">
                <a:solidFill>
                  <a:srgbClr val="0000FF"/>
                </a:solidFill>
                <a:latin typeface="Times New Roman" pitchFamily="18" charset="0"/>
                <a:cs typeface="Times New Roman" pitchFamily="18" charset="0"/>
              </a:rPr>
              <a:t>Ngoại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ứng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tích</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cực</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ngoại</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ứng</a:t>
            </a:r>
            <a:r>
              <a:rPr lang="en-US" sz="2300" b="1" i="1" dirty="0">
                <a:solidFill>
                  <a:srgbClr val="0000FF"/>
                </a:solidFill>
                <a:latin typeface="Times New Roman" pitchFamily="18" charset="0"/>
                <a:cs typeface="Times New Roman" pitchFamily="18" charset="0"/>
              </a:rPr>
              <a:t> </a:t>
            </a:r>
            <a:r>
              <a:rPr lang="en-US" sz="2300" b="1" i="1" dirty="0" err="1">
                <a:solidFill>
                  <a:srgbClr val="0000FF"/>
                </a:solidFill>
                <a:latin typeface="Times New Roman" pitchFamily="18" charset="0"/>
                <a:cs typeface="Times New Roman" pitchFamily="18" charset="0"/>
              </a:rPr>
              <a:t>dương</a:t>
            </a:r>
            <a:r>
              <a:rPr lang="en-US" sz="2300" b="1" i="1"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Thất</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bại</a:t>
            </a:r>
            <a:r>
              <a:rPr lang="en-US" sz="2400" i="1"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so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Nguyên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bộ</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chênh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lệch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mỗi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Q</a:t>
            </a:r>
            <a:r>
              <a:rPr lang="en-US" sz="2400" baseline="-25000" dirty="0">
                <a:solidFill>
                  <a:srgbClr val="0000FF"/>
                </a:solidFill>
                <a:latin typeface="Times New Roman" pitchFamily="18" charset="0"/>
                <a:cs typeface="Times New Roman" pitchFamily="18" charset="0"/>
              </a:rPr>
              <a:t>0</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chênh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lệch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hình</a:t>
            </a:r>
            <a:r>
              <a:rPr lang="en-US" sz="2400" dirty="0">
                <a:solidFill>
                  <a:srgbClr val="0000FF"/>
                </a:solidFill>
                <a:latin typeface="Times New Roman" pitchFamily="18" charset="0"/>
                <a:cs typeface="Times New Roman" pitchFamily="18" charset="0"/>
              </a:rPr>
              <a:t> E</a:t>
            </a:r>
            <a:r>
              <a:rPr lang="en-US" sz="2400" baseline="-25000" dirty="0">
                <a:solidFill>
                  <a:srgbClr val="0000FF"/>
                </a:solidFill>
                <a:latin typeface="Times New Roman" pitchFamily="18" charset="0"/>
                <a:cs typeface="Times New Roman" pitchFamily="18" charset="0"/>
              </a:rPr>
              <a:t>0</a:t>
            </a:r>
            <a:r>
              <a:rPr lang="en-US" sz="2400" dirty="0">
                <a:solidFill>
                  <a:srgbClr val="0000FF"/>
                </a:solidFill>
                <a:latin typeface="Times New Roman" pitchFamily="18" charset="0"/>
                <a:cs typeface="Times New Roman" pitchFamily="18" charset="0"/>
              </a:rPr>
              <a:t>E</a:t>
            </a:r>
            <a:r>
              <a:rPr lang="en-US" sz="2400" baseline="-25000" dirty="0">
                <a:solidFill>
                  <a:srgbClr val="0000FF"/>
                </a:solidFill>
                <a:latin typeface="Times New Roman" pitchFamily="18" charset="0"/>
                <a:cs typeface="Times New Roman" pitchFamily="18" charset="0"/>
              </a:rPr>
              <a:t>1</a:t>
            </a:r>
            <a:r>
              <a:rPr lang="en-US" sz="2400" dirty="0">
                <a:solidFill>
                  <a:srgbClr val="0000FF"/>
                </a:solidFill>
                <a:latin typeface="Times New Roman" pitchFamily="18" charset="0"/>
                <a:cs typeface="Times New Roman" pitchFamily="18" charset="0"/>
              </a:rPr>
              <a:t>E*).</a:t>
            </a:r>
          </a:p>
          <a:p>
            <a:pPr algn="just"/>
            <a:r>
              <a:rPr lang="en-US" sz="2400"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Khắc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phục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yếu</a:t>
            </a:r>
            <a:r>
              <a:rPr lang="en-US" sz="2400" dirty="0">
                <a:solidFill>
                  <a:srgbClr val="0000FF"/>
                </a:solidFill>
                <a:latin typeface="Times New Roman" pitchFamily="18" charset="0"/>
                <a:cs typeface="Times New Roman" pitchFamily="18" charset="0"/>
              </a:rPr>
              <a:t> ở </a:t>
            </a:r>
            <a:r>
              <a:rPr lang="en-US" sz="2400" dirty="0" err="1">
                <a:solidFill>
                  <a:srgbClr val="0000FF"/>
                </a:solidFill>
                <a:latin typeface="Times New Roman" pitchFamily="18" charset="0"/>
                <a:cs typeface="Times New Roman" pitchFamily="18" charset="0"/>
              </a:rPr>
              <a:t>đây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hoặc</a:t>
            </a:r>
            <a:r>
              <a:rPr lang="en-US" sz="2400" i="1" dirty="0">
                <a:solidFill>
                  <a:srgbClr val="0000FF"/>
                </a:solidFill>
                <a:latin typeface="Times New Roman" pitchFamily="18" charset="0"/>
                <a:cs typeface="Times New Roman" pitchFamily="18" charset="0"/>
              </a:rPr>
              <a:t> </a:t>
            </a:r>
            <a:r>
              <a:rPr lang="en-US" sz="2400" i="1" dirty="0" err="1">
                <a:solidFill>
                  <a:srgbClr val="0000FF"/>
                </a:solidFill>
                <a:latin typeface="Times New Roman" pitchFamily="18" charset="0"/>
                <a:cs typeface="Times New Roman" pitchFamily="18" charset="0"/>
              </a:rPr>
              <a:t>g</a:t>
            </a:r>
            <a:r>
              <a:rPr lang="en-US" sz="2400" dirty="0" err="1">
                <a:solidFill>
                  <a:srgbClr val="0000FF"/>
                </a:solidFill>
                <a:latin typeface="Times New Roman" pitchFamily="18" charset="0"/>
                <a:cs typeface="Times New Roman" pitchFamily="18" charset="0"/>
              </a:rPr>
              <a:t>iảm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thuế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nhiều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47462022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7.2.3.3. </a:t>
            </a:r>
            <a:r>
              <a:rPr lang="en-US" sz="2300" b="1" dirty="0" err="1">
                <a:solidFill>
                  <a:srgbClr val="0000FF"/>
                </a:solidFill>
                <a:latin typeface="Times New Roman" pitchFamily="18" charset="0"/>
                <a:cs typeface="Times New Roman" pitchFamily="18" charset="0"/>
              </a:rPr>
              <a:t>Ngoại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ứng</a:t>
            </a:r>
            <a:r>
              <a:rPr lang="en-US" sz="2300" b="1" dirty="0">
                <a:solidFill>
                  <a:srgbClr val="0000FF"/>
                </a:solidFill>
                <a:latin typeface="Times New Roman" pitchFamily="18" charset="0"/>
                <a:cs typeface="Times New Roman" pitchFamily="18" charset="0"/>
              </a:rPr>
              <a:t> (Externalities)</a:t>
            </a:r>
            <a:r>
              <a:rPr lang="en-US" sz="2400" b="1" i="1" dirty="0"/>
              <a:t> </a:t>
            </a:r>
          </a:p>
          <a:p>
            <a:pPr algn="just"/>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Ngoại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ứng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cực</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ngoại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ứng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âm</a:t>
            </a:r>
            <a:r>
              <a:rPr lang="en-US" sz="2400" b="1" i="1" dirty="0">
                <a:solidFill>
                  <a:srgbClr val="0000FF"/>
                </a:solidFill>
                <a:latin typeface="Times New Roman" pitchFamily="18" charset="0"/>
                <a:cs typeface="Times New Roman" pitchFamily="18" charset="0"/>
              </a:rPr>
              <a:t>)</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xảy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hay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kia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sự</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a:t>
            </a:r>
            <a:r>
              <a:rPr lang="vi-VN" sz="2400" dirty="0">
                <a:solidFill>
                  <a:srgbClr val="0000FF"/>
                </a:solidFill>
                <a:latin typeface="Times New Roman" pitchFamily="18" charset="0"/>
                <a:cs typeface="Times New Roman" pitchFamily="18" charset="0"/>
              </a:rPr>
              <a:t>ê</a:t>
            </a:r>
            <a:r>
              <a:rPr lang="en-US" sz="2400" dirty="0" err="1">
                <a:solidFill>
                  <a:srgbClr val="0000FF"/>
                </a:solidFill>
                <a:latin typeface="Times New Roman" pitchFamily="18" charset="0"/>
                <a:cs typeface="Times New Roman" pitchFamily="18" charset="0"/>
              </a:rPr>
              <a:t>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lệch</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dạng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tạo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ảnh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hưởng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tiêu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thiệt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bù</a:t>
            </a:r>
            <a:r>
              <a:rPr lang="en-US" sz="2400" dirty="0">
                <a:solidFill>
                  <a:srgbClr val="0000FF"/>
                </a:solidFill>
                <a:latin typeface="Times New Roman" pitchFamily="18" charset="0"/>
                <a:cs typeface="Times New Roman" pitchFamily="18" charset="0"/>
              </a:rPr>
              <a:t>.</a:t>
            </a:r>
          </a:p>
          <a:p>
            <a:pPr algn="just"/>
            <a:r>
              <a:rPr lang="en-US" sz="2400" dirty="0" err="1">
                <a:solidFill>
                  <a:srgbClr val="0000FF"/>
                </a:solidFill>
                <a:latin typeface="Times New Roman" pitchFamily="18" charset="0"/>
                <a:cs typeface="Times New Roman" pitchFamily="18" charset="0"/>
              </a:rPr>
              <a:t>Gọi</a:t>
            </a:r>
            <a:r>
              <a:rPr lang="en-US" sz="2400" dirty="0">
                <a:solidFill>
                  <a:srgbClr val="0000FF"/>
                </a:solidFill>
                <a:latin typeface="Times New Roman" pitchFamily="18" charset="0"/>
                <a:cs typeface="Times New Roman" pitchFamily="18" charset="0"/>
              </a:rPr>
              <a:t>:     MC: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nhân</a:t>
            </a:r>
            <a:r>
              <a:rPr lang="en-US" sz="2400" dirty="0">
                <a:solidFill>
                  <a:srgbClr val="0000FF"/>
                </a:solidFill>
                <a:latin typeface="Times New Roman" pitchFamily="18" charset="0"/>
                <a:cs typeface="Times New Roman" pitchFamily="18" charset="0"/>
              </a:rPr>
              <a:t> </a:t>
            </a:r>
          </a:p>
          <a:p>
            <a:pPr algn="just"/>
            <a:r>
              <a:rPr lang="en-US" sz="2400" dirty="0">
                <a:solidFill>
                  <a:srgbClr val="0000FF"/>
                </a:solidFill>
                <a:latin typeface="Times New Roman" pitchFamily="18" charset="0"/>
                <a:cs typeface="Times New Roman" pitchFamily="18" charset="0"/>
              </a:rPr>
              <a:t>	MEC: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sinh</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	MSC: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biên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hội</a:t>
            </a:r>
            <a:endParaRPr lang="en-US" sz="2400" dirty="0">
              <a:solidFill>
                <a:srgbClr val="0000FF"/>
              </a:solidFill>
              <a:latin typeface="Times New Roman" pitchFamily="18" charset="0"/>
              <a:cs typeface="Times New Roman" pitchFamily="18" charset="0"/>
            </a:endParaRPr>
          </a:p>
          <a:p>
            <a:pPr algn="just"/>
            <a:r>
              <a:rPr lang="en-US" sz="2400" dirty="0">
                <a:solidFill>
                  <a:srgbClr val="0000FF"/>
                </a:solidFill>
                <a:latin typeface="Times New Roman" pitchFamily="18" charset="0"/>
                <a:cs typeface="Times New Roman" pitchFamily="18" charset="0"/>
              </a:rPr>
              <a:t>Ta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a:t>
            </a:r>
          </a:p>
          <a:p>
            <a:pPr algn="just"/>
            <a:r>
              <a:rPr lang="en-US" sz="2400" dirty="0">
                <a:solidFill>
                  <a:srgbClr val="0000FF"/>
                </a:solidFill>
                <a:latin typeface="Times New Roman" pitchFamily="18" charset="0"/>
                <a:cs typeface="Times New Roman" pitchFamily="18" charset="0"/>
              </a:rPr>
              <a:t>			MSC = MC + MEC  </a:t>
            </a:r>
          </a:p>
        </p:txBody>
      </p:sp>
    </p:spTree>
    <p:extLst>
      <p:ext uri="{BB962C8B-B14F-4D97-AF65-F5344CB8AC3E}">
        <p14:creationId xmlns:p14="http://schemas.microsoft.com/office/powerpoint/2010/main" val="92316871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7.2.3.3. </a:t>
            </a:r>
            <a:r>
              <a:rPr lang="en-US" sz="2300" b="1" dirty="0" err="1">
                <a:solidFill>
                  <a:srgbClr val="0000FF"/>
                </a:solidFill>
                <a:latin typeface="Times New Roman" pitchFamily="18" charset="0"/>
                <a:cs typeface="Times New Roman" pitchFamily="18" charset="0"/>
              </a:rPr>
              <a:t>Ngoại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ứng</a:t>
            </a:r>
            <a:r>
              <a:rPr lang="en-US" sz="2300" b="1" dirty="0">
                <a:solidFill>
                  <a:srgbClr val="0000FF"/>
                </a:solidFill>
                <a:latin typeface="Times New Roman" pitchFamily="18" charset="0"/>
                <a:cs typeface="Times New Roman" pitchFamily="18" charset="0"/>
              </a:rPr>
              <a:t> (Externalities)</a:t>
            </a:r>
            <a:r>
              <a:rPr lang="en-US" sz="2400" b="1" i="1" dirty="0"/>
              <a:t> </a:t>
            </a:r>
          </a:p>
          <a:p>
            <a:pPr algn="just"/>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Ngoại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ứng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cực</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ngoại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ứng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âm</a:t>
            </a:r>
            <a:r>
              <a:rPr lang="en-US" sz="2400" b="1" i="1" dirty="0">
                <a:solidFill>
                  <a:srgbClr val="0000FF"/>
                </a:solidFill>
                <a:latin typeface="Times New Roman" pitchFamily="18" charset="0"/>
                <a:cs typeface="Times New Roman" pitchFamily="18" charset="0"/>
              </a:rPr>
              <a:t>)</a:t>
            </a:r>
            <a:endParaRPr lang="en-US" sz="2400" b="1"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Ví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dụ</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ngoại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ứng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tích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ô </a:t>
            </a:r>
            <a:r>
              <a:rPr lang="en-US" sz="2400" dirty="0" err="1">
                <a:solidFill>
                  <a:srgbClr val="0000FF"/>
                </a:solidFill>
                <a:latin typeface="Times New Roman" pitchFamily="18" charset="0"/>
                <a:cs typeface="Times New Roman" pitchFamily="18" charset="0"/>
              </a:rPr>
              <a:t>nhiễm</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Đối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với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ô </a:t>
            </a:r>
            <a:r>
              <a:rPr lang="en-US" sz="2400" dirty="0" err="1">
                <a:solidFill>
                  <a:srgbClr val="0000FF"/>
                </a:solidFill>
                <a:latin typeface="Times New Roman" pitchFamily="18" charset="0"/>
                <a:cs typeface="Times New Roman" pitchFamily="18" charset="0"/>
              </a:rPr>
              <a:t>nhiễm</a:t>
            </a:r>
            <a:r>
              <a:rPr lang="en-US" sz="2400" dirty="0">
                <a:solidFill>
                  <a:srgbClr val="0000FF"/>
                </a:solidFill>
                <a:latin typeface="Times New Roman" pitchFamily="18" charset="0"/>
                <a:cs typeface="Times New Roman" pitchFamily="18" charset="0"/>
              </a:rPr>
              <a:t> MT, </a:t>
            </a:r>
            <a:r>
              <a:rPr lang="en-US" sz="2400" dirty="0" err="1">
                <a:solidFill>
                  <a:srgbClr val="0000FF"/>
                </a:solidFill>
                <a:latin typeface="Times New Roman" pitchFamily="18" charset="0"/>
                <a:cs typeface="Times New Roman" pitchFamily="18" charset="0"/>
              </a:rPr>
              <a:t>ngoài</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kế</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người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(MC) </a:t>
            </a:r>
            <a:r>
              <a:rPr lang="en-US" sz="2400" dirty="0" err="1">
                <a:solidFill>
                  <a:srgbClr val="0000FF"/>
                </a:solidFill>
                <a:latin typeface="Times New Roman" pitchFamily="18" charset="0"/>
                <a:cs typeface="Times New Roman" pitchFamily="18" charset="0"/>
              </a:rPr>
              <a:t>thì</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hoạt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còn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xấu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đến</a:t>
            </a:r>
            <a:r>
              <a:rPr lang="en-US" sz="2400" dirty="0">
                <a:solidFill>
                  <a:srgbClr val="0000FF"/>
                </a:solidFill>
                <a:latin typeface="Times New Roman" pitchFamily="18" charset="0"/>
                <a:cs typeface="Times New Roman" pitchFamily="18" charset="0"/>
              </a:rPr>
              <a:t> MT </a:t>
            </a:r>
            <a:r>
              <a:rPr lang="en-US" sz="2400" dirty="0" err="1">
                <a:solidFill>
                  <a:srgbClr val="0000FF"/>
                </a:solidFill>
                <a:latin typeface="Times New Roman" pitchFamily="18" charset="0"/>
                <a:cs typeface="Times New Roman" pitchFamily="18" charset="0"/>
              </a:rPr>
              <a:t>xung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quanh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gánh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chịu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hậu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bỏ</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những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khoản</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phục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hậu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này</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nhưng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không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trả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lại</a:t>
            </a:r>
            <a:r>
              <a:rPr lang="en-US" sz="2400" dirty="0">
                <a:solidFill>
                  <a:srgbClr val="0000FF"/>
                </a:solidFill>
                <a:latin typeface="Times New Roman" pitchFamily="18" charset="0"/>
                <a:cs typeface="Times New Roman" pitchFamily="18" charset="0"/>
              </a:rPr>
              <a:t> (MEC). </a:t>
            </a:r>
            <a:r>
              <a:rPr lang="en-US" sz="2400" dirty="0" err="1">
                <a:solidFill>
                  <a:srgbClr val="0000FF"/>
                </a:solidFill>
                <a:latin typeface="Times New Roman" pitchFamily="18" charset="0"/>
                <a:cs typeface="Times New Roman" pitchFamily="18" charset="0"/>
              </a:rPr>
              <a:t>Như</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vậy</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toàn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bộ</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từ</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việc</a:t>
            </a:r>
            <a:r>
              <a:rPr lang="en-US" sz="2400" dirty="0">
                <a:solidFill>
                  <a:srgbClr val="0000FF"/>
                </a:solidFill>
                <a:latin typeface="Times New Roman" pitchFamily="18" charset="0"/>
                <a:cs typeface="Times New Roman" pitchFamily="18" charset="0"/>
              </a:rPr>
              <a:t> SX </a:t>
            </a:r>
            <a:r>
              <a:rPr lang="en-US" sz="2400" dirty="0" err="1">
                <a:solidFill>
                  <a:srgbClr val="0000FF"/>
                </a:solidFill>
                <a:latin typeface="Times New Roman" pitchFamily="18" charset="0"/>
                <a:cs typeface="Times New Roman" pitchFamily="18" charset="0"/>
              </a:rPr>
              <a:t>gây</a:t>
            </a:r>
            <a:r>
              <a:rPr lang="en-US" sz="2400" dirty="0">
                <a:solidFill>
                  <a:srgbClr val="0000FF"/>
                </a:solidFill>
                <a:latin typeface="Times New Roman" pitchFamily="18" charset="0"/>
                <a:cs typeface="Times New Roman" pitchFamily="18" charset="0"/>
              </a:rPr>
              <a:t> ô </a:t>
            </a:r>
            <a:r>
              <a:rPr lang="en-US" sz="2400" dirty="0" err="1">
                <a:solidFill>
                  <a:srgbClr val="0000FF"/>
                </a:solidFill>
                <a:latin typeface="Times New Roman" pitchFamily="18" charset="0"/>
                <a:cs typeface="Times New Roman" pitchFamily="18" charset="0"/>
              </a:rPr>
              <a:t>nhiễm</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môi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(MSC) </a:t>
            </a:r>
            <a:r>
              <a:rPr lang="en-US" sz="2400" dirty="0" err="1">
                <a:solidFill>
                  <a:srgbClr val="0000FF"/>
                </a:solidFill>
                <a:latin typeface="Times New Roman" pitchFamily="18" charset="0"/>
                <a:cs typeface="Times New Roman" pitchFamily="18" charset="0"/>
              </a:rPr>
              <a:t>bao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gồm</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cả</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phí</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sản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xuất</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chi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tổn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về</a:t>
            </a:r>
            <a:r>
              <a:rPr lang="en-US" sz="2400" dirty="0">
                <a:solidFill>
                  <a:srgbClr val="0000FF"/>
                </a:solidFill>
                <a:latin typeface="Times New Roman" pitchFamily="18" charset="0"/>
                <a:cs typeface="Times New Roman" pitchFamily="18" charset="0"/>
              </a:rPr>
              <a:t> MT</a:t>
            </a:r>
          </a:p>
          <a:p>
            <a:pPr algn="just"/>
            <a:r>
              <a:rPr lang="en-US" sz="2400" dirty="0" err="1">
                <a:solidFill>
                  <a:srgbClr val="0000FF"/>
                </a:solidFill>
                <a:latin typeface="Times New Roman" pitchFamily="18" charset="0"/>
                <a:cs typeface="Times New Roman" pitchFamily="18" charset="0"/>
              </a:rPr>
              <a:t>mà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đồng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gánh</a:t>
            </a:r>
            <a:r>
              <a:rPr lang="en-US" sz="2400" dirty="0">
                <a:solidFill>
                  <a:srgbClr val="0000FF"/>
                </a:solidFill>
                <a:latin typeface="Times New Roman" pitchFamily="18" charset="0"/>
                <a:cs typeface="Times New Roman" pitchFamily="18" charset="0"/>
              </a:rPr>
              <a:t>.</a:t>
            </a:r>
          </a:p>
        </p:txBody>
      </p:sp>
      <p:pic>
        <p:nvPicPr>
          <p:cNvPr id="1741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0" y="3800475"/>
            <a:ext cx="5182562" cy="298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3139764"/>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en-US" sz="2300" b="1" dirty="0">
                <a:solidFill>
                  <a:srgbClr val="0000FF"/>
                </a:solidFill>
                <a:latin typeface="Times New Roman" pitchFamily="18" charset="0"/>
                <a:cs typeface="Times New Roman" pitchFamily="18" charset="0"/>
              </a:rPr>
              <a:t>7.2.3.3. </a:t>
            </a:r>
            <a:r>
              <a:rPr lang="en-US" sz="2300" b="1" dirty="0" err="1">
                <a:solidFill>
                  <a:srgbClr val="0000FF"/>
                </a:solidFill>
                <a:latin typeface="Times New Roman" pitchFamily="18" charset="0"/>
                <a:cs typeface="Times New Roman" pitchFamily="18" charset="0"/>
              </a:rPr>
              <a:t>Ngoại</a:t>
            </a:r>
            <a:r>
              <a:rPr lang="en-US" sz="2300" b="1" dirty="0">
                <a:solidFill>
                  <a:srgbClr val="0000FF"/>
                </a:solidFill>
                <a:latin typeface="Times New Roman" pitchFamily="18" charset="0"/>
                <a:cs typeface="Times New Roman" pitchFamily="18" charset="0"/>
              </a:rPr>
              <a:t> </a:t>
            </a:r>
            <a:r>
              <a:rPr lang="en-US" sz="2300" b="1" dirty="0" err="1">
                <a:solidFill>
                  <a:srgbClr val="0000FF"/>
                </a:solidFill>
                <a:latin typeface="Times New Roman" pitchFamily="18" charset="0"/>
                <a:cs typeface="Times New Roman" pitchFamily="18" charset="0"/>
              </a:rPr>
              <a:t>ứng</a:t>
            </a:r>
            <a:r>
              <a:rPr lang="en-US" sz="2300" b="1" dirty="0">
                <a:solidFill>
                  <a:srgbClr val="0000FF"/>
                </a:solidFill>
                <a:latin typeface="Times New Roman" pitchFamily="18" charset="0"/>
                <a:cs typeface="Times New Roman" pitchFamily="18" charset="0"/>
              </a:rPr>
              <a:t> (Externalities)</a:t>
            </a:r>
            <a:r>
              <a:rPr lang="en-US" sz="2400" b="1" i="1" dirty="0"/>
              <a:t> </a:t>
            </a:r>
          </a:p>
          <a:p>
            <a:pPr algn="just"/>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Ngoại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ứng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tiêu</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cực</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ngoại</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ứng</a:t>
            </a:r>
            <a:r>
              <a:rPr lang="en-US" sz="2400" b="1" i="1" dirty="0">
                <a:solidFill>
                  <a:srgbClr val="0000FF"/>
                </a:solidFill>
                <a:latin typeface="Times New Roman" pitchFamily="18" charset="0"/>
                <a:cs typeface="Times New Roman" pitchFamily="18" charset="0"/>
              </a:rPr>
              <a:t> </a:t>
            </a:r>
            <a:r>
              <a:rPr lang="en-US" sz="2400" b="1" i="1" dirty="0" err="1">
                <a:solidFill>
                  <a:srgbClr val="0000FF"/>
                </a:solidFill>
                <a:latin typeface="Times New Roman" pitchFamily="18" charset="0"/>
                <a:cs typeface="Times New Roman" pitchFamily="18" charset="0"/>
              </a:rPr>
              <a:t>âm</a:t>
            </a:r>
            <a:r>
              <a:rPr lang="en-US" sz="2400" b="1" i="1" dirty="0">
                <a:solidFill>
                  <a:srgbClr val="0000FF"/>
                </a:solidFill>
                <a:latin typeface="Times New Roman" pitchFamily="18" charset="0"/>
                <a:cs typeface="Times New Roman" pitchFamily="18" charset="0"/>
              </a:rPr>
              <a:t>)</a:t>
            </a:r>
            <a:endParaRPr lang="en-US" sz="2400" b="1"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a:t>
            </a:r>
            <a:r>
              <a:rPr lang="pt-BR" sz="2400" i="1" dirty="0">
                <a:solidFill>
                  <a:srgbClr val="0000FF"/>
                </a:solidFill>
                <a:latin typeface="Times New Roman" pitchFamily="18" charset="0"/>
                <a:cs typeface="Times New Roman" pitchFamily="18" charset="0"/>
              </a:rPr>
              <a:t>Thất bại</a:t>
            </a:r>
            <a:r>
              <a:rPr lang="pt-BR" sz="2400" dirty="0">
                <a:solidFill>
                  <a:srgbClr val="0000FF"/>
                </a:solidFill>
                <a:latin typeface="Times New Roman" pitchFamily="18" charset="0"/>
                <a:cs typeface="Times New Roman" pitchFamily="18" charset="0"/>
              </a:rPr>
              <a:t>: Sản lượng mà các cá nhân cung cấp (Q</a:t>
            </a:r>
            <a:r>
              <a:rPr lang="pt-BR" sz="2400" baseline="-25000" dirty="0">
                <a:solidFill>
                  <a:srgbClr val="0000FF"/>
                </a:solidFill>
                <a:latin typeface="Times New Roman" pitchFamily="18" charset="0"/>
                <a:cs typeface="Times New Roman" pitchFamily="18" charset="0"/>
              </a:rPr>
              <a:t>1</a:t>
            </a:r>
            <a:r>
              <a:rPr lang="pt-BR" sz="2400" dirty="0">
                <a:solidFill>
                  <a:srgbClr val="0000FF"/>
                </a:solidFill>
                <a:latin typeface="Times New Roman" pitchFamily="18" charset="0"/>
                <a:cs typeface="Times New Roman" pitchFamily="18" charset="0"/>
              </a:rPr>
              <a:t>) lớn hơn mức sản lượng mà xã hội cần (Q</a:t>
            </a:r>
            <a:r>
              <a:rPr lang="pt-BR" sz="2400" baseline="-25000" dirty="0">
                <a:solidFill>
                  <a:srgbClr val="0000FF"/>
                </a:solidFill>
                <a:latin typeface="Times New Roman" pitchFamily="18" charset="0"/>
                <a:cs typeface="Times New Roman" pitchFamily="18" charset="0"/>
              </a:rPr>
              <a:t>0</a:t>
            </a:r>
            <a:r>
              <a:rPr lang="pt-BR" sz="2400" dirty="0">
                <a:solidFill>
                  <a:srgbClr val="0000FF"/>
                </a:solidFill>
                <a:latin typeface="Times New Roman" pitchFamily="18" charset="0"/>
                <a:cs typeface="Times New Roman" pitchFamily="18" charset="0"/>
              </a:rPr>
              <a:t>). Nguyên nhân là do giá cả được xác định dựa vào chi phí tư nhân (MC) chứ không được dựa vào chi phí xã hội (MEC). Họ sẽ bán với mức giá thấp, sản lượng cao hơn so với mức XH mong muốn. Mỗi đơn vị sản xuất cao hơn mức sản lượng Qo thì XH phải chịu một chi phí được xác định là phần chênh lệch giữa MSC với MC (toàn bộ tổn thất xã hội là diện tích hình E</a:t>
            </a:r>
            <a:r>
              <a:rPr lang="pt-BR" sz="2400" baseline="-25000" dirty="0">
                <a:solidFill>
                  <a:srgbClr val="0000FF"/>
                </a:solidFill>
                <a:latin typeface="Times New Roman" pitchFamily="18" charset="0"/>
                <a:cs typeface="Times New Roman" pitchFamily="18" charset="0"/>
              </a:rPr>
              <a:t>0</a:t>
            </a:r>
            <a:r>
              <a:rPr lang="pt-BR" sz="2400" dirty="0">
                <a:solidFill>
                  <a:srgbClr val="0000FF"/>
                </a:solidFill>
                <a:latin typeface="Times New Roman" pitchFamily="18" charset="0"/>
                <a:cs typeface="Times New Roman" pitchFamily="18" charset="0"/>
              </a:rPr>
              <a:t>E</a:t>
            </a:r>
            <a:r>
              <a:rPr lang="pt-BR" sz="2400" baseline="-25000" dirty="0">
                <a:solidFill>
                  <a:srgbClr val="0000FF"/>
                </a:solidFill>
                <a:latin typeface="Times New Roman" pitchFamily="18" charset="0"/>
                <a:cs typeface="Times New Roman" pitchFamily="18" charset="0"/>
              </a:rPr>
              <a:t>1</a:t>
            </a:r>
            <a:r>
              <a:rPr lang="pt-BR" sz="2400" dirty="0">
                <a:solidFill>
                  <a:srgbClr val="0000FF"/>
                </a:solidFill>
                <a:latin typeface="Times New Roman" pitchFamily="18" charset="0"/>
                <a:cs typeface="Times New Roman" pitchFamily="18" charset="0"/>
              </a:rPr>
              <a:t>E*).</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a:t>
            </a:r>
            <a:r>
              <a:rPr lang="pt-BR" sz="2400" i="1" dirty="0">
                <a:solidFill>
                  <a:srgbClr val="0000FF"/>
                </a:solidFill>
                <a:latin typeface="Times New Roman" pitchFamily="18" charset="0"/>
                <a:cs typeface="Times New Roman" pitchFamily="18" charset="0"/>
              </a:rPr>
              <a:t>Khắc phục: </a:t>
            </a:r>
            <a:r>
              <a:rPr lang="pt-BR" sz="2400" dirty="0">
                <a:solidFill>
                  <a:srgbClr val="0000FF"/>
                </a:solidFill>
                <a:latin typeface="Times New Roman" pitchFamily="18" charset="0"/>
                <a:cs typeface="Times New Roman" pitchFamily="18" charset="0"/>
              </a:rPr>
              <a:t>Chính phủ đánh thuế ô nhiễm hay buộc DN phải trả phí ô nhiễm, đưa sản lượng thị trường về mức hiệu quả. Khi Chính phủ thu thuế (hay phí) ô nhiễm, những thiệt hại xã hội do ô nhiễm môi trường giờ đây trở thành một khoản chi phí mà doanh nghiệp phải bỏ ra đền bù. Ngoài ra Chính phủ còn có thể quy định sản lượng sản xuất hay quy định nơi sản xuất hoặc tăng lãi suất để giảm đầu tư.</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01947165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7.2.3.4. Hàng hóa công cộng (</a:t>
            </a:r>
            <a:r>
              <a:rPr lang="en-US" sz="2300" b="1" dirty="0">
                <a:solidFill>
                  <a:srgbClr val="0000FF"/>
                </a:solidFill>
                <a:latin typeface="Times New Roman" pitchFamily="18" charset="0"/>
                <a:cs typeface="Times New Roman" pitchFamily="18" charset="0"/>
              </a:rPr>
              <a:t>Public Goods)</a:t>
            </a:r>
          </a:p>
          <a:p>
            <a:pPr algn="just"/>
            <a:r>
              <a:rPr lang="pt-BR" sz="2300" i="1" dirty="0">
                <a:solidFill>
                  <a:srgbClr val="0000FF"/>
                </a:solidFill>
                <a:latin typeface="Times New Roman" pitchFamily="18" charset="0"/>
                <a:cs typeface="Times New Roman" pitchFamily="18" charset="0"/>
              </a:rPr>
              <a:t>Hàng hóa công cộng là hàng hóa khi đã được cung cấp cho một người thì vẫn còn đủ cho người khác sử dụng và rất khó ngăn cấm người khác khỏi việc tiêu dùng nó.</a:t>
            </a:r>
            <a:endParaRPr lang="en-US" sz="2300" dirty="0">
              <a:solidFill>
                <a:srgbClr val="0000FF"/>
              </a:solidFill>
              <a:latin typeface="Times New Roman" pitchFamily="18" charset="0"/>
              <a:cs typeface="Times New Roman" pitchFamily="18" charset="0"/>
            </a:endParaRPr>
          </a:p>
          <a:p>
            <a:pPr algn="just"/>
            <a:r>
              <a:rPr lang="en-US" sz="2300" dirty="0">
                <a:solidFill>
                  <a:srgbClr val="0000FF"/>
                </a:solidFill>
                <a:latin typeface="Times New Roman" pitchFamily="18" charset="0"/>
                <a:cs typeface="Times New Roman" pitchFamily="18" charset="0"/>
              </a:rPr>
              <a:t>Theo </a:t>
            </a:r>
            <a:r>
              <a:rPr lang="en-US" sz="2300" dirty="0" err="1">
                <a:solidFill>
                  <a:srgbClr val="0000FF"/>
                </a:solidFill>
                <a:latin typeface="Times New Roman" pitchFamily="18" charset="0"/>
                <a:cs typeface="Times New Roman" pitchFamily="18" charset="0"/>
              </a:rPr>
              <a:t>Gravelle</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Rees: “</a:t>
            </a:r>
            <a:r>
              <a:rPr lang="en-US" sz="2300" dirty="0" err="1">
                <a:solidFill>
                  <a:srgbClr val="0000FF"/>
                </a:solidFill>
                <a:latin typeface="Times New Roman" pitchFamily="18" charset="0"/>
                <a:cs typeface="Times New Roman" pitchFamily="18" charset="0"/>
              </a:rPr>
              <a:t>Đặc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điểm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việc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sẵn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được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bởi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p>
          <a:p>
            <a:pPr algn="just"/>
            <a:r>
              <a:rPr lang="en-US" sz="2300" dirty="0" err="1">
                <a:solidFill>
                  <a:srgbClr val="0000FF"/>
                </a:solidFill>
                <a:latin typeface="Times New Roman" pitchFamily="18" charset="0"/>
                <a:cs typeface="Times New Roman" pitchFamily="18" charset="0"/>
              </a:rPr>
              <a:t>Ví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đăng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phòng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phát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đèn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tri </a:t>
            </a:r>
            <a:r>
              <a:rPr lang="en-US" sz="2300" dirty="0" err="1">
                <a:solidFill>
                  <a:srgbClr val="0000FF"/>
                </a:solidFill>
                <a:latin typeface="Times New Roman" pitchFamily="18" charset="0"/>
                <a:cs typeface="Times New Roman" pitchFamily="18" charset="0"/>
              </a:rPr>
              <a:t>thức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thông</a:t>
            </a:r>
            <a:r>
              <a:rPr lang="en-US" sz="2300" dirty="0">
                <a:solidFill>
                  <a:srgbClr val="0000FF"/>
                </a:solidFill>
                <a:latin typeface="Times New Roman" pitchFamily="18" charset="0"/>
                <a:cs typeface="Times New Roman" pitchFamily="18" charset="0"/>
              </a:rPr>
              <a:t> tin, …. </a:t>
            </a:r>
            <a:r>
              <a:rPr lang="en-US" sz="2300" dirty="0" err="1">
                <a:solidFill>
                  <a:srgbClr val="0000FF"/>
                </a:solidFill>
                <a:latin typeface="Times New Roman" pitchFamily="18" charset="0"/>
                <a:cs typeface="Times New Roman" pitchFamily="18" charset="0"/>
              </a:rPr>
              <a:t>Trong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này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chỉ</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bảo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điều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chúng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tắc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bởi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nếu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thì</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đường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sẽ</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tắc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trước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đã</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ảnh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hưởng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sau</a:t>
            </a:r>
            <a:r>
              <a:rPr lang="en-US" sz="2300" dirty="0">
                <a:solidFill>
                  <a:srgbClr val="0000FF"/>
                </a:solidFill>
                <a:latin typeface="Times New Roman" pitchFamily="18" charset="0"/>
                <a:cs typeface="Times New Roman" pitchFamily="18" charset="0"/>
              </a:rPr>
              <a:t>. </a:t>
            </a:r>
          </a:p>
        </p:txBody>
      </p:sp>
    </p:spTree>
    <p:extLst>
      <p:ext uri="{BB962C8B-B14F-4D97-AF65-F5344CB8AC3E}">
        <p14:creationId xmlns:p14="http://schemas.microsoft.com/office/powerpoint/2010/main" val="62056505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7.2.3.4. Hàng hóa công cộng (</a:t>
            </a:r>
            <a:r>
              <a:rPr lang="en-US" sz="2300" b="1" dirty="0">
                <a:solidFill>
                  <a:srgbClr val="0000FF"/>
                </a:solidFill>
                <a:latin typeface="Times New Roman" pitchFamily="18" charset="0"/>
                <a:cs typeface="Times New Roman" pitchFamily="18" charset="0"/>
              </a:rPr>
              <a:t>Public Goods)</a:t>
            </a:r>
          </a:p>
          <a:p>
            <a:pPr algn="just"/>
            <a:r>
              <a:rPr lang="pt-BR" sz="2300" dirty="0">
                <a:solidFill>
                  <a:srgbClr val="0000FF"/>
                </a:solidFill>
                <a:latin typeface="Times New Roman" pitchFamily="18" charset="0"/>
                <a:cs typeface="Times New Roman" pitchFamily="18" charset="0"/>
              </a:rPr>
              <a:t>Hai tính chất của hàng hóa công cộng:</a:t>
            </a:r>
            <a:endParaRPr lang="en-US" sz="2300" dirty="0">
              <a:solidFill>
                <a:srgbClr val="0000FF"/>
              </a:solidFill>
              <a:latin typeface="Times New Roman" pitchFamily="18" charset="0"/>
              <a:cs typeface="Times New Roman" pitchFamily="18" charset="0"/>
            </a:endParaRPr>
          </a:p>
          <a:p>
            <a:pPr algn="just"/>
            <a:r>
              <a:rPr lang="pt-BR" sz="2300" i="1" dirty="0">
                <a:solidFill>
                  <a:srgbClr val="0000FF"/>
                </a:solidFill>
                <a:latin typeface="Times New Roman" pitchFamily="18" charset="0"/>
                <a:cs typeface="Times New Roman" pitchFamily="18" charset="0"/>
              </a:rPr>
              <a:t>+ Không cạnh tranh trong tiêu dùng </a:t>
            </a:r>
            <a:r>
              <a:rPr lang="en-US" sz="2300" i="1" dirty="0">
                <a:solidFill>
                  <a:srgbClr val="0000FF"/>
                </a:solidFill>
                <a:latin typeface="Times New Roman" pitchFamily="18" charset="0"/>
                <a:cs typeface="Times New Roman" pitchFamily="18" charset="0"/>
              </a:rPr>
              <a:t>(non-rival)</a:t>
            </a:r>
            <a:r>
              <a:rPr lang="pt-BR" sz="2300" i="1" dirty="0">
                <a:solidFill>
                  <a:srgbClr val="0000FF"/>
                </a:solidFill>
                <a:latin typeface="Times New Roman" pitchFamily="18" charset="0"/>
                <a:cs typeface="Times New Roman" pitchFamily="18" charset="0"/>
              </a:rPr>
              <a:t>:</a:t>
            </a:r>
            <a:r>
              <a:rPr lang="pt-BR"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làm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giảm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sự</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diện</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đó</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những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pt-BR" sz="2300" dirty="0">
                <a:solidFill>
                  <a:srgbClr val="0000FF"/>
                </a:solidFill>
                <a:latin typeface="Times New Roman" pitchFamily="18" charset="0"/>
                <a:cs typeface="Times New Roman" pitchFamily="18" charset="0"/>
              </a:rPr>
              <a:t>Với một mức sản lượng đã cho, chi phí cận biên của việc cung cấp hàng hóa đó cho người tiêu dùng bổ sung là bằng không (MC = 0).</a:t>
            </a:r>
            <a:endParaRPr lang="en-US" sz="2300" dirty="0">
              <a:solidFill>
                <a:srgbClr val="0000FF"/>
              </a:solidFill>
              <a:latin typeface="Times New Roman" pitchFamily="18" charset="0"/>
              <a:cs typeface="Times New Roman" pitchFamily="18" charset="0"/>
            </a:endParaRPr>
          </a:p>
          <a:p>
            <a:pPr algn="just"/>
            <a:r>
              <a:rPr lang="pt-BR" sz="2300" i="1" dirty="0">
                <a:solidFill>
                  <a:srgbClr val="0000FF"/>
                </a:solidFill>
                <a:latin typeface="Times New Roman" pitchFamily="18" charset="0"/>
                <a:cs typeface="Times New Roman" pitchFamily="18" charset="0"/>
              </a:rPr>
              <a:t>+ Không loại trừ </a:t>
            </a:r>
            <a:r>
              <a:rPr lang="en-US" sz="2300" i="1" dirty="0">
                <a:solidFill>
                  <a:srgbClr val="0000FF"/>
                </a:solidFill>
                <a:latin typeface="Times New Roman" pitchFamily="18" charset="0"/>
                <a:cs typeface="Times New Roman" pitchFamily="18" charset="0"/>
              </a:rPr>
              <a:t>(non-exclusive)</a:t>
            </a:r>
            <a:r>
              <a:rPr lang="pt-BR" sz="2300" i="1"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cản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trở</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tiêu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dùng</a:t>
            </a:r>
            <a:r>
              <a:rPr lang="en-US" sz="2300" dirty="0">
                <a:solidFill>
                  <a:srgbClr val="0000FF"/>
                </a:solidFill>
                <a:latin typeface="Times New Roman" pitchFamily="18" charset="0"/>
                <a:cs typeface="Times New Roman" pitchFamily="18" charset="0"/>
              </a:rPr>
              <a:t> hay </a:t>
            </a:r>
            <a:r>
              <a:rPr lang="en-US" sz="2300" dirty="0" err="1">
                <a:solidFill>
                  <a:srgbClr val="0000FF"/>
                </a:solidFill>
                <a:latin typeface="Times New Roman" pitchFamily="18" charset="0"/>
                <a:cs typeface="Times New Roman" pitchFamily="18" charset="0"/>
              </a:rPr>
              <a:t>tiếp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nhận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lợi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của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pt-BR" sz="2300" dirty="0">
                <a:solidFill>
                  <a:srgbClr val="0000FF"/>
                </a:solidFill>
                <a:latin typeface="Times New Roman" pitchFamily="18" charset="0"/>
                <a:cs typeface="Times New Roman" pitchFamily="18" charset="0"/>
              </a:rPr>
              <a:t>Mọi người đều có thể tiêu dùng hàng hóa mà không phải trả tiền trực tiếp. Ví dụ: công viên, đường bộ… </a:t>
            </a:r>
            <a:r>
              <a:rPr lang="vi-VN" sz="2300" dirty="0">
                <a:solidFill>
                  <a:srgbClr val="0000FF"/>
                </a:solidFill>
                <a:latin typeface="Times New Roman" pitchFamily="18" charset="0"/>
                <a:cs typeface="Times New Roman" pitchFamily="18" charset="0"/>
              </a:rPr>
              <a:t>tạo </a:t>
            </a:r>
            <a:r>
              <a:rPr lang="pt-BR" sz="2300" dirty="0">
                <a:solidFill>
                  <a:srgbClr val="0000FF"/>
                </a:solidFill>
                <a:latin typeface="Times New Roman" pitchFamily="18" charset="0"/>
                <a:cs typeface="Times New Roman" pitchFamily="18" charset="0"/>
              </a:rPr>
              <a:t>ngoại ứng dương mạnh.</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Từ hai tính chất này, có hai loại hàng hóa công cộng: Hàng hóa công cộng thuần túy (hội đủ cả hai thuộc tính không cạnh tranh và không loại trừ) và Hàng hóa công không thuần túy (chỉ có một trong hai thuộc tính trên).</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65055654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400" b="1" dirty="0">
                <a:solidFill>
                  <a:srgbClr val="0000FF"/>
                </a:solidFill>
                <a:latin typeface="Times New Roman" pitchFamily="18" charset="0"/>
                <a:cs typeface="Times New Roman" pitchFamily="18" charset="0"/>
              </a:rPr>
              <a:t>7.2.3.4. Hàng hóa công cộng (</a:t>
            </a:r>
            <a:r>
              <a:rPr lang="en-US" sz="2400" b="1" dirty="0">
                <a:solidFill>
                  <a:srgbClr val="0000FF"/>
                </a:solidFill>
                <a:latin typeface="Times New Roman" pitchFamily="18" charset="0"/>
                <a:cs typeface="Times New Roman" pitchFamily="18" charset="0"/>
              </a:rPr>
              <a:t>Public Goods)</a:t>
            </a:r>
          </a:p>
          <a:p>
            <a:pPr algn="just"/>
            <a:r>
              <a:rPr lang="en-US" sz="2400" dirty="0" err="1">
                <a:solidFill>
                  <a:srgbClr val="0000FF"/>
                </a:solidFill>
                <a:latin typeface="Times New Roman" pitchFamily="18" charset="0"/>
                <a:cs typeface="Times New Roman" pitchFamily="18" charset="0"/>
              </a:rPr>
              <a:t>Muốn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xác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mức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cấp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hàng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hóa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công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một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hiệu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quả</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dựa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nó</a:t>
            </a:r>
            <a:r>
              <a:rPr lang="en-US" sz="2400" dirty="0">
                <a:solidFill>
                  <a:srgbClr val="0000FF"/>
                </a:solidFill>
                <a:latin typeface="Times New Roman" pitchFamily="18" charset="0"/>
                <a:cs typeface="Times New Roman" pitchFamily="18" charset="0"/>
              </a:rPr>
              <a:t>. </a:t>
            </a:r>
            <a:r>
              <a:rPr lang="pt-BR" sz="2400" dirty="0">
                <a:solidFill>
                  <a:srgbClr val="0000FF"/>
                </a:solidFill>
                <a:latin typeface="Times New Roman" pitchFamily="18" charset="0"/>
                <a:cs typeface="Times New Roman" pitchFamily="18" charset="0"/>
              </a:rPr>
              <a:t>Về mặt lý thuyết, lợi ích ròng của xã hội (NSB) tối ưu khi P bằng MC. Tuy nhiên, như đã đề cập, chi phí cận biên của việc cung cấp hàng hóa đó cho người tiêu dùng bổ sung là bằng không nên giá bán đối với hàng hóa công cộng được xác định bằng không (P = MC = 0). Điều này có nghĩa là người tiêu dùng không phải trả tiền khi sử dụng hàng hóa công cộng. </a:t>
            </a:r>
            <a:endParaRPr lang="en-US" sz="2400" dirty="0">
              <a:solidFill>
                <a:srgbClr val="0000FF"/>
              </a:solidFill>
              <a:latin typeface="Times New Roman" pitchFamily="18" charset="0"/>
              <a:cs typeface="Times New Roman" pitchFamily="18" charset="0"/>
            </a:endParaRPr>
          </a:p>
          <a:p>
            <a:pPr algn="just"/>
            <a:r>
              <a:rPr lang="pt-BR" sz="2400" i="1" dirty="0">
                <a:solidFill>
                  <a:srgbClr val="0000FF"/>
                </a:solidFill>
                <a:latin typeface="Times New Roman" pitchFamily="18" charset="0"/>
                <a:cs typeface="Times New Roman" pitchFamily="18" charset="0"/>
              </a:rPr>
              <a:t>- Thất bại:</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Do không có mục tiêu lợi nhuận nên tư nhân không muốn cung cấp dẫn đến có ít hàng hóa công cộng so với mức xã hội mong muốn.</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Người tiêu dùng được dùng hàng hóa mà không phải trả tiền dẫn đến khó có thể định giá cho hàng hóa công cộng.</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3491573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7.2.3.4. Hàng hóa công cộng (</a:t>
            </a:r>
            <a:r>
              <a:rPr lang="en-US" sz="2300" b="1" dirty="0">
                <a:solidFill>
                  <a:srgbClr val="0000FF"/>
                </a:solidFill>
                <a:latin typeface="Times New Roman" pitchFamily="18" charset="0"/>
                <a:cs typeface="Times New Roman" pitchFamily="18" charset="0"/>
              </a:rPr>
              <a:t>Public Goods)</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a:t>
            </a:r>
            <a:r>
              <a:rPr lang="pt-BR" sz="2300" i="1" dirty="0">
                <a:solidFill>
                  <a:srgbClr val="0000FF"/>
                </a:solidFill>
                <a:latin typeface="Times New Roman" pitchFamily="18" charset="0"/>
                <a:cs typeface="Times New Roman" pitchFamily="18" charset="0"/>
              </a:rPr>
              <a:t>Khắc phục:</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Chính phủ cung cấp miễn phí hàng hóa công thuần túy bằng cách </a:t>
            </a:r>
            <a:r>
              <a:rPr lang="en-US" sz="2300" dirty="0">
                <a:solidFill>
                  <a:srgbClr val="0000FF"/>
                </a:solidFill>
                <a:latin typeface="Times New Roman" pitchFamily="18" charset="0"/>
                <a:cs typeface="Times New Roman" pitchFamily="18" charset="0"/>
              </a:rPr>
              <a:t>chi </a:t>
            </a:r>
            <a:r>
              <a:rPr lang="en-US" sz="2300" dirty="0" err="1">
                <a:solidFill>
                  <a:srgbClr val="0000FF"/>
                </a:solidFill>
                <a:latin typeface="Times New Roman" pitchFamily="18" charset="0"/>
                <a:cs typeface="Times New Roman" pitchFamily="18" charset="0"/>
              </a:rPr>
              <a:t>ngân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và</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tổ</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thực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hiện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loại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cộng </a:t>
            </a:r>
            <a:r>
              <a:rPr lang="en-US" sz="2300" dirty="0" err="1">
                <a:solidFill>
                  <a:srgbClr val="0000FF"/>
                </a:solidFill>
                <a:latin typeface="Times New Roman" pitchFamily="18" charset="0"/>
                <a:cs typeface="Times New Roman" pitchFamily="18" charset="0"/>
              </a:rPr>
              <a:t>thuộc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lĩnh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vực</a:t>
            </a:r>
            <a:r>
              <a:rPr lang="en-US" sz="2300" dirty="0">
                <a:solidFill>
                  <a:srgbClr val="0000FF"/>
                </a:solidFill>
                <a:latin typeface="Times New Roman" pitchFamily="18" charset="0"/>
                <a:cs typeface="Times New Roman" pitchFamily="18" charset="0"/>
              </a:rPr>
              <a:t> an </a:t>
            </a:r>
            <a:r>
              <a:rPr lang="en-US" sz="2300" dirty="0" err="1">
                <a:solidFill>
                  <a:srgbClr val="0000FF"/>
                </a:solidFill>
                <a:latin typeface="Times New Roman" pitchFamily="18" charset="0"/>
                <a:cs typeface="Times New Roman" pitchFamily="18" charset="0"/>
              </a:rPr>
              <a:t>ninh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quốc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phòng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cây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xanh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đô</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thị</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v.v</a:t>
            </a:r>
            <a:r>
              <a:rPr lang="en-US" sz="2300" dirty="0">
                <a:solidFill>
                  <a:srgbClr val="0000FF"/>
                </a:solidFill>
                <a:latin typeface="Times New Roman" pitchFamily="18" charset="0"/>
                <a:cs typeface="Times New Roman" pitchFamily="18" charset="0"/>
              </a:rPr>
              <a:t>…</a:t>
            </a:r>
          </a:p>
          <a:p>
            <a:pPr algn="just"/>
            <a:r>
              <a:rPr lang="pt-BR" sz="2300" dirty="0">
                <a:solidFill>
                  <a:srgbClr val="0000FF"/>
                </a:solidFill>
                <a:latin typeface="Times New Roman" pitchFamily="18" charset="0"/>
                <a:cs typeface="Times New Roman" pitchFamily="18" charset="0"/>
              </a:rPr>
              <a:t>+ Chính phủ có thể tính giá đối với hàng hóa công không thuần túy (có tính loại trừ) nhằm khuyến khích sử dụng nguồn lực hiệu quả và tạo nguồn thu cho ngân sách, chẳng hạn,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quy</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mức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đối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với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dịch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vụ</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giáo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dục</a:t>
            </a:r>
            <a:r>
              <a:rPr lang="en-US" sz="2300" dirty="0">
                <a:solidFill>
                  <a:srgbClr val="0000FF"/>
                </a:solidFill>
                <a:latin typeface="Times New Roman" pitchFamily="18" charset="0"/>
                <a:cs typeface="Times New Roman" pitchFamily="18" charset="0"/>
              </a:rPr>
              <a:t>, y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chứng</a:t>
            </a:r>
            <a:r>
              <a:rPr lang="en-US" sz="2300" dirty="0">
                <a:solidFill>
                  <a:srgbClr val="0000FF"/>
                </a:solidFill>
                <a:latin typeface="Times New Roman" pitchFamily="18" charset="0"/>
                <a:cs typeface="Times New Roman" pitchFamily="18" charset="0"/>
              </a:rPr>
              <a:t>, .... hay </a:t>
            </a:r>
            <a:r>
              <a:rPr lang="en-US" sz="2300" dirty="0" err="1">
                <a:solidFill>
                  <a:srgbClr val="0000FF"/>
                </a:solidFill>
                <a:latin typeface="Times New Roman" pitchFamily="18" charset="0"/>
                <a:cs typeface="Times New Roman" pitchFamily="18" charset="0"/>
              </a:rPr>
              <a:t>đặt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trạm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để</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hạn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bớt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số</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lượng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người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sử</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dụng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nhằm</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tránh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tắc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nghẽn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đồng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hồi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lại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vốn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đầu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tư</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sau</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một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thời</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gian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nhất</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định</a:t>
            </a:r>
            <a:r>
              <a:rPr lang="en-US" sz="2300" dirty="0">
                <a:solidFill>
                  <a:srgbClr val="0000FF"/>
                </a:solidFill>
                <a:latin typeface="Times New Roman" pitchFamily="18" charset="0"/>
                <a:cs typeface="Times New Roman" pitchFamily="18" charset="0"/>
              </a:rPr>
              <a:t>.</a:t>
            </a:r>
          </a:p>
          <a:p>
            <a:pPr algn="just"/>
            <a:r>
              <a:rPr lang="pt-BR"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Chính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phủ</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khuyến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khích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thành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phần</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kinh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tế</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khác</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cung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cấp</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hàng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hóa</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công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cộng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bằng</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cách</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cho</a:t>
            </a:r>
            <a:r>
              <a:rPr lang="en-US" sz="2300" dirty="0">
                <a:solidFill>
                  <a:srgbClr val="0000FF"/>
                </a:solidFill>
                <a:latin typeface="Times New Roman" pitchFamily="18" charset="0"/>
                <a:cs typeface="Times New Roman" pitchFamily="18" charset="0"/>
              </a:rPr>
              <a:t> </a:t>
            </a:r>
            <a:r>
              <a:rPr lang="en-US" sz="2300" dirty="0" err="1">
                <a:solidFill>
                  <a:srgbClr val="0000FF"/>
                </a:solidFill>
                <a:latin typeface="Times New Roman" pitchFamily="18" charset="0"/>
                <a:cs typeface="Times New Roman" pitchFamily="18" charset="0"/>
              </a:rPr>
              <a:t>thu</a:t>
            </a:r>
            <a:r>
              <a:rPr lang="en-US" sz="2300" dirty="0">
                <a:solidFill>
                  <a:srgbClr val="0000FF"/>
                </a:solidFill>
                <a:latin typeface="Times New Roman" pitchFamily="18" charset="0"/>
                <a:cs typeface="Times New Roman" pitchFamily="18" charset="0"/>
              </a:rPr>
              <a:t> </a:t>
            </a:r>
            <a:r>
              <a:rPr lang="pt-BR" sz="2300" dirty="0">
                <a:solidFill>
                  <a:srgbClr val="0000FF"/>
                </a:solidFill>
                <a:latin typeface="Times New Roman" pitchFamily="18" charset="0"/>
                <a:cs typeface="Times New Roman" pitchFamily="18" charset="0"/>
              </a:rPr>
              <a:t>phí bình quân đối với các dự án dạng BOT, BO hay cho hưởng ưu đãi đối với các lĩnh vực đầu tư khác đối với các dự án dạng BT nhằm bổ sung lượng hàng hóa công cộng cho xã hội</a:t>
            </a:r>
            <a:r>
              <a:rPr lang="en-US" sz="2300" dirty="0">
                <a:solidFill>
                  <a:srgbClr val="0000FF"/>
                </a:solidFill>
                <a:latin typeface="Times New Roman" pitchFamily="18" charset="0"/>
                <a:cs typeface="Times New Roman" pitchFamily="18" charset="0"/>
              </a:rPr>
              <a:t>.</a:t>
            </a:r>
          </a:p>
        </p:txBody>
      </p:sp>
    </p:spTree>
    <p:extLst>
      <p:ext uri="{BB962C8B-B14F-4D97-AF65-F5344CB8AC3E}">
        <p14:creationId xmlns:p14="http://schemas.microsoft.com/office/powerpoint/2010/main" val="110114323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7.2.3.5. Thông tin không hoàn hảo </a:t>
            </a:r>
            <a:r>
              <a:rPr lang="en-US" sz="2300" b="1" dirty="0">
                <a:solidFill>
                  <a:srgbClr val="0000FF"/>
                </a:solidFill>
                <a:latin typeface="Times New Roman" pitchFamily="18" charset="0"/>
                <a:cs typeface="Times New Roman" pitchFamily="18" charset="0"/>
              </a:rPr>
              <a:t>(Imperfect information)</a:t>
            </a:r>
          </a:p>
          <a:p>
            <a:pPr algn="just"/>
            <a:r>
              <a:rPr lang="pt-BR" sz="2300" dirty="0">
                <a:solidFill>
                  <a:srgbClr val="0000FF"/>
                </a:solidFill>
                <a:latin typeface="Times New Roman" pitchFamily="18" charset="0"/>
                <a:cs typeface="Times New Roman" pitchFamily="18" charset="0"/>
              </a:rPr>
              <a:t>Dựa vào tín hiệu giá cả, cơ chế thị trường có thể làm dịch chuyển các nguồn lực từ ngành này sang ngành khác, tuy nhiên, không phải lúc nào cũng tạo ra một cơ cấu sản phẩm phù hợp với yêu cầu của XH.</a:t>
            </a:r>
            <a:endParaRPr lang="en-US" sz="2300" dirty="0">
              <a:solidFill>
                <a:srgbClr val="0000FF"/>
              </a:solidFill>
              <a:latin typeface="Times New Roman" pitchFamily="18" charset="0"/>
              <a:cs typeface="Times New Roman" pitchFamily="18" charset="0"/>
            </a:endParaRPr>
          </a:p>
          <a:p>
            <a:pPr algn="just"/>
            <a:r>
              <a:rPr lang="pt-BR" sz="2300" i="1" dirty="0">
                <a:solidFill>
                  <a:srgbClr val="0000FF"/>
                </a:solidFill>
                <a:latin typeface="Times New Roman" pitchFamily="18" charset="0"/>
                <a:cs typeface="Times New Roman" pitchFamily="18" charset="0"/>
              </a:rPr>
              <a:t>- Thất bại:</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Việc thu thập thông tin về thị trường không </a:t>
            </a:r>
            <a:r>
              <a:rPr lang="vi-VN" sz="2300" dirty="0">
                <a:solidFill>
                  <a:srgbClr val="0000FF"/>
                </a:solidFill>
                <a:latin typeface="Times New Roman" pitchFamily="18" charset="0"/>
                <a:cs typeface="Times New Roman" pitchFamily="18" charset="0"/>
              </a:rPr>
              <a:t>phải </a:t>
            </a:r>
            <a:r>
              <a:rPr lang="pt-BR" sz="2300" dirty="0">
                <a:solidFill>
                  <a:srgbClr val="0000FF"/>
                </a:solidFill>
                <a:latin typeface="Times New Roman" pitchFamily="18" charset="0"/>
                <a:cs typeface="Times New Roman" pitchFamily="18" charset="0"/>
              </a:rPr>
              <a:t>dễ dàng và</a:t>
            </a:r>
            <a:r>
              <a:rPr lang="vi-VN" sz="2300" dirty="0">
                <a:solidFill>
                  <a:srgbClr val="0000FF"/>
                </a:solidFill>
                <a:latin typeface="Times New Roman" pitchFamily="18" charset="0"/>
                <a:cs typeface="Times New Roman" pitchFamily="18" charset="0"/>
              </a:rPr>
              <a:t> thường</a:t>
            </a:r>
            <a:r>
              <a:rPr lang="pt-BR" sz="2300" dirty="0">
                <a:solidFill>
                  <a:srgbClr val="0000FF"/>
                </a:solidFill>
                <a:latin typeface="Times New Roman" pitchFamily="18" charset="0"/>
                <a:cs typeface="Times New Roman" pitchFamily="18" charset="0"/>
              </a:rPr>
              <a:t> tốn kém. Sự thiếu hụt thông tin thường xảy ra ở người sản xuất hay tiêu dùng h</a:t>
            </a:r>
            <a:r>
              <a:rPr lang="vi-VN" sz="2300" dirty="0">
                <a:solidFill>
                  <a:srgbClr val="0000FF"/>
                </a:solidFill>
                <a:latin typeface="Times New Roman" pitchFamily="18" charset="0"/>
                <a:cs typeface="Times New Roman" pitchFamily="18" charset="0"/>
              </a:rPr>
              <a:t>oặc</a:t>
            </a:r>
            <a:r>
              <a:rPr lang="pt-BR" sz="2300" dirty="0">
                <a:solidFill>
                  <a:srgbClr val="0000FF"/>
                </a:solidFill>
                <a:latin typeface="Times New Roman" pitchFamily="18" charset="0"/>
                <a:cs typeface="Times New Roman" pitchFamily="18" charset="0"/>
              </a:rPr>
              <a:t> cả hai, gọi là hiện tượng </a:t>
            </a:r>
            <a:r>
              <a:rPr lang="pt-BR" sz="2300" b="1" i="1" dirty="0">
                <a:solidFill>
                  <a:srgbClr val="0000FF"/>
                </a:solidFill>
                <a:latin typeface="Times New Roman" pitchFamily="18" charset="0"/>
                <a:cs typeface="Times New Roman" pitchFamily="18" charset="0"/>
              </a:rPr>
              <a:t>thông tin bất cân xứng </a:t>
            </a:r>
            <a:r>
              <a:rPr lang="pt-BR" sz="2300" dirty="0">
                <a:solidFill>
                  <a:srgbClr val="0000FF"/>
                </a:solidFill>
                <a:latin typeface="Times New Roman" pitchFamily="18" charset="0"/>
                <a:cs typeface="Times New Roman" pitchFamily="18" charset="0"/>
              </a:rPr>
              <a:t>– một bên nào đó có ít thông tin về thị trường hơn bên kia. Trong những trường hợp này, những người sản xuất hay</a:t>
            </a:r>
            <a:r>
              <a:rPr lang="vi-VN" sz="2300" dirty="0">
                <a:solidFill>
                  <a:srgbClr val="0000FF"/>
                </a:solidFill>
                <a:latin typeface="Times New Roman" pitchFamily="18" charset="0"/>
                <a:cs typeface="Times New Roman" pitchFamily="18" charset="0"/>
              </a:rPr>
              <a:t> những người</a:t>
            </a:r>
            <a:r>
              <a:rPr lang="pt-BR" sz="2300" dirty="0">
                <a:solidFill>
                  <a:srgbClr val="0000FF"/>
                </a:solidFill>
                <a:latin typeface="Times New Roman" pitchFamily="18" charset="0"/>
                <a:cs typeface="Times New Roman" pitchFamily="18" charset="0"/>
              </a:rPr>
              <a:t> tiêu dùng sẽ không đánh giá được chính xác chi phí và lợi ích liên quan đến hàng hóa mà họ tham gia </a:t>
            </a:r>
            <a:r>
              <a:rPr lang="vi-VN" sz="2300" dirty="0">
                <a:solidFill>
                  <a:srgbClr val="0000FF"/>
                </a:solidFill>
                <a:latin typeface="Times New Roman" pitchFamily="18" charset="0"/>
                <a:cs typeface="Times New Roman" pitchFamily="18" charset="0"/>
              </a:rPr>
              <a:t>mua bán</a:t>
            </a:r>
            <a:r>
              <a:rPr lang="pt-BR"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Dựa trên </a:t>
            </a:r>
            <a:r>
              <a:rPr lang="pt-BR" sz="2300" dirty="0">
                <a:solidFill>
                  <a:srgbClr val="0000FF"/>
                </a:solidFill>
                <a:latin typeface="Times New Roman" pitchFamily="18" charset="0"/>
                <a:cs typeface="Times New Roman" pitchFamily="18" charset="0"/>
              </a:rPr>
              <a:t>trạng thái thông tin mà họ có</a:t>
            </a:r>
            <a:r>
              <a:rPr lang="vi-VN" sz="2300" dirty="0">
                <a:solidFill>
                  <a:srgbClr val="0000FF"/>
                </a:solidFill>
                <a:latin typeface="Times New Roman" pitchFamily="18" charset="0"/>
                <a:cs typeface="Times New Roman" pitchFamily="18" charset="0"/>
              </a:rPr>
              <a:t>, q</a:t>
            </a:r>
            <a:r>
              <a:rPr lang="pt-BR" sz="2300" dirty="0">
                <a:solidFill>
                  <a:srgbClr val="0000FF"/>
                </a:solidFill>
                <a:latin typeface="Times New Roman" pitchFamily="18" charset="0"/>
                <a:cs typeface="Times New Roman" pitchFamily="18" charset="0"/>
              </a:rPr>
              <a:t>uyết định của họ sẽ trở nên không hiệu quả. </a:t>
            </a:r>
            <a:r>
              <a:rPr lang="vi-VN" sz="2300" dirty="0">
                <a:solidFill>
                  <a:srgbClr val="0000FF"/>
                </a:solidFill>
                <a:latin typeface="Times New Roman" pitchFamily="18" charset="0"/>
                <a:cs typeface="Times New Roman" pitchFamily="18" charset="0"/>
              </a:rPr>
              <a:t>V</a:t>
            </a:r>
            <a:r>
              <a:rPr lang="pt-BR" sz="2300" dirty="0">
                <a:solidFill>
                  <a:srgbClr val="0000FF"/>
                </a:solidFill>
                <a:latin typeface="Times New Roman" pitchFamily="18" charset="0"/>
                <a:cs typeface="Times New Roman" pitchFamily="18" charset="0"/>
              </a:rPr>
              <a:t>ì thế, </a:t>
            </a:r>
            <a:r>
              <a:rPr lang="vi-VN" sz="2300" dirty="0">
                <a:solidFill>
                  <a:srgbClr val="0000FF"/>
                </a:solidFill>
                <a:latin typeface="Times New Roman" pitchFamily="18" charset="0"/>
                <a:cs typeface="Times New Roman" pitchFamily="18" charset="0"/>
              </a:rPr>
              <a:t>s</a:t>
            </a:r>
            <a:r>
              <a:rPr lang="pt-BR" sz="2300" dirty="0">
                <a:solidFill>
                  <a:srgbClr val="0000FF"/>
                </a:solidFill>
                <a:latin typeface="Times New Roman" pitchFamily="18" charset="0"/>
                <a:cs typeface="Times New Roman" pitchFamily="18" charset="0"/>
              </a:rPr>
              <a:t>ản lượng cân bằng thị trường trở nên hoặc cao hơn hoặc thấp hơn sản lượng hiệu quả. Kết quả: </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Làm cho người sản xuất cung ứng nhiều hoặc ít hơn so với nhu cầu.</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Người tiêu dùng sẽ mua với giá cao hơn giá thị trường.</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06147539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300" b="1" dirty="0">
                <a:solidFill>
                  <a:srgbClr val="0000FF"/>
                </a:solidFill>
                <a:latin typeface="Times New Roman" pitchFamily="18" charset="0"/>
                <a:cs typeface="Times New Roman" pitchFamily="18" charset="0"/>
              </a:rPr>
              <a:t>7.2.3.5. Thông tin không hoàn hảo </a:t>
            </a:r>
            <a:r>
              <a:rPr lang="en-US" sz="2300" b="1" dirty="0">
                <a:solidFill>
                  <a:srgbClr val="0000FF"/>
                </a:solidFill>
                <a:latin typeface="Times New Roman" pitchFamily="18" charset="0"/>
                <a:cs typeface="Times New Roman" pitchFamily="18" charset="0"/>
              </a:rPr>
              <a:t>(Imperfect information)</a:t>
            </a:r>
          </a:p>
          <a:p>
            <a:pPr algn="just"/>
            <a:r>
              <a:rPr lang="pt-BR" sz="2300" dirty="0">
                <a:solidFill>
                  <a:srgbClr val="0000FF"/>
                </a:solidFill>
                <a:latin typeface="Times New Roman" pitchFamily="18" charset="0"/>
                <a:cs typeface="Times New Roman" pitchFamily="18" charset="0"/>
              </a:rPr>
              <a:t>- </a:t>
            </a:r>
            <a:r>
              <a:rPr lang="pt-BR" sz="2300" i="1" dirty="0">
                <a:solidFill>
                  <a:srgbClr val="0000FF"/>
                </a:solidFill>
                <a:latin typeface="Times New Roman" pitchFamily="18" charset="0"/>
                <a:cs typeface="Times New Roman" pitchFamily="18" charset="0"/>
              </a:rPr>
              <a:t>Khắc phục:</a:t>
            </a:r>
            <a:endParaRPr lang="en-US" sz="2300" dirty="0">
              <a:solidFill>
                <a:srgbClr val="0000FF"/>
              </a:solidFill>
              <a:latin typeface="Times New Roman" pitchFamily="18" charset="0"/>
              <a:cs typeface="Times New Roman" pitchFamily="18" charset="0"/>
            </a:endParaRPr>
          </a:p>
          <a:p>
            <a:pPr algn="just"/>
            <a:r>
              <a:rPr lang="vi-VN" sz="2300" dirty="0">
                <a:solidFill>
                  <a:srgbClr val="0000FF"/>
                </a:solidFill>
                <a:latin typeface="Times New Roman" pitchFamily="18" charset="0"/>
                <a:cs typeface="Times New Roman" pitchFamily="18" charset="0"/>
              </a:rPr>
              <a:t>+ C</a:t>
            </a:r>
            <a:r>
              <a:rPr lang="pt-BR" sz="2300" dirty="0">
                <a:solidFill>
                  <a:srgbClr val="0000FF"/>
                </a:solidFill>
                <a:latin typeface="Times New Roman" pitchFamily="18" charset="0"/>
                <a:cs typeface="Times New Roman" pitchFamily="18" charset="0"/>
              </a:rPr>
              <a:t>ung cấp thông tin bổ sung cho thị trường</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Chính phủ tổ chức thu thập hay sản xuất thông tin để cung cấp thông tin bổ sung cho thị trường thường liên quan đến những thông tin có thể sử dụng chung cho nhiều người. Thông tin </a:t>
            </a:r>
            <a:r>
              <a:rPr lang="vi-VN" sz="2300" dirty="0">
                <a:solidFill>
                  <a:srgbClr val="0000FF"/>
                </a:solidFill>
                <a:latin typeface="Times New Roman" pitchFamily="18" charset="0"/>
                <a:cs typeface="Times New Roman" pitchFamily="18" charset="0"/>
              </a:rPr>
              <a:t>dự báo thời tiết, thông tin về các đợt tiêm chủng cho trẻ em,..</a:t>
            </a:r>
            <a:r>
              <a:rPr lang="pt-BR" sz="2300" dirty="0">
                <a:solidFill>
                  <a:srgbClr val="0000FF"/>
                </a:solidFill>
                <a:latin typeface="Times New Roman" pitchFamily="18" charset="0"/>
                <a:cs typeface="Times New Roman" pitchFamily="18" charset="0"/>
              </a:rPr>
              <a:t>.</a:t>
            </a:r>
            <a:r>
              <a:rPr lang="vi-VN" sz="2300" dirty="0">
                <a:solidFill>
                  <a:srgbClr val="0000FF"/>
                </a:solidFill>
                <a:latin typeface="Times New Roman" pitchFamily="18" charset="0"/>
                <a:cs typeface="Times New Roman" pitchFamily="18" charset="0"/>
              </a:rPr>
              <a:t> là những ví dụ cho dạng khắc phục này và chúng được xem</a:t>
            </a:r>
            <a:r>
              <a:rPr lang="pt-BR" sz="2300" dirty="0">
                <a:solidFill>
                  <a:srgbClr val="0000FF"/>
                </a:solidFill>
                <a:latin typeface="Times New Roman" pitchFamily="18" charset="0"/>
                <a:cs typeface="Times New Roman" pitchFamily="18" charset="0"/>
              </a:rPr>
              <a:t> là hàng hóa công cộng</a:t>
            </a:r>
            <a:r>
              <a:rPr lang="vi-VN" sz="2300" dirty="0">
                <a:solidFill>
                  <a:srgbClr val="0000FF"/>
                </a:solidFill>
                <a:latin typeface="Times New Roman" pitchFamily="18" charset="0"/>
                <a:cs typeface="Times New Roman" pitchFamily="18" charset="0"/>
              </a:rPr>
              <a:t>.</a:t>
            </a:r>
            <a:r>
              <a:rPr lang="pt-BR" sz="2300" dirty="0">
                <a:solidFill>
                  <a:srgbClr val="0000FF"/>
                </a:solidFill>
                <a:latin typeface="Times New Roman" pitchFamily="18" charset="0"/>
                <a:cs typeface="Times New Roman" pitchFamily="18" charset="0"/>
              </a:rPr>
              <a:t> Nhờ những thông tin này, các giao dịch thị trường diễn ra dễ dàng hơn, hiệu quả hơn.</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 </a:t>
            </a:r>
            <a:r>
              <a:rPr lang="vi-VN" sz="2300" dirty="0">
                <a:solidFill>
                  <a:srgbClr val="0000FF"/>
                </a:solidFill>
                <a:latin typeface="Times New Roman" pitchFamily="18" charset="0"/>
                <a:cs typeface="Times New Roman" pitchFamily="18" charset="0"/>
              </a:rPr>
              <a:t>+ Đ</a:t>
            </a:r>
            <a:r>
              <a:rPr lang="pt-BR" sz="2300" dirty="0">
                <a:solidFill>
                  <a:srgbClr val="0000FF"/>
                </a:solidFill>
                <a:latin typeface="Times New Roman" pitchFamily="18" charset="0"/>
                <a:cs typeface="Times New Roman" pitchFamily="18" charset="0"/>
              </a:rPr>
              <a:t>ề ra những quy chế về cung cấp thông tin cho những thị trường cụ thể nhất định. </a:t>
            </a:r>
            <a:endParaRPr lang="en-US" sz="2300" dirty="0">
              <a:solidFill>
                <a:srgbClr val="0000FF"/>
              </a:solidFill>
              <a:latin typeface="Times New Roman" pitchFamily="18" charset="0"/>
              <a:cs typeface="Times New Roman" pitchFamily="18" charset="0"/>
            </a:endParaRPr>
          </a:p>
          <a:p>
            <a:pPr algn="just"/>
            <a:r>
              <a:rPr lang="pt-BR" sz="2300" dirty="0">
                <a:solidFill>
                  <a:srgbClr val="0000FF"/>
                </a:solidFill>
                <a:latin typeface="Times New Roman" pitchFamily="18" charset="0"/>
                <a:cs typeface="Times New Roman" pitchFamily="18" charset="0"/>
              </a:rPr>
              <a:t>Chính phủ buộc mọi nhà sản xuất phải in nhãn, mác hàng hóa với những thông tin nhất định (hướng dẫn sử dụng, thành phần...). </a:t>
            </a:r>
            <a:r>
              <a:rPr lang="vi-VN" sz="2300" dirty="0">
                <a:solidFill>
                  <a:srgbClr val="0000FF"/>
                </a:solidFill>
                <a:latin typeface="Times New Roman" pitchFamily="18" charset="0"/>
                <a:cs typeface="Times New Roman" pitchFamily="18" charset="0"/>
              </a:rPr>
              <a:t>Các </a:t>
            </a:r>
            <a:r>
              <a:rPr lang="pt-BR" sz="2300" dirty="0">
                <a:solidFill>
                  <a:srgbClr val="0000FF"/>
                </a:solidFill>
                <a:latin typeface="Times New Roman" pitchFamily="18" charset="0"/>
                <a:cs typeface="Times New Roman" pitchFamily="18" charset="0"/>
              </a:rPr>
              <a:t>công ty phải công bố các thông tin cơ bản về tình hình kinh doanh và trạng thái tài chính của </a:t>
            </a:r>
            <a:r>
              <a:rPr lang="vi-VN" sz="2300" dirty="0">
                <a:solidFill>
                  <a:srgbClr val="0000FF"/>
                </a:solidFill>
                <a:latin typeface="Times New Roman" pitchFamily="18" charset="0"/>
                <a:cs typeface="Times New Roman" pitchFamily="18" charset="0"/>
              </a:rPr>
              <a:t>mình k</a:t>
            </a:r>
            <a:r>
              <a:rPr lang="pt-BR" sz="2300" dirty="0">
                <a:solidFill>
                  <a:srgbClr val="0000FF"/>
                </a:solidFill>
                <a:latin typeface="Times New Roman" pitchFamily="18" charset="0"/>
                <a:cs typeface="Times New Roman" pitchFamily="18" charset="0"/>
              </a:rPr>
              <a:t>hi tham gia vào việc niêm yết trên thị trường chứng khoán.</a:t>
            </a:r>
            <a:endParaRPr lang="en-US" sz="23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261746660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152400" y="172279"/>
            <a:ext cx="8806548" cy="6553200"/>
          </a:xfrm>
          <a:ln>
            <a:solidFill>
              <a:schemeClr val="tx1"/>
            </a:solidFill>
          </a:ln>
        </p:spPr>
        <p:txBody>
          <a:bodyPr>
            <a:noAutofit/>
          </a:bodyPr>
          <a:lstStyle/>
          <a:p>
            <a:pPr algn="just"/>
            <a:r>
              <a:rPr lang="fr-FR" sz="2300" b="1" i="1" dirty="0">
                <a:solidFill>
                  <a:srgbClr val="0000FF"/>
                </a:solidFill>
                <a:latin typeface="Times New Roman" pitchFamily="18" charset="0"/>
                <a:cs typeface="Times New Roman" pitchFamily="18" charset="0"/>
              </a:rPr>
              <a:t>7.2.3. Can </a:t>
            </a:r>
            <a:r>
              <a:rPr lang="fr-FR" sz="2300" b="1" i="1" dirty="0" err="1">
                <a:solidFill>
                  <a:srgbClr val="0000FF"/>
                </a:solidFill>
                <a:latin typeface="Times New Roman" pitchFamily="18" charset="0"/>
                <a:cs typeface="Times New Roman" pitchFamily="18" charset="0"/>
              </a:rPr>
              <a:t>thiệp</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của</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Chính</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phủ</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đối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với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các</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thất</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bại</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thị</a:t>
            </a:r>
            <a:r>
              <a:rPr lang="fr-FR" sz="2300" b="1" i="1" dirty="0">
                <a:solidFill>
                  <a:srgbClr val="0000FF"/>
                </a:solidFill>
                <a:latin typeface="Times New Roman" pitchFamily="18" charset="0"/>
                <a:cs typeface="Times New Roman" pitchFamily="18" charset="0"/>
              </a:rPr>
              <a:t> </a:t>
            </a:r>
            <a:r>
              <a:rPr lang="fr-FR" sz="2300" b="1" i="1" dirty="0" err="1">
                <a:solidFill>
                  <a:srgbClr val="0000FF"/>
                </a:solidFill>
                <a:latin typeface="Times New Roman" pitchFamily="18" charset="0"/>
                <a:cs typeface="Times New Roman" pitchFamily="18" charset="0"/>
              </a:rPr>
              <a:t>trường</a:t>
            </a:r>
            <a:endParaRPr lang="en-US" sz="2300" b="1" i="1" dirty="0">
              <a:solidFill>
                <a:srgbClr val="0000FF"/>
              </a:solidFill>
              <a:latin typeface="Times New Roman" pitchFamily="18" charset="0"/>
              <a:cs typeface="Times New Roman" pitchFamily="18" charset="0"/>
            </a:endParaRPr>
          </a:p>
          <a:p>
            <a:pPr algn="just"/>
            <a:r>
              <a:rPr lang="pt-BR" sz="2400" b="1" dirty="0">
                <a:solidFill>
                  <a:srgbClr val="0000FF"/>
                </a:solidFill>
                <a:latin typeface="Times New Roman" pitchFamily="18" charset="0"/>
                <a:cs typeface="Times New Roman" pitchFamily="18" charset="0"/>
              </a:rPr>
              <a:t>7.2.3.6. Những mặt rủi ro và thất bại khác (Other risks and failures)</a:t>
            </a:r>
            <a:endParaRPr lang="en-US" sz="2400" b="1" dirty="0">
              <a:solidFill>
                <a:srgbClr val="0000FF"/>
              </a:solidFill>
              <a:latin typeface="Times New Roman" pitchFamily="18" charset="0"/>
              <a:cs typeface="Times New Roman" pitchFamily="18" charset="0"/>
            </a:endParaRPr>
          </a:p>
          <a:p>
            <a:pPr algn="just"/>
            <a:r>
              <a:rPr lang="pt-BR" sz="2400" i="1" dirty="0">
                <a:solidFill>
                  <a:srgbClr val="0000FF"/>
                </a:solidFill>
                <a:latin typeface="Times New Roman" pitchFamily="18" charset="0"/>
                <a:cs typeface="Times New Roman" pitchFamily="18" charset="0"/>
              </a:rPr>
              <a:t>- Thất bại:</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Trong nền kinh tế thị trường, sự điều khiển của bàn tay vô hình cũng dễ dẫn đến sự rối loạn về giá cả, sự phá sản, đóng cửa của nhiều doanh nghiệp. Tình trạng thất nghiệp, lạm phát xảy ra đòi hỏi phải có sự can thiệp của Chính phủ. </a:t>
            </a:r>
            <a:endParaRPr lang="en-US" sz="2400" dirty="0">
              <a:solidFill>
                <a:srgbClr val="0000FF"/>
              </a:solidFill>
              <a:latin typeface="Times New Roman" pitchFamily="18" charset="0"/>
              <a:cs typeface="Times New Roman" pitchFamily="18" charset="0"/>
            </a:endParaRPr>
          </a:p>
          <a:p>
            <a:pPr algn="just"/>
            <a:r>
              <a:rPr lang="pt-BR" sz="2400" dirty="0">
                <a:solidFill>
                  <a:srgbClr val="0000FF"/>
                </a:solidFill>
                <a:latin typeface="Times New Roman" pitchFamily="18" charset="0"/>
                <a:cs typeface="Times New Roman" pitchFamily="18" charset="0"/>
              </a:rPr>
              <a:t>- </a:t>
            </a:r>
            <a:r>
              <a:rPr lang="pt-BR" sz="2400" i="1" dirty="0">
                <a:solidFill>
                  <a:srgbClr val="0000FF"/>
                </a:solidFill>
                <a:latin typeface="Times New Roman" pitchFamily="18" charset="0"/>
                <a:cs typeface="Times New Roman" pitchFamily="18" charset="0"/>
              </a:rPr>
              <a:t>Khắc phục:</a:t>
            </a:r>
            <a:endParaRPr lang="en-US" sz="2400" dirty="0">
              <a:solidFill>
                <a:srgbClr val="0000FF"/>
              </a:solidFill>
              <a:latin typeface="Times New Roman" pitchFamily="18" charset="0"/>
              <a:cs typeface="Times New Roman" pitchFamily="18" charset="0"/>
            </a:endParaRPr>
          </a:p>
          <a:p>
            <a:pPr algn="just"/>
            <a:r>
              <a:rPr lang="en-US" sz="2400" dirty="0" err="1">
                <a:solidFill>
                  <a:srgbClr val="0000FF"/>
                </a:solidFill>
                <a:latin typeface="Times New Roman" pitchFamily="18" charset="0"/>
                <a:cs typeface="Times New Roman" pitchFamily="18" charset="0"/>
              </a:rPr>
              <a:t>Chính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phủ</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sẽ</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dùng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quyền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mình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để</a:t>
            </a:r>
            <a:r>
              <a:rPr lang="en-US" sz="2400" dirty="0">
                <a:solidFill>
                  <a:srgbClr val="0000FF"/>
                </a:solidFill>
                <a:latin typeface="Times New Roman" pitchFamily="18" charset="0"/>
                <a:cs typeface="Times New Roman" pitchFamily="18" charset="0"/>
              </a:rPr>
              <a:t> can </a:t>
            </a:r>
            <a:r>
              <a:rPr lang="en-US" sz="2400" dirty="0" err="1">
                <a:solidFill>
                  <a:srgbClr val="0000FF"/>
                </a:solidFill>
                <a:latin typeface="Times New Roman" pitchFamily="18" charset="0"/>
                <a:cs typeface="Times New Roman" pitchFamily="18" charset="0"/>
              </a:rPr>
              <a:t>thiệp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trong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hợp</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bại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của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Tuy nhiên, k</a:t>
            </a:r>
            <a:r>
              <a:rPr lang="pt-BR" sz="2400" dirty="0">
                <a:solidFill>
                  <a:srgbClr val="0000FF"/>
                </a:solidFill>
                <a:latin typeface="Times New Roman" pitchFamily="18" charset="0"/>
                <a:cs typeface="Times New Roman" pitchFamily="18" charset="0"/>
              </a:rPr>
              <a:t>hông phải trong mọi trường hợp Chính phủ đều có khả năng </a:t>
            </a:r>
            <a:r>
              <a:rPr lang="vi-VN" sz="2400" dirty="0">
                <a:solidFill>
                  <a:srgbClr val="0000FF"/>
                </a:solidFill>
                <a:latin typeface="Times New Roman" pitchFamily="18" charset="0"/>
                <a:cs typeface="Times New Roman" pitchFamily="18" charset="0"/>
              </a:rPr>
              <a:t>khắc phục</a:t>
            </a:r>
            <a:r>
              <a:rPr lang="pt-BR" sz="2400" dirty="0">
                <a:solidFill>
                  <a:srgbClr val="0000FF"/>
                </a:solidFill>
                <a:latin typeface="Times New Roman" pitchFamily="18" charset="0"/>
                <a:cs typeface="Times New Roman" pitchFamily="18" charset="0"/>
              </a:rPr>
              <a:t> thành công các thất bại thị trường. </a:t>
            </a:r>
            <a:r>
              <a:rPr lang="en-US" sz="2400" dirty="0" err="1">
                <a:solidFill>
                  <a:srgbClr val="0000FF"/>
                </a:solidFill>
                <a:latin typeface="Times New Roman" pitchFamily="18" charset="0"/>
                <a:cs typeface="Times New Roman" pitchFamily="18" charset="0"/>
              </a:rPr>
              <a:t>Hơn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bất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cứ</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quyết</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nào</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tác động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vào</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lực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lượng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thị</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trường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cung</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và</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cầu</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cũng </a:t>
            </a:r>
            <a:r>
              <a:rPr lang="en-US" sz="2400" dirty="0" err="1">
                <a:solidFill>
                  <a:srgbClr val="0000FF"/>
                </a:solidFill>
                <a:latin typeface="Times New Roman" pitchFamily="18" charset="0"/>
                <a:cs typeface="Times New Roman" pitchFamily="18" charset="0"/>
              </a:rPr>
              <a:t>đều</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phải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được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cân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nhắc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cẩn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thận</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giữa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lợi</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ích</a:t>
            </a:r>
            <a:r>
              <a:rPr lang="en-US" sz="2400" dirty="0">
                <a:solidFill>
                  <a:srgbClr val="0000FF"/>
                </a:solidFill>
                <a:latin typeface="Times New Roman" pitchFamily="18" charset="0"/>
                <a:cs typeface="Times New Roman" pitchFamily="18" charset="0"/>
              </a:rPr>
              <a:t> </a:t>
            </a:r>
            <a:r>
              <a:rPr lang="vi-VN" sz="2400" dirty="0">
                <a:solidFill>
                  <a:srgbClr val="0000FF"/>
                </a:solidFill>
                <a:latin typeface="Times New Roman" pitchFamily="18" charset="0"/>
                <a:cs typeface="Times New Roman" pitchFamily="18" charset="0"/>
              </a:rPr>
              <a:t>với tổn thất</a:t>
            </a:r>
            <a:r>
              <a:rPr lang="en-US" sz="2400" dirty="0">
                <a:solidFill>
                  <a:srgbClr val="0000FF"/>
                </a:solidFill>
                <a:latin typeface="Times New Roman" pitchFamily="18" charset="0"/>
                <a:cs typeface="Times New Roman" pitchFamily="18" charset="0"/>
              </a:rPr>
              <a:t> do </a:t>
            </a:r>
            <a:r>
              <a:rPr lang="en-US" sz="2400" dirty="0" err="1">
                <a:solidFill>
                  <a:srgbClr val="0000FF"/>
                </a:solidFill>
                <a:latin typeface="Times New Roman" pitchFamily="18" charset="0"/>
                <a:cs typeface="Times New Roman" pitchFamily="18" charset="0"/>
              </a:rPr>
              <a:t>các</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quy</a:t>
            </a:r>
            <a:r>
              <a:rPr lang="vi-VN" sz="2400" dirty="0">
                <a:solidFill>
                  <a:srgbClr val="0000FF"/>
                </a:solidFill>
                <a:latin typeface="Times New Roman" pitchFamily="18" charset="0"/>
                <a:cs typeface="Times New Roman" pitchFamily="18" charset="0"/>
              </a:rPr>
              <a:t>ết </a:t>
            </a:r>
            <a:r>
              <a:rPr lang="en-US" sz="2400" dirty="0" err="1">
                <a:solidFill>
                  <a:srgbClr val="0000FF"/>
                </a:solidFill>
                <a:latin typeface="Times New Roman" pitchFamily="18" charset="0"/>
                <a:cs typeface="Times New Roman" pitchFamily="18" charset="0"/>
              </a:rPr>
              <a:t>định</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đó</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đưa</a:t>
            </a:r>
            <a:r>
              <a:rPr lang="en-US" sz="2400" dirty="0">
                <a:solidFill>
                  <a:srgbClr val="0000FF"/>
                </a:solidFill>
                <a:latin typeface="Times New Roman" pitchFamily="18" charset="0"/>
                <a:cs typeface="Times New Roman" pitchFamily="18" charset="0"/>
              </a:rPr>
              <a:t> </a:t>
            </a:r>
            <a:r>
              <a:rPr lang="en-US" sz="2400" dirty="0" err="1">
                <a:solidFill>
                  <a:srgbClr val="0000FF"/>
                </a:solidFill>
                <a:latin typeface="Times New Roman" pitchFamily="18" charset="0"/>
                <a:cs typeface="Times New Roman" pitchFamily="18" charset="0"/>
              </a:rPr>
              <a:t>ra</a:t>
            </a:r>
            <a:r>
              <a:rPr lang="vi-VN" sz="2400" dirty="0">
                <a:solidFill>
                  <a:srgbClr val="0000FF"/>
                </a:solidFill>
                <a:latin typeface="Times New Roman" pitchFamily="18" charset="0"/>
                <a:cs typeface="Times New Roman" pitchFamily="18" charset="0"/>
              </a:rPr>
              <a:t>.</a:t>
            </a:r>
            <a:endParaRPr lang="en-US"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1697642939"/>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400" b="1" i="1" dirty="0">
                <a:solidFill>
                  <a:srgbClr val="0000FF"/>
                </a:solidFill>
                <a:latin typeface="Times New Roman" pitchFamily="18" charset="0"/>
                <a:cs typeface="Times New Roman" pitchFamily="18" charset="0"/>
              </a:rPr>
              <a:t>Câu hỏi tiểu luận</a:t>
            </a:r>
          </a:p>
          <a:p>
            <a:pPr algn="just"/>
            <a:r>
              <a:rPr lang="vi-VN" sz="2400" b="1" dirty="0">
                <a:solidFill>
                  <a:schemeClr val="tx1"/>
                </a:solidFill>
                <a:latin typeface="Times New Roman" pitchFamily="18" charset="0"/>
                <a:cs typeface="Times New Roman" pitchFamily="18" charset="0"/>
              </a:rPr>
              <a:t>Câu 1/ </a:t>
            </a:r>
            <a:r>
              <a:rPr lang="vi-VN" sz="2200" b="1" dirty="0">
                <a:solidFill>
                  <a:schemeClr val="tx1"/>
                </a:solidFill>
                <a:latin typeface="+mj-lt"/>
              </a:rPr>
              <a:t>Ba vấn đề kinh tế cơ bản mà mọi nền kinh tế đều phải đối mặt là gì? Giải thích tầm quan trọng của việc giải quyết các vấn đề này trong quá trình phát triển kinh tế.</a:t>
            </a:r>
            <a:endParaRPr lang="vi-VN" sz="2200" dirty="0">
              <a:solidFill>
                <a:schemeClr val="tx1"/>
              </a:solidFill>
              <a:latin typeface="+mj-lt"/>
            </a:endParaRPr>
          </a:p>
          <a:p>
            <a:pPr algn="just"/>
            <a:r>
              <a:rPr lang="vi-VN" sz="2200" b="1" dirty="0">
                <a:solidFill>
                  <a:schemeClr val="tx1"/>
                </a:solidFill>
                <a:latin typeface="+mj-lt"/>
              </a:rPr>
              <a:t>Gợi ý đáp án:</a:t>
            </a:r>
          </a:p>
          <a:p>
            <a:pPr algn="just"/>
            <a:r>
              <a:rPr lang="vi-VN" sz="2200" dirty="0">
                <a:solidFill>
                  <a:schemeClr val="tx1"/>
                </a:solidFill>
                <a:latin typeface="+mj-lt"/>
              </a:rPr>
              <a:t>Ba vấn đề kinh tế cơ bản gồm:</a:t>
            </a:r>
          </a:p>
          <a:p>
            <a:pPr algn="just">
              <a:buFont typeface="+mj-lt"/>
              <a:buAutoNum type="arabicPeriod"/>
            </a:pPr>
            <a:r>
              <a:rPr lang="vi-VN" sz="2200" b="1" dirty="0">
                <a:solidFill>
                  <a:schemeClr val="tx1"/>
                </a:solidFill>
                <a:latin typeface="+mj-lt"/>
              </a:rPr>
              <a:t>Sản xuất cái gì?</a:t>
            </a:r>
            <a:r>
              <a:rPr lang="vi-VN" sz="2200" dirty="0">
                <a:solidFill>
                  <a:schemeClr val="tx1"/>
                </a:solidFill>
                <a:latin typeface="+mj-lt"/>
              </a:rPr>
              <a:t> (</a:t>
            </a:r>
            <a:r>
              <a:rPr lang="vi-VN" sz="2200" dirty="0" err="1">
                <a:solidFill>
                  <a:schemeClr val="tx1"/>
                </a:solidFill>
                <a:latin typeface="+mj-lt"/>
              </a:rPr>
              <a:t>What</a:t>
            </a:r>
            <a:r>
              <a:rPr lang="vi-VN" sz="2200" dirty="0">
                <a:solidFill>
                  <a:schemeClr val="tx1"/>
                </a:solidFill>
                <a:latin typeface="+mj-lt"/>
              </a:rPr>
              <a:t> to </a:t>
            </a:r>
            <a:r>
              <a:rPr lang="vi-VN" sz="2200" dirty="0" err="1">
                <a:solidFill>
                  <a:schemeClr val="tx1"/>
                </a:solidFill>
                <a:latin typeface="+mj-lt"/>
              </a:rPr>
              <a:t>produce</a:t>
            </a:r>
            <a:r>
              <a:rPr lang="vi-VN" sz="2200" dirty="0">
                <a:solidFill>
                  <a:schemeClr val="tx1"/>
                </a:solidFill>
                <a:latin typeface="+mj-lt"/>
              </a:rPr>
              <a:t>?): Xác định sản phẩm và dịch vụ mà nền kinh tế sẽ sản xuất dựa trên nhu cầu, tài nguyên có sẵn và ưu tiên của xã hội.</a:t>
            </a:r>
          </a:p>
          <a:p>
            <a:pPr algn="just">
              <a:buFont typeface="+mj-lt"/>
              <a:buAutoNum type="arabicPeriod"/>
            </a:pPr>
            <a:r>
              <a:rPr lang="vi-VN" sz="2200" b="1" dirty="0">
                <a:solidFill>
                  <a:schemeClr val="tx1"/>
                </a:solidFill>
                <a:latin typeface="+mj-lt"/>
              </a:rPr>
              <a:t>Sản xuất như thế nào?</a:t>
            </a:r>
            <a:r>
              <a:rPr lang="vi-VN" sz="2200" dirty="0">
                <a:solidFill>
                  <a:schemeClr val="tx1"/>
                </a:solidFill>
                <a:latin typeface="+mj-lt"/>
              </a:rPr>
              <a:t> (</a:t>
            </a:r>
            <a:r>
              <a:rPr lang="vi-VN" sz="2200" dirty="0" err="1">
                <a:solidFill>
                  <a:schemeClr val="tx1"/>
                </a:solidFill>
                <a:latin typeface="+mj-lt"/>
              </a:rPr>
              <a:t>How</a:t>
            </a:r>
            <a:r>
              <a:rPr lang="vi-VN" sz="2200" dirty="0">
                <a:solidFill>
                  <a:schemeClr val="tx1"/>
                </a:solidFill>
                <a:latin typeface="+mj-lt"/>
              </a:rPr>
              <a:t> to </a:t>
            </a:r>
            <a:r>
              <a:rPr lang="vi-VN" sz="2200" dirty="0" err="1">
                <a:solidFill>
                  <a:schemeClr val="tx1"/>
                </a:solidFill>
                <a:latin typeface="+mj-lt"/>
              </a:rPr>
              <a:t>produce</a:t>
            </a:r>
            <a:r>
              <a:rPr lang="vi-VN" sz="2200" dirty="0">
                <a:solidFill>
                  <a:schemeClr val="tx1"/>
                </a:solidFill>
                <a:latin typeface="+mj-lt"/>
              </a:rPr>
              <a:t>?): Quyết định phương pháp sản xuất và cách thức sử dụng các nguồn lực (lao động, công nghệ, vốn) để tối ưu </a:t>
            </a:r>
            <a:r>
              <a:rPr lang="vi-VN" sz="2200" dirty="0" err="1">
                <a:solidFill>
                  <a:schemeClr val="tx1"/>
                </a:solidFill>
                <a:latin typeface="+mj-lt"/>
              </a:rPr>
              <a:t>hoá</a:t>
            </a:r>
            <a:r>
              <a:rPr lang="vi-VN" sz="2200" dirty="0">
                <a:solidFill>
                  <a:schemeClr val="tx1"/>
                </a:solidFill>
                <a:latin typeface="+mj-lt"/>
              </a:rPr>
              <a:t> sản xuất.</a:t>
            </a:r>
          </a:p>
          <a:p>
            <a:pPr algn="just">
              <a:buFont typeface="+mj-lt"/>
              <a:buAutoNum type="arabicPeriod"/>
            </a:pPr>
            <a:r>
              <a:rPr lang="vi-VN" sz="2200" b="1" dirty="0">
                <a:solidFill>
                  <a:schemeClr val="tx1"/>
                </a:solidFill>
                <a:latin typeface="+mj-lt"/>
              </a:rPr>
              <a:t>Sản xuất cho ai?</a:t>
            </a:r>
            <a:r>
              <a:rPr lang="vi-VN" sz="2200" dirty="0">
                <a:solidFill>
                  <a:schemeClr val="tx1"/>
                </a:solidFill>
                <a:latin typeface="+mj-lt"/>
              </a:rPr>
              <a:t> (</a:t>
            </a:r>
            <a:r>
              <a:rPr lang="vi-VN" sz="2200" dirty="0" err="1">
                <a:solidFill>
                  <a:schemeClr val="tx1"/>
                </a:solidFill>
                <a:latin typeface="+mj-lt"/>
              </a:rPr>
              <a:t>For</a:t>
            </a:r>
            <a:r>
              <a:rPr lang="vi-VN" sz="2200" dirty="0">
                <a:solidFill>
                  <a:schemeClr val="tx1"/>
                </a:solidFill>
                <a:latin typeface="+mj-lt"/>
              </a:rPr>
              <a:t> </a:t>
            </a:r>
            <a:r>
              <a:rPr lang="vi-VN" sz="2200" dirty="0" err="1">
                <a:solidFill>
                  <a:schemeClr val="tx1"/>
                </a:solidFill>
                <a:latin typeface="+mj-lt"/>
              </a:rPr>
              <a:t>whom</a:t>
            </a:r>
            <a:r>
              <a:rPr lang="vi-VN" sz="2200" dirty="0">
                <a:solidFill>
                  <a:schemeClr val="tx1"/>
                </a:solidFill>
                <a:latin typeface="+mj-lt"/>
              </a:rPr>
              <a:t> to </a:t>
            </a:r>
            <a:r>
              <a:rPr lang="vi-VN" sz="2200" dirty="0" err="1">
                <a:solidFill>
                  <a:schemeClr val="tx1"/>
                </a:solidFill>
                <a:latin typeface="+mj-lt"/>
              </a:rPr>
              <a:t>produce</a:t>
            </a:r>
            <a:r>
              <a:rPr lang="vi-VN" sz="2200" dirty="0">
                <a:solidFill>
                  <a:schemeClr val="tx1"/>
                </a:solidFill>
                <a:latin typeface="+mj-lt"/>
              </a:rPr>
              <a:t>?): Xác định nhóm người hoặc tầng lớp nào sẽ được hưởng lợi từ các sản phẩm, dịch vụ này, dựa trên khả năng chi trả, thu nhập, và phân phối của cải.</a:t>
            </a:r>
          </a:p>
          <a:p>
            <a:pPr algn="just"/>
            <a:r>
              <a:rPr lang="vi-VN" sz="2200" dirty="0">
                <a:solidFill>
                  <a:schemeClr val="tx1"/>
                </a:solidFill>
                <a:latin typeface="+mj-lt"/>
              </a:rPr>
              <a:t>Giải quyết tốt ba vấn đề này giúp tối ưu hóa việc sử dụng tài nguyên khan hiếm, cải thiện phúc lợi xã hội, và thúc đẩy tăng trưởng kinh tế bền vững.</a:t>
            </a:r>
          </a:p>
          <a:p>
            <a:pPr algn="just"/>
            <a:endParaRPr lang="vi-VN"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59106406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400" b="1" i="1" dirty="0">
                <a:solidFill>
                  <a:srgbClr val="0000FF"/>
                </a:solidFill>
                <a:latin typeface="Times New Roman" pitchFamily="18" charset="0"/>
                <a:cs typeface="Times New Roman" pitchFamily="18" charset="0"/>
              </a:rPr>
              <a:t>Câu hỏi tiểu luận</a:t>
            </a:r>
          </a:p>
          <a:p>
            <a:pPr algn="just"/>
            <a:r>
              <a:rPr lang="vi-VN" sz="2200" b="1" dirty="0">
                <a:solidFill>
                  <a:schemeClr val="tx1"/>
                </a:solidFill>
                <a:latin typeface="+mj-lt"/>
                <a:cs typeface="Times New Roman" pitchFamily="18" charset="0"/>
              </a:rPr>
              <a:t>Câu 2/ </a:t>
            </a:r>
            <a:r>
              <a:rPr lang="vi-VN" sz="2200" b="1" dirty="0">
                <a:solidFill>
                  <a:schemeClr val="tx1"/>
                </a:solidFill>
                <a:latin typeface="+mj-lt"/>
              </a:rPr>
              <a:t>Lựa chọn kinh tế tối ưu là gì? Hãy phân tích tầm quan trọng của nguyên tắc chi phí cơ hội trong việc đưa ra quyết định kinh tế tối ưu.</a:t>
            </a:r>
            <a:endParaRPr lang="vi-VN" sz="2200" dirty="0">
              <a:solidFill>
                <a:schemeClr val="tx1"/>
              </a:solidFill>
              <a:latin typeface="+mj-lt"/>
            </a:endParaRPr>
          </a:p>
          <a:p>
            <a:pPr algn="just"/>
            <a:r>
              <a:rPr lang="vi-VN" sz="2200" b="1" dirty="0">
                <a:solidFill>
                  <a:schemeClr val="tx1"/>
                </a:solidFill>
                <a:latin typeface="+mj-lt"/>
              </a:rPr>
              <a:t>Gợi ý đáp án:</a:t>
            </a:r>
          </a:p>
          <a:p>
            <a:pPr algn="just"/>
            <a:r>
              <a:rPr lang="vi-VN" sz="2200" dirty="0">
                <a:solidFill>
                  <a:schemeClr val="tx1"/>
                </a:solidFill>
                <a:latin typeface="+mj-lt"/>
              </a:rPr>
              <a:t>Lựa chọn kinh tế tối ưu là lựa chọn mang lại lợi ích lớn nhất cho xã hội, đảm bảo sự cân bằng giữa nhu cầu và nguồn lực khan hiếm.</a:t>
            </a:r>
          </a:p>
          <a:p>
            <a:pPr algn="just"/>
            <a:r>
              <a:rPr lang="vi-VN" sz="2200" dirty="0">
                <a:solidFill>
                  <a:schemeClr val="tx1"/>
                </a:solidFill>
                <a:latin typeface="+mj-lt"/>
              </a:rPr>
              <a:t>Nguyên tắc </a:t>
            </a:r>
            <a:r>
              <a:rPr lang="vi-VN" sz="2200" b="1" dirty="0">
                <a:solidFill>
                  <a:schemeClr val="tx1"/>
                </a:solidFill>
                <a:latin typeface="+mj-lt"/>
              </a:rPr>
              <a:t>chi phí cơ hội</a:t>
            </a:r>
            <a:r>
              <a:rPr lang="vi-VN" sz="2200" dirty="0">
                <a:solidFill>
                  <a:schemeClr val="tx1"/>
                </a:solidFill>
                <a:latin typeface="+mj-lt"/>
              </a:rPr>
              <a:t> đóng vai trò quan trọng trong việc ra quyết định này, bởi nó đề cập đến giá trị của cơ hội tốt nhất bị bỏ lỡ khi lựa chọn một phương án nào đó.</a:t>
            </a:r>
          </a:p>
          <a:p>
            <a:pPr algn="just"/>
            <a:r>
              <a:rPr lang="vi-VN" sz="2200" dirty="0">
                <a:solidFill>
                  <a:schemeClr val="tx1"/>
                </a:solidFill>
                <a:latin typeface="+mj-lt"/>
              </a:rPr>
              <a:t>Việc hiểu rõ chi phí cơ hội giúp các cá nhân và tổ chức đưa ra quyết định thông minh hơn, giảm thiểu lãng phí tài nguyên và tối đa hóa lợi ích.</a:t>
            </a:r>
          </a:p>
          <a:p>
            <a:pPr algn="just"/>
            <a:endParaRPr lang="vi-VN" sz="2400" dirty="0">
              <a:solidFill>
                <a:srgbClr val="0000FF"/>
              </a:solidFill>
              <a:latin typeface="Times New Roman" pitchFamily="18" charset="0"/>
              <a:cs typeface="Times New Roman" pitchFamily="18" charset="0"/>
            </a:endParaRPr>
          </a:p>
        </p:txBody>
      </p:sp>
    </p:spTree>
    <p:extLst>
      <p:ext uri="{BB962C8B-B14F-4D97-AF65-F5344CB8AC3E}">
        <p14:creationId xmlns:p14="http://schemas.microsoft.com/office/powerpoint/2010/main" val="3188518087"/>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400" b="1" i="1" dirty="0">
                <a:solidFill>
                  <a:srgbClr val="0000FF"/>
                </a:solidFill>
                <a:latin typeface="Times New Roman" pitchFamily="18" charset="0"/>
                <a:cs typeface="Times New Roman" pitchFamily="18" charset="0"/>
              </a:rPr>
              <a:t>Câu hỏi tiểu luận</a:t>
            </a:r>
          </a:p>
          <a:p>
            <a:pPr algn="just"/>
            <a:r>
              <a:rPr lang="vi-VN" sz="2200" b="1" dirty="0">
                <a:solidFill>
                  <a:srgbClr val="FF0000"/>
                </a:solidFill>
                <a:latin typeface="+mj-lt"/>
                <a:cs typeface="Times New Roman" pitchFamily="18" charset="0"/>
              </a:rPr>
              <a:t>Câu 1/ Phân tích các yếu tố tác động đến cầu và cung của một sản phẩm/hàng hóa cụ thể trên thị trường.</a:t>
            </a:r>
          </a:p>
          <a:p>
            <a:pPr algn="just"/>
            <a:r>
              <a:rPr lang="vi-VN" sz="2200" b="1" dirty="0">
                <a:solidFill>
                  <a:schemeClr val="tx1"/>
                </a:solidFill>
                <a:latin typeface="+mj-lt"/>
              </a:rPr>
              <a:t>Gợi ý đáp án:</a:t>
            </a:r>
          </a:p>
          <a:p>
            <a:pPr algn="just"/>
            <a:r>
              <a:rPr lang="vi-VN" sz="2400" dirty="0">
                <a:solidFill>
                  <a:schemeClr val="tx1"/>
                </a:solidFill>
                <a:latin typeface="+mj-lt"/>
              </a:rPr>
              <a:t>Chọn một sản phẩm/hàng hóa, thường liên quan đến tiêu dùng.</a:t>
            </a:r>
          </a:p>
          <a:p>
            <a:pPr algn="just"/>
            <a:r>
              <a:rPr lang="vi-VN" sz="2400" dirty="0">
                <a:solidFill>
                  <a:schemeClr val="tx1"/>
                </a:solidFill>
                <a:latin typeface="+mj-lt"/>
              </a:rPr>
              <a:t>Các yếu tố ảnh hưởng đến cầu bao gồm: giá của chính hàng hóa đó, thu nhập của người tiêu dùng, giá của hàng hóa liên quan, sở thích của người tiêu dùng, quy mô của thị trường, các kỳ vọng, các yếu tố khách quan khác (thiên tai, dịch bệnh…)</a:t>
            </a:r>
          </a:p>
          <a:p>
            <a:pPr algn="just"/>
            <a:r>
              <a:rPr lang="vi-VN" sz="2400" dirty="0">
                <a:solidFill>
                  <a:schemeClr val="tx1"/>
                </a:solidFill>
                <a:latin typeface="+mj-lt"/>
              </a:rPr>
              <a:t>Các yếu tố ảnh hưởng đến cung bao gồm: giá của chính hàng hóa đó, giá của các yếu tố đầu vào, công nghệ sản xuất, thuế và trợ cấp của chính phủ, kỳ vọng về giá cả, số lượng nhà cung cấp…</a:t>
            </a:r>
            <a:endParaRPr lang="vi-VN" sz="2400" dirty="0">
              <a:solidFill>
                <a:schemeClr val="tx1"/>
              </a:solidFill>
              <a:latin typeface="+mj-lt"/>
              <a:cs typeface="Times New Roman" pitchFamily="18" charset="0"/>
            </a:endParaRPr>
          </a:p>
        </p:txBody>
      </p:sp>
    </p:spTree>
    <p:extLst>
      <p:ext uri="{BB962C8B-B14F-4D97-AF65-F5344CB8AC3E}">
        <p14:creationId xmlns:p14="http://schemas.microsoft.com/office/powerpoint/2010/main" val="225871983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400" b="1" i="1" dirty="0">
                <a:solidFill>
                  <a:srgbClr val="0000FF"/>
                </a:solidFill>
                <a:latin typeface="Times New Roman" pitchFamily="18" charset="0"/>
                <a:cs typeface="Times New Roman" pitchFamily="18" charset="0"/>
              </a:rPr>
              <a:t>Câu hỏi tiểu luận</a:t>
            </a:r>
          </a:p>
          <a:p>
            <a:pPr algn="just"/>
            <a:r>
              <a:rPr lang="vi-VN" sz="2200" b="1" dirty="0">
                <a:solidFill>
                  <a:schemeClr val="tx1"/>
                </a:solidFill>
                <a:latin typeface="+mj-lt"/>
                <a:cs typeface="Times New Roman" pitchFamily="18" charset="0"/>
              </a:rPr>
              <a:t>Câu 4/ </a:t>
            </a:r>
            <a:r>
              <a:rPr lang="vi-VN" sz="2200" b="1" dirty="0">
                <a:solidFill>
                  <a:schemeClr val="tx1"/>
                </a:solidFill>
                <a:latin typeface="+mj-lt"/>
              </a:rPr>
              <a:t>Nguyên tắc lợi ích cận biên giảm dần là gì? Giải thích cách nguyên tắc này ảnh hưởng đến quyết định mua hàng của người tiêu dùng.</a:t>
            </a:r>
            <a:endParaRPr lang="vi-VN" sz="2200" dirty="0">
              <a:solidFill>
                <a:schemeClr val="tx1"/>
              </a:solidFill>
              <a:latin typeface="+mj-lt"/>
            </a:endParaRPr>
          </a:p>
          <a:p>
            <a:pPr algn="just"/>
            <a:r>
              <a:rPr lang="vi-VN" sz="2200" b="1" dirty="0">
                <a:solidFill>
                  <a:schemeClr val="tx1"/>
                </a:solidFill>
                <a:latin typeface="+mj-lt"/>
              </a:rPr>
              <a:t>Gợi ý đáp án:</a:t>
            </a:r>
          </a:p>
          <a:p>
            <a:pPr algn="just"/>
            <a:r>
              <a:rPr lang="vi-VN" sz="2200" dirty="0">
                <a:solidFill>
                  <a:schemeClr val="tx1"/>
                </a:solidFill>
                <a:latin typeface="+mj-lt"/>
              </a:rPr>
              <a:t>Nguyên tắc </a:t>
            </a:r>
            <a:r>
              <a:rPr lang="vi-VN" sz="2200" b="1" dirty="0">
                <a:solidFill>
                  <a:schemeClr val="tx1"/>
                </a:solidFill>
                <a:latin typeface="+mj-lt"/>
              </a:rPr>
              <a:t>lợi ích cận biên giảm dần</a:t>
            </a:r>
            <a:r>
              <a:rPr lang="vi-VN" sz="2200" dirty="0">
                <a:solidFill>
                  <a:schemeClr val="tx1"/>
                </a:solidFill>
                <a:latin typeface="+mj-lt"/>
              </a:rPr>
              <a:t> cho rằng khi người tiêu dùng tiêu thụ nhiều hơn một đơn vị của một hàng hóa hoặc dịch vụ, lợi ích (hài lòng) mà họ nhận được từ mỗi đơn vị bổ sung sẽ giảm dần.</a:t>
            </a:r>
          </a:p>
          <a:p>
            <a:pPr algn="just"/>
            <a:r>
              <a:rPr lang="vi-VN" sz="2200" dirty="0">
                <a:solidFill>
                  <a:schemeClr val="tx1"/>
                </a:solidFill>
                <a:latin typeface="+mj-lt"/>
              </a:rPr>
              <a:t>Ví dụ, nếu bạn đang uống một ly nước sau khi khát, ly đầu tiên sẽ mang lại lợi ích lớn nhất. Tuy nhiên, khi uống thêm ly thứ hai, thứ ba, lợi ích bạn nhận được sẽ giảm dần.</a:t>
            </a:r>
          </a:p>
          <a:p>
            <a:pPr algn="just"/>
            <a:r>
              <a:rPr lang="vi-VN" sz="2200" dirty="0">
                <a:solidFill>
                  <a:schemeClr val="tx1"/>
                </a:solidFill>
                <a:latin typeface="+mj-lt"/>
              </a:rPr>
              <a:t>Nguyên tắc này ảnh hưởng đến </a:t>
            </a:r>
            <a:r>
              <a:rPr lang="vi-VN" sz="2200" b="1" dirty="0">
                <a:solidFill>
                  <a:schemeClr val="tx1"/>
                </a:solidFill>
                <a:latin typeface="+mj-lt"/>
              </a:rPr>
              <a:t>quyết định mua hàng</a:t>
            </a:r>
            <a:r>
              <a:rPr lang="vi-VN" sz="2200" dirty="0">
                <a:solidFill>
                  <a:schemeClr val="tx1"/>
                </a:solidFill>
                <a:latin typeface="+mj-lt"/>
              </a:rPr>
              <a:t> bởi người tiêu dùng sẽ chỉ mua hàng đến khi lợi ích cận biên của hàng hóa bằng với giá phải trả. Nếu lợi ích cận biên thấp hơn giá, người tiêu dùng sẽ dừng mua.</a:t>
            </a:r>
          </a:p>
        </p:txBody>
      </p:sp>
    </p:spTree>
    <p:extLst>
      <p:ext uri="{BB962C8B-B14F-4D97-AF65-F5344CB8AC3E}">
        <p14:creationId xmlns:p14="http://schemas.microsoft.com/office/powerpoint/2010/main" val="353353386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pPr algn="just"/>
            <a:r>
              <a:rPr lang="vi-VN" sz="2200" b="1" dirty="0">
                <a:solidFill>
                  <a:srgbClr val="FF0000"/>
                </a:solidFill>
                <a:latin typeface="+mj-lt"/>
                <a:cs typeface="Times New Roman" pitchFamily="18" charset="0"/>
              </a:rPr>
              <a:t>Câu 2/ </a:t>
            </a:r>
            <a:r>
              <a:rPr lang="vi-VN" sz="2000" b="1" dirty="0">
                <a:solidFill>
                  <a:srgbClr val="FF0000"/>
                </a:solidFill>
                <a:latin typeface="+mj-lt"/>
              </a:rPr>
              <a:t>Cạnh tranh hoàn hảo là gì? Điều kiện nào cần thiết để một thị trường được coi là cạnh tranh hoàn hảo và tại sao trong thị trường này, doanh nghiệp không thể quyết định giá? </a:t>
            </a:r>
            <a:r>
              <a:rPr lang="vi-VN" sz="2000" b="1">
                <a:solidFill>
                  <a:srgbClr val="FF0000"/>
                </a:solidFill>
                <a:latin typeface="+mj-lt"/>
              </a:rPr>
              <a:t>Cho ví dụ minh họa.</a:t>
            </a:r>
            <a:endParaRPr lang="vi-VN" sz="2000" dirty="0">
              <a:solidFill>
                <a:srgbClr val="FF0000"/>
              </a:solidFill>
              <a:latin typeface="+mj-lt"/>
            </a:endParaRPr>
          </a:p>
          <a:p>
            <a:pPr algn="just"/>
            <a:r>
              <a:rPr lang="vi-VN" sz="2000" b="1" dirty="0">
                <a:solidFill>
                  <a:schemeClr val="tx1"/>
                </a:solidFill>
                <a:latin typeface="+mj-lt"/>
              </a:rPr>
              <a:t>Gợi ý đáp án:</a:t>
            </a:r>
          </a:p>
          <a:p>
            <a:pPr algn="just"/>
            <a:r>
              <a:rPr lang="vi-VN" sz="2000" dirty="0">
                <a:solidFill>
                  <a:schemeClr val="tx1"/>
                </a:solidFill>
                <a:latin typeface="+mj-lt"/>
              </a:rPr>
              <a:t>Cạnh tranh hoàn hảo là một cấu trúc thị trường trong đó có nhiều người bán và người mua, và không ai có đủ sức mạnh để ảnh hưởng đến giá cả thị trường. Các điều kiện cần thiết để một thị trường được coi là cạnh tranh hoàn hảo:</a:t>
            </a:r>
          </a:p>
          <a:p>
            <a:pPr algn="just">
              <a:buFont typeface="+mj-lt"/>
              <a:buAutoNum type="arabicPeriod"/>
            </a:pPr>
            <a:r>
              <a:rPr lang="vi-VN" sz="2000" b="1" dirty="0">
                <a:solidFill>
                  <a:schemeClr val="tx1"/>
                </a:solidFill>
                <a:latin typeface="+mj-lt"/>
              </a:rPr>
              <a:t>Số lượng lớn người bán và người mua</a:t>
            </a:r>
            <a:r>
              <a:rPr lang="vi-VN" sz="2000" dirty="0">
                <a:solidFill>
                  <a:schemeClr val="tx1"/>
                </a:solidFill>
                <a:latin typeface="+mj-lt"/>
              </a:rPr>
              <a:t>: Không cá nhân hoặc doanh nghiệp nào có quyền kiểm soát giá cả.</a:t>
            </a:r>
          </a:p>
          <a:p>
            <a:pPr algn="just">
              <a:buFont typeface="+mj-lt"/>
              <a:buAutoNum type="arabicPeriod"/>
            </a:pPr>
            <a:r>
              <a:rPr lang="vi-VN" sz="2000" b="1" dirty="0">
                <a:solidFill>
                  <a:schemeClr val="tx1"/>
                </a:solidFill>
                <a:latin typeface="+mj-lt"/>
              </a:rPr>
              <a:t>Hàng hóa đồng nhất</a:t>
            </a:r>
            <a:r>
              <a:rPr lang="vi-VN" sz="2000" dirty="0">
                <a:solidFill>
                  <a:schemeClr val="tx1"/>
                </a:solidFill>
                <a:latin typeface="+mj-lt"/>
              </a:rPr>
              <a:t>: Các sản phẩm trên thị trường là hoàn toàn giống nhau, không có sự khác biệt.</a:t>
            </a:r>
          </a:p>
          <a:p>
            <a:pPr algn="just">
              <a:buFont typeface="+mj-lt"/>
              <a:buAutoNum type="arabicPeriod"/>
            </a:pPr>
            <a:r>
              <a:rPr lang="vi-VN" sz="2000" b="1" dirty="0">
                <a:solidFill>
                  <a:schemeClr val="tx1"/>
                </a:solidFill>
                <a:latin typeface="+mj-lt"/>
              </a:rPr>
              <a:t>Thông tin hoàn hảo</a:t>
            </a:r>
            <a:r>
              <a:rPr lang="vi-VN" sz="2000" dirty="0">
                <a:solidFill>
                  <a:schemeClr val="tx1"/>
                </a:solidFill>
                <a:latin typeface="+mj-lt"/>
              </a:rPr>
              <a:t>: Người bán và người mua đều có đầy đủ thông tin về giá cả và chất lượng sản phẩm.</a:t>
            </a:r>
          </a:p>
          <a:p>
            <a:pPr algn="just">
              <a:buFont typeface="+mj-lt"/>
              <a:buAutoNum type="arabicPeriod"/>
            </a:pPr>
            <a:r>
              <a:rPr lang="vi-VN" sz="2000" b="1" dirty="0">
                <a:solidFill>
                  <a:schemeClr val="tx1"/>
                </a:solidFill>
                <a:latin typeface="+mj-lt"/>
              </a:rPr>
              <a:t>Tự do gia nhập và rút khỏi thị trường</a:t>
            </a:r>
            <a:r>
              <a:rPr lang="vi-VN" sz="2000" dirty="0">
                <a:solidFill>
                  <a:schemeClr val="tx1"/>
                </a:solidFill>
                <a:latin typeface="+mj-lt"/>
              </a:rPr>
              <a:t>: Không có rào cản về pháp lý hay tài chính khi tham gia hay rời bỏ thị trường.</a:t>
            </a:r>
          </a:p>
          <a:p>
            <a:pPr algn="just"/>
            <a:r>
              <a:rPr lang="vi-VN" sz="2000" dirty="0">
                <a:solidFill>
                  <a:schemeClr val="tx1"/>
                </a:solidFill>
                <a:latin typeface="+mj-lt"/>
              </a:rPr>
              <a:t>Trong cạnh tranh hoàn hảo, </a:t>
            </a:r>
            <a:r>
              <a:rPr lang="vi-VN" sz="2000" b="1" dirty="0">
                <a:solidFill>
                  <a:schemeClr val="tx1"/>
                </a:solidFill>
                <a:latin typeface="+mj-lt"/>
              </a:rPr>
              <a:t>doanh nghiệp không thể quyết định giá</a:t>
            </a:r>
            <a:r>
              <a:rPr lang="vi-VN" sz="2000" dirty="0">
                <a:solidFill>
                  <a:schemeClr val="tx1"/>
                </a:solidFill>
                <a:latin typeface="+mj-lt"/>
              </a:rPr>
              <a:t> vì giá cả được xác định bởi thị trường thông qua quy luật cung cầu. Nếu doanh nghiệp cố gắng bán với giá cao hơn giá thị trường, họ sẽ mất khách hàng, bởi người tiêu dùng có thể dễ dàng mua sản phẩm từ các đối thủ khác với giá rẻ hơn.</a:t>
            </a:r>
          </a:p>
        </p:txBody>
      </p:sp>
    </p:spTree>
    <p:extLst>
      <p:ext uri="{BB962C8B-B14F-4D97-AF65-F5344CB8AC3E}">
        <p14:creationId xmlns:p14="http://schemas.microsoft.com/office/powerpoint/2010/main" val="370365235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400" b="1" i="1" dirty="0">
                <a:solidFill>
                  <a:srgbClr val="0000FF"/>
                </a:solidFill>
                <a:latin typeface="Times New Roman" pitchFamily="18" charset="0"/>
                <a:cs typeface="Times New Roman" pitchFamily="18" charset="0"/>
              </a:rPr>
              <a:t>Câu hỏi tiểu luận</a:t>
            </a:r>
          </a:p>
          <a:p>
            <a:pPr algn="just"/>
            <a:r>
              <a:rPr lang="vi-VN" sz="2200" b="1" dirty="0">
                <a:solidFill>
                  <a:schemeClr val="tx1"/>
                </a:solidFill>
                <a:latin typeface="+mj-lt"/>
                <a:cs typeface="Times New Roman" pitchFamily="18" charset="0"/>
              </a:rPr>
              <a:t>Câu 6</a:t>
            </a:r>
            <a:r>
              <a:rPr lang="vi-VN" sz="2000" b="1" dirty="0">
                <a:solidFill>
                  <a:schemeClr val="tx1"/>
                </a:solidFill>
                <a:latin typeface="+mj-lt"/>
                <a:cs typeface="Times New Roman" pitchFamily="18" charset="0"/>
              </a:rPr>
              <a:t>/ </a:t>
            </a:r>
            <a:r>
              <a:rPr lang="vi-VN" sz="2000" b="1" dirty="0">
                <a:solidFill>
                  <a:schemeClr val="tx1"/>
                </a:solidFill>
                <a:latin typeface="+mj-lt"/>
              </a:rPr>
              <a:t>Độc quyền là gì và làm thế nào mà một doanh nghiệp trong thị trường độc quyền có thể quyết định giá cả? Hãy phân tích một ví dụ về thị trường độc quyền.</a:t>
            </a:r>
            <a:endParaRPr lang="vi-VN" sz="2000" dirty="0">
              <a:solidFill>
                <a:schemeClr val="tx1"/>
              </a:solidFill>
              <a:latin typeface="+mj-lt"/>
            </a:endParaRPr>
          </a:p>
          <a:p>
            <a:pPr algn="just"/>
            <a:r>
              <a:rPr lang="vi-VN" sz="2000" b="1" dirty="0">
                <a:solidFill>
                  <a:schemeClr val="tx1"/>
                </a:solidFill>
                <a:latin typeface="+mj-lt"/>
              </a:rPr>
              <a:t>Gợi ý đáp án:</a:t>
            </a:r>
          </a:p>
          <a:p>
            <a:pPr algn="just"/>
            <a:r>
              <a:rPr lang="vi-VN" sz="2000" dirty="0">
                <a:solidFill>
                  <a:schemeClr val="tx1"/>
                </a:solidFill>
                <a:latin typeface="+mj-lt"/>
              </a:rPr>
              <a:t>Độc quyền là một cấu trúc thị trường trong đó chỉ có </a:t>
            </a:r>
            <a:r>
              <a:rPr lang="vi-VN" sz="2000" b="1" dirty="0">
                <a:solidFill>
                  <a:schemeClr val="tx1"/>
                </a:solidFill>
                <a:latin typeface="+mj-lt"/>
              </a:rPr>
              <a:t>một doanh nghiệp duy nhất</a:t>
            </a:r>
            <a:r>
              <a:rPr lang="vi-VN" sz="2000" dirty="0">
                <a:solidFill>
                  <a:schemeClr val="tx1"/>
                </a:solidFill>
                <a:latin typeface="+mj-lt"/>
              </a:rPr>
              <a:t> cung cấp một sản phẩm hoặc dịch vụ, và không có sự thay thế trực tiếp cho sản phẩm đó. Do đó, doanh nghiệp độc quyền có quyền kiểm soát giá cả và điều chỉnh sản lượng theo ý muốn.</a:t>
            </a:r>
          </a:p>
          <a:p>
            <a:pPr algn="just"/>
            <a:r>
              <a:rPr lang="vi-VN" sz="2000" dirty="0">
                <a:solidFill>
                  <a:schemeClr val="tx1"/>
                </a:solidFill>
                <a:latin typeface="+mj-lt"/>
              </a:rPr>
              <a:t>Một doanh nghiệp trong thị trường độc quyền có thể quyết định giá cả vì:</a:t>
            </a:r>
          </a:p>
          <a:p>
            <a:pPr algn="just">
              <a:buFont typeface="+mj-lt"/>
              <a:buAutoNum type="arabicPeriod"/>
            </a:pPr>
            <a:r>
              <a:rPr lang="vi-VN" sz="2000" b="1" dirty="0">
                <a:solidFill>
                  <a:schemeClr val="tx1"/>
                </a:solidFill>
                <a:latin typeface="+mj-lt"/>
              </a:rPr>
              <a:t>Không có đối thủ cạnh tranh</a:t>
            </a:r>
            <a:r>
              <a:rPr lang="vi-VN" sz="2000" dirty="0">
                <a:solidFill>
                  <a:schemeClr val="tx1"/>
                </a:solidFill>
                <a:latin typeface="+mj-lt"/>
              </a:rPr>
              <a:t>: Khách hàng không có lựa chọn khác ngoài việc mua sản phẩm từ doanh nghiệp độc quyền.</a:t>
            </a:r>
          </a:p>
          <a:p>
            <a:pPr algn="just">
              <a:buFont typeface="+mj-lt"/>
              <a:buAutoNum type="arabicPeriod"/>
            </a:pPr>
            <a:r>
              <a:rPr lang="vi-VN" sz="2000" b="1" dirty="0">
                <a:solidFill>
                  <a:schemeClr val="tx1"/>
                </a:solidFill>
                <a:latin typeface="+mj-lt"/>
              </a:rPr>
              <a:t>Rào cản gia nhập cao</a:t>
            </a:r>
            <a:r>
              <a:rPr lang="vi-VN" sz="2000" dirty="0">
                <a:solidFill>
                  <a:schemeClr val="tx1"/>
                </a:solidFill>
                <a:latin typeface="+mj-lt"/>
              </a:rPr>
              <a:t>: Doanh nghiệp độc quyền thường kiểm soát nguồn lực quan trọng hoặc có độc quyền pháp lý, ngăn cản các doanh nghiệp khác gia nhập thị trường.</a:t>
            </a:r>
          </a:p>
          <a:p>
            <a:pPr algn="just"/>
            <a:r>
              <a:rPr lang="vi-VN" sz="2000" dirty="0">
                <a:solidFill>
                  <a:schemeClr val="tx1"/>
                </a:solidFill>
                <a:latin typeface="+mj-lt"/>
              </a:rPr>
              <a:t>Ví dụ, </a:t>
            </a:r>
            <a:r>
              <a:rPr lang="vi-VN" sz="2000" b="1" dirty="0">
                <a:solidFill>
                  <a:schemeClr val="tx1"/>
                </a:solidFill>
                <a:latin typeface="+mj-lt"/>
              </a:rPr>
              <a:t>các công ty điện lực </a:t>
            </a:r>
            <a:r>
              <a:rPr lang="vi-VN" sz="2000" dirty="0">
                <a:solidFill>
                  <a:schemeClr val="tx1"/>
                </a:solidFill>
                <a:latin typeface="+mj-lt"/>
              </a:rPr>
              <a:t>có thể hoạt động dưới hình thức độc quyền, vì họ là nhà cung cấp duy nhất. Họ có thể quyết định giá dựa trên chi phí sản xuất và lợi nhuận mong muốn, nhưng thường bị chính phủ giám sát để tránh tình trạng giá quá cao hoặc khai thác người tiêu dùng.</a:t>
            </a:r>
          </a:p>
        </p:txBody>
      </p:sp>
    </p:spTree>
    <p:extLst>
      <p:ext uri="{BB962C8B-B14F-4D97-AF65-F5344CB8AC3E}">
        <p14:creationId xmlns:p14="http://schemas.microsoft.com/office/powerpoint/2010/main" val="107350629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400" b="1" i="1" dirty="0">
                <a:solidFill>
                  <a:srgbClr val="0000FF"/>
                </a:solidFill>
                <a:latin typeface="Times New Roman" pitchFamily="18" charset="0"/>
                <a:cs typeface="Times New Roman" pitchFamily="18" charset="0"/>
              </a:rPr>
              <a:t>Câu hỏi tiểu luận</a:t>
            </a:r>
          </a:p>
          <a:p>
            <a:pPr algn="just"/>
            <a:r>
              <a:rPr lang="vi-VN" sz="2200" b="1" dirty="0">
                <a:solidFill>
                  <a:schemeClr val="tx1"/>
                </a:solidFill>
                <a:latin typeface="+mj-lt"/>
                <a:cs typeface="Times New Roman" pitchFamily="18" charset="0"/>
              </a:rPr>
              <a:t>Câu 7</a:t>
            </a:r>
            <a:r>
              <a:rPr lang="vi-VN" sz="2000" b="1" dirty="0">
                <a:solidFill>
                  <a:schemeClr val="tx1"/>
                </a:solidFill>
                <a:latin typeface="+mj-lt"/>
                <a:cs typeface="Times New Roman" pitchFamily="18" charset="0"/>
              </a:rPr>
              <a:t>/</a:t>
            </a:r>
            <a:r>
              <a:rPr lang="vi-VN" sz="2200" b="1" dirty="0">
                <a:solidFill>
                  <a:schemeClr val="tx1"/>
                </a:solidFill>
                <a:latin typeface="+mj-lt"/>
                <a:cs typeface="Times New Roman" pitchFamily="18" charset="0"/>
              </a:rPr>
              <a:t> </a:t>
            </a:r>
            <a:r>
              <a:rPr lang="vi-VN" sz="2200" b="1" dirty="0">
                <a:solidFill>
                  <a:schemeClr val="tx1"/>
                </a:solidFill>
                <a:latin typeface="+mj-lt"/>
              </a:rPr>
              <a:t>Thị trường lao động hoạt động như thế nào trong mô hình kinh tế vi mô? Giải thích cách cung cầu lao động ảnh hưởng đến mức lương và việc làm trên thị trường.</a:t>
            </a:r>
            <a:endParaRPr lang="vi-VN" sz="2200" dirty="0">
              <a:solidFill>
                <a:schemeClr val="tx1"/>
              </a:solidFill>
              <a:latin typeface="+mj-lt"/>
            </a:endParaRPr>
          </a:p>
          <a:p>
            <a:pPr algn="just"/>
            <a:r>
              <a:rPr lang="vi-VN" sz="2200" b="1" dirty="0">
                <a:solidFill>
                  <a:schemeClr val="tx1"/>
                </a:solidFill>
                <a:latin typeface="+mj-lt"/>
              </a:rPr>
              <a:t>Gợi ý đáp án:</a:t>
            </a:r>
          </a:p>
          <a:p>
            <a:pPr algn="just"/>
            <a:r>
              <a:rPr lang="vi-VN" sz="2200" dirty="0">
                <a:solidFill>
                  <a:schemeClr val="tx1"/>
                </a:solidFill>
                <a:latin typeface="+mj-lt"/>
              </a:rPr>
              <a:t>Trong mô hình kinh tế vi mô, </a:t>
            </a:r>
            <a:r>
              <a:rPr lang="vi-VN" sz="2200" b="1" dirty="0">
                <a:solidFill>
                  <a:schemeClr val="tx1"/>
                </a:solidFill>
                <a:latin typeface="+mj-lt"/>
              </a:rPr>
              <a:t>thị trường lao động</a:t>
            </a:r>
            <a:r>
              <a:rPr lang="vi-VN" sz="2200" dirty="0">
                <a:solidFill>
                  <a:schemeClr val="tx1"/>
                </a:solidFill>
                <a:latin typeface="+mj-lt"/>
              </a:rPr>
              <a:t> là nơi các cá nhân cung cấp lao động và các doanh nghiệp yêu cầu lao động để sản xuất hàng hóa và dịch vụ. Mức lương được xác định tại điểm cân bằng nơi </a:t>
            </a:r>
            <a:r>
              <a:rPr lang="vi-VN" sz="2200" b="1" dirty="0">
                <a:solidFill>
                  <a:schemeClr val="tx1"/>
                </a:solidFill>
                <a:latin typeface="+mj-lt"/>
              </a:rPr>
              <a:t>cung lao động</a:t>
            </a:r>
            <a:r>
              <a:rPr lang="vi-VN" sz="2200" dirty="0">
                <a:solidFill>
                  <a:schemeClr val="tx1"/>
                </a:solidFill>
                <a:latin typeface="+mj-lt"/>
              </a:rPr>
              <a:t> (số lượng người sẵn sàng làm việc) bằng với </a:t>
            </a:r>
            <a:r>
              <a:rPr lang="vi-VN" sz="2200" b="1" dirty="0">
                <a:solidFill>
                  <a:schemeClr val="tx1"/>
                </a:solidFill>
                <a:latin typeface="+mj-lt"/>
              </a:rPr>
              <a:t>cầu lao động</a:t>
            </a:r>
            <a:r>
              <a:rPr lang="vi-VN" sz="2200" dirty="0">
                <a:solidFill>
                  <a:schemeClr val="tx1"/>
                </a:solidFill>
                <a:latin typeface="+mj-lt"/>
              </a:rPr>
              <a:t> (số lượng công việc mà các doanh nghiệp muốn thuê).</a:t>
            </a:r>
          </a:p>
          <a:p>
            <a:pPr algn="just">
              <a:buFont typeface="Arial" panose="020B0604020202020204" pitchFamily="34" charset="0"/>
              <a:buChar char="•"/>
            </a:pPr>
            <a:r>
              <a:rPr lang="vi-VN" sz="2200" dirty="0">
                <a:solidFill>
                  <a:schemeClr val="tx1"/>
                </a:solidFill>
                <a:latin typeface="+mj-lt"/>
              </a:rPr>
              <a:t>Khi </a:t>
            </a:r>
            <a:r>
              <a:rPr lang="vi-VN" sz="2200" b="1" dirty="0">
                <a:solidFill>
                  <a:schemeClr val="tx1"/>
                </a:solidFill>
                <a:latin typeface="+mj-lt"/>
              </a:rPr>
              <a:t>cầu lao động tăng</a:t>
            </a:r>
            <a:r>
              <a:rPr lang="vi-VN" sz="2200" dirty="0">
                <a:solidFill>
                  <a:schemeClr val="tx1"/>
                </a:solidFill>
                <a:latin typeface="+mj-lt"/>
              </a:rPr>
              <a:t> (ví dụ khi nền kinh tế phát triển hoặc nhu cầu về sản phẩm tăng), mức lương cũng tăng để thu hút thêm người lao động.</a:t>
            </a:r>
          </a:p>
          <a:p>
            <a:pPr algn="just">
              <a:buFont typeface="Arial" panose="020B0604020202020204" pitchFamily="34" charset="0"/>
              <a:buChar char="•"/>
            </a:pPr>
            <a:r>
              <a:rPr lang="vi-VN" sz="2200" dirty="0">
                <a:solidFill>
                  <a:schemeClr val="tx1"/>
                </a:solidFill>
                <a:latin typeface="+mj-lt"/>
              </a:rPr>
              <a:t>Khi </a:t>
            </a:r>
            <a:r>
              <a:rPr lang="vi-VN" sz="2200" b="1" dirty="0">
                <a:solidFill>
                  <a:schemeClr val="tx1"/>
                </a:solidFill>
                <a:latin typeface="+mj-lt"/>
              </a:rPr>
              <a:t>cung lao động tăng</a:t>
            </a:r>
            <a:r>
              <a:rPr lang="vi-VN" sz="2200" dirty="0">
                <a:solidFill>
                  <a:schemeClr val="tx1"/>
                </a:solidFill>
                <a:latin typeface="+mj-lt"/>
              </a:rPr>
              <a:t> (ví dụ khi có nhiều người tham gia vào thị trường lao động hơn), mức lương có xu hướng giảm nếu nhu cầu lao động không tăng tương ứng.</a:t>
            </a:r>
          </a:p>
          <a:p>
            <a:pPr algn="just"/>
            <a:r>
              <a:rPr lang="vi-VN" sz="2200" dirty="0">
                <a:solidFill>
                  <a:schemeClr val="tx1"/>
                </a:solidFill>
                <a:latin typeface="+mj-lt"/>
              </a:rPr>
              <a:t>Ví dụ, nếu có một ngành công nghiệp phát triển nhanh (như công nghệ), nhu cầu lao động kỹ thuật cao tăng mạnh, khiến mức lương trong ngành đó tăng lên.</a:t>
            </a:r>
          </a:p>
        </p:txBody>
      </p:sp>
    </p:spTree>
    <p:extLst>
      <p:ext uri="{BB962C8B-B14F-4D97-AF65-F5344CB8AC3E}">
        <p14:creationId xmlns:p14="http://schemas.microsoft.com/office/powerpoint/2010/main" val="656475828"/>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000" b="1" i="1" dirty="0">
                <a:solidFill>
                  <a:srgbClr val="0000FF"/>
                </a:solidFill>
                <a:latin typeface="Times New Roman" pitchFamily="18" charset="0"/>
                <a:cs typeface="Times New Roman" pitchFamily="18" charset="0"/>
              </a:rPr>
              <a:t>Câu hỏi tiểu luận</a:t>
            </a:r>
          </a:p>
          <a:p>
            <a:pPr algn="just"/>
            <a:r>
              <a:rPr lang="vi-VN" sz="2000" b="1" dirty="0">
                <a:solidFill>
                  <a:schemeClr val="tx1"/>
                </a:solidFill>
                <a:latin typeface="+mj-lt"/>
                <a:cs typeface="Times New Roman" pitchFamily="18" charset="0"/>
              </a:rPr>
              <a:t>Câu 8/ </a:t>
            </a:r>
            <a:r>
              <a:rPr lang="vi-VN" sz="2000" b="1" dirty="0">
                <a:solidFill>
                  <a:schemeClr val="tx1"/>
                </a:solidFill>
                <a:latin typeface="+mj-lt"/>
              </a:rPr>
              <a:t>Thị trường vốn hoạt động như thế nào và các yếu tố nào ảnh hưởng đến cung và cầu vốn? Hãy phân tích tầm quan trọng của lãi suất trong việc quyết định đầu tư.</a:t>
            </a:r>
            <a:endParaRPr lang="vi-VN" sz="2000" dirty="0">
              <a:solidFill>
                <a:schemeClr val="tx1"/>
              </a:solidFill>
              <a:latin typeface="+mj-lt"/>
            </a:endParaRPr>
          </a:p>
          <a:p>
            <a:pPr algn="just"/>
            <a:r>
              <a:rPr lang="vi-VN" sz="2000" b="1" dirty="0">
                <a:solidFill>
                  <a:schemeClr val="tx1"/>
                </a:solidFill>
                <a:latin typeface="+mj-lt"/>
              </a:rPr>
              <a:t>Gợi ý đáp án:</a:t>
            </a:r>
          </a:p>
          <a:p>
            <a:pPr algn="just"/>
            <a:r>
              <a:rPr lang="vi-VN" sz="2000" b="1" dirty="0">
                <a:solidFill>
                  <a:schemeClr val="tx1"/>
                </a:solidFill>
                <a:latin typeface="+mj-lt"/>
              </a:rPr>
              <a:t>Thị trường vốn</a:t>
            </a:r>
            <a:r>
              <a:rPr lang="vi-VN" sz="2000" dirty="0">
                <a:solidFill>
                  <a:schemeClr val="tx1"/>
                </a:solidFill>
                <a:latin typeface="+mj-lt"/>
              </a:rPr>
              <a:t> là nơi mà các doanh nghiệp tìm kiếm nguồn vốn để đầu tư vào sản xuất, và các cá nhân hay tổ chức cung cấp vốn bằng cách cho vay hoặc đầu tư. Mức lãi suất là yếu tố quan trọng xác định lượng cung và cầu vốn trên thị trường này.</a:t>
            </a:r>
          </a:p>
          <a:p>
            <a:pPr algn="just">
              <a:buFont typeface="Arial" panose="020B0604020202020204" pitchFamily="34" charset="0"/>
              <a:buChar char="•"/>
            </a:pPr>
            <a:r>
              <a:rPr lang="vi-VN" sz="2000" b="1" dirty="0">
                <a:solidFill>
                  <a:schemeClr val="tx1"/>
                </a:solidFill>
                <a:latin typeface="+mj-lt"/>
              </a:rPr>
              <a:t> Cầu vốn</a:t>
            </a:r>
            <a:r>
              <a:rPr lang="vi-VN" sz="2000" dirty="0">
                <a:solidFill>
                  <a:schemeClr val="tx1"/>
                </a:solidFill>
                <a:latin typeface="+mj-lt"/>
              </a:rPr>
              <a:t>: Các doanh nghiệp có nhu cầu vay vốn để đầu tư vào các dự án sản xuất kinh doanh. Khi lãi suất thấp, chi phí vay vốn giảm, khiến doanh nghiệp có xu hướng vay nhiều hơn để mở rộng sản xuất, làm tăng cầu vốn.</a:t>
            </a:r>
          </a:p>
          <a:p>
            <a:pPr algn="just">
              <a:buFont typeface="Arial" panose="020B0604020202020204" pitchFamily="34" charset="0"/>
              <a:buChar char="•"/>
            </a:pPr>
            <a:r>
              <a:rPr lang="vi-VN" sz="2000" b="1" dirty="0">
                <a:solidFill>
                  <a:schemeClr val="tx1"/>
                </a:solidFill>
                <a:latin typeface="+mj-lt"/>
              </a:rPr>
              <a:t> Cung vốn</a:t>
            </a:r>
            <a:r>
              <a:rPr lang="vi-VN" sz="2000" dirty="0">
                <a:solidFill>
                  <a:schemeClr val="tx1"/>
                </a:solidFill>
                <a:latin typeface="+mj-lt"/>
              </a:rPr>
              <a:t>: Cá nhân và tổ chức cung cấp vốn để đầu tư hoặc cho vay với kỳ vọng thu được lãi suất. Khi lãi suất cao, người cho vay có động lực cung cấp nhiều vốn hơn vì họ nhận được phần thưởng lớn hơn.</a:t>
            </a:r>
          </a:p>
          <a:p>
            <a:pPr algn="just"/>
            <a:r>
              <a:rPr lang="vi-VN" sz="2000" dirty="0">
                <a:solidFill>
                  <a:schemeClr val="tx1"/>
                </a:solidFill>
                <a:latin typeface="+mj-lt"/>
              </a:rPr>
              <a:t>Lãi suất có vai trò quyết định trong việc </a:t>
            </a:r>
            <a:r>
              <a:rPr lang="vi-VN" sz="2000" b="1" dirty="0">
                <a:solidFill>
                  <a:schemeClr val="tx1"/>
                </a:solidFill>
                <a:latin typeface="+mj-lt"/>
              </a:rPr>
              <a:t>đưa ra quyết định đầu tư</a:t>
            </a:r>
            <a:r>
              <a:rPr lang="vi-VN" sz="2000" dirty="0">
                <a:solidFill>
                  <a:schemeClr val="tx1"/>
                </a:solidFill>
                <a:latin typeface="+mj-lt"/>
              </a:rPr>
              <a:t>. Nếu lãi suất thấp, chi phí vay vốn giảm, khuyến khích đầu tư. Ngược lại, nếu lãi suất cao, chi phí vay vốn tăng, làm giảm động lực đầu tư, từ đó ảnh hưởng đến tốc độ tăng trưởng của doanh nghiệp và nền kinh tế.</a:t>
            </a:r>
          </a:p>
        </p:txBody>
      </p:sp>
    </p:spTree>
    <p:extLst>
      <p:ext uri="{BB962C8B-B14F-4D97-AF65-F5344CB8AC3E}">
        <p14:creationId xmlns:p14="http://schemas.microsoft.com/office/powerpoint/2010/main" val="370905695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pPr algn="just"/>
            <a:r>
              <a:rPr lang="vi-VN" sz="2000" b="1" dirty="0">
                <a:solidFill>
                  <a:schemeClr val="tx1"/>
                </a:solidFill>
                <a:latin typeface="+mj-lt"/>
                <a:cs typeface="Times New Roman" pitchFamily="18" charset="0"/>
              </a:rPr>
              <a:t>Câu 9/ </a:t>
            </a:r>
            <a:r>
              <a:rPr lang="vi-VN" sz="2000" b="1" dirty="0">
                <a:solidFill>
                  <a:schemeClr val="tx1"/>
                </a:solidFill>
                <a:latin typeface="+mj-lt"/>
              </a:rPr>
              <a:t>Thất bại thị trường là gì? Hãy phân tích nguyên nhân dẫn đến thất bại thị trường và tác động của chúng đến nền kinh tế.</a:t>
            </a:r>
            <a:endParaRPr lang="vi-VN" sz="2000" dirty="0">
              <a:solidFill>
                <a:schemeClr val="tx1"/>
              </a:solidFill>
              <a:latin typeface="+mj-lt"/>
            </a:endParaRPr>
          </a:p>
          <a:p>
            <a:pPr algn="just"/>
            <a:r>
              <a:rPr lang="vi-VN" sz="2000" b="1" dirty="0">
                <a:solidFill>
                  <a:schemeClr val="tx1"/>
                </a:solidFill>
                <a:latin typeface="+mj-lt"/>
              </a:rPr>
              <a:t>Gợi ý đáp án:</a:t>
            </a:r>
          </a:p>
          <a:p>
            <a:pPr algn="just"/>
            <a:r>
              <a:rPr lang="vi-VN" sz="2000" b="1" dirty="0">
                <a:solidFill>
                  <a:schemeClr val="tx1"/>
                </a:solidFill>
                <a:latin typeface="+mj-lt"/>
              </a:rPr>
              <a:t>Thất bại thị trường</a:t>
            </a:r>
            <a:r>
              <a:rPr lang="vi-VN" sz="2000" dirty="0">
                <a:solidFill>
                  <a:schemeClr val="tx1"/>
                </a:solidFill>
                <a:latin typeface="+mj-lt"/>
              </a:rPr>
              <a:t> xảy ra khi thị trường không thể phân bổ nguồn lực một cách hiệu quả, dẫn đến các kết quả kinh tế không tối ưu, gây lãng phí hoặc bất công trong việc phân phối lợi ích. Nguyên nhân dẫn đến thất bại thị trường gồm:</a:t>
            </a:r>
          </a:p>
          <a:p>
            <a:pPr algn="just">
              <a:buFont typeface="+mj-lt"/>
              <a:buAutoNum type="arabicPeriod"/>
            </a:pPr>
            <a:r>
              <a:rPr lang="vi-VN" sz="2000" b="1" dirty="0">
                <a:solidFill>
                  <a:schemeClr val="tx1"/>
                </a:solidFill>
                <a:latin typeface="+mj-lt"/>
              </a:rPr>
              <a:t>Ngoại ứng</a:t>
            </a:r>
            <a:r>
              <a:rPr lang="vi-VN" sz="2000" dirty="0">
                <a:solidFill>
                  <a:schemeClr val="tx1"/>
                </a:solidFill>
                <a:latin typeface="+mj-lt"/>
              </a:rPr>
              <a:t>: Khi hoạt động của một cá nhân hoặc doanh nghiệp gây ảnh hưởng tiêu cực hoặc tích cực đến người khác mà không bị tính vào giá của hàng hóa hoặc dịch vụ (ví dụ, ô nhiễm môi trường).</a:t>
            </a:r>
          </a:p>
          <a:p>
            <a:pPr algn="just">
              <a:buFont typeface="+mj-lt"/>
              <a:buAutoNum type="arabicPeriod"/>
            </a:pPr>
            <a:r>
              <a:rPr lang="vi-VN" sz="2000" b="1" dirty="0">
                <a:solidFill>
                  <a:schemeClr val="tx1"/>
                </a:solidFill>
                <a:latin typeface="+mj-lt"/>
              </a:rPr>
              <a:t>Hàng hóa công cộng</a:t>
            </a:r>
            <a:r>
              <a:rPr lang="vi-VN" sz="2000" dirty="0">
                <a:solidFill>
                  <a:schemeClr val="tx1"/>
                </a:solidFill>
                <a:latin typeface="+mj-lt"/>
              </a:rPr>
              <a:t>: Hàng hóa mà mọi người đều có thể sử dụng mà không cần trả tiền, như an ninh quốc gia, dễ dẫn đến tình trạng thiếu hụt nguồn lực vì không ai chịu trách nhiệm chi trả.</a:t>
            </a:r>
          </a:p>
          <a:p>
            <a:pPr algn="just">
              <a:buFont typeface="+mj-lt"/>
              <a:buAutoNum type="arabicPeriod"/>
            </a:pPr>
            <a:r>
              <a:rPr lang="vi-VN" sz="2000" b="1" dirty="0">
                <a:solidFill>
                  <a:schemeClr val="tx1"/>
                </a:solidFill>
                <a:latin typeface="+mj-lt"/>
              </a:rPr>
              <a:t>Thiếu thông tin</a:t>
            </a:r>
            <a:r>
              <a:rPr lang="vi-VN" sz="2000" dirty="0">
                <a:solidFill>
                  <a:schemeClr val="tx1"/>
                </a:solidFill>
                <a:latin typeface="+mj-lt"/>
              </a:rPr>
              <a:t>: Khi người mua và người bán không có đủ thông tin để ra quyết định kinh tế đúng đắn (ví dụ, thông tin về chất lượng sản phẩm).</a:t>
            </a:r>
          </a:p>
          <a:p>
            <a:pPr algn="just">
              <a:buFont typeface="+mj-lt"/>
              <a:buAutoNum type="arabicPeriod"/>
            </a:pPr>
            <a:r>
              <a:rPr lang="vi-VN" sz="2000" b="1" dirty="0">
                <a:solidFill>
                  <a:schemeClr val="tx1"/>
                </a:solidFill>
                <a:latin typeface="+mj-lt"/>
              </a:rPr>
              <a:t>Sức mạnh độc quyền</a:t>
            </a:r>
            <a:r>
              <a:rPr lang="vi-VN" sz="2000" dirty="0">
                <a:solidFill>
                  <a:schemeClr val="tx1"/>
                </a:solidFill>
                <a:latin typeface="+mj-lt"/>
              </a:rPr>
              <a:t>: Khi một doanh nghiệp hoặc một nhóm doanh nghiệp kiểm soát thị trường, có thể đặt giá cao hơn hoặc hạn chế sản lượng, gây ra mất cân bằng cung cầu.</a:t>
            </a:r>
          </a:p>
          <a:p>
            <a:pPr algn="just"/>
            <a:r>
              <a:rPr lang="vi-VN" sz="2000" dirty="0">
                <a:solidFill>
                  <a:schemeClr val="tx1"/>
                </a:solidFill>
                <a:latin typeface="+mj-lt"/>
              </a:rPr>
              <a:t>Tác động của thất bại thị trường làm giảm hiệu quả kinh tế, gây ra lãng phí nguồn lực và giảm phúc lợi xã hội.</a:t>
            </a:r>
          </a:p>
          <a:p>
            <a:pPr algn="just"/>
            <a:endParaRPr lang="vi-VN" sz="2000" dirty="0">
              <a:solidFill>
                <a:schemeClr val="tx1"/>
              </a:solidFill>
              <a:latin typeface="+mj-lt"/>
            </a:endParaRPr>
          </a:p>
        </p:txBody>
      </p:sp>
    </p:spTree>
    <p:extLst>
      <p:ext uri="{BB962C8B-B14F-4D97-AF65-F5344CB8AC3E}">
        <p14:creationId xmlns:p14="http://schemas.microsoft.com/office/powerpoint/2010/main" val="92642891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pPr algn="just"/>
            <a:r>
              <a:rPr lang="vi-VN" sz="2000" b="1" dirty="0">
                <a:solidFill>
                  <a:schemeClr val="tx1"/>
                </a:solidFill>
                <a:latin typeface="+mj-lt"/>
                <a:cs typeface="Times New Roman" pitchFamily="18" charset="0"/>
              </a:rPr>
              <a:t>Câu 10/ </a:t>
            </a:r>
            <a:r>
              <a:rPr lang="vi-VN" sz="2000" b="1" dirty="0">
                <a:solidFill>
                  <a:schemeClr val="tx1"/>
                </a:solidFill>
                <a:latin typeface="+mj-lt"/>
              </a:rPr>
              <a:t>Chính phủ có thể can thiệp như thế nào để khắc phục các thất bại thị trường? Hãy lấy ví dụ về một chính sách cụ thể mà chính phủ sử dụng.</a:t>
            </a:r>
            <a:endParaRPr lang="vi-VN" sz="2000" dirty="0">
              <a:solidFill>
                <a:schemeClr val="tx1"/>
              </a:solidFill>
              <a:latin typeface="+mj-lt"/>
            </a:endParaRPr>
          </a:p>
          <a:p>
            <a:pPr algn="just"/>
            <a:r>
              <a:rPr lang="vi-VN" sz="2000" b="1" dirty="0">
                <a:solidFill>
                  <a:schemeClr val="tx1"/>
                </a:solidFill>
                <a:latin typeface="+mj-lt"/>
              </a:rPr>
              <a:t>Gợi ý đáp án:</a:t>
            </a:r>
          </a:p>
          <a:p>
            <a:pPr algn="just"/>
            <a:r>
              <a:rPr lang="vi-VN" sz="2000" dirty="0">
                <a:solidFill>
                  <a:schemeClr val="tx1"/>
                </a:solidFill>
                <a:latin typeface="+mj-lt"/>
              </a:rPr>
              <a:t>Chính phủ có thể can thiệp vào nền kinh tế để </a:t>
            </a:r>
            <a:r>
              <a:rPr lang="vi-VN" sz="2000" b="1" dirty="0">
                <a:solidFill>
                  <a:schemeClr val="tx1"/>
                </a:solidFill>
                <a:latin typeface="+mj-lt"/>
              </a:rPr>
              <a:t>khắc phục thất bại thị trường</a:t>
            </a:r>
            <a:r>
              <a:rPr lang="vi-VN" sz="2000" dirty="0">
                <a:solidFill>
                  <a:schemeClr val="tx1"/>
                </a:solidFill>
                <a:latin typeface="+mj-lt"/>
              </a:rPr>
              <a:t> thông qua một số chính sách, như:</a:t>
            </a:r>
          </a:p>
          <a:p>
            <a:pPr algn="just">
              <a:buFont typeface="+mj-lt"/>
              <a:buAutoNum type="arabicPeriod"/>
            </a:pPr>
            <a:r>
              <a:rPr lang="vi-VN" sz="2000" b="1" dirty="0">
                <a:solidFill>
                  <a:schemeClr val="tx1"/>
                </a:solidFill>
                <a:latin typeface="+mj-lt"/>
              </a:rPr>
              <a:t>Đánh thuế hoặc trợ cấp</a:t>
            </a:r>
            <a:r>
              <a:rPr lang="vi-VN" sz="2000" dirty="0">
                <a:solidFill>
                  <a:schemeClr val="tx1"/>
                </a:solidFill>
                <a:latin typeface="+mj-lt"/>
              </a:rPr>
              <a:t>: Chính phủ có thể đánh thuế lên các hoạt động gây ngoại ứng tiêu cực (như thuế môi trường) hoặc trợ cấp cho các hoạt động có lợi cho xã hội (như trợ cấp giáo dục).</a:t>
            </a:r>
          </a:p>
          <a:p>
            <a:pPr algn="just">
              <a:buFont typeface="+mj-lt"/>
              <a:buAutoNum type="arabicPeriod"/>
            </a:pPr>
            <a:r>
              <a:rPr lang="vi-VN" sz="2000" b="1" dirty="0">
                <a:solidFill>
                  <a:schemeClr val="tx1"/>
                </a:solidFill>
                <a:latin typeface="+mj-lt"/>
              </a:rPr>
              <a:t>Quy định và kiểm soát</a:t>
            </a:r>
            <a:r>
              <a:rPr lang="vi-VN" sz="2000" dirty="0">
                <a:solidFill>
                  <a:schemeClr val="tx1"/>
                </a:solidFill>
                <a:latin typeface="+mj-lt"/>
              </a:rPr>
              <a:t>: Chính phủ có thể đưa ra quy định để kiểm soát hành vi độc quyền hoặc bảo vệ quyền lợi người tiêu dùng thông qua việc yêu cầu công khai thông tin sản phẩm.</a:t>
            </a:r>
          </a:p>
          <a:p>
            <a:pPr algn="just">
              <a:buFont typeface="+mj-lt"/>
              <a:buAutoNum type="arabicPeriod"/>
            </a:pPr>
            <a:r>
              <a:rPr lang="vi-VN" sz="2000" b="1" dirty="0">
                <a:solidFill>
                  <a:schemeClr val="tx1"/>
                </a:solidFill>
                <a:latin typeface="+mj-lt"/>
              </a:rPr>
              <a:t>Cung cấp hàng hóa công cộng</a:t>
            </a:r>
            <a:r>
              <a:rPr lang="vi-VN" sz="2000" dirty="0">
                <a:solidFill>
                  <a:schemeClr val="tx1"/>
                </a:solidFill>
                <a:latin typeface="+mj-lt"/>
              </a:rPr>
              <a:t>: Chính phủ có thể trực tiếp cung cấp các hàng hóa và dịch vụ công cộng (như hạ tầng giao thông, dịch vụ y tế).</a:t>
            </a:r>
          </a:p>
          <a:p>
            <a:pPr algn="just">
              <a:buFont typeface="+mj-lt"/>
              <a:buAutoNum type="arabicPeriod"/>
            </a:pPr>
            <a:r>
              <a:rPr lang="vi-VN" sz="2000" b="1" dirty="0">
                <a:solidFill>
                  <a:schemeClr val="tx1"/>
                </a:solidFill>
                <a:latin typeface="+mj-lt"/>
              </a:rPr>
              <a:t>Thiết lập luật chống độc quyền</a:t>
            </a:r>
            <a:r>
              <a:rPr lang="vi-VN" sz="2000" dirty="0">
                <a:solidFill>
                  <a:schemeClr val="tx1"/>
                </a:solidFill>
                <a:latin typeface="+mj-lt"/>
              </a:rPr>
              <a:t>: Nhằm ngăn chặn các hành vi hạn chế cạnh tranh và bảo đảm rằng thị trường hoạt động một cách tự do và công bằng.</a:t>
            </a:r>
          </a:p>
          <a:p>
            <a:pPr algn="just"/>
            <a:r>
              <a:rPr lang="vi-VN" sz="2000" dirty="0">
                <a:solidFill>
                  <a:schemeClr val="tx1"/>
                </a:solidFill>
                <a:latin typeface="+mj-lt"/>
              </a:rPr>
              <a:t>Ví dụ, </a:t>
            </a:r>
            <a:r>
              <a:rPr lang="vi-VN" sz="2000" b="1" dirty="0">
                <a:solidFill>
                  <a:schemeClr val="tx1"/>
                </a:solidFill>
                <a:latin typeface="+mj-lt"/>
              </a:rPr>
              <a:t>thuế </a:t>
            </a:r>
            <a:r>
              <a:rPr lang="vi-VN" sz="2000" b="1" dirty="0" err="1">
                <a:solidFill>
                  <a:schemeClr val="tx1"/>
                </a:solidFill>
                <a:latin typeface="+mj-lt"/>
              </a:rPr>
              <a:t>carbon</a:t>
            </a:r>
            <a:r>
              <a:rPr lang="vi-VN" sz="2000" dirty="0">
                <a:solidFill>
                  <a:schemeClr val="tx1"/>
                </a:solidFill>
                <a:latin typeface="+mj-lt"/>
              </a:rPr>
              <a:t> là một công cụ mà chính phủ sử dụng để giảm ô nhiễm môi trường bằng cách đánh thuế lên các doanh nghiệp gây ra khí thải </a:t>
            </a:r>
            <a:r>
              <a:rPr lang="vi-VN" sz="2000" dirty="0" err="1">
                <a:solidFill>
                  <a:schemeClr val="tx1"/>
                </a:solidFill>
                <a:latin typeface="+mj-lt"/>
              </a:rPr>
              <a:t>carbon</a:t>
            </a:r>
            <a:r>
              <a:rPr lang="vi-VN" sz="2000" dirty="0">
                <a:solidFill>
                  <a:schemeClr val="tx1"/>
                </a:solidFill>
                <a:latin typeface="+mj-lt"/>
              </a:rPr>
              <a:t>, từ đó khuyến khích họ giảm lượng khí thải và đầu tư vào công nghệ sạch hơn.</a:t>
            </a:r>
          </a:p>
          <a:p>
            <a:pPr algn="just"/>
            <a:endParaRPr lang="vi-VN" sz="2000" dirty="0">
              <a:solidFill>
                <a:schemeClr val="tx1"/>
              </a:solidFill>
              <a:latin typeface="+mj-lt"/>
            </a:endParaRPr>
          </a:p>
        </p:txBody>
      </p:sp>
    </p:spTree>
    <p:extLst>
      <p:ext uri="{BB962C8B-B14F-4D97-AF65-F5344CB8AC3E}">
        <p14:creationId xmlns:p14="http://schemas.microsoft.com/office/powerpoint/2010/main" val="189150153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Grp="1" noChangeArrowheads="1"/>
          </p:cNvSpPr>
          <p:nvPr>
            <p:ph type="subTitle" idx="1"/>
          </p:nvPr>
        </p:nvSpPr>
        <p:spPr>
          <a:xfrm>
            <a:off x="381000" y="283025"/>
            <a:ext cx="8382000" cy="6422575"/>
          </a:xfrm>
        </p:spPr>
        <p:txBody>
          <a:bodyPr>
            <a:noAutofit/>
          </a:bodyPr>
          <a:lstStyle/>
          <a:p>
            <a:r>
              <a:rPr lang="vi-VN" sz="2800" b="1" i="1" dirty="0">
                <a:solidFill>
                  <a:srgbClr val="0000FF"/>
                </a:solidFill>
                <a:latin typeface="Times New Roman" pitchFamily="18" charset="0"/>
                <a:cs typeface="Times New Roman" pitchFamily="18" charset="0"/>
              </a:rPr>
              <a:t>Quy định chung về bài tiểu luận</a:t>
            </a:r>
          </a:p>
          <a:p>
            <a:endParaRPr lang="vi-VN" sz="2400" b="1" i="1" dirty="0">
              <a:solidFill>
                <a:srgbClr val="0000FF"/>
              </a:solidFill>
              <a:latin typeface="Times New Roman" pitchFamily="18" charset="0"/>
              <a:cs typeface="Times New Roman" pitchFamily="18" charset="0"/>
            </a:endParaRPr>
          </a:p>
          <a:p>
            <a:pPr marL="342900" indent="-342900" algn="just">
              <a:buFontTx/>
              <a:buChar char="-"/>
            </a:pPr>
            <a:r>
              <a:rPr lang="vi-VN" sz="2400" dirty="0">
                <a:solidFill>
                  <a:schemeClr val="tx1"/>
                </a:solidFill>
                <a:latin typeface="+mj-lt"/>
              </a:rPr>
              <a:t>Bài in khổ A4, canh đều, cỡ chữ 13, giãn dòng 1.2 </a:t>
            </a:r>
            <a:r>
              <a:rPr lang="vi-VN" sz="2400" dirty="0" err="1">
                <a:solidFill>
                  <a:schemeClr val="tx1"/>
                </a:solidFill>
                <a:latin typeface="+mj-lt"/>
              </a:rPr>
              <a:t>lines</a:t>
            </a:r>
            <a:endParaRPr lang="vi-VN" sz="2400" dirty="0">
              <a:solidFill>
                <a:schemeClr val="tx1"/>
              </a:solidFill>
              <a:latin typeface="+mj-lt"/>
            </a:endParaRPr>
          </a:p>
          <a:p>
            <a:pPr marL="342900" indent="-342900" algn="just">
              <a:buFontTx/>
              <a:buChar char="-"/>
            </a:pPr>
            <a:r>
              <a:rPr lang="vi-VN" sz="2400" dirty="0">
                <a:solidFill>
                  <a:schemeClr val="tx1"/>
                </a:solidFill>
                <a:latin typeface="+mj-lt"/>
              </a:rPr>
              <a:t>Đóng quyển gồm bìa kính =&gt; bìa cứng (màu) =&gt; bìa mềm</a:t>
            </a:r>
          </a:p>
          <a:p>
            <a:pPr marL="342900" indent="-342900" algn="just">
              <a:buFontTx/>
              <a:buChar char="-"/>
            </a:pPr>
            <a:r>
              <a:rPr lang="vi-VN" sz="2400" dirty="0">
                <a:solidFill>
                  <a:schemeClr val="tx1"/>
                </a:solidFill>
                <a:latin typeface="+mj-lt"/>
              </a:rPr>
              <a:t>Các gợi ý trả lời chỉ là cơ sở tham khảo, các anh chị cần dựa vào lý thuyết và giáo trình để trình bày </a:t>
            </a:r>
            <a:r>
              <a:rPr lang="vi-VN" sz="2400" dirty="0" err="1">
                <a:solidFill>
                  <a:schemeClr val="tx1"/>
                </a:solidFill>
                <a:latin typeface="+mj-lt"/>
              </a:rPr>
              <a:t>logic</a:t>
            </a:r>
            <a:r>
              <a:rPr lang="vi-VN" sz="2400" dirty="0">
                <a:solidFill>
                  <a:schemeClr val="tx1"/>
                </a:solidFill>
                <a:latin typeface="+mj-lt"/>
              </a:rPr>
              <a:t> và chính xác. Cần diễn giải các ý rõ ràng, có thể cho ví dụ minh họa, không gạch ý ngắn gọn.</a:t>
            </a:r>
          </a:p>
          <a:p>
            <a:pPr marL="342900" indent="-342900" algn="just">
              <a:buFontTx/>
              <a:buChar char="-"/>
            </a:pPr>
            <a:r>
              <a:rPr lang="vi-VN" sz="2400" dirty="0">
                <a:solidFill>
                  <a:schemeClr val="tx1"/>
                </a:solidFill>
                <a:latin typeface="+mj-lt"/>
              </a:rPr>
              <a:t>Nội dung chính của tiểu luận tối thiểu là 8 trang</a:t>
            </a:r>
          </a:p>
          <a:p>
            <a:pPr marL="342900" indent="-342900" algn="just">
              <a:buFontTx/>
              <a:buChar char="-"/>
            </a:pPr>
            <a:r>
              <a:rPr lang="vi-VN" sz="2400" dirty="0">
                <a:solidFill>
                  <a:schemeClr val="tx1"/>
                </a:solidFill>
                <a:latin typeface="+mj-lt"/>
              </a:rPr>
              <a:t>Thời hạn nộp bài: ngày 25/5</a:t>
            </a:r>
          </a:p>
          <a:p>
            <a:pPr marL="342900" indent="-342900" algn="just">
              <a:buFontTx/>
              <a:buChar char="-"/>
            </a:pPr>
            <a:r>
              <a:rPr lang="vi-VN" sz="2400" dirty="0">
                <a:solidFill>
                  <a:schemeClr val="tx1"/>
                </a:solidFill>
                <a:latin typeface="+mj-lt"/>
              </a:rPr>
              <a:t>Nộp bài cho nhóm trưởng, nhóm trưởng liên hệ với GV để nộp bài, không nộp riêng lẻ.</a:t>
            </a:r>
          </a:p>
          <a:p>
            <a:pPr marL="342900" indent="-342900" algn="just">
              <a:buFontTx/>
              <a:buChar char="-"/>
            </a:pPr>
            <a:endParaRPr lang="vi-VN" sz="2000" dirty="0">
              <a:solidFill>
                <a:schemeClr val="tx1"/>
              </a:solidFill>
              <a:latin typeface="+mj-lt"/>
            </a:endParaRPr>
          </a:p>
        </p:txBody>
      </p:sp>
    </p:spTree>
    <p:extLst>
      <p:ext uri="{BB962C8B-B14F-4D97-AF65-F5344CB8AC3E}">
        <p14:creationId xmlns:p14="http://schemas.microsoft.com/office/powerpoint/2010/main" val="32766993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5907</TotalTime>
  <Words>25029</Words>
  <Application>Microsoft Office PowerPoint</Application>
  <PresentationFormat>On-screen Show (4:3)</PresentationFormat>
  <Paragraphs>1055</Paragraphs>
  <Slides>134</Slides>
  <Notes>45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134</vt:i4>
      </vt:variant>
    </vt:vector>
  </HeadingPairs>
  <TitlesOfParts>
    <vt:vector size="139" baseType="lpstr">
      <vt:lpstr>Arial</vt:lpstr>
      <vt:lpstr>Calibri</vt:lpstr>
      <vt:lpstr>Noto Sans</vt:lpstr>
      <vt:lpstr>Times New Roman</vt:lpstr>
      <vt:lpstr>Office Theme</vt:lpstr>
      <vt:lpstr>TRƯỜNG ĐẠI HỌC QUY NHƠN KHOA TÀI CHÍNH-NGÂN HÀNG &amp; QUẢN TRỊ KINH DOANH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TRƯỜNG ĐẠI HỌC QUY NHƠN KHOA TÀI CHÍNH-NGÂN HÀNG &amp; QUẢN TRỊ KINH DOANH BỘ MÔN NGÂN HÀNG</dc:title>
  <dc:creator>NewLapCQ40</dc:creator>
  <cp:lastModifiedBy>Nguyen Huu Truc - QNU</cp:lastModifiedBy>
  <cp:revision>312</cp:revision>
  <dcterms:created xsi:type="dcterms:W3CDTF">2015-01-31T12:57:19Z</dcterms:created>
  <dcterms:modified xsi:type="dcterms:W3CDTF">2026-05-09T01:52:21Z</dcterms:modified>
</cp:coreProperties>
</file>